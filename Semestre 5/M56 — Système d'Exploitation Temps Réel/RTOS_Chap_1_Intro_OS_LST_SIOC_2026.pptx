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583680" y="0"/>
            <a:ext cx="2560320" cy="2880360"/>
          </a:xfrm>
          <a:custGeom>
            <a:avLst/>
            <a:gdLst/>
            <a:ahLst/>
            <a:cxnLst/>
            <a:rect l="l" t="t" r="r" b="b"/>
            <a:pathLst>
              <a:path w="2560320" h="2880360">
                <a:moveTo>
                  <a:pt x="2560320" y="0"/>
                </a:moveTo>
                <a:lnTo>
                  <a:pt x="171208" y="0"/>
                </a:lnTo>
                <a:lnTo>
                  <a:pt x="170718" y="1089"/>
                </a:lnTo>
                <a:lnTo>
                  <a:pt x="152871" y="43285"/>
                </a:lnTo>
                <a:lnTo>
                  <a:pt x="135942" y="85954"/>
                </a:lnTo>
                <a:lnTo>
                  <a:pt x="119943" y="129084"/>
                </a:lnTo>
                <a:lnTo>
                  <a:pt x="104887" y="172663"/>
                </a:lnTo>
                <a:lnTo>
                  <a:pt x="90786" y="216678"/>
                </a:lnTo>
                <a:lnTo>
                  <a:pt x="77653" y="261117"/>
                </a:lnTo>
                <a:lnTo>
                  <a:pt x="65499" y="305967"/>
                </a:lnTo>
                <a:lnTo>
                  <a:pt x="54337" y="351217"/>
                </a:lnTo>
                <a:lnTo>
                  <a:pt x="44180" y="396854"/>
                </a:lnTo>
                <a:lnTo>
                  <a:pt x="35039" y="442865"/>
                </a:lnTo>
                <a:lnTo>
                  <a:pt x="26927" y="489239"/>
                </a:lnTo>
                <a:lnTo>
                  <a:pt x="19857" y="535962"/>
                </a:lnTo>
                <a:lnTo>
                  <a:pt x="13841" y="583024"/>
                </a:lnTo>
                <a:lnTo>
                  <a:pt x="8891" y="630410"/>
                </a:lnTo>
                <a:lnTo>
                  <a:pt x="5020" y="678109"/>
                </a:lnTo>
                <a:lnTo>
                  <a:pt x="2239" y="726108"/>
                </a:lnTo>
                <a:lnTo>
                  <a:pt x="561" y="774396"/>
                </a:lnTo>
                <a:lnTo>
                  <a:pt x="0" y="822960"/>
                </a:lnTo>
                <a:lnTo>
                  <a:pt x="561" y="871523"/>
                </a:lnTo>
                <a:lnTo>
                  <a:pt x="2239" y="919811"/>
                </a:lnTo>
                <a:lnTo>
                  <a:pt x="5020" y="967810"/>
                </a:lnTo>
                <a:lnTo>
                  <a:pt x="8891" y="1015509"/>
                </a:lnTo>
                <a:lnTo>
                  <a:pt x="13841" y="1062895"/>
                </a:lnTo>
                <a:lnTo>
                  <a:pt x="19857" y="1109957"/>
                </a:lnTo>
                <a:lnTo>
                  <a:pt x="26927" y="1156680"/>
                </a:lnTo>
                <a:lnTo>
                  <a:pt x="35039" y="1203054"/>
                </a:lnTo>
                <a:lnTo>
                  <a:pt x="44180" y="1249065"/>
                </a:lnTo>
                <a:lnTo>
                  <a:pt x="54337" y="1294702"/>
                </a:lnTo>
                <a:lnTo>
                  <a:pt x="65499" y="1339952"/>
                </a:lnTo>
                <a:lnTo>
                  <a:pt x="77653" y="1384802"/>
                </a:lnTo>
                <a:lnTo>
                  <a:pt x="90786" y="1429241"/>
                </a:lnTo>
                <a:lnTo>
                  <a:pt x="104887" y="1473256"/>
                </a:lnTo>
                <a:lnTo>
                  <a:pt x="119943" y="1516835"/>
                </a:lnTo>
                <a:lnTo>
                  <a:pt x="135942" y="1559965"/>
                </a:lnTo>
                <a:lnTo>
                  <a:pt x="152871" y="1602634"/>
                </a:lnTo>
                <a:lnTo>
                  <a:pt x="170718" y="1644830"/>
                </a:lnTo>
                <a:lnTo>
                  <a:pt x="189470" y="1686539"/>
                </a:lnTo>
                <a:lnTo>
                  <a:pt x="209116" y="1727751"/>
                </a:lnTo>
                <a:lnTo>
                  <a:pt x="229643" y="1768453"/>
                </a:lnTo>
                <a:lnTo>
                  <a:pt x="251038" y="1808631"/>
                </a:lnTo>
                <a:lnTo>
                  <a:pt x="273290" y="1848275"/>
                </a:lnTo>
                <a:lnTo>
                  <a:pt x="296385" y="1887370"/>
                </a:lnTo>
                <a:lnTo>
                  <a:pt x="320312" y="1925907"/>
                </a:lnTo>
                <a:lnTo>
                  <a:pt x="345058" y="1963871"/>
                </a:lnTo>
                <a:lnTo>
                  <a:pt x="370611" y="2001250"/>
                </a:lnTo>
                <a:lnTo>
                  <a:pt x="396959" y="2038033"/>
                </a:lnTo>
                <a:lnTo>
                  <a:pt x="424088" y="2074206"/>
                </a:lnTo>
                <a:lnTo>
                  <a:pt x="451988" y="2109758"/>
                </a:lnTo>
                <a:lnTo>
                  <a:pt x="480644" y="2144675"/>
                </a:lnTo>
                <a:lnTo>
                  <a:pt x="510046" y="2178947"/>
                </a:lnTo>
                <a:lnTo>
                  <a:pt x="540181" y="2212560"/>
                </a:lnTo>
                <a:lnTo>
                  <a:pt x="571036" y="2245502"/>
                </a:lnTo>
                <a:lnTo>
                  <a:pt x="602599" y="2277760"/>
                </a:lnTo>
                <a:lnTo>
                  <a:pt x="634857" y="2309323"/>
                </a:lnTo>
                <a:lnTo>
                  <a:pt x="667799" y="2340178"/>
                </a:lnTo>
                <a:lnTo>
                  <a:pt x="701412" y="2370313"/>
                </a:lnTo>
                <a:lnTo>
                  <a:pt x="735684" y="2399715"/>
                </a:lnTo>
                <a:lnTo>
                  <a:pt x="770601" y="2428371"/>
                </a:lnTo>
                <a:lnTo>
                  <a:pt x="806153" y="2456271"/>
                </a:lnTo>
                <a:lnTo>
                  <a:pt x="842326" y="2483400"/>
                </a:lnTo>
                <a:lnTo>
                  <a:pt x="879109" y="2509748"/>
                </a:lnTo>
                <a:lnTo>
                  <a:pt x="916488" y="2535301"/>
                </a:lnTo>
                <a:lnTo>
                  <a:pt x="954452" y="2560047"/>
                </a:lnTo>
                <a:lnTo>
                  <a:pt x="992989" y="2583974"/>
                </a:lnTo>
                <a:lnTo>
                  <a:pt x="1032084" y="2607069"/>
                </a:lnTo>
                <a:lnTo>
                  <a:pt x="1071728" y="2629321"/>
                </a:lnTo>
                <a:lnTo>
                  <a:pt x="1111906" y="2650716"/>
                </a:lnTo>
                <a:lnTo>
                  <a:pt x="1152608" y="2671243"/>
                </a:lnTo>
                <a:lnTo>
                  <a:pt x="1193820" y="2690889"/>
                </a:lnTo>
                <a:lnTo>
                  <a:pt x="1235529" y="2709641"/>
                </a:lnTo>
                <a:lnTo>
                  <a:pt x="1277725" y="2727488"/>
                </a:lnTo>
                <a:lnTo>
                  <a:pt x="1320394" y="2744417"/>
                </a:lnTo>
                <a:lnTo>
                  <a:pt x="1363524" y="2760416"/>
                </a:lnTo>
                <a:lnTo>
                  <a:pt x="1407103" y="2775472"/>
                </a:lnTo>
                <a:lnTo>
                  <a:pt x="1451118" y="2789573"/>
                </a:lnTo>
                <a:lnTo>
                  <a:pt x="1495557" y="2802706"/>
                </a:lnTo>
                <a:lnTo>
                  <a:pt x="1540407" y="2814860"/>
                </a:lnTo>
                <a:lnTo>
                  <a:pt x="1585657" y="2826022"/>
                </a:lnTo>
                <a:lnTo>
                  <a:pt x="1631294" y="2836179"/>
                </a:lnTo>
                <a:lnTo>
                  <a:pt x="1677305" y="2845320"/>
                </a:lnTo>
                <a:lnTo>
                  <a:pt x="1723679" y="2853432"/>
                </a:lnTo>
                <a:lnTo>
                  <a:pt x="1770402" y="2860502"/>
                </a:lnTo>
                <a:lnTo>
                  <a:pt x="1817464" y="2866518"/>
                </a:lnTo>
                <a:lnTo>
                  <a:pt x="1864850" y="2871468"/>
                </a:lnTo>
                <a:lnTo>
                  <a:pt x="1912549" y="2875339"/>
                </a:lnTo>
                <a:lnTo>
                  <a:pt x="1960548" y="2878120"/>
                </a:lnTo>
                <a:lnTo>
                  <a:pt x="2008836" y="2879798"/>
                </a:lnTo>
                <a:lnTo>
                  <a:pt x="2057400" y="2880360"/>
                </a:lnTo>
                <a:lnTo>
                  <a:pt x="2105963" y="2879798"/>
                </a:lnTo>
                <a:lnTo>
                  <a:pt x="2154251" y="2878120"/>
                </a:lnTo>
                <a:lnTo>
                  <a:pt x="2202250" y="2875339"/>
                </a:lnTo>
                <a:lnTo>
                  <a:pt x="2249949" y="2871468"/>
                </a:lnTo>
                <a:lnTo>
                  <a:pt x="2297335" y="2866518"/>
                </a:lnTo>
                <a:lnTo>
                  <a:pt x="2344397" y="2860502"/>
                </a:lnTo>
                <a:lnTo>
                  <a:pt x="2391120" y="2853432"/>
                </a:lnTo>
                <a:lnTo>
                  <a:pt x="2437494" y="2845320"/>
                </a:lnTo>
                <a:lnTo>
                  <a:pt x="2483505" y="2836179"/>
                </a:lnTo>
                <a:lnTo>
                  <a:pt x="2529142" y="2826022"/>
                </a:lnTo>
                <a:lnTo>
                  <a:pt x="2560320" y="2818331"/>
                </a:lnTo>
                <a:lnTo>
                  <a:pt x="2560320" y="0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30861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342900" y="0"/>
                </a:moveTo>
                <a:lnTo>
                  <a:pt x="294910" y="658"/>
                </a:lnTo>
                <a:lnTo>
                  <a:pt x="247247" y="2623"/>
                </a:lnTo>
                <a:lnTo>
                  <a:pt x="199927" y="5876"/>
                </a:lnTo>
                <a:lnTo>
                  <a:pt x="152968" y="10401"/>
                </a:lnTo>
                <a:lnTo>
                  <a:pt x="106386" y="16180"/>
                </a:lnTo>
                <a:lnTo>
                  <a:pt x="60200" y="23196"/>
                </a:lnTo>
                <a:lnTo>
                  <a:pt x="14425" y="31432"/>
                </a:lnTo>
                <a:lnTo>
                  <a:pt x="0" y="34434"/>
                </a:lnTo>
                <a:lnTo>
                  <a:pt x="0" y="2057400"/>
                </a:lnTo>
                <a:lnTo>
                  <a:pt x="2022965" y="2057400"/>
                </a:lnTo>
                <a:lnTo>
                  <a:pt x="2025967" y="2042974"/>
                </a:lnTo>
                <a:lnTo>
                  <a:pt x="2034203" y="1997199"/>
                </a:lnTo>
                <a:lnTo>
                  <a:pt x="2041219" y="1951013"/>
                </a:lnTo>
                <a:lnTo>
                  <a:pt x="2046998" y="1904431"/>
                </a:lnTo>
                <a:lnTo>
                  <a:pt x="2051523" y="1857472"/>
                </a:lnTo>
                <a:lnTo>
                  <a:pt x="2054776" y="1810152"/>
                </a:lnTo>
                <a:lnTo>
                  <a:pt x="2056741" y="1762489"/>
                </a:lnTo>
                <a:lnTo>
                  <a:pt x="2057400" y="1714500"/>
                </a:lnTo>
                <a:lnTo>
                  <a:pt x="2056741" y="1666509"/>
                </a:lnTo>
                <a:lnTo>
                  <a:pt x="2054776" y="1618844"/>
                </a:lnTo>
                <a:lnTo>
                  <a:pt x="2051523" y="1571524"/>
                </a:lnTo>
                <a:lnTo>
                  <a:pt x="2046998" y="1524563"/>
                </a:lnTo>
                <a:lnTo>
                  <a:pt x="2041219" y="1477981"/>
                </a:lnTo>
                <a:lnTo>
                  <a:pt x="2034203" y="1431793"/>
                </a:lnTo>
                <a:lnTo>
                  <a:pt x="2025967" y="1386018"/>
                </a:lnTo>
                <a:lnTo>
                  <a:pt x="2016528" y="1340672"/>
                </a:lnTo>
                <a:lnTo>
                  <a:pt x="2005904" y="1295773"/>
                </a:lnTo>
                <a:lnTo>
                  <a:pt x="1994111" y="1251338"/>
                </a:lnTo>
                <a:lnTo>
                  <a:pt x="1981167" y="1207383"/>
                </a:lnTo>
                <a:lnTo>
                  <a:pt x="1967090" y="1163927"/>
                </a:lnTo>
                <a:lnTo>
                  <a:pt x="1951895" y="1120986"/>
                </a:lnTo>
                <a:lnTo>
                  <a:pt x="1935600" y="1078577"/>
                </a:lnTo>
                <a:lnTo>
                  <a:pt x="1918224" y="1036718"/>
                </a:lnTo>
                <a:lnTo>
                  <a:pt x="1899782" y="995426"/>
                </a:lnTo>
                <a:lnTo>
                  <a:pt x="1880291" y="954718"/>
                </a:lnTo>
                <a:lnTo>
                  <a:pt x="1859770" y="914611"/>
                </a:lnTo>
                <a:lnTo>
                  <a:pt x="1838236" y="875123"/>
                </a:lnTo>
                <a:lnTo>
                  <a:pt x="1815704" y="836271"/>
                </a:lnTo>
                <a:lnTo>
                  <a:pt x="1792194" y="798071"/>
                </a:lnTo>
                <a:lnTo>
                  <a:pt x="1767721" y="760541"/>
                </a:lnTo>
                <a:lnTo>
                  <a:pt x="1742303" y="723698"/>
                </a:lnTo>
                <a:lnTo>
                  <a:pt x="1715958" y="687560"/>
                </a:lnTo>
                <a:lnTo>
                  <a:pt x="1688702" y="652143"/>
                </a:lnTo>
                <a:lnTo>
                  <a:pt x="1660552" y="617465"/>
                </a:lnTo>
                <a:lnTo>
                  <a:pt x="1631526" y="583543"/>
                </a:lnTo>
                <a:lnTo>
                  <a:pt x="1601642" y="550394"/>
                </a:lnTo>
                <a:lnTo>
                  <a:pt x="1570915" y="518035"/>
                </a:lnTo>
                <a:lnTo>
                  <a:pt x="1539364" y="486484"/>
                </a:lnTo>
                <a:lnTo>
                  <a:pt x="1507005" y="455757"/>
                </a:lnTo>
                <a:lnTo>
                  <a:pt x="1473856" y="425873"/>
                </a:lnTo>
                <a:lnTo>
                  <a:pt x="1439934" y="396847"/>
                </a:lnTo>
                <a:lnTo>
                  <a:pt x="1405256" y="368697"/>
                </a:lnTo>
                <a:lnTo>
                  <a:pt x="1369839" y="341441"/>
                </a:lnTo>
                <a:lnTo>
                  <a:pt x="1333701" y="315096"/>
                </a:lnTo>
                <a:lnTo>
                  <a:pt x="1296858" y="289678"/>
                </a:lnTo>
                <a:lnTo>
                  <a:pt x="1259328" y="265205"/>
                </a:lnTo>
                <a:lnTo>
                  <a:pt x="1221128" y="241695"/>
                </a:lnTo>
                <a:lnTo>
                  <a:pt x="1182276" y="219163"/>
                </a:lnTo>
                <a:lnTo>
                  <a:pt x="1142788" y="197629"/>
                </a:lnTo>
                <a:lnTo>
                  <a:pt x="1102681" y="177108"/>
                </a:lnTo>
                <a:lnTo>
                  <a:pt x="1061973" y="157617"/>
                </a:lnTo>
                <a:lnTo>
                  <a:pt x="1020681" y="139175"/>
                </a:lnTo>
                <a:lnTo>
                  <a:pt x="978822" y="121799"/>
                </a:lnTo>
                <a:lnTo>
                  <a:pt x="936413" y="105504"/>
                </a:lnTo>
                <a:lnTo>
                  <a:pt x="893472" y="90309"/>
                </a:lnTo>
                <a:lnTo>
                  <a:pt x="850016" y="76232"/>
                </a:lnTo>
                <a:lnTo>
                  <a:pt x="806061" y="63288"/>
                </a:lnTo>
                <a:lnTo>
                  <a:pt x="761626" y="51495"/>
                </a:lnTo>
                <a:lnTo>
                  <a:pt x="716727" y="40871"/>
                </a:lnTo>
                <a:lnTo>
                  <a:pt x="671381" y="31432"/>
                </a:lnTo>
                <a:lnTo>
                  <a:pt x="625606" y="23196"/>
                </a:lnTo>
                <a:lnTo>
                  <a:pt x="579418" y="16180"/>
                </a:lnTo>
                <a:lnTo>
                  <a:pt x="532836" y="10401"/>
                </a:lnTo>
                <a:lnTo>
                  <a:pt x="485875" y="5876"/>
                </a:lnTo>
                <a:lnTo>
                  <a:pt x="438555" y="2623"/>
                </a:lnTo>
                <a:lnTo>
                  <a:pt x="390890" y="658"/>
                </a:lnTo>
                <a:lnTo>
                  <a:pt x="342900" y="0"/>
                </a:lnTo>
                <a:close/>
              </a:path>
            </a:pathLst>
          </a:custGeom>
          <a:solidFill>
            <a:srgbClr val="D5880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95959" y="1123568"/>
            <a:ext cx="6629526" cy="1483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85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30402" y="2725623"/>
            <a:ext cx="5982970" cy="868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76707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85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76707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85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5143500"/>
                </a:move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446519" y="0"/>
            <a:ext cx="2697480" cy="2743200"/>
          </a:xfrm>
          <a:custGeom>
            <a:avLst/>
            <a:gdLst/>
            <a:ahLst/>
            <a:cxnLst/>
            <a:rect l="l" t="t" r="r" b="b"/>
            <a:pathLst>
              <a:path w="2697479" h="2743200">
                <a:moveTo>
                  <a:pt x="2697479" y="0"/>
                </a:moveTo>
                <a:lnTo>
                  <a:pt x="117153" y="0"/>
                </a:lnTo>
                <a:lnTo>
                  <a:pt x="104887" y="35503"/>
                </a:lnTo>
                <a:lnTo>
                  <a:pt x="90786" y="79518"/>
                </a:lnTo>
                <a:lnTo>
                  <a:pt x="77653" y="123957"/>
                </a:lnTo>
                <a:lnTo>
                  <a:pt x="65499" y="168807"/>
                </a:lnTo>
                <a:lnTo>
                  <a:pt x="54337" y="214057"/>
                </a:lnTo>
                <a:lnTo>
                  <a:pt x="44180" y="259694"/>
                </a:lnTo>
                <a:lnTo>
                  <a:pt x="35039" y="305705"/>
                </a:lnTo>
                <a:lnTo>
                  <a:pt x="26927" y="352079"/>
                </a:lnTo>
                <a:lnTo>
                  <a:pt x="19857" y="398802"/>
                </a:lnTo>
                <a:lnTo>
                  <a:pt x="13841" y="445864"/>
                </a:lnTo>
                <a:lnTo>
                  <a:pt x="8891" y="493250"/>
                </a:lnTo>
                <a:lnTo>
                  <a:pt x="5020" y="540949"/>
                </a:lnTo>
                <a:lnTo>
                  <a:pt x="2239" y="588948"/>
                </a:lnTo>
                <a:lnTo>
                  <a:pt x="561" y="637236"/>
                </a:lnTo>
                <a:lnTo>
                  <a:pt x="0" y="685800"/>
                </a:lnTo>
                <a:lnTo>
                  <a:pt x="561" y="734363"/>
                </a:lnTo>
                <a:lnTo>
                  <a:pt x="2239" y="782651"/>
                </a:lnTo>
                <a:lnTo>
                  <a:pt x="5020" y="830650"/>
                </a:lnTo>
                <a:lnTo>
                  <a:pt x="8891" y="878349"/>
                </a:lnTo>
                <a:lnTo>
                  <a:pt x="13841" y="925735"/>
                </a:lnTo>
                <a:lnTo>
                  <a:pt x="19857" y="972797"/>
                </a:lnTo>
                <a:lnTo>
                  <a:pt x="26927" y="1019520"/>
                </a:lnTo>
                <a:lnTo>
                  <a:pt x="35039" y="1065894"/>
                </a:lnTo>
                <a:lnTo>
                  <a:pt x="44180" y="1111905"/>
                </a:lnTo>
                <a:lnTo>
                  <a:pt x="54337" y="1157542"/>
                </a:lnTo>
                <a:lnTo>
                  <a:pt x="65499" y="1202792"/>
                </a:lnTo>
                <a:lnTo>
                  <a:pt x="77653" y="1247642"/>
                </a:lnTo>
                <a:lnTo>
                  <a:pt x="90786" y="1292081"/>
                </a:lnTo>
                <a:lnTo>
                  <a:pt x="104887" y="1336096"/>
                </a:lnTo>
                <a:lnTo>
                  <a:pt x="119943" y="1379675"/>
                </a:lnTo>
                <a:lnTo>
                  <a:pt x="135942" y="1422805"/>
                </a:lnTo>
                <a:lnTo>
                  <a:pt x="152871" y="1465474"/>
                </a:lnTo>
                <a:lnTo>
                  <a:pt x="170718" y="1507670"/>
                </a:lnTo>
                <a:lnTo>
                  <a:pt x="189470" y="1549379"/>
                </a:lnTo>
                <a:lnTo>
                  <a:pt x="209116" y="1590591"/>
                </a:lnTo>
                <a:lnTo>
                  <a:pt x="229643" y="1631293"/>
                </a:lnTo>
                <a:lnTo>
                  <a:pt x="251038" y="1671471"/>
                </a:lnTo>
                <a:lnTo>
                  <a:pt x="273290" y="1711115"/>
                </a:lnTo>
                <a:lnTo>
                  <a:pt x="296385" y="1750210"/>
                </a:lnTo>
                <a:lnTo>
                  <a:pt x="320312" y="1788747"/>
                </a:lnTo>
                <a:lnTo>
                  <a:pt x="345058" y="1826711"/>
                </a:lnTo>
                <a:lnTo>
                  <a:pt x="370611" y="1864090"/>
                </a:lnTo>
                <a:lnTo>
                  <a:pt x="396959" y="1900873"/>
                </a:lnTo>
                <a:lnTo>
                  <a:pt x="424088" y="1937046"/>
                </a:lnTo>
                <a:lnTo>
                  <a:pt x="451988" y="1972598"/>
                </a:lnTo>
                <a:lnTo>
                  <a:pt x="480644" y="2007515"/>
                </a:lnTo>
                <a:lnTo>
                  <a:pt x="510046" y="2041787"/>
                </a:lnTo>
                <a:lnTo>
                  <a:pt x="540181" y="2075400"/>
                </a:lnTo>
                <a:lnTo>
                  <a:pt x="571036" y="2108342"/>
                </a:lnTo>
                <a:lnTo>
                  <a:pt x="602599" y="2140600"/>
                </a:lnTo>
                <a:lnTo>
                  <a:pt x="634857" y="2172163"/>
                </a:lnTo>
                <a:lnTo>
                  <a:pt x="667799" y="2203018"/>
                </a:lnTo>
                <a:lnTo>
                  <a:pt x="701412" y="2233153"/>
                </a:lnTo>
                <a:lnTo>
                  <a:pt x="735684" y="2262555"/>
                </a:lnTo>
                <a:lnTo>
                  <a:pt x="770601" y="2291211"/>
                </a:lnTo>
                <a:lnTo>
                  <a:pt x="806153" y="2319111"/>
                </a:lnTo>
                <a:lnTo>
                  <a:pt x="842326" y="2346240"/>
                </a:lnTo>
                <a:lnTo>
                  <a:pt x="879109" y="2372588"/>
                </a:lnTo>
                <a:lnTo>
                  <a:pt x="916488" y="2398141"/>
                </a:lnTo>
                <a:lnTo>
                  <a:pt x="954452" y="2422887"/>
                </a:lnTo>
                <a:lnTo>
                  <a:pt x="992989" y="2446814"/>
                </a:lnTo>
                <a:lnTo>
                  <a:pt x="1032084" y="2469909"/>
                </a:lnTo>
                <a:lnTo>
                  <a:pt x="1071728" y="2492161"/>
                </a:lnTo>
                <a:lnTo>
                  <a:pt x="1111906" y="2513556"/>
                </a:lnTo>
                <a:lnTo>
                  <a:pt x="1152608" y="2534083"/>
                </a:lnTo>
                <a:lnTo>
                  <a:pt x="1193820" y="2553729"/>
                </a:lnTo>
                <a:lnTo>
                  <a:pt x="1235529" y="2572481"/>
                </a:lnTo>
                <a:lnTo>
                  <a:pt x="1277725" y="2590328"/>
                </a:lnTo>
                <a:lnTo>
                  <a:pt x="1320394" y="2607257"/>
                </a:lnTo>
                <a:lnTo>
                  <a:pt x="1363524" y="2623256"/>
                </a:lnTo>
                <a:lnTo>
                  <a:pt x="1407103" y="2638312"/>
                </a:lnTo>
                <a:lnTo>
                  <a:pt x="1451118" y="2652413"/>
                </a:lnTo>
                <a:lnTo>
                  <a:pt x="1495557" y="2665546"/>
                </a:lnTo>
                <a:lnTo>
                  <a:pt x="1540407" y="2677700"/>
                </a:lnTo>
                <a:lnTo>
                  <a:pt x="1585657" y="2688862"/>
                </a:lnTo>
                <a:lnTo>
                  <a:pt x="1631294" y="2699019"/>
                </a:lnTo>
                <a:lnTo>
                  <a:pt x="1677305" y="2708160"/>
                </a:lnTo>
                <a:lnTo>
                  <a:pt x="1723679" y="2716272"/>
                </a:lnTo>
                <a:lnTo>
                  <a:pt x="1770402" y="2723342"/>
                </a:lnTo>
                <a:lnTo>
                  <a:pt x="1817464" y="2729358"/>
                </a:lnTo>
                <a:lnTo>
                  <a:pt x="1864850" y="2734308"/>
                </a:lnTo>
                <a:lnTo>
                  <a:pt x="1912549" y="2738179"/>
                </a:lnTo>
                <a:lnTo>
                  <a:pt x="1960548" y="2740960"/>
                </a:lnTo>
                <a:lnTo>
                  <a:pt x="2008836" y="2742638"/>
                </a:lnTo>
                <a:lnTo>
                  <a:pt x="2057400" y="2743200"/>
                </a:lnTo>
                <a:lnTo>
                  <a:pt x="2105963" y="2742638"/>
                </a:lnTo>
                <a:lnTo>
                  <a:pt x="2154251" y="2740960"/>
                </a:lnTo>
                <a:lnTo>
                  <a:pt x="2202250" y="2738179"/>
                </a:lnTo>
                <a:lnTo>
                  <a:pt x="2249949" y="2734308"/>
                </a:lnTo>
                <a:lnTo>
                  <a:pt x="2297335" y="2729358"/>
                </a:lnTo>
                <a:lnTo>
                  <a:pt x="2344397" y="2723342"/>
                </a:lnTo>
                <a:lnTo>
                  <a:pt x="2391120" y="2716272"/>
                </a:lnTo>
                <a:lnTo>
                  <a:pt x="2437494" y="2708160"/>
                </a:lnTo>
                <a:lnTo>
                  <a:pt x="2483505" y="2699019"/>
                </a:lnTo>
                <a:lnTo>
                  <a:pt x="2529142" y="2688862"/>
                </a:lnTo>
                <a:lnTo>
                  <a:pt x="2574392" y="2677700"/>
                </a:lnTo>
                <a:lnTo>
                  <a:pt x="2619242" y="2665546"/>
                </a:lnTo>
                <a:lnTo>
                  <a:pt x="2663681" y="2652413"/>
                </a:lnTo>
                <a:lnTo>
                  <a:pt x="2697479" y="2641585"/>
                </a:lnTo>
                <a:lnTo>
                  <a:pt x="2697479" y="0"/>
                </a:lnTo>
                <a:close/>
              </a:path>
            </a:pathLst>
          </a:custGeom>
          <a:solidFill>
            <a:srgbClr val="4471C4">
              <a:alpha val="3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158995" y="1097279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60" h="822960">
                <a:moveTo>
                  <a:pt x="411479" y="0"/>
                </a:moveTo>
                <a:lnTo>
                  <a:pt x="363502" y="2769"/>
                </a:lnTo>
                <a:lnTo>
                  <a:pt x="317147" y="10870"/>
                </a:lnTo>
                <a:lnTo>
                  <a:pt x="272725" y="23994"/>
                </a:lnTo>
                <a:lnTo>
                  <a:pt x="230543" y="41832"/>
                </a:lnTo>
                <a:lnTo>
                  <a:pt x="190913" y="64075"/>
                </a:lnTo>
                <a:lnTo>
                  <a:pt x="154141" y="90413"/>
                </a:lnTo>
                <a:lnTo>
                  <a:pt x="120538" y="120538"/>
                </a:lnTo>
                <a:lnTo>
                  <a:pt x="90413" y="154141"/>
                </a:lnTo>
                <a:lnTo>
                  <a:pt x="64075" y="190913"/>
                </a:lnTo>
                <a:lnTo>
                  <a:pt x="41832" y="230543"/>
                </a:lnTo>
                <a:lnTo>
                  <a:pt x="23994" y="272725"/>
                </a:lnTo>
                <a:lnTo>
                  <a:pt x="10870" y="317147"/>
                </a:lnTo>
                <a:lnTo>
                  <a:pt x="2769" y="363502"/>
                </a:lnTo>
                <a:lnTo>
                  <a:pt x="0" y="411480"/>
                </a:lnTo>
                <a:lnTo>
                  <a:pt x="2769" y="459457"/>
                </a:lnTo>
                <a:lnTo>
                  <a:pt x="10870" y="505812"/>
                </a:lnTo>
                <a:lnTo>
                  <a:pt x="23994" y="550234"/>
                </a:lnTo>
                <a:lnTo>
                  <a:pt x="41832" y="592416"/>
                </a:lnTo>
                <a:lnTo>
                  <a:pt x="64075" y="632046"/>
                </a:lnTo>
                <a:lnTo>
                  <a:pt x="90413" y="668818"/>
                </a:lnTo>
                <a:lnTo>
                  <a:pt x="120538" y="702421"/>
                </a:lnTo>
                <a:lnTo>
                  <a:pt x="154141" y="732546"/>
                </a:lnTo>
                <a:lnTo>
                  <a:pt x="190913" y="758884"/>
                </a:lnTo>
                <a:lnTo>
                  <a:pt x="230543" y="781127"/>
                </a:lnTo>
                <a:lnTo>
                  <a:pt x="272725" y="798965"/>
                </a:lnTo>
                <a:lnTo>
                  <a:pt x="317147" y="812089"/>
                </a:lnTo>
                <a:lnTo>
                  <a:pt x="363502" y="820190"/>
                </a:lnTo>
                <a:lnTo>
                  <a:pt x="411479" y="822960"/>
                </a:lnTo>
                <a:lnTo>
                  <a:pt x="459457" y="820190"/>
                </a:lnTo>
                <a:lnTo>
                  <a:pt x="505812" y="812089"/>
                </a:lnTo>
                <a:lnTo>
                  <a:pt x="550234" y="798965"/>
                </a:lnTo>
                <a:lnTo>
                  <a:pt x="592416" y="781127"/>
                </a:lnTo>
                <a:lnTo>
                  <a:pt x="632046" y="758884"/>
                </a:lnTo>
                <a:lnTo>
                  <a:pt x="668818" y="732546"/>
                </a:lnTo>
                <a:lnTo>
                  <a:pt x="702421" y="702421"/>
                </a:lnTo>
                <a:lnTo>
                  <a:pt x="732546" y="668818"/>
                </a:lnTo>
                <a:lnTo>
                  <a:pt x="758884" y="632046"/>
                </a:lnTo>
                <a:lnTo>
                  <a:pt x="781127" y="592416"/>
                </a:lnTo>
                <a:lnTo>
                  <a:pt x="798965" y="550234"/>
                </a:lnTo>
                <a:lnTo>
                  <a:pt x="812089" y="505812"/>
                </a:lnTo>
                <a:lnTo>
                  <a:pt x="820190" y="459457"/>
                </a:lnTo>
                <a:lnTo>
                  <a:pt x="822959" y="411480"/>
                </a:lnTo>
                <a:lnTo>
                  <a:pt x="820190" y="363502"/>
                </a:lnTo>
                <a:lnTo>
                  <a:pt x="812089" y="317147"/>
                </a:lnTo>
                <a:lnTo>
                  <a:pt x="798965" y="272725"/>
                </a:lnTo>
                <a:lnTo>
                  <a:pt x="781127" y="230543"/>
                </a:lnTo>
                <a:lnTo>
                  <a:pt x="758884" y="190913"/>
                </a:lnTo>
                <a:lnTo>
                  <a:pt x="732546" y="154141"/>
                </a:lnTo>
                <a:lnTo>
                  <a:pt x="702421" y="120538"/>
                </a:lnTo>
                <a:lnTo>
                  <a:pt x="668818" y="90413"/>
                </a:lnTo>
                <a:lnTo>
                  <a:pt x="632046" y="64075"/>
                </a:lnTo>
                <a:lnTo>
                  <a:pt x="592416" y="41832"/>
                </a:lnTo>
                <a:lnTo>
                  <a:pt x="550234" y="23994"/>
                </a:lnTo>
                <a:lnTo>
                  <a:pt x="505812" y="10870"/>
                </a:lnTo>
                <a:lnTo>
                  <a:pt x="459457" y="2769"/>
                </a:lnTo>
                <a:lnTo>
                  <a:pt x="411479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158995" y="1097279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60" h="822960">
                <a:moveTo>
                  <a:pt x="0" y="411480"/>
                </a:moveTo>
                <a:lnTo>
                  <a:pt x="2769" y="363502"/>
                </a:lnTo>
                <a:lnTo>
                  <a:pt x="10870" y="317147"/>
                </a:lnTo>
                <a:lnTo>
                  <a:pt x="23994" y="272725"/>
                </a:lnTo>
                <a:lnTo>
                  <a:pt x="41832" y="230543"/>
                </a:lnTo>
                <a:lnTo>
                  <a:pt x="64075" y="190913"/>
                </a:lnTo>
                <a:lnTo>
                  <a:pt x="90413" y="154141"/>
                </a:lnTo>
                <a:lnTo>
                  <a:pt x="120538" y="120538"/>
                </a:lnTo>
                <a:lnTo>
                  <a:pt x="154141" y="90413"/>
                </a:lnTo>
                <a:lnTo>
                  <a:pt x="190913" y="64075"/>
                </a:lnTo>
                <a:lnTo>
                  <a:pt x="230543" y="41832"/>
                </a:lnTo>
                <a:lnTo>
                  <a:pt x="272725" y="23994"/>
                </a:lnTo>
                <a:lnTo>
                  <a:pt x="317147" y="10870"/>
                </a:lnTo>
                <a:lnTo>
                  <a:pt x="363502" y="2769"/>
                </a:lnTo>
                <a:lnTo>
                  <a:pt x="411479" y="0"/>
                </a:lnTo>
                <a:lnTo>
                  <a:pt x="459457" y="2769"/>
                </a:lnTo>
                <a:lnTo>
                  <a:pt x="505812" y="10870"/>
                </a:lnTo>
                <a:lnTo>
                  <a:pt x="550234" y="23994"/>
                </a:lnTo>
                <a:lnTo>
                  <a:pt x="592416" y="41832"/>
                </a:lnTo>
                <a:lnTo>
                  <a:pt x="632046" y="64075"/>
                </a:lnTo>
                <a:lnTo>
                  <a:pt x="668818" y="90413"/>
                </a:lnTo>
                <a:lnTo>
                  <a:pt x="702421" y="120538"/>
                </a:lnTo>
                <a:lnTo>
                  <a:pt x="732546" y="154141"/>
                </a:lnTo>
                <a:lnTo>
                  <a:pt x="758884" y="190913"/>
                </a:lnTo>
                <a:lnTo>
                  <a:pt x="781127" y="230543"/>
                </a:lnTo>
                <a:lnTo>
                  <a:pt x="798965" y="272725"/>
                </a:lnTo>
                <a:lnTo>
                  <a:pt x="812089" y="317147"/>
                </a:lnTo>
                <a:lnTo>
                  <a:pt x="820190" y="363502"/>
                </a:lnTo>
                <a:lnTo>
                  <a:pt x="822959" y="411480"/>
                </a:lnTo>
                <a:lnTo>
                  <a:pt x="820190" y="459457"/>
                </a:lnTo>
                <a:lnTo>
                  <a:pt x="812089" y="505812"/>
                </a:lnTo>
                <a:lnTo>
                  <a:pt x="798965" y="550234"/>
                </a:lnTo>
                <a:lnTo>
                  <a:pt x="781127" y="592416"/>
                </a:lnTo>
                <a:lnTo>
                  <a:pt x="758884" y="632046"/>
                </a:lnTo>
                <a:lnTo>
                  <a:pt x="732546" y="668818"/>
                </a:lnTo>
                <a:lnTo>
                  <a:pt x="702421" y="702421"/>
                </a:lnTo>
                <a:lnTo>
                  <a:pt x="668818" y="732546"/>
                </a:lnTo>
                <a:lnTo>
                  <a:pt x="632046" y="758884"/>
                </a:lnTo>
                <a:lnTo>
                  <a:pt x="592416" y="781127"/>
                </a:lnTo>
                <a:lnTo>
                  <a:pt x="550234" y="798965"/>
                </a:lnTo>
                <a:lnTo>
                  <a:pt x="505812" y="812089"/>
                </a:lnTo>
                <a:lnTo>
                  <a:pt x="459457" y="820190"/>
                </a:lnTo>
                <a:lnTo>
                  <a:pt x="411479" y="822960"/>
                </a:lnTo>
                <a:lnTo>
                  <a:pt x="363502" y="820190"/>
                </a:lnTo>
                <a:lnTo>
                  <a:pt x="317147" y="812089"/>
                </a:lnTo>
                <a:lnTo>
                  <a:pt x="272725" y="798965"/>
                </a:lnTo>
                <a:lnTo>
                  <a:pt x="230543" y="781127"/>
                </a:lnTo>
                <a:lnTo>
                  <a:pt x="190913" y="758884"/>
                </a:lnTo>
                <a:lnTo>
                  <a:pt x="154141" y="732546"/>
                </a:lnTo>
                <a:lnTo>
                  <a:pt x="120538" y="702421"/>
                </a:lnTo>
                <a:lnTo>
                  <a:pt x="90413" y="668818"/>
                </a:lnTo>
                <a:lnTo>
                  <a:pt x="64075" y="632046"/>
                </a:lnTo>
                <a:lnTo>
                  <a:pt x="41832" y="592416"/>
                </a:lnTo>
                <a:lnTo>
                  <a:pt x="23994" y="550234"/>
                </a:lnTo>
                <a:lnTo>
                  <a:pt x="10870" y="505812"/>
                </a:lnTo>
                <a:lnTo>
                  <a:pt x="2769" y="459457"/>
                </a:lnTo>
                <a:lnTo>
                  <a:pt x="0" y="411480"/>
                </a:lnTo>
                <a:close/>
              </a:path>
            </a:pathLst>
          </a:custGeom>
          <a:ln w="12192">
            <a:solidFill>
              <a:srgbClr val="507D31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7115" y="1295400"/>
            <a:ext cx="428243" cy="4267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85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580390"/>
            <a:ext cx="6614159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85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315" y="2046477"/>
            <a:ext cx="5344795" cy="2086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76707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72714" y="4850003"/>
            <a:ext cx="2799715" cy="12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07542" y="4850003"/>
            <a:ext cx="516255" cy="12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82051" y="4850003"/>
            <a:ext cx="193040" cy="12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jpg"/><Relationship Id="rId9" Type="http://schemas.openxmlformats.org/officeDocument/2006/relationships/image" Target="../media/image11.jp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jpg"/><Relationship Id="rId13" Type="http://schemas.openxmlformats.org/officeDocument/2006/relationships/image" Target="../media/image15.jpg"/><Relationship Id="rId14" Type="http://schemas.openxmlformats.org/officeDocument/2006/relationships/image" Target="../media/image16.png"/><Relationship Id="rId15" Type="http://schemas.openxmlformats.org/officeDocument/2006/relationships/image" Target="../media/image4.png"/><Relationship Id="rId16" Type="http://schemas.openxmlformats.org/officeDocument/2006/relationships/image" Target="../media/image3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jp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0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jpg"/><Relationship Id="rId5" Type="http://schemas.openxmlformats.org/officeDocument/2006/relationships/image" Target="../media/image52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70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46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46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46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46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46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46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46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70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47.png"/><Relationship Id="rId10" Type="http://schemas.openxmlformats.org/officeDocument/2006/relationships/image" Target="../media/image86.png"/><Relationship Id="rId11" Type="http://schemas.openxmlformats.org/officeDocument/2006/relationships/image" Target="../media/image46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image" Target="../media/image46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40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3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40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37959" y="0"/>
            <a:ext cx="2606040" cy="5143500"/>
            <a:chOff x="6537959" y="0"/>
            <a:chExt cx="2606040" cy="5143500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3227" y="4568426"/>
              <a:ext cx="178593" cy="2357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53199" y="0"/>
              <a:ext cx="2590800" cy="5143500"/>
            </a:xfrm>
            <a:custGeom>
              <a:avLst/>
              <a:gdLst/>
              <a:ahLst/>
              <a:cxnLst/>
              <a:rect l="l" t="t" r="r" b="b"/>
              <a:pathLst>
                <a:path w="2590800" h="5143500">
                  <a:moveTo>
                    <a:pt x="25908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590800" y="51435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537959" y="0"/>
              <a:ext cx="15240" cy="5143500"/>
            </a:xfrm>
            <a:custGeom>
              <a:avLst/>
              <a:gdLst/>
              <a:ahLst/>
              <a:cxnLst/>
              <a:rect l="l" t="t" r="r" b="b"/>
              <a:pathLst>
                <a:path w="15240" h="5143500">
                  <a:moveTo>
                    <a:pt x="1524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5240" y="514350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Université Hassan I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0355" y="89915"/>
              <a:ext cx="1597152" cy="58521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77655" y="4626864"/>
              <a:ext cx="169545" cy="146685"/>
            </a:xfrm>
            <a:custGeom>
              <a:avLst/>
              <a:gdLst/>
              <a:ahLst/>
              <a:cxnLst/>
              <a:rect l="l" t="t" r="r" b="b"/>
              <a:pathLst>
                <a:path w="169545" h="146685">
                  <a:moveTo>
                    <a:pt x="169164" y="0"/>
                  </a:moveTo>
                  <a:lnTo>
                    <a:pt x="0" y="0"/>
                  </a:lnTo>
                  <a:lnTo>
                    <a:pt x="0" y="146304"/>
                  </a:lnTo>
                  <a:lnTo>
                    <a:pt x="169164" y="146304"/>
                  </a:lnTo>
                  <a:lnTo>
                    <a:pt x="169164" y="0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77655" y="4626864"/>
              <a:ext cx="169545" cy="146685"/>
            </a:xfrm>
            <a:custGeom>
              <a:avLst/>
              <a:gdLst/>
              <a:ahLst/>
              <a:cxnLst/>
              <a:rect l="l" t="t" r="r" b="b"/>
              <a:pathLst>
                <a:path w="169545" h="146685">
                  <a:moveTo>
                    <a:pt x="0" y="146304"/>
                  </a:moveTo>
                  <a:lnTo>
                    <a:pt x="169164" y="146304"/>
                  </a:lnTo>
                  <a:lnTo>
                    <a:pt x="169164" y="0"/>
                  </a:lnTo>
                  <a:lnTo>
                    <a:pt x="0" y="0"/>
                  </a:lnTo>
                  <a:lnTo>
                    <a:pt x="0" y="146304"/>
                  </a:lnTo>
                  <a:close/>
                </a:path>
              </a:pathLst>
            </a:custGeom>
            <a:ln w="12192">
              <a:solidFill>
                <a:srgbClr val="FF45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258695" y="778002"/>
            <a:ext cx="15297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0">
                <a:solidFill>
                  <a:srgbClr val="FF4500"/>
                </a:solidFill>
                <a:latin typeface="Malgun Gothic Semilight"/>
                <a:cs typeface="Malgun Gothic Semilight"/>
              </a:rPr>
              <a:t>PR</a:t>
            </a:r>
            <a:r>
              <a:rPr dirty="0" sz="900" spc="-114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b="0">
                <a:solidFill>
                  <a:srgbClr val="FF4500"/>
                </a:solidFill>
                <a:latin typeface="Malgun Gothic Semilight"/>
                <a:cs typeface="Malgun Gothic Semilight"/>
              </a:rPr>
              <a:t>E</a:t>
            </a:r>
            <a:r>
              <a:rPr dirty="0" sz="900" spc="-90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spc="-10" b="0">
                <a:solidFill>
                  <a:srgbClr val="FF4500"/>
                </a:solidFill>
                <a:latin typeface="Malgun Gothic Semilight"/>
                <a:cs typeface="Malgun Gothic Semilight"/>
              </a:rPr>
              <a:t>S</a:t>
            </a:r>
            <a:r>
              <a:rPr dirty="0" sz="900" spc="-100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b="0">
                <a:solidFill>
                  <a:srgbClr val="FF4500"/>
                </a:solidFill>
                <a:latin typeface="Malgun Gothic Semilight"/>
                <a:cs typeface="Malgun Gothic Semilight"/>
              </a:rPr>
              <a:t>E</a:t>
            </a:r>
            <a:r>
              <a:rPr dirty="0" sz="900" spc="-90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b="0">
                <a:solidFill>
                  <a:srgbClr val="FF4500"/>
                </a:solidFill>
                <a:latin typeface="Malgun Gothic Semilight"/>
                <a:cs typeface="Malgun Gothic Semilight"/>
              </a:rPr>
              <a:t>NTATION</a:t>
            </a:r>
            <a:r>
              <a:rPr dirty="0" sz="900" spc="80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b="0">
                <a:solidFill>
                  <a:srgbClr val="FF4500"/>
                </a:solidFill>
                <a:latin typeface="Malgun Gothic Semilight"/>
                <a:cs typeface="Malgun Gothic Semilight"/>
              </a:rPr>
              <a:t>DE</a:t>
            </a:r>
            <a:r>
              <a:rPr dirty="0" sz="900" spc="210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b="0">
                <a:solidFill>
                  <a:srgbClr val="FF4500"/>
                </a:solidFill>
                <a:latin typeface="Malgun Gothic Semilight"/>
                <a:cs typeface="Malgun Gothic Semilight"/>
              </a:rPr>
              <a:t>COUR</a:t>
            </a:r>
            <a:r>
              <a:rPr dirty="0" sz="900" spc="-110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spc="-50" b="0">
                <a:solidFill>
                  <a:srgbClr val="FF4500"/>
                </a:solidFill>
                <a:latin typeface="Malgun Gothic Semilight"/>
                <a:cs typeface="Malgun Gothic Semilight"/>
              </a:rPr>
              <a:t>S</a:t>
            </a:r>
            <a:endParaRPr sz="900">
              <a:latin typeface="Malgun Gothic Semilight"/>
              <a:cs typeface="Malgun Gothic Semilight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051052" y="1029157"/>
            <a:ext cx="4868545" cy="934719"/>
          </a:xfrm>
          <a:prstGeom prst="rect"/>
        </p:spPr>
        <p:txBody>
          <a:bodyPr wrap="square" lIns="0" tIns="107950" rIns="0" bIns="0" rtlCol="0" vert="horz">
            <a:spAutoFit/>
          </a:bodyPr>
          <a:lstStyle/>
          <a:p>
            <a:pPr marL="12700" marR="5080">
              <a:lnSpc>
                <a:spcPts val="3190"/>
              </a:lnSpc>
              <a:spcBef>
                <a:spcPts val="850"/>
              </a:spcBef>
            </a:pPr>
            <a:r>
              <a:rPr dirty="0" sz="3300">
                <a:solidFill>
                  <a:srgbClr val="1A1A1A"/>
                </a:solidFill>
                <a:latin typeface="Arial"/>
                <a:cs typeface="Arial"/>
              </a:rPr>
              <a:t>S</a:t>
            </a:r>
            <a:r>
              <a:rPr dirty="0" sz="3300">
                <a:solidFill>
                  <a:srgbClr val="767070"/>
                </a:solidFill>
                <a:latin typeface="Arial"/>
                <a:cs typeface="Arial"/>
              </a:rPr>
              <a:t>ystèmes</a:t>
            </a:r>
            <a:r>
              <a:rPr dirty="0" sz="3300" spc="-180">
                <a:solidFill>
                  <a:srgbClr val="767070"/>
                </a:solidFill>
                <a:latin typeface="Arial"/>
                <a:cs typeface="Arial"/>
              </a:rPr>
              <a:t> </a:t>
            </a:r>
            <a:r>
              <a:rPr dirty="0" sz="3300" spc="-10">
                <a:solidFill>
                  <a:srgbClr val="767070"/>
                </a:solidFill>
                <a:latin typeface="Arial"/>
                <a:cs typeface="Arial"/>
              </a:rPr>
              <a:t>d’</a:t>
            </a:r>
            <a:r>
              <a:rPr dirty="0" sz="3300" spc="-10">
                <a:solidFill>
                  <a:srgbClr val="1A1A1A"/>
                </a:solidFill>
                <a:latin typeface="Arial"/>
                <a:cs typeface="Arial"/>
              </a:rPr>
              <a:t>E</a:t>
            </a:r>
            <a:r>
              <a:rPr dirty="0" sz="3300" spc="-10">
                <a:solidFill>
                  <a:srgbClr val="767070"/>
                </a:solidFill>
                <a:latin typeface="Arial"/>
                <a:cs typeface="Arial"/>
              </a:rPr>
              <a:t>xploitation </a:t>
            </a:r>
            <a:r>
              <a:rPr dirty="0" sz="3300">
                <a:solidFill>
                  <a:srgbClr val="1A1A1A"/>
                </a:solidFill>
                <a:latin typeface="Arial"/>
                <a:cs typeface="Arial"/>
              </a:rPr>
              <a:t>T</a:t>
            </a:r>
            <a:r>
              <a:rPr dirty="0" sz="3300">
                <a:solidFill>
                  <a:srgbClr val="767070"/>
                </a:solidFill>
                <a:latin typeface="Arial"/>
                <a:cs typeface="Arial"/>
              </a:rPr>
              <a:t>emps</a:t>
            </a:r>
            <a:r>
              <a:rPr dirty="0" sz="3300" spc="-125">
                <a:solidFill>
                  <a:srgbClr val="767070"/>
                </a:solidFill>
                <a:latin typeface="Arial"/>
                <a:cs typeface="Arial"/>
              </a:rPr>
              <a:t> </a:t>
            </a:r>
            <a:r>
              <a:rPr dirty="0" sz="3300" spc="-20">
                <a:solidFill>
                  <a:srgbClr val="1A1A1A"/>
                </a:solidFill>
                <a:latin typeface="Arial"/>
                <a:cs typeface="Arial"/>
              </a:rPr>
              <a:t>R</a:t>
            </a:r>
            <a:r>
              <a:rPr dirty="0" sz="3300" spc="-20">
                <a:solidFill>
                  <a:srgbClr val="767070"/>
                </a:solidFill>
                <a:latin typeface="Arial"/>
                <a:cs typeface="Arial"/>
              </a:rPr>
              <a:t>éel</a:t>
            </a:r>
            <a:endParaRPr sz="33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7056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A1A1A"/>
                </a:solidFill>
              </a:rPr>
              <a:t>R</a:t>
            </a:r>
            <a:r>
              <a:rPr dirty="0"/>
              <a:t>eal</a:t>
            </a:r>
            <a:r>
              <a:rPr dirty="0" spc="-35"/>
              <a:t> </a:t>
            </a:r>
            <a:r>
              <a:rPr dirty="0">
                <a:solidFill>
                  <a:srgbClr val="1A1A1A"/>
                </a:solidFill>
              </a:rPr>
              <a:t>Time</a:t>
            </a:r>
            <a:r>
              <a:rPr dirty="0" spc="-45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O</a:t>
            </a:r>
            <a:r>
              <a:rPr dirty="0"/>
              <a:t>perating</a:t>
            </a:r>
            <a:r>
              <a:rPr dirty="0" spc="-40"/>
              <a:t> </a:t>
            </a:r>
            <a:r>
              <a:rPr dirty="0" spc="-10">
                <a:solidFill>
                  <a:srgbClr val="1A1A1A"/>
                </a:solidFill>
              </a:rPr>
              <a:t>S</a:t>
            </a:r>
            <a:r>
              <a:rPr dirty="0" spc="-10"/>
              <a:t>ystems</a:t>
            </a:r>
          </a:p>
          <a:p>
            <a:pPr>
              <a:lnSpc>
                <a:spcPct val="100000"/>
              </a:lnSpc>
              <a:spcBef>
                <a:spcPts val="1075"/>
              </a:spcBef>
            </a:pPr>
          </a:p>
          <a:p>
            <a:pPr marL="652145">
              <a:lnSpc>
                <a:spcPct val="100000"/>
              </a:lnSpc>
            </a:pPr>
            <a:r>
              <a:rPr dirty="0" sz="1250" b="0">
                <a:solidFill>
                  <a:srgbClr val="333333"/>
                </a:solidFill>
                <a:latin typeface="Malgun Gothic Semilight"/>
                <a:cs typeface="Malgun Gothic Semilight"/>
              </a:rPr>
              <a:t>Des</a:t>
            </a:r>
            <a:r>
              <a:rPr dirty="0" sz="1250" spc="16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50" b="0">
                <a:solidFill>
                  <a:srgbClr val="333333"/>
                </a:solidFill>
                <a:latin typeface="Malgun Gothic Semilight"/>
                <a:cs typeface="Malgun Gothic Semilight"/>
              </a:rPr>
              <a:t>fondamentaux</a:t>
            </a:r>
            <a:r>
              <a:rPr dirty="0" sz="1250" spc="13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50" b="0">
                <a:solidFill>
                  <a:srgbClr val="333333"/>
                </a:solidFill>
                <a:latin typeface="Malgun Gothic Semilight"/>
                <a:cs typeface="Malgun Gothic Semilight"/>
              </a:rPr>
              <a:t>aux</a:t>
            </a:r>
            <a:r>
              <a:rPr dirty="0" sz="1250" spc="12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50" b="0">
                <a:solidFill>
                  <a:srgbClr val="333333"/>
                </a:solidFill>
                <a:latin typeface="Malgun Gothic Semilight"/>
                <a:cs typeface="Malgun Gothic Semilight"/>
              </a:rPr>
              <a:t>systèmes</a:t>
            </a:r>
            <a:r>
              <a:rPr dirty="0" sz="1250" spc="12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50" b="0">
                <a:solidFill>
                  <a:srgbClr val="333333"/>
                </a:solidFill>
                <a:latin typeface="Malgun Gothic Semilight"/>
                <a:cs typeface="Malgun Gothic Semilight"/>
              </a:rPr>
              <a:t>temps</a:t>
            </a:r>
            <a:r>
              <a:rPr dirty="0" sz="1250" spc="7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50" spc="-20" b="0">
                <a:solidFill>
                  <a:srgbClr val="333333"/>
                </a:solidFill>
                <a:latin typeface="Malgun Gothic Semilight"/>
                <a:cs typeface="Malgun Gothic Semilight"/>
              </a:rPr>
              <a:t>réel</a:t>
            </a:r>
            <a:endParaRPr sz="1250">
              <a:latin typeface="Malgun Gothic Semilight"/>
              <a:cs typeface="Malgun Gothic Semilight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25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Licence</a:t>
            </a:r>
            <a:r>
              <a:rPr dirty="0" sz="1000" spc="-45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Sciences</a:t>
            </a:r>
            <a:r>
              <a:rPr dirty="0" sz="1000" spc="1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et</a:t>
            </a:r>
            <a:r>
              <a:rPr dirty="0" sz="1000" spc="-3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Techniques</a:t>
            </a:r>
            <a:r>
              <a:rPr dirty="0" sz="1000" spc="-5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:</a:t>
            </a:r>
            <a:r>
              <a:rPr dirty="0" sz="1000" spc="5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spc="-10" b="0">
                <a:solidFill>
                  <a:srgbClr val="545454"/>
                </a:solidFill>
                <a:latin typeface="Malgun Gothic Semilight"/>
                <a:cs typeface="Malgun Gothic Semilight"/>
              </a:rPr>
              <a:t>S</a:t>
            </a:r>
            <a:r>
              <a:rPr dirty="0" sz="1000" spc="-16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ystèmes Intelligent</a:t>
            </a:r>
            <a:r>
              <a:rPr dirty="0" sz="1000" spc="-4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et</a:t>
            </a:r>
            <a:r>
              <a:rPr dirty="0" sz="1000" spc="-35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Objets</a:t>
            </a:r>
            <a:r>
              <a:rPr dirty="0" sz="1000" spc="1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spc="-10" b="0">
                <a:solidFill>
                  <a:srgbClr val="545454"/>
                </a:solidFill>
                <a:latin typeface="Malgun Gothic Semilight"/>
                <a:cs typeface="Malgun Gothic Semilight"/>
              </a:rPr>
              <a:t>Connectés</a:t>
            </a:r>
            <a:endParaRPr sz="1000">
              <a:latin typeface="Malgun Gothic Semilight"/>
              <a:cs typeface="Malgun Gothic Semilight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000">
              <a:latin typeface="Malgun Gothic Semilight"/>
              <a:cs typeface="Malgun Gothic Semilight"/>
            </a:endParaRPr>
          </a:p>
          <a:p>
            <a:pPr algn="r" marR="59055">
              <a:lnSpc>
                <a:spcPct val="100000"/>
              </a:lnSpc>
            </a:pPr>
            <a:r>
              <a:rPr dirty="0" sz="1000" spc="10">
                <a:solidFill>
                  <a:srgbClr val="545454"/>
                </a:solidFill>
                <a:latin typeface="Cambria"/>
                <a:cs typeface="Cambria"/>
              </a:rPr>
              <a:t>Pr.</a:t>
            </a:r>
            <a:r>
              <a:rPr dirty="0" sz="1000" spc="220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1000" spc="10">
                <a:solidFill>
                  <a:srgbClr val="545454"/>
                </a:solidFill>
                <a:latin typeface="Cambria"/>
                <a:cs typeface="Cambria"/>
              </a:rPr>
              <a:t>Abdelmajid</a:t>
            </a:r>
            <a:r>
              <a:rPr dirty="0" sz="1000" spc="285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1000" spc="65">
                <a:solidFill>
                  <a:srgbClr val="545454"/>
                </a:solidFill>
                <a:latin typeface="Cambria"/>
                <a:cs typeface="Cambria"/>
              </a:rPr>
              <a:t>HAJAMI.</a:t>
            </a:r>
            <a:endParaRPr sz="100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815"/>
              </a:spcBef>
            </a:pPr>
            <a:r>
              <a:rPr dirty="0" sz="1000" spc="-20">
                <a:solidFill>
                  <a:srgbClr val="545454"/>
                </a:solidFill>
                <a:latin typeface="Cambria"/>
                <a:cs typeface="Cambria"/>
              </a:rPr>
              <a:t>2026</a:t>
            </a:r>
            <a:endParaRPr sz="1000">
              <a:latin typeface="Cambria"/>
              <a:cs typeface="Cambria"/>
            </a:endParaRPr>
          </a:p>
        </p:txBody>
      </p:sp>
      <p:pic>
        <p:nvPicPr>
          <p:cNvPr id="12" name="object 12" descr="Logo FST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066" y="99162"/>
            <a:ext cx="828851" cy="8288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3228" y="4568426"/>
            <a:ext cx="178593" cy="2357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68958" y="766317"/>
            <a:ext cx="11798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0">
                <a:solidFill>
                  <a:srgbClr val="FF4500"/>
                </a:solidFill>
                <a:latin typeface="Malgun Gothic Semilight"/>
                <a:cs typeface="Malgun Gothic Semilight"/>
              </a:rPr>
              <a:t>S</a:t>
            </a:r>
            <a:r>
              <a:rPr dirty="0" sz="900" spc="-105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b="0">
                <a:solidFill>
                  <a:srgbClr val="FF4500"/>
                </a:solidFill>
                <a:latin typeface="Malgun Gothic Semilight"/>
                <a:cs typeface="Malgun Gothic Semilight"/>
              </a:rPr>
              <a:t>UPPOR</a:t>
            </a:r>
            <a:r>
              <a:rPr dirty="0" sz="900" spc="-114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b="0">
                <a:solidFill>
                  <a:srgbClr val="FF4500"/>
                </a:solidFill>
                <a:latin typeface="Malgun Gothic Semilight"/>
                <a:cs typeface="Malgun Gothic Semilight"/>
              </a:rPr>
              <a:t>T</a:t>
            </a:r>
            <a:r>
              <a:rPr dirty="0" sz="900" spc="140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b="0">
                <a:solidFill>
                  <a:srgbClr val="FF4500"/>
                </a:solidFill>
                <a:latin typeface="Malgun Gothic Semilight"/>
                <a:cs typeface="Malgun Gothic Semilight"/>
              </a:rPr>
              <a:t>DE</a:t>
            </a:r>
            <a:r>
              <a:rPr dirty="0" sz="900" spc="185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b="0">
                <a:solidFill>
                  <a:srgbClr val="FF4500"/>
                </a:solidFill>
                <a:latin typeface="Malgun Gothic Semilight"/>
                <a:cs typeface="Malgun Gothic Semilight"/>
              </a:rPr>
              <a:t>COUR</a:t>
            </a:r>
            <a:r>
              <a:rPr dirty="0" sz="900" spc="-114" b="0">
                <a:solidFill>
                  <a:srgbClr val="FF4500"/>
                </a:solidFill>
                <a:latin typeface="Malgun Gothic Semilight"/>
                <a:cs typeface="Malgun Gothic Semilight"/>
              </a:rPr>
              <a:t> </a:t>
            </a:r>
            <a:r>
              <a:rPr dirty="0" sz="900" spc="-50" b="0">
                <a:solidFill>
                  <a:srgbClr val="FF4500"/>
                </a:solidFill>
                <a:latin typeface="Malgun Gothic Semilight"/>
                <a:cs typeface="Malgun Gothic Semilight"/>
              </a:rPr>
              <a:t>S</a:t>
            </a:r>
            <a:endParaRPr sz="900">
              <a:latin typeface="Malgun Gothic Semilight"/>
              <a:cs typeface="Malgun Gothic Semiligh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61594" y="1017473"/>
            <a:ext cx="4868545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1A1A1A"/>
                </a:solidFill>
                <a:latin typeface="Arial"/>
                <a:cs typeface="Arial"/>
              </a:rPr>
              <a:t>S</a:t>
            </a:r>
            <a:r>
              <a:rPr dirty="0" sz="3300">
                <a:solidFill>
                  <a:srgbClr val="767070"/>
                </a:solidFill>
                <a:latin typeface="Arial"/>
                <a:cs typeface="Arial"/>
              </a:rPr>
              <a:t>ystèmes</a:t>
            </a:r>
            <a:r>
              <a:rPr dirty="0" sz="3300" spc="-185">
                <a:solidFill>
                  <a:srgbClr val="767070"/>
                </a:solidFill>
                <a:latin typeface="Arial"/>
                <a:cs typeface="Arial"/>
              </a:rPr>
              <a:t> </a:t>
            </a:r>
            <a:r>
              <a:rPr dirty="0" sz="3300" spc="-10">
                <a:solidFill>
                  <a:srgbClr val="767070"/>
                </a:solidFill>
                <a:latin typeface="Arial"/>
                <a:cs typeface="Arial"/>
              </a:rPr>
              <a:t>d’</a:t>
            </a:r>
            <a:r>
              <a:rPr dirty="0" sz="3300" spc="-10">
                <a:solidFill>
                  <a:srgbClr val="1A1A1A"/>
                </a:solidFill>
                <a:latin typeface="Arial"/>
                <a:cs typeface="Arial"/>
              </a:rPr>
              <a:t>E</a:t>
            </a:r>
            <a:r>
              <a:rPr dirty="0" sz="3300" spc="-10">
                <a:solidFill>
                  <a:srgbClr val="767070"/>
                </a:solidFill>
                <a:latin typeface="Arial"/>
                <a:cs typeface="Arial"/>
              </a:rPr>
              <a:t>xploitation</a:t>
            </a:r>
            <a:endParaRPr sz="3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594" y="1423542"/>
            <a:ext cx="237744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A1A1A"/>
                </a:solidFill>
                <a:latin typeface="Arial"/>
                <a:cs typeface="Arial"/>
              </a:rPr>
              <a:t>T</a:t>
            </a:r>
            <a:r>
              <a:rPr dirty="0" sz="3300" b="1">
                <a:solidFill>
                  <a:srgbClr val="767070"/>
                </a:solidFill>
                <a:latin typeface="Arial"/>
                <a:cs typeface="Arial"/>
              </a:rPr>
              <a:t>emps</a:t>
            </a:r>
            <a:r>
              <a:rPr dirty="0" sz="3300" spc="-135" b="1">
                <a:solidFill>
                  <a:srgbClr val="767070"/>
                </a:solidFill>
                <a:latin typeface="Arial"/>
                <a:cs typeface="Arial"/>
              </a:rPr>
              <a:t> </a:t>
            </a:r>
            <a:r>
              <a:rPr dirty="0" sz="3300" spc="-20" b="1">
                <a:solidFill>
                  <a:srgbClr val="1A1A1A"/>
                </a:solidFill>
                <a:latin typeface="Arial"/>
                <a:cs typeface="Arial"/>
              </a:rPr>
              <a:t>R</a:t>
            </a:r>
            <a:r>
              <a:rPr dirty="0" sz="3300" spc="-20" b="1">
                <a:solidFill>
                  <a:srgbClr val="767070"/>
                </a:solidFill>
                <a:latin typeface="Arial"/>
                <a:cs typeface="Arial"/>
              </a:rPr>
              <a:t>éel</a:t>
            </a:r>
            <a:endParaRPr sz="3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3327" y="2709164"/>
            <a:ext cx="315849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0">
                <a:solidFill>
                  <a:srgbClr val="333333"/>
                </a:solidFill>
                <a:latin typeface="Malgun Gothic Semilight"/>
                <a:cs typeface="Malgun Gothic Semilight"/>
              </a:rPr>
              <a:t>Des</a:t>
            </a:r>
            <a:r>
              <a:rPr dirty="0" sz="1250" spc="16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50" b="0">
                <a:solidFill>
                  <a:srgbClr val="333333"/>
                </a:solidFill>
                <a:latin typeface="Malgun Gothic Semilight"/>
                <a:cs typeface="Malgun Gothic Semilight"/>
              </a:rPr>
              <a:t>fondamentaux</a:t>
            </a:r>
            <a:r>
              <a:rPr dirty="0" sz="1250" spc="13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50" b="0">
                <a:solidFill>
                  <a:srgbClr val="333333"/>
                </a:solidFill>
                <a:latin typeface="Malgun Gothic Semilight"/>
                <a:cs typeface="Malgun Gothic Semilight"/>
              </a:rPr>
              <a:t>aux</a:t>
            </a:r>
            <a:r>
              <a:rPr dirty="0" sz="1250" spc="12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50" b="0">
                <a:solidFill>
                  <a:srgbClr val="333333"/>
                </a:solidFill>
                <a:latin typeface="Malgun Gothic Semilight"/>
                <a:cs typeface="Malgun Gothic Semilight"/>
              </a:rPr>
              <a:t>systèmes</a:t>
            </a:r>
            <a:r>
              <a:rPr dirty="0" sz="1250" spc="12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50" b="0">
                <a:solidFill>
                  <a:srgbClr val="333333"/>
                </a:solidFill>
                <a:latin typeface="Malgun Gothic Semilight"/>
                <a:cs typeface="Malgun Gothic Semilight"/>
              </a:rPr>
              <a:t>temps</a:t>
            </a:r>
            <a:r>
              <a:rPr dirty="0" sz="1250" spc="7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50" spc="-20" b="0">
                <a:solidFill>
                  <a:srgbClr val="333333"/>
                </a:solidFill>
                <a:latin typeface="Malgun Gothic Semilight"/>
                <a:cs typeface="Malgun Gothic Semilight"/>
              </a:rPr>
              <a:t>réel</a:t>
            </a:r>
            <a:endParaRPr sz="1250">
              <a:latin typeface="Malgun Gothic Semilight"/>
              <a:cs typeface="Malgun Gothic Semi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552" y="3269056"/>
            <a:ext cx="41478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Licence</a:t>
            </a:r>
            <a:r>
              <a:rPr dirty="0" sz="1000" spc="-45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Sciences</a:t>
            </a:r>
            <a:r>
              <a:rPr dirty="0" sz="1000" spc="1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et</a:t>
            </a:r>
            <a:r>
              <a:rPr dirty="0" sz="1000" spc="-3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Techniques</a:t>
            </a:r>
            <a:r>
              <a:rPr dirty="0" sz="1000" spc="-5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:</a:t>
            </a:r>
            <a:r>
              <a:rPr dirty="0" sz="1000" spc="5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spc="-10" b="0">
                <a:solidFill>
                  <a:srgbClr val="545454"/>
                </a:solidFill>
                <a:latin typeface="Malgun Gothic Semilight"/>
                <a:cs typeface="Malgun Gothic Semilight"/>
              </a:rPr>
              <a:t>S</a:t>
            </a:r>
            <a:r>
              <a:rPr dirty="0" sz="1000" spc="-16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ystèmes Intelligent</a:t>
            </a:r>
            <a:r>
              <a:rPr dirty="0" sz="1000" spc="-4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et</a:t>
            </a:r>
            <a:r>
              <a:rPr dirty="0" sz="1000" spc="-35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b="0">
                <a:solidFill>
                  <a:srgbClr val="545454"/>
                </a:solidFill>
                <a:latin typeface="Malgun Gothic Semilight"/>
                <a:cs typeface="Malgun Gothic Semilight"/>
              </a:rPr>
              <a:t>Objets</a:t>
            </a:r>
            <a:r>
              <a:rPr dirty="0" sz="1000" spc="1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spc="-10" b="0">
                <a:solidFill>
                  <a:srgbClr val="545454"/>
                </a:solidFill>
                <a:latin typeface="Malgun Gothic Semilight"/>
                <a:cs typeface="Malgun Gothic Semilight"/>
              </a:rPr>
              <a:t>Connectés</a:t>
            </a:r>
            <a:endParaRPr sz="1000">
              <a:latin typeface="Malgun Gothic Semilight"/>
              <a:cs typeface="Malgun Gothic Semi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03520" y="0"/>
            <a:ext cx="3840479" cy="5143500"/>
            <a:chOff x="5303520" y="0"/>
            <a:chExt cx="3840479" cy="5143500"/>
          </a:xfrm>
        </p:grpSpPr>
        <p:sp>
          <p:nvSpPr>
            <p:cNvPr id="9" name="object 9"/>
            <p:cNvSpPr/>
            <p:nvPr/>
          </p:nvSpPr>
          <p:spPr>
            <a:xfrm>
              <a:off x="5303520" y="0"/>
              <a:ext cx="3840479" cy="5143500"/>
            </a:xfrm>
            <a:custGeom>
              <a:avLst/>
              <a:gdLst/>
              <a:ahLst/>
              <a:cxnLst/>
              <a:rect l="l" t="t" r="r" b="b"/>
              <a:pathLst>
                <a:path w="3840479" h="5143500">
                  <a:moveTo>
                    <a:pt x="3840479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3840479" y="5143500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F7F7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303520" y="0"/>
              <a:ext cx="13970" cy="5143500"/>
            </a:xfrm>
            <a:custGeom>
              <a:avLst/>
              <a:gdLst/>
              <a:ahLst/>
              <a:cxnLst/>
              <a:rect l="l" t="t" r="r" b="b"/>
              <a:pathLst>
                <a:path w="13970" h="5143500">
                  <a:moveTo>
                    <a:pt x="1371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3715" y="5143500"/>
                  </a:lnTo>
                  <a:lnTo>
                    <a:pt x="13715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784482" y="646556"/>
            <a:ext cx="524510" cy="400685"/>
          </a:xfrm>
          <a:prstGeom prst="rect">
            <a:avLst/>
          </a:prstGeom>
        </p:spPr>
        <p:txBody>
          <a:bodyPr wrap="square" lIns="0" tIns="425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2950" spc="-50" b="1">
                <a:solidFill>
                  <a:srgbClr val="FF4500"/>
                </a:solidFill>
                <a:latin typeface="Segoe UI Symbol"/>
                <a:cs typeface="Segoe UI Symbol"/>
              </a:rPr>
              <a:t>➜</a:t>
            </a:r>
            <a:endParaRPr sz="2950">
              <a:latin typeface="Segoe UI Symbol"/>
              <a:cs typeface="Segoe UI Symbo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93828" y="2007044"/>
            <a:ext cx="2702560" cy="675640"/>
            <a:chOff x="5993828" y="2007044"/>
            <a:chExt cx="2702560" cy="675640"/>
          </a:xfrm>
        </p:grpSpPr>
        <p:sp>
          <p:nvSpPr>
            <p:cNvPr id="13" name="object 13"/>
            <p:cNvSpPr/>
            <p:nvPr/>
          </p:nvSpPr>
          <p:spPr>
            <a:xfrm>
              <a:off x="6003035" y="2016252"/>
              <a:ext cx="2684145" cy="657225"/>
            </a:xfrm>
            <a:custGeom>
              <a:avLst/>
              <a:gdLst/>
              <a:ahLst/>
              <a:cxnLst/>
              <a:rect l="l" t="t" r="r" b="b"/>
              <a:pathLst>
                <a:path w="2684145" h="657225">
                  <a:moveTo>
                    <a:pt x="2683764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2683764" y="656844"/>
                  </a:lnTo>
                  <a:lnTo>
                    <a:pt x="2683764" y="0"/>
                  </a:lnTo>
                  <a:close/>
                </a:path>
              </a:pathLst>
            </a:custGeom>
            <a:solidFill>
              <a:srgbClr val="FFE8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003035" y="2016252"/>
              <a:ext cx="2684145" cy="657225"/>
            </a:xfrm>
            <a:custGeom>
              <a:avLst/>
              <a:gdLst/>
              <a:ahLst/>
              <a:cxnLst/>
              <a:rect l="l" t="t" r="r" b="b"/>
              <a:pathLst>
                <a:path w="2684145" h="657225">
                  <a:moveTo>
                    <a:pt x="0" y="656844"/>
                  </a:moveTo>
                  <a:lnTo>
                    <a:pt x="2683764" y="656844"/>
                  </a:lnTo>
                  <a:lnTo>
                    <a:pt x="2683764" y="0"/>
                  </a:lnTo>
                  <a:lnTo>
                    <a:pt x="0" y="0"/>
                  </a:lnTo>
                  <a:lnTo>
                    <a:pt x="0" y="656844"/>
                  </a:lnTo>
                  <a:close/>
                </a:path>
              </a:pathLst>
            </a:custGeom>
            <a:ln w="18287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196076" y="1995627"/>
            <a:ext cx="131254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0">
                <a:solidFill>
                  <a:srgbClr val="1A1A1A"/>
                </a:solidFill>
                <a:latin typeface="Malgun Gothic Semilight"/>
                <a:cs typeface="Malgun Gothic Semilight"/>
              </a:rPr>
              <a:t>NOYAU</a:t>
            </a:r>
            <a:r>
              <a:rPr dirty="0" sz="1100" spc="35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1100" b="0">
                <a:solidFill>
                  <a:srgbClr val="1A1A1A"/>
                </a:solidFill>
                <a:latin typeface="Malgun Gothic Semilight"/>
                <a:cs typeface="Malgun Gothic Semilight"/>
              </a:rPr>
              <a:t>/</a:t>
            </a:r>
            <a:r>
              <a:rPr dirty="0" sz="1100" spc="-5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1100" b="0">
                <a:solidFill>
                  <a:srgbClr val="1A1A1A"/>
                </a:solidFill>
                <a:latin typeface="Malgun Gothic Semilight"/>
                <a:cs typeface="Malgun Gothic Semilight"/>
              </a:rPr>
              <a:t>S</a:t>
            </a:r>
            <a:r>
              <a:rPr dirty="0" sz="1100" spc="-145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1100" b="0">
                <a:solidFill>
                  <a:srgbClr val="1A1A1A"/>
                </a:solidFill>
                <a:latin typeface="Malgun Gothic Semilight"/>
                <a:cs typeface="Malgun Gothic Semilight"/>
              </a:rPr>
              <a:t>E</a:t>
            </a:r>
            <a:r>
              <a:rPr dirty="0" sz="1100" spc="-13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1100" spc="-10" b="0">
                <a:solidFill>
                  <a:srgbClr val="1A1A1A"/>
                </a:solidFill>
                <a:latin typeface="Malgun Gothic Semilight"/>
                <a:cs typeface="Malgun Gothic Semilight"/>
              </a:rPr>
              <a:t>R</a:t>
            </a:r>
            <a:r>
              <a:rPr dirty="0" sz="1100" spc="-16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1100" b="0">
                <a:solidFill>
                  <a:srgbClr val="1A1A1A"/>
                </a:solidFill>
                <a:latin typeface="Malgun Gothic Semilight"/>
                <a:cs typeface="Malgun Gothic Semilight"/>
              </a:rPr>
              <a:t>VICE</a:t>
            </a:r>
            <a:r>
              <a:rPr dirty="0" sz="1100" spc="-13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1100" spc="-50" b="0">
                <a:solidFill>
                  <a:srgbClr val="1A1A1A"/>
                </a:solidFill>
                <a:latin typeface="Malgun Gothic Semilight"/>
                <a:cs typeface="Malgun Gothic Semilight"/>
              </a:rPr>
              <a:t>S</a:t>
            </a:r>
            <a:endParaRPr sz="1100">
              <a:latin typeface="Malgun Gothic Semilight"/>
              <a:cs typeface="Malgun Gothic Semiligh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61468" y="3009836"/>
            <a:ext cx="2662555" cy="772795"/>
            <a:chOff x="6161468" y="3009836"/>
            <a:chExt cx="2662555" cy="772795"/>
          </a:xfrm>
        </p:grpSpPr>
        <p:sp>
          <p:nvSpPr>
            <p:cNvPr id="17" name="object 17"/>
            <p:cNvSpPr/>
            <p:nvPr/>
          </p:nvSpPr>
          <p:spPr>
            <a:xfrm>
              <a:off x="6170675" y="3019043"/>
              <a:ext cx="2644140" cy="754380"/>
            </a:xfrm>
            <a:custGeom>
              <a:avLst/>
              <a:gdLst/>
              <a:ahLst/>
              <a:cxnLst/>
              <a:rect l="l" t="t" r="r" b="b"/>
              <a:pathLst>
                <a:path w="2644140" h="754379">
                  <a:moveTo>
                    <a:pt x="2644139" y="0"/>
                  </a:moveTo>
                  <a:lnTo>
                    <a:pt x="0" y="0"/>
                  </a:lnTo>
                  <a:lnTo>
                    <a:pt x="0" y="754380"/>
                  </a:lnTo>
                  <a:lnTo>
                    <a:pt x="2644139" y="754380"/>
                  </a:lnTo>
                  <a:lnTo>
                    <a:pt x="2644139" y="0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70675" y="3019043"/>
              <a:ext cx="2644140" cy="754380"/>
            </a:xfrm>
            <a:custGeom>
              <a:avLst/>
              <a:gdLst/>
              <a:ahLst/>
              <a:cxnLst/>
              <a:rect l="l" t="t" r="r" b="b"/>
              <a:pathLst>
                <a:path w="2644140" h="754379">
                  <a:moveTo>
                    <a:pt x="0" y="754380"/>
                  </a:moveTo>
                  <a:lnTo>
                    <a:pt x="2644139" y="754380"/>
                  </a:lnTo>
                  <a:lnTo>
                    <a:pt x="2644139" y="0"/>
                  </a:lnTo>
                  <a:lnTo>
                    <a:pt x="0" y="0"/>
                  </a:lnTo>
                  <a:lnTo>
                    <a:pt x="0" y="754380"/>
                  </a:lnTo>
                  <a:close/>
                </a:path>
              </a:pathLst>
            </a:custGeom>
            <a:ln w="18288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70676" y="3019044"/>
            <a:ext cx="2644140" cy="7543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40970">
              <a:lnSpc>
                <a:spcPct val="100000"/>
              </a:lnSpc>
              <a:spcBef>
                <a:spcPts val="85"/>
              </a:spcBef>
            </a:pPr>
            <a:r>
              <a:rPr dirty="0" sz="1100" b="0">
                <a:solidFill>
                  <a:srgbClr val="FFFFFF"/>
                </a:solidFill>
                <a:latin typeface="Malgun Gothic Semilight"/>
                <a:cs typeface="Malgun Gothic Semilight"/>
              </a:rPr>
              <a:t>MATÉ</a:t>
            </a:r>
            <a:r>
              <a:rPr dirty="0" sz="1100" spc="-120" b="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100" spc="-10" b="0">
                <a:solidFill>
                  <a:srgbClr val="FFFFFF"/>
                </a:solidFill>
                <a:latin typeface="Malgun Gothic Semilight"/>
                <a:cs typeface="Malgun Gothic Semilight"/>
              </a:rPr>
              <a:t>R</a:t>
            </a:r>
            <a:r>
              <a:rPr dirty="0" sz="1100" spc="-145" b="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100" spc="30" b="0">
                <a:solidFill>
                  <a:srgbClr val="FFFFFF"/>
                </a:solidFill>
                <a:latin typeface="Malgun Gothic Semilight"/>
                <a:cs typeface="Malgun Gothic Semilight"/>
              </a:rPr>
              <a:t>IEL</a:t>
            </a:r>
            <a:endParaRPr sz="1100">
              <a:latin typeface="Malgun Gothic Semilight"/>
              <a:cs typeface="Malgun Gothic Semilight"/>
            </a:endParaRPr>
          </a:p>
          <a:p>
            <a:pPr marL="140970" marR="427355">
              <a:lnSpc>
                <a:spcPts val="1240"/>
              </a:lnSpc>
              <a:spcBef>
                <a:spcPts val="60"/>
              </a:spcBef>
            </a:pPr>
            <a:r>
              <a:rPr dirty="0" sz="1050" b="0">
                <a:solidFill>
                  <a:srgbClr val="D9D9D9"/>
                </a:solidFill>
                <a:latin typeface="Malgun Gothic Semilight"/>
                <a:cs typeface="Malgun Gothic Semilight"/>
              </a:rPr>
              <a:t>Carte</a:t>
            </a:r>
            <a:r>
              <a:rPr dirty="0" sz="1050" spc="75" b="0">
                <a:solidFill>
                  <a:srgbClr val="D9D9D9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50" b="0">
                <a:solidFill>
                  <a:srgbClr val="D9D9D9"/>
                </a:solidFill>
                <a:latin typeface="Malgun Gothic Semilight"/>
                <a:cs typeface="Malgun Gothic Semilight"/>
              </a:rPr>
              <a:t>mère,</a:t>
            </a:r>
            <a:r>
              <a:rPr dirty="0" sz="1050" spc="130" b="0">
                <a:solidFill>
                  <a:srgbClr val="D9D9D9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50" b="0">
                <a:solidFill>
                  <a:srgbClr val="D9D9D9"/>
                </a:solidFill>
                <a:latin typeface="Malgun Gothic Semilight"/>
                <a:cs typeface="Malgun Gothic Semilight"/>
              </a:rPr>
              <a:t>Ecran,</a:t>
            </a:r>
            <a:r>
              <a:rPr dirty="0" sz="1050" spc="135" b="0">
                <a:solidFill>
                  <a:srgbClr val="D9D9D9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50" b="0">
                <a:solidFill>
                  <a:srgbClr val="D9D9D9"/>
                </a:solidFill>
                <a:latin typeface="Malgun Gothic Semilight"/>
                <a:cs typeface="Malgun Gothic Semilight"/>
              </a:rPr>
              <a:t>S</a:t>
            </a:r>
            <a:r>
              <a:rPr dirty="0" sz="1050" spc="-80" b="0">
                <a:solidFill>
                  <a:srgbClr val="D9D9D9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50" b="0">
                <a:solidFill>
                  <a:srgbClr val="D9D9D9"/>
                </a:solidFill>
                <a:latin typeface="Malgun Gothic Semilight"/>
                <a:cs typeface="Malgun Gothic Semilight"/>
              </a:rPr>
              <a:t>tockage,</a:t>
            </a:r>
            <a:r>
              <a:rPr dirty="0" sz="1050" spc="110" b="0">
                <a:solidFill>
                  <a:srgbClr val="D9D9D9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50" spc="-20" b="0">
                <a:solidFill>
                  <a:srgbClr val="D9D9D9"/>
                </a:solidFill>
                <a:latin typeface="Malgun Gothic Semilight"/>
                <a:cs typeface="Malgun Gothic Semilight"/>
              </a:rPr>
              <a:t>Wifi, </a:t>
            </a:r>
            <a:r>
              <a:rPr dirty="0" sz="1050" b="0">
                <a:solidFill>
                  <a:srgbClr val="D9D9D9"/>
                </a:solidFill>
                <a:latin typeface="Malgun Gothic Semilight"/>
                <a:cs typeface="Malgun Gothic Semilight"/>
              </a:rPr>
              <a:t>Clavier,</a:t>
            </a:r>
            <a:r>
              <a:rPr dirty="0" sz="1050" spc="114" b="0">
                <a:solidFill>
                  <a:srgbClr val="D9D9D9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50" b="0">
                <a:solidFill>
                  <a:srgbClr val="D9D9D9"/>
                </a:solidFill>
                <a:latin typeface="Malgun Gothic Semilight"/>
                <a:cs typeface="Malgun Gothic Semilight"/>
              </a:rPr>
              <a:t>…</a:t>
            </a:r>
            <a:r>
              <a:rPr dirty="0" sz="1050" spc="10" b="0">
                <a:solidFill>
                  <a:srgbClr val="D9D9D9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50" spc="-50" b="0">
                <a:solidFill>
                  <a:srgbClr val="D9D9D9"/>
                </a:solidFill>
                <a:latin typeface="Malgun Gothic Semilight"/>
                <a:cs typeface="Malgun Gothic Semilight"/>
              </a:rPr>
              <a:t>…</a:t>
            </a:r>
            <a:endParaRPr sz="1050">
              <a:latin typeface="Malgun Gothic Semilight"/>
              <a:cs typeface="Malgun Gothic Semi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48909" y="4579721"/>
            <a:ext cx="154241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0">
                <a:solidFill>
                  <a:srgbClr val="545454"/>
                </a:solidFill>
                <a:latin typeface="Malgun Gothic Semilight"/>
                <a:cs typeface="Malgun Gothic Semilight"/>
              </a:rPr>
              <a:t>Abstraction</a:t>
            </a:r>
            <a:r>
              <a:rPr dirty="0" sz="800" spc="-4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545454"/>
                </a:solidFill>
                <a:latin typeface="Malgun Gothic Semilight"/>
                <a:cs typeface="Malgun Gothic Semilight"/>
              </a:rPr>
              <a:t>· partage</a:t>
            </a:r>
            <a:r>
              <a:rPr dirty="0" sz="800" spc="25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545454"/>
                </a:solidFill>
                <a:latin typeface="Malgun Gothic Semilight"/>
                <a:cs typeface="Malgun Gothic Semilight"/>
              </a:rPr>
              <a:t>·</a:t>
            </a:r>
            <a:r>
              <a:rPr dirty="0" sz="800" spc="35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spc="-10" b="0">
                <a:solidFill>
                  <a:srgbClr val="545454"/>
                </a:solidFill>
                <a:latin typeface="Malgun Gothic Semilight"/>
                <a:cs typeface="Malgun Gothic Semilight"/>
              </a:rPr>
              <a:t>prévis</a:t>
            </a:r>
            <a:r>
              <a:rPr dirty="0" sz="800" spc="-150" b="0">
                <a:solidFill>
                  <a:srgbClr val="545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spc="-10" b="0">
                <a:solidFill>
                  <a:srgbClr val="545454"/>
                </a:solidFill>
                <a:latin typeface="Malgun Gothic Semilight"/>
                <a:cs typeface="Malgun Gothic Semilight"/>
              </a:rPr>
              <a:t>ibilité</a:t>
            </a:r>
            <a:endParaRPr sz="800">
              <a:latin typeface="Malgun Gothic Semilight"/>
              <a:cs typeface="Malgun Gothic Semi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1920" y="2034920"/>
            <a:ext cx="3244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A1A1A"/>
                </a:solidFill>
                <a:latin typeface="Arial"/>
                <a:cs typeface="Arial"/>
              </a:rPr>
              <a:t>R</a:t>
            </a:r>
            <a:r>
              <a:rPr dirty="0" sz="1800" b="1">
                <a:solidFill>
                  <a:srgbClr val="767070"/>
                </a:solidFill>
                <a:latin typeface="Arial"/>
                <a:cs typeface="Arial"/>
              </a:rPr>
              <a:t>eal</a:t>
            </a:r>
            <a:r>
              <a:rPr dirty="0" sz="1800" spc="-35" b="1">
                <a:solidFill>
                  <a:srgbClr val="76707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A1A1A"/>
                </a:solidFill>
                <a:latin typeface="Arial"/>
                <a:cs typeface="Arial"/>
              </a:rPr>
              <a:t>Time</a:t>
            </a:r>
            <a:r>
              <a:rPr dirty="0" sz="1800" spc="-4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A1A1A"/>
                </a:solidFill>
                <a:latin typeface="Arial"/>
                <a:cs typeface="Arial"/>
              </a:rPr>
              <a:t>O</a:t>
            </a:r>
            <a:r>
              <a:rPr dirty="0" sz="1800" b="1">
                <a:solidFill>
                  <a:srgbClr val="767070"/>
                </a:solidFill>
                <a:latin typeface="Arial"/>
                <a:cs typeface="Arial"/>
              </a:rPr>
              <a:t>perating</a:t>
            </a:r>
            <a:r>
              <a:rPr dirty="0" sz="1800" spc="-40" b="1">
                <a:solidFill>
                  <a:srgbClr val="76707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Arial"/>
                <a:cs typeface="Arial"/>
              </a:rPr>
              <a:t>S</a:t>
            </a:r>
            <a:r>
              <a:rPr dirty="0" sz="1800" spc="-10" b="1">
                <a:solidFill>
                  <a:srgbClr val="767070"/>
                </a:solidFill>
                <a:latin typeface="Arial"/>
                <a:cs typeface="Arial"/>
              </a:rPr>
              <a:t>ystems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51284" y="1152080"/>
            <a:ext cx="3048635" cy="1705610"/>
            <a:chOff x="5451284" y="1152080"/>
            <a:chExt cx="3048635" cy="170561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8211" y="2194559"/>
              <a:ext cx="2231136" cy="6629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460491" y="1161287"/>
              <a:ext cx="2926080" cy="657225"/>
            </a:xfrm>
            <a:custGeom>
              <a:avLst/>
              <a:gdLst/>
              <a:ahLst/>
              <a:cxnLst/>
              <a:rect l="l" t="t" r="r" b="b"/>
              <a:pathLst>
                <a:path w="2926079" h="657225">
                  <a:moveTo>
                    <a:pt x="2926080" y="0"/>
                  </a:moveTo>
                  <a:lnTo>
                    <a:pt x="0" y="0"/>
                  </a:lnTo>
                  <a:lnTo>
                    <a:pt x="0" y="656843"/>
                  </a:lnTo>
                  <a:lnTo>
                    <a:pt x="2926080" y="656843"/>
                  </a:lnTo>
                  <a:lnTo>
                    <a:pt x="2926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460491" y="1161287"/>
              <a:ext cx="2926080" cy="657225"/>
            </a:xfrm>
            <a:custGeom>
              <a:avLst/>
              <a:gdLst/>
              <a:ahLst/>
              <a:cxnLst/>
              <a:rect l="l" t="t" r="r" b="b"/>
              <a:pathLst>
                <a:path w="2926079" h="657225">
                  <a:moveTo>
                    <a:pt x="0" y="656843"/>
                  </a:moveTo>
                  <a:lnTo>
                    <a:pt x="2926080" y="656843"/>
                  </a:lnTo>
                  <a:lnTo>
                    <a:pt x="2926080" y="0"/>
                  </a:lnTo>
                  <a:lnTo>
                    <a:pt x="0" y="0"/>
                  </a:lnTo>
                  <a:lnTo>
                    <a:pt x="0" y="656843"/>
                  </a:lnTo>
                  <a:close/>
                </a:path>
              </a:pathLst>
            </a:custGeom>
            <a:ln w="18288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460491" y="1161288"/>
            <a:ext cx="2926080" cy="6572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62230">
              <a:lnSpc>
                <a:spcPct val="100000"/>
              </a:lnSpc>
              <a:spcBef>
                <a:spcPts val="385"/>
              </a:spcBef>
            </a:pPr>
            <a:r>
              <a:rPr dirty="0" sz="1100" spc="10" b="0">
                <a:solidFill>
                  <a:srgbClr val="1A1A1A"/>
                </a:solidFill>
                <a:latin typeface="Malgun Gothic Semilight"/>
                <a:cs typeface="Malgun Gothic Semilight"/>
              </a:rPr>
              <a:t>APPL</a:t>
            </a:r>
            <a:r>
              <a:rPr dirty="0" sz="1100" spc="-5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1100" spc="-10" b="0">
                <a:solidFill>
                  <a:srgbClr val="1A1A1A"/>
                </a:solidFill>
                <a:latin typeface="Malgun Gothic Semilight"/>
                <a:cs typeface="Malgun Gothic Semilight"/>
              </a:rPr>
              <a:t>ICATIONS</a:t>
            </a:r>
            <a:endParaRPr sz="1100">
              <a:latin typeface="Malgun Gothic Semilight"/>
              <a:cs typeface="Malgun Gothic Semiligh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1734" y="87830"/>
            <a:ext cx="8936355" cy="4448810"/>
            <a:chOff x="81734" y="87830"/>
            <a:chExt cx="8936355" cy="444881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1828" y="1466087"/>
              <a:ext cx="230124" cy="29260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8820" y="1466087"/>
              <a:ext cx="283463" cy="28803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0676" y="1466087"/>
              <a:ext cx="281939" cy="28803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96199" y="1466087"/>
              <a:ext cx="281940" cy="2865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47916" y="1466087"/>
              <a:ext cx="292607" cy="29260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27392" y="1466087"/>
              <a:ext cx="281940" cy="28651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39484" y="1466087"/>
              <a:ext cx="321564" cy="32613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65007" y="1466087"/>
              <a:ext cx="307848" cy="29260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07123" y="3811524"/>
              <a:ext cx="1805939" cy="66446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42659" y="3793236"/>
              <a:ext cx="972312" cy="60350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27603" y="3908729"/>
              <a:ext cx="900026" cy="627481"/>
            </a:xfrm>
            <a:prstGeom prst="rect">
              <a:avLst/>
            </a:prstGeom>
          </p:spPr>
        </p:pic>
        <p:pic>
          <p:nvPicPr>
            <p:cNvPr id="39" name="object 39" descr="Logo FSTS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734" y="87830"/>
              <a:ext cx="682350" cy="682350"/>
            </a:xfrm>
            <a:prstGeom prst="rect">
              <a:avLst/>
            </a:prstGeom>
          </p:spPr>
        </p:pic>
        <p:pic>
          <p:nvPicPr>
            <p:cNvPr id="40" name="object 40" descr="Université Hassan I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20356" y="89916"/>
              <a:ext cx="1597152" cy="585215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884326" y="3771087"/>
            <a:ext cx="15703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 b="1">
                <a:solidFill>
                  <a:srgbClr val="545454"/>
                </a:solidFill>
                <a:latin typeface="Cambria"/>
                <a:cs typeface="Cambria"/>
              </a:rPr>
              <a:t>Pr.</a:t>
            </a:r>
            <a:r>
              <a:rPr dirty="0" sz="1000" spc="220" b="1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1000" spc="10" b="1">
                <a:solidFill>
                  <a:srgbClr val="545454"/>
                </a:solidFill>
                <a:latin typeface="Cambria"/>
                <a:cs typeface="Cambria"/>
              </a:rPr>
              <a:t>Abdelmajid</a:t>
            </a:r>
            <a:r>
              <a:rPr dirty="0" sz="1000" spc="285" b="1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1000" spc="65" b="1">
                <a:solidFill>
                  <a:srgbClr val="545454"/>
                </a:solidFill>
                <a:latin typeface="Cambria"/>
                <a:cs typeface="Cambria"/>
              </a:rPr>
              <a:t>HAJAMI.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16755" y="4305401"/>
            <a:ext cx="342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solidFill>
                  <a:srgbClr val="545454"/>
                </a:solidFill>
                <a:latin typeface="Cambria"/>
                <a:cs typeface="Cambria"/>
              </a:rPr>
              <a:t>2026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144" y="-6095"/>
            <a:ext cx="9127490" cy="5156200"/>
            <a:chOff x="9144" y="-6095"/>
            <a:chExt cx="9127490" cy="5156200"/>
          </a:xfrm>
        </p:grpSpPr>
        <p:sp>
          <p:nvSpPr>
            <p:cNvPr id="44" name="object 44"/>
            <p:cNvSpPr/>
            <p:nvPr/>
          </p:nvSpPr>
          <p:spPr>
            <a:xfrm>
              <a:off x="15240" y="0"/>
              <a:ext cx="9115425" cy="5143500"/>
            </a:xfrm>
            <a:custGeom>
              <a:avLst/>
              <a:gdLst/>
              <a:ahLst/>
              <a:cxnLst/>
              <a:rect l="l" t="t" r="r" b="b"/>
              <a:pathLst>
                <a:path w="9115425" h="5143500">
                  <a:moveTo>
                    <a:pt x="8694166" y="0"/>
                  </a:moveTo>
                  <a:lnTo>
                    <a:pt x="420839" y="0"/>
                  </a:lnTo>
                  <a:lnTo>
                    <a:pt x="371761" y="2832"/>
                  </a:lnTo>
                  <a:lnTo>
                    <a:pt x="324345" y="11117"/>
                  </a:lnTo>
                  <a:lnTo>
                    <a:pt x="278908" y="24540"/>
                  </a:lnTo>
                  <a:lnTo>
                    <a:pt x="235765" y="42784"/>
                  </a:lnTo>
                  <a:lnTo>
                    <a:pt x="195232" y="65534"/>
                  </a:lnTo>
                  <a:lnTo>
                    <a:pt x="157626" y="92473"/>
                  </a:lnTo>
                  <a:lnTo>
                    <a:pt x="123261" y="123285"/>
                  </a:lnTo>
                  <a:lnTo>
                    <a:pt x="92454" y="157654"/>
                  </a:lnTo>
                  <a:lnTo>
                    <a:pt x="65519" y="195265"/>
                  </a:lnTo>
                  <a:lnTo>
                    <a:pt x="42774" y="235801"/>
                  </a:lnTo>
                  <a:lnTo>
                    <a:pt x="24534" y="278946"/>
                  </a:lnTo>
                  <a:lnTo>
                    <a:pt x="11114" y="324385"/>
                  </a:lnTo>
                  <a:lnTo>
                    <a:pt x="2831" y="371801"/>
                  </a:lnTo>
                  <a:lnTo>
                    <a:pt x="0" y="420877"/>
                  </a:lnTo>
                  <a:lnTo>
                    <a:pt x="0" y="4722660"/>
                  </a:lnTo>
                  <a:lnTo>
                    <a:pt x="2831" y="4771738"/>
                  </a:lnTo>
                  <a:lnTo>
                    <a:pt x="11114" y="4819154"/>
                  </a:lnTo>
                  <a:lnTo>
                    <a:pt x="24534" y="4864591"/>
                  </a:lnTo>
                  <a:lnTo>
                    <a:pt x="42774" y="4907734"/>
                  </a:lnTo>
                  <a:lnTo>
                    <a:pt x="65519" y="4948266"/>
                  </a:lnTo>
                  <a:lnTo>
                    <a:pt x="92454" y="4985873"/>
                  </a:lnTo>
                  <a:lnTo>
                    <a:pt x="123261" y="5020238"/>
                  </a:lnTo>
                  <a:lnTo>
                    <a:pt x="157626" y="5051045"/>
                  </a:lnTo>
                  <a:lnTo>
                    <a:pt x="195232" y="5077979"/>
                  </a:lnTo>
                  <a:lnTo>
                    <a:pt x="235765" y="5100724"/>
                  </a:lnTo>
                  <a:lnTo>
                    <a:pt x="278908" y="5118965"/>
                  </a:lnTo>
                  <a:lnTo>
                    <a:pt x="324345" y="5132384"/>
                  </a:lnTo>
                  <a:lnTo>
                    <a:pt x="371761" y="5140668"/>
                  </a:lnTo>
                  <a:lnTo>
                    <a:pt x="420839" y="5143499"/>
                  </a:lnTo>
                  <a:lnTo>
                    <a:pt x="8694166" y="5143499"/>
                  </a:lnTo>
                  <a:lnTo>
                    <a:pt x="8743242" y="5140668"/>
                  </a:lnTo>
                  <a:lnTo>
                    <a:pt x="8790658" y="5132384"/>
                  </a:lnTo>
                  <a:lnTo>
                    <a:pt x="8836097" y="5118965"/>
                  </a:lnTo>
                  <a:lnTo>
                    <a:pt x="8879242" y="5100724"/>
                  </a:lnTo>
                  <a:lnTo>
                    <a:pt x="8919778" y="5077979"/>
                  </a:lnTo>
                  <a:lnTo>
                    <a:pt x="8957389" y="5051045"/>
                  </a:lnTo>
                  <a:lnTo>
                    <a:pt x="8991758" y="5020238"/>
                  </a:lnTo>
                  <a:lnTo>
                    <a:pt x="9022570" y="4985873"/>
                  </a:lnTo>
                  <a:lnTo>
                    <a:pt x="9049509" y="4948266"/>
                  </a:lnTo>
                  <a:lnTo>
                    <a:pt x="9072259" y="4907734"/>
                  </a:lnTo>
                  <a:lnTo>
                    <a:pt x="9090503" y="4864591"/>
                  </a:lnTo>
                  <a:lnTo>
                    <a:pt x="9103926" y="4819154"/>
                  </a:lnTo>
                  <a:lnTo>
                    <a:pt x="9112211" y="4771738"/>
                  </a:lnTo>
                  <a:lnTo>
                    <a:pt x="9115043" y="4722660"/>
                  </a:lnTo>
                  <a:lnTo>
                    <a:pt x="9115043" y="420877"/>
                  </a:lnTo>
                  <a:lnTo>
                    <a:pt x="9112211" y="371801"/>
                  </a:lnTo>
                  <a:lnTo>
                    <a:pt x="9103926" y="324385"/>
                  </a:lnTo>
                  <a:lnTo>
                    <a:pt x="9090503" y="278946"/>
                  </a:lnTo>
                  <a:lnTo>
                    <a:pt x="9072259" y="235801"/>
                  </a:lnTo>
                  <a:lnTo>
                    <a:pt x="9049509" y="195265"/>
                  </a:lnTo>
                  <a:lnTo>
                    <a:pt x="9022570" y="157654"/>
                  </a:lnTo>
                  <a:lnTo>
                    <a:pt x="8991758" y="123285"/>
                  </a:lnTo>
                  <a:lnTo>
                    <a:pt x="8957389" y="92473"/>
                  </a:lnTo>
                  <a:lnTo>
                    <a:pt x="8919778" y="65534"/>
                  </a:lnTo>
                  <a:lnTo>
                    <a:pt x="8879242" y="42784"/>
                  </a:lnTo>
                  <a:lnTo>
                    <a:pt x="8836097" y="24540"/>
                  </a:lnTo>
                  <a:lnTo>
                    <a:pt x="8790658" y="11117"/>
                  </a:lnTo>
                  <a:lnTo>
                    <a:pt x="8743242" y="2832"/>
                  </a:lnTo>
                  <a:lnTo>
                    <a:pt x="8694166" y="0"/>
                  </a:lnTo>
                  <a:close/>
                </a:path>
              </a:pathLst>
            </a:custGeom>
            <a:solidFill>
              <a:srgbClr val="5B9BD4">
                <a:alpha val="5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5240" y="0"/>
              <a:ext cx="9115425" cy="5143500"/>
            </a:xfrm>
            <a:custGeom>
              <a:avLst/>
              <a:gdLst/>
              <a:ahLst/>
              <a:cxnLst/>
              <a:rect l="l" t="t" r="r" b="b"/>
              <a:pathLst>
                <a:path w="9115425" h="5143500">
                  <a:moveTo>
                    <a:pt x="0" y="420877"/>
                  </a:moveTo>
                  <a:lnTo>
                    <a:pt x="2831" y="371801"/>
                  </a:lnTo>
                  <a:lnTo>
                    <a:pt x="11114" y="324385"/>
                  </a:lnTo>
                  <a:lnTo>
                    <a:pt x="24534" y="278946"/>
                  </a:lnTo>
                  <a:lnTo>
                    <a:pt x="42774" y="235801"/>
                  </a:lnTo>
                  <a:lnTo>
                    <a:pt x="65519" y="195265"/>
                  </a:lnTo>
                  <a:lnTo>
                    <a:pt x="92454" y="157654"/>
                  </a:lnTo>
                  <a:lnTo>
                    <a:pt x="123261" y="123285"/>
                  </a:lnTo>
                  <a:lnTo>
                    <a:pt x="157626" y="92473"/>
                  </a:lnTo>
                  <a:lnTo>
                    <a:pt x="195232" y="65534"/>
                  </a:lnTo>
                  <a:lnTo>
                    <a:pt x="235765" y="42784"/>
                  </a:lnTo>
                  <a:lnTo>
                    <a:pt x="278908" y="24540"/>
                  </a:lnTo>
                  <a:lnTo>
                    <a:pt x="324345" y="11117"/>
                  </a:lnTo>
                  <a:lnTo>
                    <a:pt x="371761" y="2832"/>
                  </a:lnTo>
                  <a:lnTo>
                    <a:pt x="420839" y="0"/>
                  </a:lnTo>
                  <a:lnTo>
                    <a:pt x="8694166" y="0"/>
                  </a:lnTo>
                  <a:lnTo>
                    <a:pt x="8743242" y="2832"/>
                  </a:lnTo>
                  <a:lnTo>
                    <a:pt x="8790658" y="11117"/>
                  </a:lnTo>
                  <a:lnTo>
                    <a:pt x="8836097" y="24540"/>
                  </a:lnTo>
                  <a:lnTo>
                    <a:pt x="8879242" y="42784"/>
                  </a:lnTo>
                  <a:lnTo>
                    <a:pt x="8919778" y="65534"/>
                  </a:lnTo>
                  <a:lnTo>
                    <a:pt x="8957389" y="92473"/>
                  </a:lnTo>
                  <a:lnTo>
                    <a:pt x="8991758" y="123285"/>
                  </a:lnTo>
                  <a:lnTo>
                    <a:pt x="9022570" y="157654"/>
                  </a:lnTo>
                  <a:lnTo>
                    <a:pt x="9049509" y="195265"/>
                  </a:lnTo>
                  <a:lnTo>
                    <a:pt x="9072259" y="235801"/>
                  </a:lnTo>
                  <a:lnTo>
                    <a:pt x="9090503" y="278946"/>
                  </a:lnTo>
                  <a:lnTo>
                    <a:pt x="9103926" y="324385"/>
                  </a:lnTo>
                  <a:lnTo>
                    <a:pt x="9112211" y="371801"/>
                  </a:lnTo>
                  <a:lnTo>
                    <a:pt x="9115043" y="420877"/>
                  </a:lnTo>
                  <a:lnTo>
                    <a:pt x="9115043" y="4722660"/>
                  </a:lnTo>
                  <a:lnTo>
                    <a:pt x="9112211" y="4771738"/>
                  </a:lnTo>
                  <a:lnTo>
                    <a:pt x="9103926" y="4819154"/>
                  </a:lnTo>
                  <a:lnTo>
                    <a:pt x="9090503" y="4864591"/>
                  </a:lnTo>
                  <a:lnTo>
                    <a:pt x="9072259" y="4907734"/>
                  </a:lnTo>
                  <a:lnTo>
                    <a:pt x="9049509" y="4948266"/>
                  </a:lnTo>
                  <a:lnTo>
                    <a:pt x="9022570" y="4985873"/>
                  </a:lnTo>
                  <a:lnTo>
                    <a:pt x="8991758" y="5020238"/>
                  </a:lnTo>
                  <a:lnTo>
                    <a:pt x="8957389" y="5051045"/>
                  </a:lnTo>
                  <a:lnTo>
                    <a:pt x="8919778" y="5077979"/>
                  </a:lnTo>
                  <a:lnTo>
                    <a:pt x="8879242" y="5100724"/>
                  </a:lnTo>
                  <a:lnTo>
                    <a:pt x="8836097" y="5118965"/>
                  </a:lnTo>
                  <a:lnTo>
                    <a:pt x="8790658" y="5132384"/>
                  </a:lnTo>
                  <a:lnTo>
                    <a:pt x="8743242" y="5140668"/>
                  </a:lnTo>
                  <a:lnTo>
                    <a:pt x="8694166" y="5143499"/>
                  </a:lnTo>
                  <a:lnTo>
                    <a:pt x="420839" y="5143499"/>
                  </a:lnTo>
                  <a:lnTo>
                    <a:pt x="371761" y="5140668"/>
                  </a:lnTo>
                  <a:lnTo>
                    <a:pt x="324345" y="5132384"/>
                  </a:lnTo>
                  <a:lnTo>
                    <a:pt x="278908" y="5118965"/>
                  </a:lnTo>
                  <a:lnTo>
                    <a:pt x="235765" y="5100724"/>
                  </a:lnTo>
                  <a:lnTo>
                    <a:pt x="195232" y="5077979"/>
                  </a:lnTo>
                  <a:lnTo>
                    <a:pt x="157626" y="5051045"/>
                  </a:lnTo>
                  <a:lnTo>
                    <a:pt x="123261" y="5020238"/>
                  </a:lnTo>
                  <a:lnTo>
                    <a:pt x="92454" y="4985873"/>
                  </a:lnTo>
                  <a:lnTo>
                    <a:pt x="65519" y="4948266"/>
                  </a:lnTo>
                  <a:lnTo>
                    <a:pt x="42774" y="4907734"/>
                  </a:lnTo>
                  <a:lnTo>
                    <a:pt x="24534" y="4864591"/>
                  </a:lnTo>
                  <a:lnTo>
                    <a:pt x="11114" y="4819154"/>
                  </a:lnTo>
                  <a:lnTo>
                    <a:pt x="2831" y="4771738"/>
                  </a:lnTo>
                  <a:lnTo>
                    <a:pt x="0" y="4722660"/>
                  </a:lnTo>
                  <a:lnTo>
                    <a:pt x="0" y="420877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78052" y="89903"/>
              <a:ext cx="6071616" cy="69800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5652" y="13728"/>
              <a:ext cx="6204204" cy="96772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37488" y="129540"/>
              <a:ext cx="5957316" cy="58521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316482" y="136651"/>
            <a:ext cx="56261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40" b="1">
                <a:solidFill>
                  <a:srgbClr val="C00000"/>
                </a:solidFill>
                <a:latin typeface="Calibri"/>
                <a:cs typeface="Calibri"/>
              </a:rPr>
              <a:t>Qu’attendez-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vous</a:t>
            </a:r>
            <a:r>
              <a:rPr dirty="0" sz="32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de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ce</a:t>
            </a:r>
            <a:r>
              <a:rPr dirty="0" sz="32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module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0" b="1">
                <a:solidFill>
                  <a:srgbClr val="C00000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6167" y="187452"/>
            <a:ext cx="4097020" cy="4043679"/>
            <a:chOff x="4546167" y="187452"/>
            <a:chExt cx="4097020" cy="40436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6167" y="2903301"/>
              <a:ext cx="1135191" cy="1327269"/>
            </a:xfrm>
            <a:prstGeom prst="rect">
              <a:avLst/>
            </a:prstGeom>
          </p:spPr>
        </p:pic>
        <p:pic>
          <p:nvPicPr>
            <p:cNvPr id="4" name="object 4" descr="Les systèmes d'exploitati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4712" y="187452"/>
              <a:ext cx="3707891" cy="2912364"/>
            </a:xfrm>
            <a:prstGeom prst="rect">
              <a:avLst/>
            </a:prstGeom>
          </p:spPr>
        </p:pic>
      </p:grpSp>
      <p:pic>
        <p:nvPicPr>
          <p:cNvPr id="5" name="object 5" descr="Fichier:FreeRTOS Logo.jp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016" y="280415"/>
            <a:ext cx="2670048" cy="998219"/>
          </a:xfrm>
          <a:prstGeom prst="rect">
            <a:avLst/>
          </a:prstGeom>
        </p:spPr>
      </p:pic>
      <p:pic>
        <p:nvPicPr>
          <p:cNvPr id="6" name="object 6" descr="File:Zephyr RTOS logo 2015.sv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1681" y="1450993"/>
            <a:ext cx="2942652" cy="1484109"/>
          </a:xfrm>
          <a:prstGeom prst="rect">
            <a:avLst/>
          </a:prstGeom>
        </p:spPr>
      </p:pic>
      <p:pic>
        <p:nvPicPr>
          <p:cNvPr id="7" name="object 7" descr="VxWorks: Redefining RTOS Application Development with LLVM &amp; Boost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9606" y="3339412"/>
            <a:ext cx="3140917" cy="79176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228338" y="188213"/>
            <a:ext cx="0" cy="4821555"/>
          </a:xfrm>
          <a:custGeom>
            <a:avLst/>
            <a:gdLst/>
            <a:ahLst/>
            <a:cxnLst/>
            <a:rect l="l" t="t" r="r" b="b"/>
            <a:pathLst>
              <a:path w="0" h="4821555">
                <a:moveTo>
                  <a:pt x="0" y="0"/>
                </a:moveTo>
                <a:lnTo>
                  <a:pt x="0" y="4821110"/>
                </a:lnTo>
              </a:path>
            </a:pathLst>
          </a:custGeom>
          <a:ln w="28956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320031" y="4383022"/>
            <a:ext cx="3444875" cy="760730"/>
            <a:chOff x="320031" y="4383022"/>
            <a:chExt cx="3444875" cy="76073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0031" y="4454586"/>
              <a:ext cx="3444256" cy="62642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088" y="4383022"/>
              <a:ext cx="3438144" cy="76047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0332" y="4485132"/>
              <a:ext cx="3348228" cy="52273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70331" y="4485132"/>
            <a:ext cx="3348354" cy="5232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180"/>
              </a:spcBef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RTOS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dirty="0" sz="2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93691" y="4383022"/>
            <a:ext cx="4480560" cy="760730"/>
            <a:chOff x="4393691" y="4383022"/>
            <a:chExt cx="4480560" cy="760730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28728" y="4454586"/>
              <a:ext cx="4408963" cy="62642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93691" y="4383022"/>
              <a:ext cx="4480560" cy="76047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9035" y="4485132"/>
              <a:ext cx="4312920" cy="52273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479035" y="4485132"/>
            <a:ext cx="4312920" cy="5232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80"/>
              </a:spcBef>
            </a:pP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GPOS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2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General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Purpose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8779" y="279272"/>
            <a:ext cx="1917064" cy="3695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50">
                <a:solidFill>
                  <a:srgbClr val="1B2A49"/>
                </a:solidFill>
                <a:latin typeface="Arial"/>
                <a:cs typeface="Arial"/>
              </a:rPr>
              <a:t>Plan</a:t>
            </a:r>
            <a:r>
              <a:rPr dirty="0" sz="2250" spc="-15">
                <a:solidFill>
                  <a:srgbClr val="1B2A49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1B2A49"/>
                </a:solidFill>
                <a:latin typeface="Arial"/>
                <a:cs typeface="Arial"/>
              </a:rPr>
              <a:t>du</a:t>
            </a:r>
            <a:r>
              <a:rPr dirty="0" sz="2250" spc="-15">
                <a:solidFill>
                  <a:srgbClr val="1B2A49"/>
                </a:solidFill>
                <a:latin typeface="Arial"/>
                <a:cs typeface="Arial"/>
              </a:rPr>
              <a:t> </a:t>
            </a:r>
            <a:r>
              <a:rPr dirty="0" sz="2250" spc="-20">
                <a:solidFill>
                  <a:srgbClr val="1B2A49"/>
                </a:solidFill>
                <a:latin typeface="Arial"/>
                <a:cs typeface="Arial"/>
              </a:rPr>
              <a:t>cours</a:t>
            </a:r>
            <a:endParaRPr sz="22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779" y="703579"/>
            <a:ext cx="3637279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5A6371"/>
                </a:solidFill>
                <a:latin typeface="Arial"/>
                <a:cs typeface="Arial"/>
              </a:rPr>
              <a:t>Trois</a:t>
            </a:r>
            <a:r>
              <a:rPr dirty="0" sz="1100" spc="35">
                <a:solidFill>
                  <a:srgbClr val="5A6371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A6371"/>
                </a:solidFill>
                <a:latin typeface="Arial"/>
                <a:cs typeface="Arial"/>
              </a:rPr>
              <a:t>parties,</a:t>
            </a:r>
            <a:r>
              <a:rPr dirty="0" sz="1100" spc="45">
                <a:solidFill>
                  <a:srgbClr val="5A6371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A6371"/>
                </a:solidFill>
                <a:latin typeface="Arial"/>
                <a:cs typeface="Arial"/>
              </a:rPr>
              <a:t>du</a:t>
            </a:r>
            <a:r>
              <a:rPr dirty="0" sz="1100" spc="35">
                <a:solidFill>
                  <a:srgbClr val="5A6371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A6371"/>
                </a:solidFill>
                <a:latin typeface="Arial"/>
                <a:cs typeface="Arial"/>
              </a:rPr>
              <a:t>généraliste</a:t>
            </a:r>
            <a:r>
              <a:rPr dirty="0" sz="1100" spc="35">
                <a:solidFill>
                  <a:srgbClr val="5A6371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A6371"/>
                </a:solidFill>
                <a:latin typeface="Arial"/>
                <a:cs typeface="Arial"/>
              </a:rPr>
              <a:t>vers</a:t>
            </a:r>
            <a:r>
              <a:rPr dirty="0" sz="1100" spc="40">
                <a:solidFill>
                  <a:srgbClr val="5A6371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A6371"/>
                </a:solidFill>
                <a:latin typeface="Arial"/>
                <a:cs typeface="Arial"/>
              </a:rPr>
              <a:t>le</a:t>
            </a:r>
            <a:r>
              <a:rPr dirty="0" sz="1100" spc="35">
                <a:solidFill>
                  <a:srgbClr val="5A6371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A6371"/>
                </a:solidFill>
                <a:latin typeface="Arial"/>
                <a:cs typeface="Arial"/>
              </a:rPr>
              <a:t>temps</a:t>
            </a:r>
            <a:r>
              <a:rPr dirty="0" sz="1100" spc="35">
                <a:solidFill>
                  <a:srgbClr val="5A6371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A6371"/>
                </a:solidFill>
                <a:latin typeface="Arial"/>
                <a:cs typeface="Arial"/>
              </a:rPr>
              <a:t>réel</a:t>
            </a:r>
            <a:r>
              <a:rPr dirty="0" sz="1100" spc="35">
                <a:solidFill>
                  <a:srgbClr val="5A6371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5A6371"/>
                </a:solidFill>
                <a:latin typeface="Arial"/>
                <a:cs typeface="Arial"/>
              </a:rPr>
              <a:t>embarqué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1480" y="1165860"/>
            <a:ext cx="2641600" cy="652780"/>
          </a:xfrm>
          <a:custGeom>
            <a:avLst/>
            <a:gdLst/>
            <a:ahLst/>
            <a:cxnLst/>
            <a:rect l="l" t="t" r="r" b="b"/>
            <a:pathLst>
              <a:path w="2641600" h="652780">
                <a:moveTo>
                  <a:pt x="2586101" y="0"/>
                </a:moveTo>
                <a:lnTo>
                  <a:pt x="54927" y="0"/>
                </a:lnTo>
                <a:lnTo>
                  <a:pt x="33545" y="4321"/>
                </a:lnTo>
                <a:lnTo>
                  <a:pt x="16086" y="16097"/>
                </a:lnTo>
                <a:lnTo>
                  <a:pt x="4315" y="33539"/>
                </a:lnTo>
                <a:lnTo>
                  <a:pt x="0" y="54863"/>
                </a:lnTo>
                <a:lnTo>
                  <a:pt x="0" y="597280"/>
                </a:lnTo>
                <a:lnTo>
                  <a:pt x="4315" y="618678"/>
                </a:lnTo>
                <a:lnTo>
                  <a:pt x="16086" y="636158"/>
                </a:lnTo>
                <a:lnTo>
                  <a:pt x="33545" y="647948"/>
                </a:lnTo>
                <a:lnTo>
                  <a:pt x="54927" y="652272"/>
                </a:lnTo>
                <a:lnTo>
                  <a:pt x="2586101" y="652272"/>
                </a:lnTo>
                <a:lnTo>
                  <a:pt x="2607498" y="647948"/>
                </a:lnTo>
                <a:lnTo>
                  <a:pt x="2624978" y="636158"/>
                </a:lnTo>
                <a:lnTo>
                  <a:pt x="2636768" y="618678"/>
                </a:lnTo>
                <a:lnTo>
                  <a:pt x="2641092" y="597280"/>
                </a:lnTo>
                <a:lnTo>
                  <a:pt x="2641092" y="54863"/>
                </a:lnTo>
                <a:lnTo>
                  <a:pt x="2636768" y="33539"/>
                </a:lnTo>
                <a:lnTo>
                  <a:pt x="2624978" y="16097"/>
                </a:lnTo>
                <a:lnTo>
                  <a:pt x="2607498" y="4321"/>
                </a:lnTo>
                <a:lnTo>
                  <a:pt x="2586101" y="0"/>
                </a:lnTo>
                <a:close/>
              </a:path>
            </a:pathLst>
          </a:custGeom>
          <a:solidFill>
            <a:srgbClr val="2D7C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9655" y="1228065"/>
            <a:ext cx="1573530" cy="5543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900" spc="55" b="1">
                <a:solidFill>
                  <a:srgbClr val="FFFFFF"/>
                </a:solidFill>
                <a:latin typeface="Arial"/>
                <a:cs typeface="Arial"/>
              </a:rPr>
              <a:t>Partie</a:t>
            </a:r>
            <a:r>
              <a:rPr dirty="0" sz="900" spc="1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Fondamentaux</a:t>
            </a:r>
            <a:r>
              <a:rPr dirty="0" sz="1100" spc="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des</a:t>
            </a:r>
            <a:r>
              <a:rPr dirty="0" sz="11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(généralités)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1480" y="1900427"/>
            <a:ext cx="2641600" cy="2194560"/>
            <a:chOff x="411480" y="1900427"/>
            <a:chExt cx="2641600" cy="2194560"/>
          </a:xfrm>
        </p:grpSpPr>
        <p:sp>
          <p:nvSpPr>
            <p:cNvPr id="7" name="object 7"/>
            <p:cNvSpPr/>
            <p:nvPr/>
          </p:nvSpPr>
          <p:spPr>
            <a:xfrm>
              <a:off x="411480" y="1900427"/>
              <a:ext cx="2641600" cy="2194560"/>
            </a:xfrm>
            <a:custGeom>
              <a:avLst/>
              <a:gdLst/>
              <a:ahLst/>
              <a:cxnLst/>
              <a:rect l="l" t="t" r="r" b="b"/>
              <a:pathLst>
                <a:path w="2641600" h="2194560">
                  <a:moveTo>
                    <a:pt x="2599944" y="0"/>
                  </a:moveTo>
                  <a:lnTo>
                    <a:pt x="41148" y="0"/>
                  </a:lnTo>
                  <a:lnTo>
                    <a:pt x="25133" y="3232"/>
                  </a:lnTo>
                  <a:lnTo>
                    <a:pt x="12053" y="12049"/>
                  </a:lnTo>
                  <a:lnTo>
                    <a:pt x="3234" y="25128"/>
                  </a:lnTo>
                  <a:lnTo>
                    <a:pt x="0" y="41148"/>
                  </a:lnTo>
                  <a:lnTo>
                    <a:pt x="0" y="2153412"/>
                  </a:lnTo>
                  <a:lnTo>
                    <a:pt x="3234" y="2169426"/>
                  </a:lnTo>
                  <a:lnTo>
                    <a:pt x="12053" y="2182506"/>
                  </a:lnTo>
                  <a:lnTo>
                    <a:pt x="25133" y="2191325"/>
                  </a:lnTo>
                  <a:lnTo>
                    <a:pt x="41148" y="2194560"/>
                  </a:lnTo>
                  <a:lnTo>
                    <a:pt x="2599944" y="2194560"/>
                  </a:lnTo>
                  <a:lnTo>
                    <a:pt x="2615963" y="2191325"/>
                  </a:lnTo>
                  <a:lnTo>
                    <a:pt x="2629042" y="2182506"/>
                  </a:lnTo>
                  <a:lnTo>
                    <a:pt x="2637859" y="2169426"/>
                  </a:lnTo>
                  <a:lnTo>
                    <a:pt x="2641092" y="2153412"/>
                  </a:lnTo>
                  <a:lnTo>
                    <a:pt x="2641092" y="41148"/>
                  </a:lnTo>
                  <a:lnTo>
                    <a:pt x="2637859" y="25128"/>
                  </a:lnTo>
                  <a:lnTo>
                    <a:pt x="2629042" y="12049"/>
                  </a:lnTo>
                  <a:lnTo>
                    <a:pt x="2615963" y="3232"/>
                  </a:lnTo>
                  <a:lnTo>
                    <a:pt x="2599944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924" y="2016251"/>
              <a:ext cx="219456" cy="21945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03300" y="2044954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3975" y="2091054"/>
            <a:ext cx="184277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Introduction</a:t>
            </a:r>
            <a:r>
              <a:rPr dirty="0" sz="800" spc="-3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aux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systèmes</a:t>
            </a:r>
            <a:r>
              <a:rPr dirty="0" sz="800" spc="-3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d'exploitation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3" y="2441448"/>
            <a:ext cx="219456" cy="21945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03300" y="2470150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3975" y="2515946"/>
            <a:ext cx="1752600" cy="150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Typologie</a:t>
            </a:r>
            <a:r>
              <a:rPr dirty="0" sz="800" spc="-3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des</a:t>
            </a:r>
            <a:r>
              <a:rPr dirty="0" sz="800" spc="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systèmes</a:t>
            </a:r>
            <a:r>
              <a:rPr dirty="0" sz="800" spc="-1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d'exploitation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3" y="2866644"/>
            <a:ext cx="219456" cy="21945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03300" y="2895726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3975" y="2941700"/>
            <a:ext cx="120396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Étude</a:t>
            </a:r>
            <a:r>
              <a:rPr dirty="0" sz="800" spc="-2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de</a:t>
            </a:r>
            <a:r>
              <a:rPr dirty="0" sz="800" spc="-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cas</a:t>
            </a:r>
            <a:r>
              <a:rPr dirty="0" sz="800" spc="-2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—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 Windows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3" y="3291840"/>
            <a:ext cx="219456" cy="21945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03300" y="3320922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3975" y="3366897"/>
            <a:ext cx="1033144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Étude</a:t>
            </a:r>
            <a:r>
              <a:rPr dirty="0" sz="800" spc="-2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de</a:t>
            </a:r>
            <a:r>
              <a:rPr dirty="0" sz="800" spc="-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cas</a:t>
            </a:r>
            <a:r>
              <a:rPr dirty="0" sz="800" spc="-2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—</a:t>
            </a:r>
            <a:r>
              <a:rPr dirty="0" sz="800" spc="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Linux</a:t>
            </a:r>
            <a:endParaRPr sz="8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923" y="3717035"/>
            <a:ext cx="219456" cy="21945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03300" y="3745814"/>
            <a:ext cx="84455" cy="152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3975" y="3792423"/>
            <a:ext cx="114236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Étude</a:t>
            </a:r>
            <a:r>
              <a:rPr dirty="0" sz="800" spc="-2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de</a:t>
            </a:r>
            <a:r>
              <a:rPr dirty="0" sz="800" spc="-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cas</a:t>
            </a:r>
            <a:r>
              <a:rPr dirty="0" sz="800" spc="-2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—</a:t>
            </a:r>
            <a:r>
              <a:rPr dirty="0" sz="800" spc="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Android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23260" y="1165860"/>
            <a:ext cx="2641600" cy="652780"/>
          </a:xfrm>
          <a:custGeom>
            <a:avLst/>
            <a:gdLst/>
            <a:ahLst/>
            <a:cxnLst/>
            <a:rect l="l" t="t" r="r" b="b"/>
            <a:pathLst>
              <a:path w="2641600" h="652780">
                <a:moveTo>
                  <a:pt x="2586101" y="0"/>
                </a:moveTo>
                <a:lnTo>
                  <a:pt x="54863" y="0"/>
                </a:lnTo>
                <a:lnTo>
                  <a:pt x="33539" y="4321"/>
                </a:lnTo>
                <a:lnTo>
                  <a:pt x="16097" y="16097"/>
                </a:lnTo>
                <a:lnTo>
                  <a:pt x="4321" y="33539"/>
                </a:lnTo>
                <a:lnTo>
                  <a:pt x="0" y="54863"/>
                </a:lnTo>
                <a:lnTo>
                  <a:pt x="0" y="597280"/>
                </a:lnTo>
                <a:lnTo>
                  <a:pt x="4321" y="618678"/>
                </a:lnTo>
                <a:lnTo>
                  <a:pt x="16097" y="636158"/>
                </a:lnTo>
                <a:lnTo>
                  <a:pt x="33539" y="647948"/>
                </a:lnTo>
                <a:lnTo>
                  <a:pt x="54863" y="652272"/>
                </a:lnTo>
                <a:lnTo>
                  <a:pt x="2586101" y="652272"/>
                </a:lnTo>
                <a:lnTo>
                  <a:pt x="2607498" y="647948"/>
                </a:lnTo>
                <a:lnTo>
                  <a:pt x="2624978" y="636158"/>
                </a:lnTo>
                <a:lnTo>
                  <a:pt x="2636768" y="618678"/>
                </a:lnTo>
                <a:lnTo>
                  <a:pt x="2641091" y="597280"/>
                </a:lnTo>
                <a:lnTo>
                  <a:pt x="2641091" y="54863"/>
                </a:lnTo>
                <a:lnTo>
                  <a:pt x="2636768" y="33539"/>
                </a:lnTo>
                <a:lnTo>
                  <a:pt x="2624978" y="16097"/>
                </a:lnTo>
                <a:lnTo>
                  <a:pt x="2607498" y="4321"/>
                </a:lnTo>
                <a:lnTo>
                  <a:pt x="2586101" y="0"/>
                </a:lnTo>
                <a:close/>
              </a:path>
            </a:pathLst>
          </a:custGeom>
          <a:solidFill>
            <a:srgbClr val="C871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362071" y="1228065"/>
            <a:ext cx="1447165" cy="5543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900" spc="55" b="1">
                <a:solidFill>
                  <a:srgbClr val="FFFFFF"/>
                </a:solidFill>
                <a:latin typeface="Arial"/>
                <a:cs typeface="Arial"/>
              </a:rPr>
              <a:t>Partie</a:t>
            </a:r>
            <a:r>
              <a:rPr dirty="0" sz="900" spc="1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Arial"/>
                <a:cs typeface="Arial"/>
              </a:rPr>
              <a:t>II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Systèmes</a:t>
            </a:r>
            <a:r>
              <a:rPr dirty="0" sz="11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temps</a:t>
            </a:r>
            <a:r>
              <a:rPr dirty="0" sz="11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FFFFFF"/>
                </a:solidFill>
                <a:latin typeface="Arial"/>
                <a:cs typeface="Arial"/>
              </a:rPr>
              <a:t>réel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(fondements)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223260" y="1900427"/>
            <a:ext cx="2641600" cy="1344295"/>
            <a:chOff x="3223260" y="1900427"/>
            <a:chExt cx="2641600" cy="1344295"/>
          </a:xfrm>
        </p:grpSpPr>
        <p:sp>
          <p:nvSpPr>
            <p:cNvPr id="26" name="object 26"/>
            <p:cNvSpPr/>
            <p:nvPr/>
          </p:nvSpPr>
          <p:spPr>
            <a:xfrm>
              <a:off x="3223260" y="1900427"/>
              <a:ext cx="2641600" cy="1344295"/>
            </a:xfrm>
            <a:custGeom>
              <a:avLst/>
              <a:gdLst/>
              <a:ahLst/>
              <a:cxnLst/>
              <a:rect l="l" t="t" r="r" b="b"/>
              <a:pathLst>
                <a:path w="2641600" h="1344295">
                  <a:moveTo>
                    <a:pt x="2599943" y="0"/>
                  </a:moveTo>
                  <a:lnTo>
                    <a:pt x="41148" y="0"/>
                  </a:lnTo>
                  <a:lnTo>
                    <a:pt x="25128" y="3232"/>
                  </a:lnTo>
                  <a:lnTo>
                    <a:pt x="12049" y="12049"/>
                  </a:lnTo>
                  <a:lnTo>
                    <a:pt x="3232" y="25128"/>
                  </a:lnTo>
                  <a:lnTo>
                    <a:pt x="0" y="41148"/>
                  </a:lnTo>
                  <a:lnTo>
                    <a:pt x="0" y="1303020"/>
                  </a:lnTo>
                  <a:lnTo>
                    <a:pt x="3232" y="1319039"/>
                  </a:lnTo>
                  <a:lnTo>
                    <a:pt x="12049" y="1332118"/>
                  </a:lnTo>
                  <a:lnTo>
                    <a:pt x="25128" y="1340935"/>
                  </a:lnTo>
                  <a:lnTo>
                    <a:pt x="41148" y="1344168"/>
                  </a:lnTo>
                  <a:lnTo>
                    <a:pt x="2599943" y="1344168"/>
                  </a:lnTo>
                  <a:lnTo>
                    <a:pt x="2615963" y="1340935"/>
                  </a:lnTo>
                  <a:lnTo>
                    <a:pt x="2629042" y="1332118"/>
                  </a:lnTo>
                  <a:lnTo>
                    <a:pt x="2637859" y="1319039"/>
                  </a:lnTo>
                  <a:lnTo>
                    <a:pt x="2641091" y="1303020"/>
                  </a:lnTo>
                  <a:lnTo>
                    <a:pt x="2641091" y="41148"/>
                  </a:lnTo>
                  <a:lnTo>
                    <a:pt x="2637859" y="25128"/>
                  </a:lnTo>
                  <a:lnTo>
                    <a:pt x="2629042" y="12049"/>
                  </a:lnTo>
                  <a:lnTo>
                    <a:pt x="2615963" y="3232"/>
                  </a:lnTo>
                  <a:lnTo>
                    <a:pt x="2599943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46704" y="2016251"/>
              <a:ext cx="219456" cy="219456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415665" y="2044954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36390" y="2091054"/>
            <a:ext cx="172529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Introduction</a:t>
            </a:r>
            <a:r>
              <a:rPr dirty="0" sz="800" spc="-3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aux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systèmes</a:t>
            </a:r>
            <a:r>
              <a:rPr dirty="0" sz="800" spc="-3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temps</a:t>
            </a:r>
            <a:r>
              <a:rPr dirty="0" sz="800" spc="-20">
                <a:solidFill>
                  <a:srgbClr val="2A2A2A"/>
                </a:solidFill>
                <a:latin typeface="Arial"/>
                <a:cs typeface="Arial"/>
              </a:rPr>
              <a:t> réel</a:t>
            </a:r>
            <a:endParaRPr sz="8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6703" y="2441448"/>
            <a:ext cx="219456" cy="21945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3415665" y="2470150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36390" y="2451607"/>
            <a:ext cx="1809114" cy="2794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55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Architectures</a:t>
            </a:r>
            <a:r>
              <a:rPr dirty="0" sz="800" spc="-4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logicielles</a:t>
            </a:r>
            <a:r>
              <a:rPr dirty="0" sz="800" spc="-4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embarquées</a:t>
            </a:r>
            <a:r>
              <a:rPr dirty="0" sz="800" spc="-3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2A2A2A"/>
                </a:solidFill>
                <a:latin typeface="Arial"/>
                <a:cs typeface="Arial"/>
              </a:rPr>
              <a:t>et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 interruptions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6703" y="2866644"/>
            <a:ext cx="219456" cy="219456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3415665" y="2895726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36390" y="2941700"/>
            <a:ext cx="113728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Qu'est-ce</a:t>
            </a:r>
            <a:r>
              <a:rPr dirty="0" sz="800" spc="-3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qu'un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RTOS</a:t>
            </a:r>
            <a:r>
              <a:rPr dirty="0" sz="800" spc="-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2A2A2A"/>
                </a:solidFill>
                <a:latin typeface="Arial"/>
                <a:cs typeface="Arial"/>
              </a:rPr>
              <a:t>?</a:t>
            </a:r>
            <a:endParaRPr sz="8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035040" y="1165860"/>
            <a:ext cx="2641600" cy="652780"/>
          </a:xfrm>
          <a:custGeom>
            <a:avLst/>
            <a:gdLst/>
            <a:ahLst/>
            <a:cxnLst/>
            <a:rect l="l" t="t" r="r" b="b"/>
            <a:pathLst>
              <a:path w="2641600" h="652780">
                <a:moveTo>
                  <a:pt x="2586101" y="0"/>
                </a:moveTo>
                <a:lnTo>
                  <a:pt x="54863" y="0"/>
                </a:lnTo>
                <a:lnTo>
                  <a:pt x="33539" y="4321"/>
                </a:lnTo>
                <a:lnTo>
                  <a:pt x="16097" y="16097"/>
                </a:lnTo>
                <a:lnTo>
                  <a:pt x="4321" y="33539"/>
                </a:lnTo>
                <a:lnTo>
                  <a:pt x="0" y="54863"/>
                </a:lnTo>
                <a:lnTo>
                  <a:pt x="0" y="597280"/>
                </a:lnTo>
                <a:lnTo>
                  <a:pt x="4321" y="618678"/>
                </a:lnTo>
                <a:lnTo>
                  <a:pt x="16097" y="636158"/>
                </a:lnTo>
                <a:lnTo>
                  <a:pt x="33539" y="647948"/>
                </a:lnTo>
                <a:lnTo>
                  <a:pt x="54863" y="652272"/>
                </a:lnTo>
                <a:lnTo>
                  <a:pt x="2586101" y="652272"/>
                </a:lnTo>
                <a:lnTo>
                  <a:pt x="2607498" y="647948"/>
                </a:lnTo>
                <a:lnTo>
                  <a:pt x="2624978" y="636158"/>
                </a:lnTo>
                <a:lnTo>
                  <a:pt x="2636768" y="618678"/>
                </a:lnTo>
                <a:lnTo>
                  <a:pt x="2641091" y="597280"/>
                </a:lnTo>
                <a:lnTo>
                  <a:pt x="2641091" y="54863"/>
                </a:lnTo>
                <a:lnTo>
                  <a:pt x="2636768" y="33539"/>
                </a:lnTo>
                <a:lnTo>
                  <a:pt x="2624978" y="16097"/>
                </a:lnTo>
                <a:lnTo>
                  <a:pt x="2607498" y="4321"/>
                </a:lnTo>
                <a:lnTo>
                  <a:pt x="2586101" y="0"/>
                </a:lnTo>
                <a:close/>
              </a:path>
            </a:pathLst>
          </a:custGeom>
          <a:solidFill>
            <a:srgbClr val="395B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174104" y="1228065"/>
            <a:ext cx="1231265" cy="5543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900" spc="55" b="1">
                <a:solidFill>
                  <a:srgbClr val="FFFFFF"/>
                </a:solidFill>
                <a:latin typeface="Arial"/>
                <a:cs typeface="Arial"/>
              </a:rPr>
              <a:t>Partie</a:t>
            </a:r>
            <a:r>
              <a:rPr dirty="0" sz="900" spc="1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20" b="1">
                <a:solidFill>
                  <a:srgbClr val="FFFFFF"/>
                </a:solidFill>
                <a:latin typeface="Arial"/>
                <a:cs typeface="Arial"/>
              </a:rPr>
              <a:t>III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RTOS</a:t>
            </a:r>
            <a:r>
              <a:rPr dirty="0" sz="110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1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pratique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(FreeRTOS)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035040" y="1900427"/>
            <a:ext cx="2641600" cy="2194560"/>
            <a:chOff x="6035040" y="1900427"/>
            <a:chExt cx="2641600" cy="2194560"/>
          </a:xfrm>
        </p:grpSpPr>
        <p:sp>
          <p:nvSpPr>
            <p:cNvPr id="39" name="object 39"/>
            <p:cNvSpPr/>
            <p:nvPr/>
          </p:nvSpPr>
          <p:spPr>
            <a:xfrm>
              <a:off x="6035040" y="1900427"/>
              <a:ext cx="2641600" cy="2194560"/>
            </a:xfrm>
            <a:custGeom>
              <a:avLst/>
              <a:gdLst/>
              <a:ahLst/>
              <a:cxnLst/>
              <a:rect l="l" t="t" r="r" b="b"/>
              <a:pathLst>
                <a:path w="2641600" h="2194560">
                  <a:moveTo>
                    <a:pt x="2599943" y="0"/>
                  </a:moveTo>
                  <a:lnTo>
                    <a:pt x="41148" y="0"/>
                  </a:lnTo>
                  <a:lnTo>
                    <a:pt x="25128" y="3232"/>
                  </a:lnTo>
                  <a:lnTo>
                    <a:pt x="12049" y="12049"/>
                  </a:lnTo>
                  <a:lnTo>
                    <a:pt x="3232" y="25128"/>
                  </a:lnTo>
                  <a:lnTo>
                    <a:pt x="0" y="41148"/>
                  </a:lnTo>
                  <a:lnTo>
                    <a:pt x="0" y="2153412"/>
                  </a:lnTo>
                  <a:lnTo>
                    <a:pt x="3232" y="2169426"/>
                  </a:lnTo>
                  <a:lnTo>
                    <a:pt x="12049" y="2182506"/>
                  </a:lnTo>
                  <a:lnTo>
                    <a:pt x="25128" y="2191325"/>
                  </a:lnTo>
                  <a:lnTo>
                    <a:pt x="41148" y="2194560"/>
                  </a:lnTo>
                  <a:lnTo>
                    <a:pt x="2599943" y="2194560"/>
                  </a:lnTo>
                  <a:lnTo>
                    <a:pt x="2615963" y="2191325"/>
                  </a:lnTo>
                  <a:lnTo>
                    <a:pt x="2629042" y="2182506"/>
                  </a:lnTo>
                  <a:lnTo>
                    <a:pt x="2637859" y="2169426"/>
                  </a:lnTo>
                  <a:lnTo>
                    <a:pt x="2641091" y="2153412"/>
                  </a:lnTo>
                  <a:lnTo>
                    <a:pt x="2641091" y="41148"/>
                  </a:lnTo>
                  <a:lnTo>
                    <a:pt x="2637859" y="25128"/>
                  </a:lnTo>
                  <a:lnTo>
                    <a:pt x="2629042" y="12049"/>
                  </a:lnTo>
                  <a:lnTo>
                    <a:pt x="2615963" y="3232"/>
                  </a:lnTo>
                  <a:lnTo>
                    <a:pt x="2599943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8484" y="2016251"/>
              <a:ext cx="219455" cy="219456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227826" y="2044954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48805" y="2091054"/>
            <a:ext cx="906144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Gestion</a:t>
            </a:r>
            <a:r>
              <a:rPr dirty="0" sz="800" spc="-4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des</a:t>
            </a:r>
            <a:r>
              <a:rPr dirty="0" sz="800" spc="-1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tâches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58484" y="2441448"/>
            <a:ext cx="219455" cy="219456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6227826" y="2470150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448805" y="2451607"/>
            <a:ext cx="1852295" cy="2794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55"/>
              </a:spcBef>
            </a:pP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Synchronisation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et communication 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inter-tâches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58484" y="2866644"/>
            <a:ext cx="219455" cy="219456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6227826" y="2895726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448805" y="2941700"/>
            <a:ext cx="132969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Ordonnancement</a:t>
            </a:r>
            <a:r>
              <a:rPr dirty="0" sz="800" spc="-3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temps</a:t>
            </a:r>
            <a:r>
              <a:rPr dirty="0" sz="800" spc="-3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2A2A2A"/>
                </a:solidFill>
                <a:latin typeface="Arial"/>
                <a:cs typeface="Arial"/>
              </a:rPr>
              <a:t>réel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9" name="object 4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58484" y="3291840"/>
            <a:ext cx="219455" cy="219456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6227826" y="3320922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48805" y="3366897"/>
            <a:ext cx="202628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FreeRTOS</a:t>
            </a:r>
            <a:r>
              <a:rPr dirty="0" sz="800" spc="-3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appliqué</a:t>
            </a:r>
            <a:r>
              <a:rPr dirty="0" sz="800" spc="-2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à l'IoT</a:t>
            </a:r>
            <a:r>
              <a:rPr dirty="0" sz="800" spc="-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(ESP32/STM32)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58484" y="3717035"/>
            <a:ext cx="219455" cy="219455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6227826" y="3745814"/>
            <a:ext cx="84455" cy="152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54" name="object 54"/>
          <p:cNvSpPr txBox="1"/>
          <p:nvPr/>
        </p:nvSpPr>
        <p:spPr>
          <a:xfrm>
            <a:off x="6448805" y="3792423"/>
            <a:ext cx="200977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Étude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de</a:t>
            </a:r>
            <a:r>
              <a:rPr dirty="0" sz="800" spc="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cas</a:t>
            </a:r>
            <a:r>
              <a:rPr dirty="0" sz="800" spc="-2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d'un</a:t>
            </a:r>
            <a:r>
              <a:rPr dirty="0" sz="800" spc="-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vrai</a:t>
            </a:r>
            <a:r>
              <a:rPr dirty="0" sz="800" spc="-2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projet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IoT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A2A2A"/>
                </a:solidFill>
                <a:latin typeface="Arial"/>
                <a:cs typeface="Arial"/>
              </a:rPr>
              <a:t>temps</a:t>
            </a:r>
            <a:r>
              <a:rPr dirty="0" sz="800" spc="-1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2A2A2A"/>
                </a:solidFill>
                <a:latin typeface="Arial"/>
                <a:cs typeface="Arial"/>
              </a:rPr>
              <a:t>réel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7542" y="454533"/>
            <a:ext cx="174371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35" b="0">
                <a:solidFill>
                  <a:srgbClr val="FF4500"/>
                </a:solidFill>
                <a:latin typeface="Calibri Light"/>
                <a:cs typeface="Calibri Light"/>
              </a:rPr>
              <a:t>Evaluation</a:t>
            </a:r>
            <a:endParaRPr sz="33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8604" y="2967227"/>
            <a:ext cx="539496" cy="38404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557272" y="4344923"/>
            <a:ext cx="3828415" cy="428625"/>
          </a:xfrm>
          <a:custGeom>
            <a:avLst/>
            <a:gdLst/>
            <a:ahLst/>
            <a:cxnLst/>
            <a:rect l="l" t="t" r="r" b="b"/>
            <a:pathLst>
              <a:path w="3828415" h="428625">
                <a:moveTo>
                  <a:pt x="3825493" y="0"/>
                </a:moveTo>
                <a:lnTo>
                  <a:pt x="2666" y="0"/>
                </a:lnTo>
                <a:lnTo>
                  <a:pt x="0" y="2730"/>
                </a:lnTo>
                <a:lnTo>
                  <a:pt x="0" y="425513"/>
                </a:lnTo>
                <a:lnTo>
                  <a:pt x="2666" y="428244"/>
                </a:lnTo>
                <a:lnTo>
                  <a:pt x="3825493" y="428244"/>
                </a:lnTo>
                <a:lnTo>
                  <a:pt x="3828288" y="425513"/>
                </a:lnTo>
                <a:lnTo>
                  <a:pt x="3828288" y="424180"/>
                </a:lnTo>
                <a:lnTo>
                  <a:pt x="4952" y="424179"/>
                </a:lnTo>
                <a:lnTo>
                  <a:pt x="4063" y="423265"/>
                </a:lnTo>
                <a:lnTo>
                  <a:pt x="4063" y="4978"/>
                </a:lnTo>
                <a:lnTo>
                  <a:pt x="4952" y="4063"/>
                </a:lnTo>
                <a:lnTo>
                  <a:pt x="3828288" y="4063"/>
                </a:lnTo>
                <a:lnTo>
                  <a:pt x="3828288" y="2730"/>
                </a:lnTo>
                <a:lnTo>
                  <a:pt x="3825493" y="0"/>
                </a:lnTo>
                <a:close/>
              </a:path>
              <a:path w="3828415" h="428625">
                <a:moveTo>
                  <a:pt x="3828288" y="4063"/>
                </a:moveTo>
                <a:lnTo>
                  <a:pt x="3823335" y="4063"/>
                </a:lnTo>
                <a:lnTo>
                  <a:pt x="3824224" y="4978"/>
                </a:lnTo>
                <a:lnTo>
                  <a:pt x="3824224" y="423265"/>
                </a:lnTo>
                <a:lnTo>
                  <a:pt x="3823335" y="424179"/>
                </a:lnTo>
                <a:lnTo>
                  <a:pt x="3828288" y="424180"/>
                </a:lnTo>
                <a:lnTo>
                  <a:pt x="3828288" y="4063"/>
                </a:lnTo>
                <a:close/>
              </a:path>
              <a:path w="3828415" h="428625">
                <a:moveTo>
                  <a:pt x="3820160" y="8127"/>
                </a:moveTo>
                <a:lnTo>
                  <a:pt x="8127" y="8128"/>
                </a:lnTo>
                <a:lnTo>
                  <a:pt x="8127" y="420116"/>
                </a:lnTo>
                <a:lnTo>
                  <a:pt x="3820160" y="420115"/>
                </a:lnTo>
                <a:lnTo>
                  <a:pt x="3820160" y="416052"/>
                </a:lnTo>
                <a:lnTo>
                  <a:pt x="12191" y="416051"/>
                </a:lnTo>
                <a:lnTo>
                  <a:pt x="12191" y="12191"/>
                </a:lnTo>
                <a:lnTo>
                  <a:pt x="3820160" y="12191"/>
                </a:lnTo>
                <a:lnTo>
                  <a:pt x="3820160" y="8127"/>
                </a:lnTo>
                <a:close/>
              </a:path>
              <a:path w="3828415" h="428625">
                <a:moveTo>
                  <a:pt x="3820160" y="12191"/>
                </a:moveTo>
                <a:lnTo>
                  <a:pt x="3816095" y="12191"/>
                </a:lnTo>
                <a:lnTo>
                  <a:pt x="3816095" y="416051"/>
                </a:lnTo>
                <a:lnTo>
                  <a:pt x="3820160" y="416052"/>
                </a:lnTo>
                <a:lnTo>
                  <a:pt x="382016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56486" y="995623"/>
            <a:ext cx="5645150" cy="371919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100" b="1">
                <a:latin typeface="Calibri"/>
                <a:cs typeface="Calibri"/>
              </a:rPr>
              <a:t>Contrôles</a:t>
            </a:r>
            <a:r>
              <a:rPr dirty="0" sz="2100" spc="-70" b="1">
                <a:latin typeface="Calibri"/>
                <a:cs typeface="Calibri"/>
              </a:rPr>
              <a:t> </a:t>
            </a:r>
            <a:r>
              <a:rPr dirty="0" sz="2100" spc="-10" b="1">
                <a:latin typeface="Calibri"/>
                <a:cs typeface="Calibri"/>
              </a:rPr>
              <a:t>Continus</a:t>
            </a:r>
            <a:endParaRPr sz="2100">
              <a:latin typeface="Calibri"/>
              <a:cs typeface="Calibri"/>
            </a:endParaRPr>
          </a:p>
          <a:p>
            <a:pPr lvl="1" marL="527685" indent="-17208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1800" spc="-10">
                <a:latin typeface="Calibri"/>
                <a:cs typeface="Calibri"/>
              </a:rPr>
              <a:t>Devoirs</a:t>
            </a:r>
            <a:endParaRPr sz="1800">
              <a:latin typeface="Calibri"/>
              <a:cs typeface="Calibri"/>
            </a:endParaRPr>
          </a:p>
          <a:p>
            <a:pPr lvl="1" marL="527685" indent="-172085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1800" spc="-30">
                <a:latin typeface="Calibri"/>
                <a:cs typeface="Calibri"/>
              </a:rPr>
              <a:t>Travaux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 </a:t>
            </a:r>
            <a:r>
              <a:rPr dirty="0" sz="1800" spc="-10">
                <a:latin typeface="Calibri"/>
                <a:cs typeface="Calibri"/>
              </a:rPr>
              <a:t>recherche</a:t>
            </a:r>
            <a:endParaRPr sz="1800">
              <a:latin typeface="Calibri"/>
              <a:cs typeface="Calibri"/>
            </a:endParaRPr>
          </a:p>
          <a:p>
            <a:pPr lvl="1" marL="527685" indent="-172085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1800" spc="-10">
                <a:latin typeface="Calibri"/>
                <a:cs typeface="Calibri"/>
              </a:rPr>
              <a:t>Exposés</a:t>
            </a:r>
            <a:endParaRPr sz="1800">
              <a:latin typeface="Calibri"/>
              <a:cs typeface="Calibri"/>
            </a:endParaRPr>
          </a:p>
          <a:p>
            <a:pPr lvl="1" marL="527685" indent="-172085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1800" spc="-10">
                <a:latin typeface="Calibri"/>
                <a:cs typeface="Calibri"/>
              </a:rPr>
              <a:t>assiduité</a:t>
            </a:r>
            <a:endParaRPr sz="1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100" b="1">
                <a:latin typeface="Calibri"/>
                <a:cs typeface="Calibri"/>
              </a:rPr>
              <a:t>Activités</a:t>
            </a:r>
            <a:r>
              <a:rPr dirty="0" sz="2100" spc="-95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pratiques</a:t>
            </a:r>
            <a:r>
              <a:rPr dirty="0" sz="2100" spc="-55" b="1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(TP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et/ou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Projet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réalisation)</a:t>
            </a:r>
            <a:endParaRPr sz="21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100" b="1">
                <a:latin typeface="Calibri"/>
                <a:cs typeface="Calibri"/>
              </a:rPr>
              <a:t>Absence</a:t>
            </a:r>
            <a:r>
              <a:rPr dirty="0" sz="2100" spc="-20" b="1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: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1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Abs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(NJ)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=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4500"/>
                </a:solidFill>
                <a:latin typeface="Calibri"/>
                <a:cs typeface="Calibri"/>
              </a:rPr>
              <a:t>-2,5%</a:t>
            </a:r>
            <a:r>
              <a:rPr dirty="0" sz="2100" spc="-55">
                <a:solidFill>
                  <a:srgbClr val="FF4500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la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006FC0"/>
                </a:solidFill>
                <a:latin typeface="Calibri"/>
                <a:cs typeface="Calibri"/>
              </a:rPr>
              <a:t>note</a:t>
            </a:r>
            <a:r>
              <a:rPr dirty="0" sz="2100" spc="-4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006FC0"/>
                </a:solidFill>
                <a:latin typeface="Calibri"/>
                <a:cs typeface="Calibri"/>
              </a:rPr>
              <a:t>finale</a:t>
            </a:r>
            <a:r>
              <a:rPr dirty="0" sz="2100" spc="434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!!!</a:t>
            </a:r>
            <a:endParaRPr sz="2100">
              <a:latin typeface="Calibri"/>
              <a:cs typeface="Calibri"/>
            </a:endParaRPr>
          </a:p>
          <a:p>
            <a:pPr lvl="1" marL="526415" indent="-170815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526415" algn="l"/>
              </a:tabLst>
            </a:pP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Absence</a:t>
            </a:r>
            <a:r>
              <a:rPr dirty="0" sz="20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non</a:t>
            </a:r>
            <a:r>
              <a:rPr dirty="0" sz="2000" spc="-4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justifiée</a:t>
            </a:r>
            <a:r>
              <a:rPr dirty="0" sz="20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en</a:t>
            </a:r>
            <a:r>
              <a:rPr dirty="0" sz="2000" spc="-2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CC</a:t>
            </a:r>
            <a:r>
              <a:rPr dirty="0" sz="2000" spc="-3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dirty="0" sz="2000" spc="-2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00</a:t>
            </a:r>
            <a:r>
              <a:rPr dirty="0" sz="20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dirty="0" sz="2000" spc="-25" b="1">
                <a:solidFill>
                  <a:srgbClr val="FF0000"/>
                </a:solidFill>
                <a:latin typeface="Calibri"/>
                <a:cs typeface="Calibri"/>
              </a:rPr>
              <a:t> 20</a:t>
            </a:r>
            <a:endParaRPr sz="2000">
              <a:latin typeface="Calibri"/>
              <a:cs typeface="Calibri"/>
            </a:endParaRPr>
          </a:p>
          <a:p>
            <a:pPr lvl="1" marL="526415" indent="-170815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6415" algn="l"/>
              </a:tabLst>
            </a:pP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Absence</a:t>
            </a:r>
            <a:r>
              <a:rPr dirty="0" sz="20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non</a:t>
            </a:r>
            <a:r>
              <a:rPr dirty="0" sz="20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justifiée</a:t>
            </a:r>
            <a:r>
              <a:rPr dirty="0" sz="20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en</a:t>
            </a:r>
            <a:r>
              <a:rPr dirty="0" sz="2000" spc="-1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TP</a:t>
            </a:r>
            <a:r>
              <a:rPr dirty="0" sz="20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dirty="0" sz="2000" spc="-2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00</a:t>
            </a:r>
            <a:r>
              <a:rPr dirty="0" sz="20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dirty="0" sz="2000" spc="-25" b="1">
                <a:solidFill>
                  <a:srgbClr val="FF0000"/>
                </a:solidFill>
                <a:latin typeface="Calibri"/>
                <a:cs typeface="Calibri"/>
              </a:rPr>
              <a:t> 20</a:t>
            </a:r>
            <a:endParaRPr sz="2000">
              <a:latin typeface="Calibri"/>
              <a:cs typeface="Calibri"/>
            </a:endParaRPr>
          </a:p>
          <a:p>
            <a:pPr lvl="1" marL="526415" indent="-170815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526415" algn="l"/>
              </a:tabLst>
            </a:pP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Absence</a:t>
            </a:r>
            <a:r>
              <a:rPr dirty="0" sz="20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justifiée</a:t>
            </a:r>
            <a:r>
              <a:rPr dirty="0" sz="2000" spc="-6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donne</a:t>
            </a:r>
            <a:r>
              <a:rPr dirty="0" sz="2000" spc="-5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droit</a:t>
            </a:r>
            <a:r>
              <a:rPr dirty="0" sz="2000" spc="-5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au</a:t>
            </a:r>
            <a:r>
              <a:rPr dirty="0" sz="20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Calibri"/>
                <a:cs typeface="Calibri"/>
              </a:rPr>
              <a:t>rattrapage</a:t>
            </a:r>
            <a:endParaRPr sz="2000">
              <a:latin typeface="Calibri"/>
              <a:cs typeface="Calibri"/>
            </a:endParaRPr>
          </a:p>
          <a:p>
            <a:pPr marL="1297940">
              <a:lnSpc>
                <a:spcPct val="100000"/>
              </a:lnSpc>
              <a:spcBef>
                <a:spcPts val="590"/>
              </a:spcBef>
            </a:pPr>
            <a:r>
              <a:rPr dirty="0" sz="2100" b="1">
                <a:solidFill>
                  <a:srgbClr val="006FC0"/>
                </a:solidFill>
                <a:latin typeface="Calibri"/>
                <a:cs typeface="Calibri"/>
              </a:rPr>
              <a:t>Note</a:t>
            </a:r>
            <a:r>
              <a:rPr dirty="0" sz="2100" spc="-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006FC0"/>
                </a:solidFill>
                <a:latin typeface="Calibri"/>
                <a:cs typeface="Calibri"/>
              </a:rPr>
              <a:t>module</a:t>
            </a:r>
            <a:r>
              <a:rPr dirty="0" sz="2100" spc="-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=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70%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CT +</a:t>
            </a:r>
            <a:r>
              <a:rPr dirty="0" sz="2100" spc="4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30%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AP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9535">
              <a:lnSpc>
                <a:spcPts val="865"/>
              </a:lnSpc>
            </a:pPr>
            <a:r>
              <a:rPr dirty="0" spc="-50"/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087" y="396240"/>
            <a:ext cx="7819644" cy="33451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9535">
              <a:lnSpc>
                <a:spcPts val="865"/>
              </a:lnSpc>
            </a:pPr>
            <a:r>
              <a:rPr dirty="0" spc="-50"/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190" y="1094232"/>
            <a:ext cx="7773921" cy="21488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9535">
              <a:lnSpc>
                <a:spcPts val="865"/>
              </a:lnSpc>
            </a:pPr>
            <a:r>
              <a:rPr dirty="0" spc="-50"/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7542" y="454533"/>
            <a:ext cx="274701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10" b="0">
                <a:solidFill>
                  <a:srgbClr val="FF4500"/>
                </a:solidFill>
                <a:latin typeface="Calibri Light"/>
                <a:cs typeface="Calibri Light"/>
              </a:rPr>
              <a:t>Charte</a:t>
            </a:r>
            <a:r>
              <a:rPr dirty="0" sz="3300" spc="-130" b="0">
                <a:solidFill>
                  <a:srgbClr val="FF4500"/>
                </a:solidFill>
                <a:latin typeface="Calibri Light"/>
                <a:cs typeface="Calibri Light"/>
              </a:rPr>
              <a:t> </a:t>
            </a:r>
            <a:r>
              <a:rPr dirty="0" sz="3300" b="0">
                <a:solidFill>
                  <a:srgbClr val="FF4500"/>
                </a:solidFill>
                <a:latin typeface="Calibri Light"/>
                <a:cs typeface="Calibri Light"/>
              </a:rPr>
              <a:t>de</a:t>
            </a:r>
            <a:r>
              <a:rPr dirty="0" sz="3300" spc="-114" b="0">
                <a:solidFill>
                  <a:srgbClr val="FF4500"/>
                </a:solidFill>
                <a:latin typeface="Calibri Light"/>
                <a:cs typeface="Calibri Light"/>
              </a:rPr>
              <a:t> </a:t>
            </a:r>
            <a:r>
              <a:rPr dirty="0" sz="3300" spc="-30" b="0">
                <a:solidFill>
                  <a:srgbClr val="FF4500"/>
                </a:solidFill>
                <a:latin typeface="Calibri Light"/>
                <a:cs typeface="Calibri Light"/>
              </a:rPr>
              <a:t>travail</a:t>
            </a:r>
            <a:endParaRPr sz="33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0716" y="1116712"/>
            <a:ext cx="6278245" cy="316420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100">
                <a:latin typeface="Calibri"/>
                <a:cs typeface="Calibri"/>
              </a:rPr>
              <a:t>Désigner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un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C00000"/>
                </a:solidFill>
                <a:latin typeface="Calibri"/>
                <a:cs typeface="Calibri"/>
              </a:rPr>
              <a:t>représentant</a:t>
            </a:r>
            <a:r>
              <a:rPr dirty="0" sz="21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classe</a:t>
            </a:r>
            <a:endParaRPr sz="21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100">
                <a:latin typeface="Calibri"/>
                <a:cs typeface="Calibri"/>
              </a:rPr>
              <a:t>Durée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la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séance</a:t>
            </a:r>
            <a:r>
              <a:rPr dirty="0" sz="2100" spc="-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: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8h30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à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12h30.(Pause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15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min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à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10H30)</a:t>
            </a:r>
            <a:r>
              <a:rPr dirty="0" sz="2100" spc="-10"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100">
                <a:latin typeface="Calibri"/>
                <a:cs typeface="Calibri"/>
              </a:rPr>
              <a:t>Moyens</a:t>
            </a:r>
            <a:r>
              <a:rPr dirty="0" sz="2100" spc="-7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</a:t>
            </a:r>
            <a:r>
              <a:rPr dirty="0" sz="2100" spc="-8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communication</a:t>
            </a:r>
            <a:r>
              <a:rPr dirty="0" sz="2100" spc="-8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(décisions):</a:t>
            </a:r>
            <a:endParaRPr sz="2100">
              <a:latin typeface="Calibri"/>
              <a:cs typeface="Calibri"/>
            </a:endParaRPr>
          </a:p>
          <a:p>
            <a:pPr lvl="1" marL="527685" indent="-17208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1800">
                <a:latin typeface="Calibri"/>
                <a:cs typeface="Calibri"/>
              </a:rPr>
              <a:t>Contact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direct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classe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(pas</a:t>
            </a:r>
            <a:r>
              <a:rPr dirty="0" sz="18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dans</a:t>
            </a:r>
            <a:r>
              <a:rPr dirty="0" sz="18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les</a:t>
            </a:r>
            <a:r>
              <a:rPr dirty="0" sz="18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couloires)</a:t>
            </a:r>
            <a:endParaRPr sz="1800">
              <a:latin typeface="Calibri"/>
              <a:cs typeface="Calibri"/>
            </a:endParaRPr>
          </a:p>
          <a:p>
            <a:pPr lvl="1" marL="527050" indent="-171450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Calibri"/>
                <a:cs typeface="Calibri"/>
              </a:rPr>
              <a:t>Email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du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groupe</a:t>
            </a:r>
            <a:endParaRPr sz="1800">
              <a:latin typeface="Calibri"/>
              <a:cs typeface="Calibri"/>
            </a:endParaRPr>
          </a:p>
          <a:p>
            <a:pPr lvl="1" marL="527685" indent="-17208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1800">
                <a:latin typeface="Calibri"/>
                <a:cs typeface="Calibri"/>
              </a:rPr>
              <a:t>Email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du</a:t>
            </a:r>
            <a:r>
              <a:rPr dirty="0" sz="1800" spc="-10">
                <a:latin typeface="Calibri"/>
                <a:cs typeface="Calibri"/>
              </a:rPr>
              <a:t> représentant</a:t>
            </a:r>
            <a:endParaRPr sz="1800">
              <a:latin typeface="Calibri"/>
              <a:cs typeface="Calibri"/>
            </a:endParaRPr>
          </a:p>
          <a:p>
            <a:pPr lvl="1" marL="527685" indent="-172085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Pas</a:t>
            </a:r>
            <a:r>
              <a:rPr dirty="0" sz="18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dirty="0" sz="18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téléphone</a:t>
            </a:r>
            <a:endParaRPr sz="1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100">
                <a:solidFill>
                  <a:srgbClr val="C00000"/>
                </a:solidFill>
                <a:latin typeface="Calibri"/>
                <a:cs typeface="Calibri"/>
              </a:rPr>
              <a:t>Séance</a:t>
            </a:r>
            <a:r>
              <a:rPr dirty="0" sz="21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00000"/>
                </a:solidFill>
                <a:latin typeface="Calibri"/>
                <a:cs typeface="Calibri"/>
              </a:rPr>
              <a:t>commence</a:t>
            </a:r>
            <a:r>
              <a:rPr dirty="0" sz="21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00000"/>
                </a:solidFill>
                <a:latin typeface="Calibri"/>
                <a:cs typeface="Calibri"/>
              </a:rPr>
              <a:t>à</a:t>
            </a:r>
            <a:r>
              <a:rPr dirty="0" sz="21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00000"/>
                </a:solidFill>
                <a:latin typeface="Calibri"/>
                <a:cs typeface="Calibri"/>
              </a:rPr>
              <a:t>8H30mn</a:t>
            </a:r>
            <a:r>
              <a:rPr dirty="0" sz="21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00000"/>
                </a:solidFill>
                <a:latin typeface="Calibri"/>
                <a:cs typeface="Calibri"/>
              </a:rPr>
              <a:t>(10</a:t>
            </a:r>
            <a:r>
              <a:rPr dirty="0" sz="21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00000"/>
                </a:solidFill>
                <a:latin typeface="Calibri"/>
                <a:cs typeface="Calibri"/>
              </a:rPr>
              <a:t>min</a:t>
            </a:r>
            <a:r>
              <a:rPr dirty="0" sz="21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C00000"/>
                </a:solidFill>
                <a:latin typeface="Calibri"/>
                <a:cs typeface="Calibri"/>
              </a:rPr>
              <a:t>retard).</a:t>
            </a:r>
            <a:endParaRPr sz="21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100">
                <a:latin typeface="Calibri"/>
                <a:cs typeface="Calibri"/>
              </a:rPr>
              <a:t>Respect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des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RDV</a:t>
            </a:r>
            <a:r>
              <a:rPr dirty="0" sz="2100" spc="-7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(changement,</a:t>
            </a:r>
            <a:r>
              <a:rPr dirty="0" sz="2100" spc="-8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remise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des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travaux,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…)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4878" y="2167663"/>
            <a:ext cx="3446216" cy="130138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9535">
              <a:lnSpc>
                <a:spcPts val="865"/>
              </a:lnSpc>
            </a:pPr>
            <a:r>
              <a:rPr dirty="0" spc="-50"/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2002155" marR="5080" indent="-866140">
              <a:lnSpc>
                <a:spcPts val="3030"/>
              </a:lnSpc>
              <a:spcBef>
                <a:spcPts val="470"/>
              </a:spcBef>
            </a:pPr>
            <a:r>
              <a:rPr dirty="0" sz="2800" spc="-20" b="0">
                <a:solidFill>
                  <a:srgbClr val="000000"/>
                </a:solidFill>
                <a:latin typeface="Calibri Light"/>
                <a:cs typeface="Calibri Light"/>
              </a:rPr>
              <a:t>Partie</a:t>
            </a:r>
            <a:r>
              <a:rPr dirty="0" sz="2800" spc="-9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b="0">
                <a:solidFill>
                  <a:srgbClr val="000000"/>
                </a:solidFill>
                <a:latin typeface="Calibri Light"/>
                <a:cs typeface="Calibri Light"/>
              </a:rPr>
              <a:t>I</a:t>
            </a:r>
            <a:r>
              <a:rPr dirty="0" sz="2800" spc="-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b="0">
                <a:solidFill>
                  <a:srgbClr val="000000"/>
                </a:solidFill>
                <a:latin typeface="Calibri Light"/>
                <a:cs typeface="Calibri Light"/>
              </a:rPr>
              <a:t>—</a:t>
            </a:r>
            <a:r>
              <a:rPr dirty="0" sz="2800" spc="-8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40" b="0">
                <a:solidFill>
                  <a:srgbClr val="000000"/>
                </a:solidFill>
                <a:latin typeface="Calibri Light"/>
                <a:cs typeface="Calibri Light"/>
              </a:rPr>
              <a:t>Fondamentaux</a:t>
            </a:r>
            <a:r>
              <a:rPr dirty="0" sz="2800" spc="-8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b="0">
                <a:solidFill>
                  <a:srgbClr val="000000"/>
                </a:solidFill>
                <a:latin typeface="Calibri Light"/>
                <a:cs typeface="Calibri Light"/>
              </a:rPr>
              <a:t>des</a:t>
            </a:r>
            <a:r>
              <a:rPr dirty="0" sz="2800" spc="-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25" b="0">
                <a:solidFill>
                  <a:srgbClr val="000000"/>
                </a:solidFill>
                <a:latin typeface="Calibri Light"/>
                <a:cs typeface="Calibri Light"/>
              </a:rPr>
              <a:t>systèmes </a:t>
            </a:r>
            <a:r>
              <a:rPr dirty="0" sz="2800" spc="-30" b="0">
                <a:solidFill>
                  <a:srgbClr val="000000"/>
                </a:solidFill>
                <a:latin typeface="Calibri Light"/>
                <a:cs typeface="Calibri Light"/>
              </a:rPr>
              <a:t>d'exploitation</a:t>
            </a:r>
            <a:r>
              <a:rPr dirty="0" sz="2800" spc="-4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(généralités)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1580" y="2678938"/>
            <a:ext cx="5179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4500"/>
                </a:solidFill>
                <a:latin typeface="Calibri"/>
                <a:cs typeface="Calibri"/>
              </a:rPr>
              <a:t>Introduction</a:t>
            </a:r>
            <a:r>
              <a:rPr dirty="0" sz="2400" spc="-50" b="1">
                <a:solidFill>
                  <a:srgbClr val="FF45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4500"/>
                </a:solidFill>
                <a:latin typeface="Calibri"/>
                <a:cs typeface="Calibri"/>
              </a:rPr>
              <a:t>aux</a:t>
            </a:r>
            <a:r>
              <a:rPr dirty="0" sz="2400" spc="-55" b="1">
                <a:solidFill>
                  <a:srgbClr val="FF4500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FF4500"/>
                </a:solidFill>
                <a:latin typeface="Calibri"/>
                <a:cs typeface="Calibri"/>
              </a:rPr>
              <a:t>systèmes</a:t>
            </a:r>
            <a:r>
              <a:rPr dirty="0" sz="2400" spc="-55" b="1">
                <a:solidFill>
                  <a:srgbClr val="FF45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4500"/>
                </a:solidFill>
                <a:latin typeface="Calibri"/>
                <a:cs typeface="Calibri"/>
              </a:rPr>
              <a:t>d'exploitation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095" y="-6095"/>
            <a:ext cx="363220" cy="5156200"/>
            <a:chOff x="-6095" y="-6095"/>
            <a:chExt cx="363220" cy="51562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72720" cy="4845050"/>
            </a:xfrm>
            <a:custGeom>
              <a:avLst/>
              <a:gdLst/>
              <a:ahLst/>
              <a:cxnLst/>
              <a:rect l="l" t="t" r="r" b="b"/>
              <a:pathLst>
                <a:path w="172720" h="4845050">
                  <a:moveTo>
                    <a:pt x="172212" y="0"/>
                  </a:moveTo>
                  <a:lnTo>
                    <a:pt x="0" y="0"/>
                  </a:lnTo>
                  <a:lnTo>
                    <a:pt x="0" y="4844796"/>
                  </a:lnTo>
                  <a:lnTo>
                    <a:pt x="172212" y="4844796"/>
                  </a:lnTo>
                  <a:lnTo>
                    <a:pt x="172212" y="0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72720" cy="4845050"/>
            </a:xfrm>
            <a:custGeom>
              <a:avLst/>
              <a:gdLst/>
              <a:ahLst/>
              <a:cxnLst/>
              <a:rect l="l" t="t" r="r" b="b"/>
              <a:pathLst>
                <a:path w="172720" h="4845050">
                  <a:moveTo>
                    <a:pt x="0" y="4844796"/>
                  </a:moveTo>
                  <a:lnTo>
                    <a:pt x="172212" y="4844796"/>
                  </a:lnTo>
                  <a:lnTo>
                    <a:pt x="172212" y="0"/>
                  </a:lnTo>
                  <a:lnTo>
                    <a:pt x="0" y="0"/>
                  </a:lnTo>
                  <a:lnTo>
                    <a:pt x="0" y="4844796"/>
                  </a:lnTo>
                  <a:close/>
                </a:path>
              </a:pathLst>
            </a:custGeom>
            <a:ln w="12192">
              <a:solidFill>
                <a:srgbClr val="FF45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5072" y="297179"/>
              <a:ext cx="155575" cy="4846320"/>
            </a:xfrm>
            <a:custGeom>
              <a:avLst/>
              <a:gdLst/>
              <a:ahLst/>
              <a:cxnLst/>
              <a:rect l="l" t="t" r="r" b="b"/>
              <a:pathLst>
                <a:path w="155575" h="4846320">
                  <a:moveTo>
                    <a:pt x="155448" y="0"/>
                  </a:moveTo>
                  <a:lnTo>
                    <a:pt x="0" y="0"/>
                  </a:lnTo>
                  <a:lnTo>
                    <a:pt x="0" y="4846320"/>
                  </a:lnTo>
                  <a:lnTo>
                    <a:pt x="155448" y="4846320"/>
                  </a:lnTo>
                  <a:lnTo>
                    <a:pt x="15544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5072" y="297179"/>
              <a:ext cx="155575" cy="4846320"/>
            </a:xfrm>
            <a:custGeom>
              <a:avLst/>
              <a:gdLst/>
              <a:ahLst/>
              <a:cxnLst/>
              <a:rect l="l" t="t" r="r" b="b"/>
              <a:pathLst>
                <a:path w="155575" h="4846320">
                  <a:moveTo>
                    <a:pt x="0" y="4846320"/>
                  </a:moveTo>
                  <a:lnTo>
                    <a:pt x="155448" y="4846320"/>
                  </a:lnTo>
                  <a:lnTo>
                    <a:pt x="155448" y="0"/>
                  </a:lnTo>
                  <a:lnTo>
                    <a:pt x="0" y="0"/>
                  </a:lnTo>
                  <a:lnTo>
                    <a:pt x="0" y="4846320"/>
                  </a:lnTo>
                  <a:close/>
                </a:path>
              </a:pathLst>
            </a:custGeom>
            <a:ln w="1219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66459" y="0"/>
            <a:ext cx="3177540" cy="3223260"/>
          </a:xfrm>
          <a:custGeom>
            <a:avLst/>
            <a:gdLst/>
            <a:ahLst/>
            <a:cxnLst/>
            <a:rect l="l" t="t" r="r" b="b"/>
            <a:pathLst>
              <a:path w="3177540" h="3223260">
                <a:moveTo>
                  <a:pt x="3177540" y="0"/>
                </a:moveTo>
                <a:lnTo>
                  <a:pt x="144847" y="0"/>
                </a:lnTo>
                <a:lnTo>
                  <a:pt x="131229" y="38183"/>
                </a:lnTo>
                <a:lnTo>
                  <a:pt x="116627" y="81766"/>
                </a:lnTo>
                <a:lnTo>
                  <a:pt x="102840" y="125716"/>
                </a:lnTo>
                <a:lnTo>
                  <a:pt x="89878" y="170025"/>
                </a:lnTo>
                <a:lnTo>
                  <a:pt x="77749" y="214683"/>
                </a:lnTo>
                <a:lnTo>
                  <a:pt x="66463" y="259682"/>
                </a:lnTo>
                <a:lnTo>
                  <a:pt x="56028" y="305012"/>
                </a:lnTo>
                <a:lnTo>
                  <a:pt x="46454" y="350665"/>
                </a:lnTo>
                <a:lnTo>
                  <a:pt x="37748" y="396631"/>
                </a:lnTo>
                <a:lnTo>
                  <a:pt x="29921" y="442902"/>
                </a:lnTo>
                <a:lnTo>
                  <a:pt x="22982" y="489469"/>
                </a:lnTo>
                <a:lnTo>
                  <a:pt x="16938" y="536322"/>
                </a:lnTo>
                <a:lnTo>
                  <a:pt x="11800" y="583453"/>
                </a:lnTo>
                <a:lnTo>
                  <a:pt x="7576" y="630853"/>
                </a:lnTo>
                <a:lnTo>
                  <a:pt x="4274" y="678512"/>
                </a:lnTo>
                <a:lnTo>
                  <a:pt x="1905" y="726422"/>
                </a:lnTo>
                <a:lnTo>
                  <a:pt x="477" y="774574"/>
                </a:lnTo>
                <a:lnTo>
                  <a:pt x="0" y="822960"/>
                </a:lnTo>
                <a:lnTo>
                  <a:pt x="477" y="871345"/>
                </a:lnTo>
                <a:lnTo>
                  <a:pt x="1905" y="919497"/>
                </a:lnTo>
                <a:lnTo>
                  <a:pt x="4274" y="967407"/>
                </a:lnTo>
                <a:lnTo>
                  <a:pt x="7576" y="1015066"/>
                </a:lnTo>
                <a:lnTo>
                  <a:pt x="11800" y="1062466"/>
                </a:lnTo>
                <a:lnTo>
                  <a:pt x="16938" y="1109597"/>
                </a:lnTo>
                <a:lnTo>
                  <a:pt x="22982" y="1156450"/>
                </a:lnTo>
                <a:lnTo>
                  <a:pt x="29921" y="1203017"/>
                </a:lnTo>
                <a:lnTo>
                  <a:pt x="37748" y="1249288"/>
                </a:lnTo>
                <a:lnTo>
                  <a:pt x="46454" y="1295254"/>
                </a:lnTo>
                <a:lnTo>
                  <a:pt x="56028" y="1340907"/>
                </a:lnTo>
                <a:lnTo>
                  <a:pt x="66463" y="1386237"/>
                </a:lnTo>
                <a:lnTo>
                  <a:pt x="77749" y="1431236"/>
                </a:lnTo>
                <a:lnTo>
                  <a:pt x="89878" y="1475894"/>
                </a:lnTo>
                <a:lnTo>
                  <a:pt x="102840" y="1520203"/>
                </a:lnTo>
                <a:lnTo>
                  <a:pt x="116627" y="1564153"/>
                </a:lnTo>
                <a:lnTo>
                  <a:pt x="131229" y="1607736"/>
                </a:lnTo>
                <a:lnTo>
                  <a:pt x="146638" y="1650943"/>
                </a:lnTo>
                <a:lnTo>
                  <a:pt x="162845" y="1693765"/>
                </a:lnTo>
                <a:lnTo>
                  <a:pt x="179840" y="1736192"/>
                </a:lnTo>
                <a:lnTo>
                  <a:pt x="197615" y="1778216"/>
                </a:lnTo>
                <a:lnTo>
                  <a:pt x="216160" y="1819828"/>
                </a:lnTo>
                <a:lnTo>
                  <a:pt x="235467" y="1861019"/>
                </a:lnTo>
                <a:lnTo>
                  <a:pt x="255527" y="1901779"/>
                </a:lnTo>
                <a:lnTo>
                  <a:pt x="276331" y="1942101"/>
                </a:lnTo>
                <a:lnTo>
                  <a:pt x="297870" y="1981974"/>
                </a:lnTo>
                <a:lnTo>
                  <a:pt x="320135" y="2021391"/>
                </a:lnTo>
                <a:lnTo>
                  <a:pt x="343116" y="2060341"/>
                </a:lnTo>
                <a:lnTo>
                  <a:pt x="366806" y="2098817"/>
                </a:lnTo>
                <a:lnTo>
                  <a:pt x="391194" y="2136809"/>
                </a:lnTo>
                <a:lnTo>
                  <a:pt x="416273" y="2174308"/>
                </a:lnTo>
                <a:lnTo>
                  <a:pt x="442033" y="2211305"/>
                </a:lnTo>
                <a:lnTo>
                  <a:pt x="468465" y="2247792"/>
                </a:lnTo>
                <a:lnTo>
                  <a:pt x="495559" y="2283758"/>
                </a:lnTo>
                <a:lnTo>
                  <a:pt x="523309" y="2319196"/>
                </a:lnTo>
                <a:lnTo>
                  <a:pt x="551703" y="2354096"/>
                </a:lnTo>
                <a:lnTo>
                  <a:pt x="580734" y="2388450"/>
                </a:lnTo>
                <a:lnTo>
                  <a:pt x="610392" y="2422248"/>
                </a:lnTo>
                <a:lnTo>
                  <a:pt x="640668" y="2455482"/>
                </a:lnTo>
                <a:lnTo>
                  <a:pt x="671554" y="2488142"/>
                </a:lnTo>
                <a:lnTo>
                  <a:pt x="703040" y="2520219"/>
                </a:lnTo>
                <a:lnTo>
                  <a:pt x="735117" y="2551705"/>
                </a:lnTo>
                <a:lnTo>
                  <a:pt x="767777" y="2582591"/>
                </a:lnTo>
                <a:lnTo>
                  <a:pt x="801011" y="2612867"/>
                </a:lnTo>
                <a:lnTo>
                  <a:pt x="834809" y="2642525"/>
                </a:lnTo>
                <a:lnTo>
                  <a:pt x="869163" y="2671556"/>
                </a:lnTo>
                <a:lnTo>
                  <a:pt x="904063" y="2699950"/>
                </a:lnTo>
                <a:lnTo>
                  <a:pt x="939501" y="2727700"/>
                </a:lnTo>
                <a:lnTo>
                  <a:pt x="975467" y="2754794"/>
                </a:lnTo>
                <a:lnTo>
                  <a:pt x="1011954" y="2781226"/>
                </a:lnTo>
                <a:lnTo>
                  <a:pt x="1048951" y="2806986"/>
                </a:lnTo>
                <a:lnTo>
                  <a:pt x="1086450" y="2832065"/>
                </a:lnTo>
                <a:lnTo>
                  <a:pt x="1124442" y="2856453"/>
                </a:lnTo>
                <a:lnTo>
                  <a:pt x="1162918" y="2880143"/>
                </a:lnTo>
                <a:lnTo>
                  <a:pt x="1201868" y="2903124"/>
                </a:lnTo>
                <a:lnTo>
                  <a:pt x="1241285" y="2925389"/>
                </a:lnTo>
                <a:lnTo>
                  <a:pt x="1281158" y="2946928"/>
                </a:lnTo>
                <a:lnTo>
                  <a:pt x="1321480" y="2967732"/>
                </a:lnTo>
                <a:lnTo>
                  <a:pt x="1362240" y="2987792"/>
                </a:lnTo>
                <a:lnTo>
                  <a:pt x="1403431" y="3007099"/>
                </a:lnTo>
                <a:lnTo>
                  <a:pt x="1445043" y="3025644"/>
                </a:lnTo>
                <a:lnTo>
                  <a:pt x="1487067" y="3043419"/>
                </a:lnTo>
                <a:lnTo>
                  <a:pt x="1529494" y="3060414"/>
                </a:lnTo>
                <a:lnTo>
                  <a:pt x="1572316" y="3076621"/>
                </a:lnTo>
                <a:lnTo>
                  <a:pt x="1615523" y="3092030"/>
                </a:lnTo>
                <a:lnTo>
                  <a:pt x="1659106" y="3106632"/>
                </a:lnTo>
                <a:lnTo>
                  <a:pt x="1703056" y="3120419"/>
                </a:lnTo>
                <a:lnTo>
                  <a:pt x="1747365" y="3133381"/>
                </a:lnTo>
                <a:lnTo>
                  <a:pt x="1792023" y="3145510"/>
                </a:lnTo>
                <a:lnTo>
                  <a:pt x="1837022" y="3156796"/>
                </a:lnTo>
                <a:lnTo>
                  <a:pt x="1882352" y="3167231"/>
                </a:lnTo>
                <a:lnTo>
                  <a:pt x="1928005" y="3176805"/>
                </a:lnTo>
                <a:lnTo>
                  <a:pt x="1973971" y="3185511"/>
                </a:lnTo>
                <a:lnTo>
                  <a:pt x="2020242" y="3193338"/>
                </a:lnTo>
                <a:lnTo>
                  <a:pt x="2066809" y="3200277"/>
                </a:lnTo>
                <a:lnTo>
                  <a:pt x="2113662" y="3206321"/>
                </a:lnTo>
                <a:lnTo>
                  <a:pt x="2160793" y="3211459"/>
                </a:lnTo>
                <a:lnTo>
                  <a:pt x="2208193" y="3215683"/>
                </a:lnTo>
                <a:lnTo>
                  <a:pt x="2255852" y="3218985"/>
                </a:lnTo>
                <a:lnTo>
                  <a:pt x="2303762" y="3221354"/>
                </a:lnTo>
                <a:lnTo>
                  <a:pt x="2351914" y="3222782"/>
                </a:lnTo>
                <a:lnTo>
                  <a:pt x="2400299" y="3223260"/>
                </a:lnTo>
                <a:lnTo>
                  <a:pt x="2448685" y="3222782"/>
                </a:lnTo>
                <a:lnTo>
                  <a:pt x="2496837" y="3221354"/>
                </a:lnTo>
                <a:lnTo>
                  <a:pt x="2544747" y="3218985"/>
                </a:lnTo>
                <a:lnTo>
                  <a:pt x="2592406" y="3215683"/>
                </a:lnTo>
                <a:lnTo>
                  <a:pt x="2639806" y="3211459"/>
                </a:lnTo>
                <a:lnTo>
                  <a:pt x="2686937" y="3206321"/>
                </a:lnTo>
                <a:lnTo>
                  <a:pt x="2733790" y="3200277"/>
                </a:lnTo>
                <a:lnTo>
                  <a:pt x="2780357" y="3193338"/>
                </a:lnTo>
                <a:lnTo>
                  <a:pt x="2826628" y="3185511"/>
                </a:lnTo>
                <a:lnTo>
                  <a:pt x="2872594" y="3176805"/>
                </a:lnTo>
                <a:lnTo>
                  <a:pt x="2918247" y="3167231"/>
                </a:lnTo>
                <a:lnTo>
                  <a:pt x="2963577" y="3156796"/>
                </a:lnTo>
                <a:lnTo>
                  <a:pt x="3008576" y="3145510"/>
                </a:lnTo>
                <a:lnTo>
                  <a:pt x="3053234" y="3133381"/>
                </a:lnTo>
                <a:lnTo>
                  <a:pt x="3097543" y="3120419"/>
                </a:lnTo>
                <a:lnTo>
                  <a:pt x="3141493" y="3106632"/>
                </a:lnTo>
                <a:lnTo>
                  <a:pt x="3177540" y="3094555"/>
                </a:lnTo>
                <a:lnTo>
                  <a:pt x="3177540" y="0"/>
                </a:lnTo>
                <a:close/>
              </a:path>
            </a:pathLst>
          </a:custGeom>
          <a:solidFill>
            <a:srgbClr val="4471C4">
              <a:alpha val="34901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17219" y="480059"/>
            <a:ext cx="652780" cy="652780"/>
            <a:chOff x="617219" y="480059"/>
            <a:chExt cx="652780" cy="652780"/>
          </a:xfrm>
        </p:grpSpPr>
        <p:sp>
          <p:nvSpPr>
            <p:cNvPr id="4" name="object 4"/>
            <p:cNvSpPr/>
            <p:nvPr/>
          </p:nvSpPr>
          <p:spPr>
            <a:xfrm>
              <a:off x="617219" y="480059"/>
              <a:ext cx="652780" cy="652780"/>
            </a:xfrm>
            <a:custGeom>
              <a:avLst/>
              <a:gdLst/>
              <a:ahLst/>
              <a:cxnLst/>
              <a:rect l="l" t="t" r="r" b="b"/>
              <a:pathLst>
                <a:path w="652780" h="652780">
                  <a:moveTo>
                    <a:pt x="326136" y="0"/>
                  </a:moveTo>
                  <a:lnTo>
                    <a:pt x="277941" y="3536"/>
                  </a:lnTo>
                  <a:lnTo>
                    <a:pt x="231942" y="13811"/>
                  </a:lnTo>
                  <a:lnTo>
                    <a:pt x="188643" y="30317"/>
                  </a:lnTo>
                  <a:lnTo>
                    <a:pt x="148549" y="52551"/>
                  </a:lnTo>
                  <a:lnTo>
                    <a:pt x="112165" y="80007"/>
                  </a:lnTo>
                  <a:lnTo>
                    <a:pt x="79994" y="112180"/>
                  </a:lnTo>
                  <a:lnTo>
                    <a:pt x="52541" y="148566"/>
                  </a:lnTo>
                  <a:lnTo>
                    <a:pt x="30311" y="188659"/>
                  </a:lnTo>
                  <a:lnTo>
                    <a:pt x="13807" y="231956"/>
                  </a:lnTo>
                  <a:lnTo>
                    <a:pt x="3536" y="277949"/>
                  </a:lnTo>
                  <a:lnTo>
                    <a:pt x="0" y="326136"/>
                  </a:lnTo>
                  <a:lnTo>
                    <a:pt x="3536" y="374322"/>
                  </a:lnTo>
                  <a:lnTo>
                    <a:pt x="13807" y="420315"/>
                  </a:lnTo>
                  <a:lnTo>
                    <a:pt x="30311" y="463612"/>
                  </a:lnTo>
                  <a:lnTo>
                    <a:pt x="52541" y="503705"/>
                  </a:lnTo>
                  <a:lnTo>
                    <a:pt x="79994" y="540091"/>
                  </a:lnTo>
                  <a:lnTo>
                    <a:pt x="112165" y="572264"/>
                  </a:lnTo>
                  <a:lnTo>
                    <a:pt x="148549" y="599720"/>
                  </a:lnTo>
                  <a:lnTo>
                    <a:pt x="188643" y="621954"/>
                  </a:lnTo>
                  <a:lnTo>
                    <a:pt x="231942" y="638460"/>
                  </a:lnTo>
                  <a:lnTo>
                    <a:pt x="277941" y="648735"/>
                  </a:lnTo>
                  <a:lnTo>
                    <a:pt x="326136" y="652272"/>
                  </a:lnTo>
                  <a:lnTo>
                    <a:pt x="374330" y="648735"/>
                  </a:lnTo>
                  <a:lnTo>
                    <a:pt x="420329" y="638460"/>
                  </a:lnTo>
                  <a:lnTo>
                    <a:pt x="463628" y="621954"/>
                  </a:lnTo>
                  <a:lnTo>
                    <a:pt x="503722" y="599720"/>
                  </a:lnTo>
                  <a:lnTo>
                    <a:pt x="540106" y="572264"/>
                  </a:lnTo>
                  <a:lnTo>
                    <a:pt x="572277" y="540091"/>
                  </a:lnTo>
                  <a:lnTo>
                    <a:pt x="599730" y="503705"/>
                  </a:lnTo>
                  <a:lnTo>
                    <a:pt x="621960" y="463612"/>
                  </a:lnTo>
                  <a:lnTo>
                    <a:pt x="638464" y="420315"/>
                  </a:lnTo>
                  <a:lnTo>
                    <a:pt x="648735" y="374322"/>
                  </a:lnTo>
                  <a:lnTo>
                    <a:pt x="652271" y="326136"/>
                  </a:lnTo>
                  <a:lnTo>
                    <a:pt x="648735" y="277949"/>
                  </a:lnTo>
                  <a:lnTo>
                    <a:pt x="638464" y="231956"/>
                  </a:lnTo>
                  <a:lnTo>
                    <a:pt x="621960" y="188659"/>
                  </a:lnTo>
                  <a:lnTo>
                    <a:pt x="599730" y="148566"/>
                  </a:lnTo>
                  <a:lnTo>
                    <a:pt x="572277" y="112180"/>
                  </a:lnTo>
                  <a:lnTo>
                    <a:pt x="540106" y="80007"/>
                  </a:lnTo>
                  <a:lnTo>
                    <a:pt x="503722" y="52551"/>
                  </a:lnTo>
                  <a:lnTo>
                    <a:pt x="463628" y="30317"/>
                  </a:lnTo>
                  <a:lnTo>
                    <a:pt x="420329" y="13811"/>
                  </a:lnTo>
                  <a:lnTo>
                    <a:pt x="374330" y="3536"/>
                  </a:lnTo>
                  <a:lnTo>
                    <a:pt x="326136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/home/claude/ppt/icons/layers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191" y="637031"/>
              <a:ext cx="338327" cy="33832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84757" y="475538"/>
            <a:ext cx="2679065" cy="49212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950" spc="70" b="1">
                <a:solidFill>
                  <a:srgbClr val="C8D5ED"/>
                </a:solidFill>
                <a:latin typeface="Calibri"/>
                <a:cs typeface="Calibri"/>
              </a:rPr>
              <a:t>UNIVERSITÉ</a:t>
            </a:r>
            <a:r>
              <a:rPr dirty="0" sz="950" spc="229" b="1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C8D5ED"/>
                </a:solidFill>
                <a:latin typeface="Calibri"/>
                <a:cs typeface="Calibri"/>
              </a:rPr>
              <a:t>HASSAN</a:t>
            </a:r>
            <a:r>
              <a:rPr dirty="0" sz="950" spc="210" b="1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950" spc="50" b="1">
                <a:solidFill>
                  <a:srgbClr val="C8D5ED"/>
                </a:solidFill>
                <a:latin typeface="Calibri"/>
                <a:cs typeface="Calibri"/>
              </a:rPr>
              <a:t>1ER</a:t>
            </a:r>
            <a:r>
              <a:rPr dirty="0" sz="950" spc="229" b="1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C8D5ED"/>
                </a:solidFill>
                <a:latin typeface="Calibri"/>
                <a:cs typeface="Calibri"/>
              </a:rPr>
              <a:t>—</a:t>
            </a:r>
            <a:r>
              <a:rPr dirty="0" sz="950" spc="200" b="1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C8D5ED"/>
                </a:solidFill>
                <a:latin typeface="Calibri"/>
                <a:cs typeface="Calibri"/>
              </a:rPr>
              <a:t>FST</a:t>
            </a:r>
            <a:r>
              <a:rPr dirty="0" sz="950" spc="229" b="1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950" spc="50" b="1">
                <a:solidFill>
                  <a:srgbClr val="C8D5ED"/>
                </a:solidFill>
                <a:latin typeface="Calibri"/>
                <a:cs typeface="Calibri"/>
              </a:rPr>
              <a:t>SETTAT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50">
                <a:solidFill>
                  <a:srgbClr val="C8D5ED"/>
                </a:solidFill>
                <a:latin typeface="Calibri"/>
                <a:cs typeface="Calibri"/>
              </a:rPr>
              <a:t>Licence</a:t>
            </a:r>
            <a:r>
              <a:rPr dirty="0" sz="950" spc="65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8D5ED"/>
                </a:solidFill>
                <a:latin typeface="Calibri"/>
                <a:cs typeface="Calibri"/>
              </a:rPr>
              <a:t>—</a:t>
            </a:r>
            <a:r>
              <a:rPr dirty="0" sz="950" spc="35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8D5ED"/>
                </a:solidFill>
                <a:latin typeface="Calibri"/>
                <a:cs typeface="Calibri"/>
              </a:rPr>
              <a:t>Systèmes</a:t>
            </a:r>
            <a:r>
              <a:rPr dirty="0" sz="950" spc="60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8D5ED"/>
                </a:solidFill>
                <a:latin typeface="Calibri"/>
                <a:cs typeface="Calibri"/>
              </a:rPr>
              <a:t>Intelligents</a:t>
            </a:r>
            <a:r>
              <a:rPr dirty="0" sz="950" spc="65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8D5ED"/>
                </a:solidFill>
                <a:latin typeface="Calibri"/>
                <a:cs typeface="Calibri"/>
              </a:rPr>
              <a:t>et</a:t>
            </a:r>
            <a:r>
              <a:rPr dirty="0" sz="950" spc="45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8D5ED"/>
                </a:solidFill>
                <a:latin typeface="Calibri"/>
                <a:cs typeface="Calibri"/>
              </a:rPr>
              <a:t>Objets</a:t>
            </a:r>
            <a:r>
              <a:rPr dirty="0" sz="950" spc="65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8D5ED"/>
                </a:solidFill>
                <a:latin typeface="Calibri"/>
                <a:cs typeface="Calibri"/>
              </a:rPr>
              <a:t>Connectés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959" y="1816616"/>
            <a:ext cx="4829810" cy="1122045"/>
          </a:xfrm>
          <a:prstGeom prst="rect">
            <a:avLst/>
          </a:prstGeom>
        </p:spPr>
        <p:txBody>
          <a:bodyPr wrap="square" lIns="0" tIns="2273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3450" spc="-10" b="1">
                <a:solidFill>
                  <a:srgbClr val="FF4500"/>
                </a:solidFill>
                <a:latin typeface="Cambria"/>
                <a:cs typeface="Cambria"/>
              </a:rPr>
              <a:t>Systèmes</a:t>
            </a:r>
            <a:r>
              <a:rPr dirty="0" sz="3450" spc="-150" b="1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3450" spc="-10" b="1">
                <a:solidFill>
                  <a:srgbClr val="FF4500"/>
                </a:solidFill>
                <a:latin typeface="Cambria"/>
                <a:cs typeface="Cambria"/>
              </a:rPr>
              <a:t>d'Exploitation</a:t>
            </a:r>
            <a:endParaRPr sz="3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650" b="1">
                <a:solidFill>
                  <a:srgbClr val="4471C4"/>
                </a:solidFill>
                <a:latin typeface="Calibri"/>
                <a:cs typeface="Calibri"/>
              </a:rPr>
              <a:t>Chapitre</a:t>
            </a:r>
            <a:r>
              <a:rPr dirty="0" sz="1650" spc="-50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4471C4"/>
                </a:solidFill>
                <a:latin typeface="Calibri"/>
                <a:cs typeface="Calibri"/>
              </a:rPr>
              <a:t>1</a:t>
            </a:r>
            <a:r>
              <a:rPr dirty="0" sz="1650" spc="-25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4471C4"/>
                </a:solidFill>
                <a:latin typeface="Calibri"/>
                <a:cs typeface="Calibri"/>
              </a:rPr>
              <a:t>—</a:t>
            </a:r>
            <a:r>
              <a:rPr dirty="0" sz="1650" spc="-45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4471C4"/>
                </a:solidFill>
                <a:latin typeface="Calibri"/>
                <a:cs typeface="Calibri"/>
              </a:rPr>
              <a:t>Introduction</a:t>
            </a:r>
            <a:r>
              <a:rPr dirty="0" sz="1650" spc="-60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4471C4"/>
                </a:solidFill>
                <a:latin typeface="Calibri"/>
                <a:cs typeface="Calibri"/>
              </a:rPr>
              <a:t>aux</a:t>
            </a:r>
            <a:r>
              <a:rPr dirty="0" sz="1650" spc="-25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4471C4"/>
                </a:solidFill>
                <a:latin typeface="Calibri"/>
                <a:cs typeface="Calibri"/>
              </a:rPr>
              <a:t>Systèmes</a:t>
            </a:r>
            <a:r>
              <a:rPr dirty="0" sz="1650" spc="-30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4471C4"/>
                </a:solidFill>
                <a:latin typeface="Calibri"/>
                <a:cs typeface="Calibri"/>
              </a:rPr>
              <a:t>d'Exploitation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7219" y="3223260"/>
            <a:ext cx="2194560" cy="41275"/>
          </a:xfrm>
          <a:custGeom>
            <a:avLst/>
            <a:gdLst/>
            <a:ahLst/>
            <a:cxnLst/>
            <a:rect l="l" t="t" r="r" b="b"/>
            <a:pathLst>
              <a:path w="2194560" h="41275">
                <a:moveTo>
                  <a:pt x="2194560" y="0"/>
                </a:moveTo>
                <a:lnTo>
                  <a:pt x="0" y="0"/>
                </a:lnTo>
                <a:lnTo>
                  <a:pt x="0" y="41148"/>
                </a:lnTo>
                <a:lnTo>
                  <a:pt x="2194560" y="41148"/>
                </a:lnTo>
                <a:lnTo>
                  <a:pt x="2194560" y="0"/>
                </a:lnTo>
                <a:close/>
              </a:path>
            </a:pathLst>
          </a:custGeom>
          <a:solidFill>
            <a:srgbClr val="D588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95959" y="3396741"/>
            <a:ext cx="112204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i="1">
                <a:solidFill>
                  <a:srgbClr val="C8D5ED"/>
                </a:solidFill>
                <a:latin typeface="Calibri"/>
                <a:cs typeface="Calibri"/>
              </a:rPr>
              <a:t>Cours</a:t>
            </a:r>
            <a:r>
              <a:rPr dirty="0" sz="1050" spc="-30" i="1">
                <a:solidFill>
                  <a:srgbClr val="C8D5ED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C8D5ED"/>
                </a:solidFill>
                <a:latin typeface="Calibri"/>
                <a:cs typeface="Calibri"/>
              </a:rPr>
              <a:t>d'introduction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16332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60" b="1">
                <a:solidFill>
                  <a:srgbClr val="D5880F"/>
                </a:solidFill>
                <a:latin typeface="Calibri"/>
                <a:cs typeface="Calibri"/>
              </a:rPr>
              <a:t>PLAN</a:t>
            </a:r>
            <a:r>
              <a:rPr dirty="0" sz="950" spc="204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D5880F"/>
                </a:solidFill>
                <a:latin typeface="Calibri"/>
                <a:cs typeface="Calibri"/>
              </a:rPr>
              <a:t>DU</a:t>
            </a:r>
            <a:r>
              <a:rPr dirty="0" sz="950" spc="204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D5880F"/>
                </a:solidFill>
                <a:latin typeface="Calibri"/>
                <a:cs typeface="Calibri"/>
              </a:rPr>
              <a:t>CHAPITRE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Sommaire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0059" y="1200911"/>
            <a:ext cx="425450" cy="425450"/>
            <a:chOff x="480059" y="1200911"/>
            <a:chExt cx="425450" cy="425450"/>
          </a:xfrm>
        </p:grpSpPr>
        <p:sp>
          <p:nvSpPr>
            <p:cNvPr id="5" name="object 5"/>
            <p:cNvSpPr/>
            <p:nvPr/>
          </p:nvSpPr>
          <p:spPr>
            <a:xfrm>
              <a:off x="480059" y="1200911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98" y="0"/>
                  </a:moveTo>
                  <a:lnTo>
                    <a:pt x="163852" y="5611"/>
                  </a:lnTo>
                  <a:lnTo>
                    <a:pt x="119104" y="21598"/>
                  </a:lnTo>
                  <a:lnTo>
                    <a:pt x="79630" y="46686"/>
                  </a:lnTo>
                  <a:lnTo>
                    <a:pt x="46706" y="79603"/>
                  </a:lnTo>
                  <a:lnTo>
                    <a:pt x="21609" y="119076"/>
                  </a:lnTo>
                  <a:lnTo>
                    <a:pt x="5615" y="163832"/>
                  </a:lnTo>
                  <a:lnTo>
                    <a:pt x="0" y="212598"/>
                  </a:lnTo>
                  <a:lnTo>
                    <a:pt x="5615" y="261363"/>
                  </a:lnTo>
                  <a:lnTo>
                    <a:pt x="21609" y="306119"/>
                  </a:lnTo>
                  <a:lnTo>
                    <a:pt x="46706" y="345592"/>
                  </a:lnTo>
                  <a:lnTo>
                    <a:pt x="79630" y="378509"/>
                  </a:lnTo>
                  <a:lnTo>
                    <a:pt x="119104" y="403597"/>
                  </a:lnTo>
                  <a:lnTo>
                    <a:pt x="163852" y="419584"/>
                  </a:lnTo>
                  <a:lnTo>
                    <a:pt x="212598" y="425196"/>
                  </a:lnTo>
                  <a:lnTo>
                    <a:pt x="261343" y="419584"/>
                  </a:lnTo>
                  <a:lnTo>
                    <a:pt x="306091" y="403597"/>
                  </a:lnTo>
                  <a:lnTo>
                    <a:pt x="345565" y="378509"/>
                  </a:lnTo>
                  <a:lnTo>
                    <a:pt x="378489" y="345592"/>
                  </a:lnTo>
                  <a:lnTo>
                    <a:pt x="403586" y="306119"/>
                  </a:lnTo>
                  <a:lnTo>
                    <a:pt x="419580" y="261363"/>
                  </a:lnTo>
                  <a:lnTo>
                    <a:pt x="425196" y="212598"/>
                  </a:lnTo>
                  <a:lnTo>
                    <a:pt x="419580" y="163832"/>
                  </a:lnTo>
                  <a:lnTo>
                    <a:pt x="403586" y="119076"/>
                  </a:lnTo>
                  <a:lnTo>
                    <a:pt x="378489" y="79603"/>
                  </a:lnTo>
                  <a:lnTo>
                    <a:pt x="345565" y="46686"/>
                  </a:lnTo>
                  <a:lnTo>
                    <a:pt x="306091" y="21598"/>
                  </a:lnTo>
                  <a:lnTo>
                    <a:pt x="261343" y="5611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/home/claude/ppt/icons/target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167" y="1301495"/>
              <a:ext cx="220979" cy="22250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41882" y="1097033"/>
            <a:ext cx="2087880" cy="334581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lvl="1" marL="256540" indent="-24384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256540" algn="l"/>
              </a:tabLst>
            </a:pPr>
            <a:r>
              <a:rPr dirty="0" sz="1250" b="1">
                <a:solidFill>
                  <a:srgbClr val="1A2233"/>
                </a:solidFill>
                <a:latin typeface="Calibri"/>
                <a:cs typeface="Calibri"/>
              </a:rPr>
              <a:t>Objectifs</a:t>
            </a:r>
            <a:r>
              <a:rPr dirty="0" sz="1250" spc="1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2233"/>
                </a:solidFill>
                <a:latin typeface="Calibri"/>
                <a:cs typeface="Calibri"/>
              </a:rPr>
              <a:t>du</a:t>
            </a:r>
            <a:r>
              <a:rPr dirty="0" sz="1250" spc="20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A2233"/>
                </a:solidFill>
                <a:latin typeface="Calibri"/>
                <a:cs typeface="Calibri"/>
              </a:rPr>
              <a:t>chapitre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Ce</a:t>
            </a:r>
            <a:r>
              <a:rPr dirty="0" sz="900" spc="4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que</a:t>
            </a:r>
            <a:r>
              <a:rPr dirty="0" sz="900" spc="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vous</a:t>
            </a:r>
            <a:r>
              <a:rPr dirty="0" sz="900" spc="6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saurez</a:t>
            </a:r>
            <a:r>
              <a:rPr dirty="0" sz="900" spc="4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faire</a:t>
            </a:r>
            <a:r>
              <a:rPr dirty="0" sz="900" spc="4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à</a:t>
            </a:r>
            <a:r>
              <a:rPr dirty="0" sz="900" spc="6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la</a:t>
            </a:r>
            <a:r>
              <a:rPr dirty="0" sz="900" spc="4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6B7180"/>
                </a:solidFill>
                <a:latin typeface="Calibri"/>
                <a:cs typeface="Calibri"/>
              </a:rPr>
              <a:t>fin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alibri"/>
              <a:cs typeface="Calibri"/>
            </a:endParaRPr>
          </a:p>
          <a:p>
            <a:pPr lvl="1" marL="256540" indent="-243840">
              <a:lnSpc>
                <a:spcPct val="100000"/>
              </a:lnSpc>
              <a:buAutoNum type="arabicPeriod" startAt="2"/>
              <a:tabLst>
                <a:tab pos="256540" algn="l"/>
              </a:tabLst>
            </a:pPr>
            <a:r>
              <a:rPr dirty="0" sz="1250" b="1">
                <a:solidFill>
                  <a:srgbClr val="1A2233"/>
                </a:solidFill>
                <a:latin typeface="Calibri"/>
                <a:cs typeface="Calibri"/>
              </a:rPr>
              <a:t>Qu'est-ce</a:t>
            </a:r>
            <a:r>
              <a:rPr dirty="0" sz="1250" spc="30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2233"/>
                </a:solidFill>
                <a:latin typeface="Calibri"/>
                <a:cs typeface="Calibri"/>
              </a:rPr>
              <a:t>qu'un</a:t>
            </a:r>
            <a:r>
              <a:rPr dirty="0" sz="1250" spc="3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2233"/>
                </a:solidFill>
                <a:latin typeface="Calibri"/>
                <a:cs typeface="Calibri"/>
              </a:rPr>
              <a:t>OS</a:t>
            </a:r>
            <a:r>
              <a:rPr dirty="0" sz="1250" spc="20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50" spc="-50" b="1">
                <a:solidFill>
                  <a:srgbClr val="1A2233"/>
                </a:solidFill>
                <a:latin typeface="Calibri"/>
                <a:cs typeface="Calibri"/>
              </a:rPr>
              <a:t>?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Définition</a:t>
            </a:r>
            <a:r>
              <a:rPr dirty="0" sz="900" spc="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et</a:t>
            </a:r>
            <a:r>
              <a:rPr dirty="0" sz="900" spc="4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rôle</a:t>
            </a:r>
            <a:r>
              <a:rPr dirty="0" sz="900" spc="6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fondamental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Calibri"/>
              <a:cs typeface="Calibri"/>
            </a:endParaRPr>
          </a:p>
          <a:p>
            <a:pPr lvl="1" marL="256540" indent="-243840">
              <a:lnSpc>
                <a:spcPct val="100000"/>
              </a:lnSpc>
              <a:buAutoNum type="arabicPeriod" startAt="3"/>
              <a:tabLst>
                <a:tab pos="256540" algn="l"/>
              </a:tabLst>
            </a:pPr>
            <a:r>
              <a:rPr dirty="0" sz="1250" b="1">
                <a:solidFill>
                  <a:srgbClr val="1A2233"/>
                </a:solidFill>
                <a:latin typeface="Calibri"/>
                <a:cs typeface="Calibri"/>
              </a:rPr>
              <a:t>Terminologie</a:t>
            </a:r>
            <a:r>
              <a:rPr dirty="0" sz="1250" spc="-1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A2233"/>
                </a:solidFill>
                <a:latin typeface="Calibri"/>
                <a:cs typeface="Calibri"/>
              </a:rPr>
              <a:t>de</a:t>
            </a:r>
            <a:r>
              <a:rPr dirty="0" sz="1250" spc="-4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A2233"/>
                </a:solidFill>
                <a:latin typeface="Calibri"/>
                <a:cs typeface="Calibri"/>
              </a:rPr>
              <a:t>base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Le</a:t>
            </a:r>
            <a:r>
              <a:rPr dirty="0" sz="900" spc="8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vocabulaire</a:t>
            </a:r>
            <a:r>
              <a:rPr dirty="0" sz="900" spc="8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indispensable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alibri"/>
              <a:cs typeface="Calibri"/>
            </a:endParaRPr>
          </a:p>
          <a:p>
            <a:pPr lvl="1" marL="256540" indent="-243840">
              <a:lnSpc>
                <a:spcPct val="100000"/>
              </a:lnSpc>
              <a:buAutoNum type="arabicPeriod" startAt="4"/>
              <a:tabLst>
                <a:tab pos="256540" algn="l"/>
              </a:tabLst>
            </a:pPr>
            <a:r>
              <a:rPr dirty="0" sz="1250" b="1">
                <a:solidFill>
                  <a:srgbClr val="1A2233"/>
                </a:solidFill>
                <a:latin typeface="Calibri"/>
                <a:cs typeface="Calibri"/>
              </a:rPr>
              <a:t>Bref</a:t>
            </a:r>
            <a:r>
              <a:rPr dirty="0" sz="1250" spc="-1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A2233"/>
                </a:solidFill>
                <a:latin typeface="Calibri"/>
                <a:cs typeface="Calibri"/>
              </a:rPr>
              <a:t>historique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Des</a:t>
            </a:r>
            <a:r>
              <a:rPr dirty="0" sz="900" spc="5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débuts</a:t>
            </a:r>
            <a:r>
              <a:rPr dirty="0" sz="900" spc="4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de</a:t>
            </a:r>
            <a:r>
              <a:rPr dirty="0" sz="900" spc="6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l'informatique</a:t>
            </a:r>
            <a:r>
              <a:rPr dirty="0" sz="900" spc="6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à</a:t>
            </a:r>
            <a:r>
              <a:rPr dirty="0" sz="900" spc="8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aujourd'hui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alibri"/>
              <a:cs typeface="Calibri"/>
            </a:endParaRPr>
          </a:p>
          <a:p>
            <a:pPr lvl="1" marL="256540" indent="-243840">
              <a:lnSpc>
                <a:spcPct val="100000"/>
              </a:lnSpc>
              <a:buAutoNum type="arabicPeriod" startAt="5"/>
              <a:tabLst>
                <a:tab pos="256540" algn="l"/>
              </a:tabLst>
            </a:pPr>
            <a:r>
              <a:rPr dirty="0" sz="1250" b="1">
                <a:solidFill>
                  <a:srgbClr val="1A2233"/>
                </a:solidFill>
                <a:latin typeface="Calibri"/>
                <a:cs typeface="Calibri"/>
              </a:rPr>
              <a:t>Architecture</a:t>
            </a:r>
            <a:r>
              <a:rPr dirty="0" sz="1250" spc="-3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A2233"/>
                </a:solidFill>
                <a:latin typeface="Calibri"/>
                <a:cs typeface="Calibri"/>
              </a:rPr>
              <a:t>générale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Comment</a:t>
            </a:r>
            <a:r>
              <a:rPr dirty="0" sz="900" spc="6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un</a:t>
            </a:r>
            <a:r>
              <a:rPr dirty="0" sz="900" spc="5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OS</a:t>
            </a:r>
            <a:r>
              <a:rPr dirty="0" sz="900" spc="5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est</a:t>
            </a:r>
            <a:r>
              <a:rPr dirty="0" sz="900" spc="5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construit</a:t>
            </a:r>
            <a:r>
              <a:rPr dirty="0" sz="900" spc="5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à</a:t>
            </a:r>
            <a:r>
              <a:rPr dirty="0" sz="900" spc="6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l'intérieur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0059" y="1900427"/>
            <a:ext cx="425450" cy="425450"/>
            <a:chOff x="480059" y="1900427"/>
            <a:chExt cx="425450" cy="425450"/>
          </a:xfrm>
        </p:grpSpPr>
        <p:sp>
          <p:nvSpPr>
            <p:cNvPr id="9" name="object 9"/>
            <p:cNvSpPr/>
            <p:nvPr/>
          </p:nvSpPr>
          <p:spPr>
            <a:xfrm>
              <a:off x="480059" y="1900427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98" y="0"/>
                  </a:moveTo>
                  <a:lnTo>
                    <a:pt x="163852" y="5611"/>
                  </a:lnTo>
                  <a:lnTo>
                    <a:pt x="119104" y="21598"/>
                  </a:lnTo>
                  <a:lnTo>
                    <a:pt x="79630" y="46686"/>
                  </a:lnTo>
                  <a:lnTo>
                    <a:pt x="46706" y="79603"/>
                  </a:lnTo>
                  <a:lnTo>
                    <a:pt x="21609" y="119076"/>
                  </a:lnTo>
                  <a:lnTo>
                    <a:pt x="5615" y="163832"/>
                  </a:lnTo>
                  <a:lnTo>
                    <a:pt x="0" y="212598"/>
                  </a:lnTo>
                  <a:lnTo>
                    <a:pt x="5615" y="261363"/>
                  </a:lnTo>
                  <a:lnTo>
                    <a:pt x="21609" y="306119"/>
                  </a:lnTo>
                  <a:lnTo>
                    <a:pt x="46706" y="345592"/>
                  </a:lnTo>
                  <a:lnTo>
                    <a:pt x="79630" y="378509"/>
                  </a:lnTo>
                  <a:lnTo>
                    <a:pt x="119104" y="403597"/>
                  </a:lnTo>
                  <a:lnTo>
                    <a:pt x="163852" y="419584"/>
                  </a:lnTo>
                  <a:lnTo>
                    <a:pt x="212598" y="425196"/>
                  </a:lnTo>
                  <a:lnTo>
                    <a:pt x="261343" y="419584"/>
                  </a:lnTo>
                  <a:lnTo>
                    <a:pt x="306091" y="403597"/>
                  </a:lnTo>
                  <a:lnTo>
                    <a:pt x="345565" y="378509"/>
                  </a:lnTo>
                  <a:lnTo>
                    <a:pt x="378489" y="345592"/>
                  </a:lnTo>
                  <a:lnTo>
                    <a:pt x="403586" y="306119"/>
                  </a:lnTo>
                  <a:lnTo>
                    <a:pt x="419580" y="261363"/>
                  </a:lnTo>
                  <a:lnTo>
                    <a:pt x="425196" y="212598"/>
                  </a:lnTo>
                  <a:lnTo>
                    <a:pt x="419580" y="163832"/>
                  </a:lnTo>
                  <a:lnTo>
                    <a:pt x="403586" y="119076"/>
                  </a:lnTo>
                  <a:lnTo>
                    <a:pt x="378489" y="79603"/>
                  </a:lnTo>
                  <a:lnTo>
                    <a:pt x="345565" y="46686"/>
                  </a:lnTo>
                  <a:lnTo>
                    <a:pt x="306091" y="21598"/>
                  </a:lnTo>
                  <a:lnTo>
                    <a:pt x="261343" y="5611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/home/claude/ppt/icons/help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167" y="2001011"/>
              <a:ext cx="220979" cy="222504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480059" y="2599944"/>
            <a:ext cx="425450" cy="425450"/>
            <a:chOff x="480059" y="2599944"/>
            <a:chExt cx="425450" cy="425450"/>
          </a:xfrm>
        </p:grpSpPr>
        <p:sp>
          <p:nvSpPr>
            <p:cNvPr id="12" name="object 12"/>
            <p:cNvSpPr/>
            <p:nvPr/>
          </p:nvSpPr>
          <p:spPr>
            <a:xfrm>
              <a:off x="480059" y="2599944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98" y="0"/>
                  </a:moveTo>
                  <a:lnTo>
                    <a:pt x="163852" y="5611"/>
                  </a:lnTo>
                  <a:lnTo>
                    <a:pt x="119104" y="21598"/>
                  </a:lnTo>
                  <a:lnTo>
                    <a:pt x="79630" y="46686"/>
                  </a:lnTo>
                  <a:lnTo>
                    <a:pt x="46706" y="79603"/>
                  </a:lnTo>
                  <a:lnTo>
                    <a:pt x="21609" y="119076"/>
                  </a:lnTo>
                  <a:lnTo>
                    <a:pt x="5615" y="163832"/>
                  </a:lnTo>
                  <a:lnTo>
                    <a:pt x="0" y="212598"/>
                  </a:lnTo>
                  <a:lnTo>
                    <a:pt x="5615" y="261363"/>
                  </a:lnTo>
                  <a:lnTo>
                    <a:pt x="21609" y="306119"/>
                  </a:lnTo>
                  <a:lnTo>
                    <a:pt x="46706" y="345592"/>
                  </a:lnTo>
                  <a:lnTo>
                    <a:pt x="79630" y="378509"/>
                  </a:lnTo>
                  <a:lnTo>
                    <a:pt x="119104" y="403597"/>
                  </a:lnTo>
                  <a:lnTo>
                    <a:pt x="163852" y="419584"/>
                  </a:lnTo>
                  <a:lnTo>
                    <a:pt x="212598" y="425195"/>
                  </a:lnTo>
                  <a:lnTo>
                    <a:pt x="261343" y="419584"/>
                  </a:lnTo>
                  <a:lnTo>
                    <a:pt x="306091" y="403597"/>
                  </a:lnTo>
                  <a:lnTo>
                    <a:pt x="345565" y="378509"/>
                  </a:lnTo>
                  <a:lnTo>
                    <a:pt x="378489" y="345592"/>
                  </a:lnTo>
                  <a:lnTo>
                    <a:pt x="403586" y="306119"/>
                  </a:lnTo>
                  <a:lnTo>
                    <a:pt x="419580" y="261363"/>
                  </a:lnTo>
                  <a:lnTo>
                    <a:pt x="425196" y="212598"/>
                  </a:lnTo>
                  <a:lnTo>
                    <a:pt x="419580" y="163832"/>
                  </a:lnTo>
                  <a:lnTo>
                    <a:pt x="403586" y="119076"/>
                  </a:lnTo>
                  <a:lnTo>
                    <a:pt x="378489" y="79603"/>
                  </a:lnTo>
                  <a:lnTo>
                    <a:pt x="345565" y="46686"/>
                  </a:lnTo>
                  <a:lnTo>
                    <a:pt x="306091" y="21598"/>
                  </a:lnTo>
                  <a:lnTo>
                    <a:pt x="261343" y="5611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/home/claude/ppt/icons/book_FFFFFF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2167" y="2700528"/>
              <a:ext cx="220979" cy="22250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480059" y="3299459"/>
            <a:ext cx="425450" cy="425450"/>
            <a:chOff x="480059" y="3299459"/>
            <a:chExt cx="425450" cy="425450"/>
          </a:xfrm>
        </p:grpSpPr>
        <p:sp>
          <p:nvSpPr>
            <p:cNvPr id="15" name="object 15"/>
            <p:cNvSpPr/>
            <p:nvPr/>
          </p:nvSpPr>
          <p:spPr>
            <a:xfrm>
              <a:off x="480059" y="3299459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98" y="0"/>
                  </a:moveTo>
                  <a:lnTo>
                    <a:pt x="163852" y="5611"/>
                  </a:lnTo>
                  <a:lnTo>
                    <a:pt x="119104" y="21598"/>
                  </a:lnTo>
                  <a:lnTo>
                    <a:pt x="79630" y="46686"/>
                  </a:lnTo>
                  <a:lnTo>
                    <a:pt x="46706" y="79603"/>
                  </a:lnTo>
                  <a:lnTo>
                    <a:pt x="21609" y="119076"/>
                  </a:lnTo>
                  <a:lnTo>
                    <a:pt x="5615" y="163832"/>
                  </a:lnTo>
                  <a:lnTo>
                    <a:pt x="0" y="212597"/>
                  </a:lnTo>
                  <a:lnTo>
                    <a:pt x="5615" y="261363"/>
                  </a:lnTo>
                  <a:lnTo>
                    <a:pt x="21609" y="306119"/>
                  </a:lnTo>
                  <a:lnTo>
                    <a:pt x="46706" y="345592"/>
                  </a:lnTo>
                  <a:lnTo>
                    <a:pt x="79630" y="378509"/>
                  </a:lnTo>
                  <a:lnTo>
                    <a:pt x="119104" y="403597"/>
                  </a:lnTo>
                  <a:lnTo>
                    <a:pt x="163852" y="419584"/>
                  </a:lnTo>
                  <a:lnTo>
                    <a:pt x="212598" y="425195"/>
                  </a:lnTo>
                  <a:lnTo>
                    <a:pt x="261343" y="419584"/>
                  </a:lnTo>
                  <a:lnTo>
                    <a:pt x="306091" y="403597"/>
                  </a:lnTo>
                  <a:lnTo>
                    <a:pt x="345565" y="378509"/>
                  </a:lnTo>
                  <a:lnTo>
                    <a:pt x="378489" y="345592"/>
                  </a:lnTo>
                  <a:lnTo>
                    <a:pt x="403586" y="306119"/>
                  </a:lnTo>
                  <a:lnTo>
                    <a:pt x="419580" y="261363"/>
                  </a:lnTo>
                  <a:lnTo>
                    <a:pt x="425196" y="212597"/>
                  </a:lnTo>
                  <a:lnTo>
                    <a:pt x="419580" y="163832"/>
                  </a:lnTo>
                  <a:lnTo>
                    <a:pt x="403586" y="119076"/>
                  </a:lnTo>
                  <a:lnTo>
                    <a:pt x="378489" y="79603"/>
                  </a:lnTo>
                  <a:lnTo>
                    <a:pt x="345565" y="46686"/>
                  </a:lnTo>
                  <a:lnTo>
                    <a:pt x="306091" y="21598"/>
                  </a:lnTo>
                  <a:lnTo>
                    <a:pt x="261343" y="5611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/home/claude/ppt/icons/time_FFFFFF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167" y="3400043"/>
              <a:ext cx="220979" cy="22250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80059" y="3998976"/>
            <a:ext cx="425450" cy="425450"/>
            <a:chOff x="480059" y="3998976"/>
            <a:chExt cx="425450" cy="425450"/>
          </a:xfrm>
        </p:grpSpPr>
        <p:sp>
          <p:nvSpPr>
            <p:cNvPr id="18" name="object 18"/>
            <p:cNvSpPr/>
            <p:nvPr/>
          </p:nvSpPr>
          <p:spPr>
            <a:xfrm>
              <a:off x="480059" y="3998976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12598" y="0"/>
                  </a:moveTo>
                  <a:lnTo>
                    <a:pt x="163852" y="5615"/>
                  </a:lnTo>
                  <a:lnTo>
                    <a:pt x="119104" y="21609"/>
                  </a:lnTo>
                  <a:lnTo>
                    <a:pt x="79630" y="46706"/>
                  </a:lnTo>
                  <a:lnTo>
                    <a:pt x="46706" y="79630"/>
                  </a:lnTo>
                  <a:lnTo>
                    <a:pt x="21609" y="119104"/>
                  </a:lnTo>
                  <a:lnTo>
                    <a:pt x="5615" y="163852"/>
                  </a:lnTo>
                  <a:lnTo>
                    <a:pt x="0" y="212598"/>
                  </a:lnTo>
                  <a:lnTo>
                    <a:pt x="5615" y="261343"/>
                  </a:lnTo>
                  <a:lnTo>
                    <a:pt x="21609" y="306091"/>
                  </a:lnTo>
                  <a:lnTo>
                    <a:pt x="46706" y="345565"/>
                  </a:lnTo>
                  <a:lnTo>
                    <a:pt x="79630" y="378489"/>
                  </a:lnTo>
                  <a:lnTo>
                    <a:pt x="119104" y="403586"/>
                  </a:lnTo>
                  <a:lnTo>
                    <a:pt x="163852" y="419580"/>
                  </a:lnTo>
                  <a:lnTo>
                    <a:pt x="212598" y="425196"/>
                  </a:lnTo>
                  <a:lnTo>
                    <a:pt x="261343" y="419580"/>
                  </a:lnTo>
                  <a:lnTo>
                    <a:pt x="306091" y="403586"/>
                  </a:lnTo>
                  <a:lnTo>
                    <a:pt x="345565" y="378489"/>
                  </a:lnTo>
                  <a:lnTo>
                    <a:pt x="378489" y="345565"/>
                  </a:lnTo>
                  <a:lnTo>
                    <a:pt x="403586" y="306091"/>
                  </a:lnTo>
                  <a:lnTo>
                    <a:pt x="419580" y="261343"/>
                  </a:lnTo>
                  <a:lnTo>
                    <a:pt x="425196" y="212598"/>
                  </a:lnTo>
                  <a:lnTo>
                    <a:pt x="419580" y="163852"/>
                  </a:lnTo>
                  <a:lnTo>
                    <a:pt x="403586" y="119104"/>
                  </a:lnTo>
                  <a:lnTo>
                    <a:pt x="378489" y="79630"/>
                  </a:lnTo>
                  <a:lnTo>
                    <a:pt x="345565" y="46706"/>
                  </a:lnTo>
                  <a:lnTo>
                    <a:pt x="306091" y="21609"/>
                  </a:lnTo>
                  <a:lnTo>
                    <a:pt x="261343" y="5615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/home/claude/ppt/icons/layers_FFFFFF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167" y="4099560"/>
              <a:ext cx="220979" cy="222503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1873" y="395096"/>
            <a:ext cx="276479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0"/>
              <a:t>Avant</a:t>
            </a:r>
            <a:r>
              <a:rPr dirty="0" sz="2100" spc="-35"/>
              <a:t> </a:t>
            </a:r>
            <a:r>
              <a:rPr dirty="0" sz="2100"/>
              <a:t>de</a:t>
            </a:r>
            <a:r>
              <a:rPr dirty="0" sz="2100" spc="-45"/>
              <a:t> </a:t>
            </a:r>
            <a:r>
              <a:rPr dirty="0" sz="2100" spc="-20"/>
              <a:t>commencer…</a:t>
            </a:r>
            <a:endParaRPr sz="2100"/>
          </a:p>
        </p:txBody>
      </p:sp>
      <p:grpSp>
        <p:nvGrpSpPr>
          <p:cNvPr id="3" name="object 3"/>
          <p:cNvGrpSpPr/>
          <p:nvPr/>
        </p:nvGrpSpPr>
        <p:grpSpPr>
          <a:xfrm>
            <a:off x="1731229" y="1107912"/>
            <a:ext cx="2654300" cy="2654300"/>
            <a:chOff x="1731229" y="1107912"/>
            <a:chExt cx="2654300" cy="2654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1229" y="1107912"/>
              <a:ext cx="2654115" cy="265411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27276" y="1165859"/>
              <a:ext cx="2468880" cy="2468880"/>
            </a:xfrm>
            <a:custGeom>
              <a:avLst/>
              <a:gdLst/>
              <a:ahLst/>
              <a:cxnLst/>
              <a:rect l="l" t="t" r="r" b="b"/>
              <a:pathLst>
                <a:path w="2468879" h="2468879">
                  <a:moveTo>
                    <a:pt x="2366010" y="0"/>
                  </a:moveTo>
                  <a:lnTo>
                    <a:pt x="102869" y="0"/>
                  </a:lnTo>
                  <a:lnTo>
                    <a:pt x="62847" y="8090"/>
                  </a:lnTo>
                  <a:lnTo>
                    <a:pt x="30146" y="30146"/>
                  </a:lnTo>
                  <a:lnTo>
                    <a:pt x="8090" y="62847"/>
                  </a:lnTo>
                  <a:lnTo>
                    <a:pt x="0" y="102869"/>
                  </a:lnTo>
                  <a:lnTo>
                    <a:pt x="0" y="2366010"/>
                  </a:lnTo>
                  <a:lnTo>
                    <a:pt x="8090" y="2406032"/>
                  </a:lnTo>
                  <a:lnTo>
                    <a:pt x="30146" y="2438733"/>
                  </a:lnTo>
                  <a:lnTo>
                    <a:pt x="62847" y="2460789"/>
                  </a:lnTo>
                  <a:lnTo>
                    <a:pt x="102869" y="2468879"/>
                  </a:lnTo>
                  <a:lnTo>
                    <a:pt x="2366010" y="2468879"/>
                  </a:lnTo>
                  <a:lnTo>
                    <a:pt x="2406032" y="2460789"/>
                  </a:lnTo>
                  <a:lnTo>
                    <a:pt x="2438733" y="2438733"/>
                  </a:lnTo>
                  <a:lnTo>
                    <a:pt x="2460789" y="2406032"/>
                  </a:lnTo>
                  <a:lnTo>
                    <a:pt x="2468879" y="2366010"/>
                  </a:lnTo>
                  <a:lnTo>
                    <a:pt x="2468879" y="102869"/>
                  </a:lnTo>
                  <a:lnTo>
                    <a:pt x="2460789" y="62847"/>
                  </a:lnTo>
                  <a:lnTo>
                    <a:pt x="2438733" y="30146"/>
                  </a:lnTo>
                  <a:lnTo>
                    <a:pt x="2406032" y="8090"/>
                  </a:lnTo>
                  <a:lnTo>
                    <a:pt x="2366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27276" y="1165859"/>
              <a:ext cx="2468880" cy="2468880"/>
            </a:xfrm>
            <a:custGeom>
              <a:avLst/>
              <a:gdLst/>
              <a:ahLst/>
              <a:cxnLst/>
              <a:rect l="l" t="t" r="r" b="b"/>
              <a:pathLst>
                <a:path w="2468879" h="2468879">
                  <a:moveTo>
                    <a:pt x="0" y="102869"/>
                  </a:moveTo>
                  <a:lnTo>
                    <a:pt x="8090" y="62847"/>
                  </a:lnTo>
                  <a:lnTo>
                    <a:pt x="30146" y="30146"/>
                  </a:lnTo>
                  <a:lnTo>
                    <a:pt x="62847" y="8090"/>
                  </a:lnTo>
                  <a:lnTo>
                    <a:pt x="102869" y="0"/>
                  </a:lnTo>
                  <a:lnTo>
                    <a:pt x="2366010" y="0"/>
                  </a:lnTo>
                  <a:lnTo>
                    <a:pt x="2406032" y="8090"/>
                  </a:lnTo>
                  <a:lnTo>
                    <a:pt x="2438733" y="30146"/>
                  </a:lnTo>
                  <a:lnTo>
                    <a:pt x="2460789" y="62847"/>
                  </a:lnTo>
                  <a:lnTo>
                    <a:pt x="2468879" y="102869"/>
                  </a:lnTo>
                  <a:lnTo>
                    <a:pt x="2468879" y="2366010"/>
                  </a:lnTo>
                  <a:lnTo>
                    <a:pt x="2460789" y="2406032"/>
                  </a:lnTo>
                  <a:lnTo>
                    <a:pt x="2438733" y="2438733"/>
                  </a:lnTo>
                  <a:lnTo>
                    <a:pt x="2406032" y="2460789"/>
                  </a:lnTo>
                  <a:lnTo>
                    <a:pt x="2366010" y="2468879"/>
                  </a:lnTo>
                  <a:lnTo>
                    <a:pt x="102869" y="2468879"/>
                  </a:lnTo>
                  <a:lnTo>
                    <a:pt x="62847" y="2460789"/>
                  </a:lnTo>
                  <a:lnTo>
                    <a:pt x="30146" y="2438733"/>
                  </a:lnTo>
                  <a:lnTo>
                    <a:pt x="8090" y="2406032"/>
                  </a:lnTo>
                  <a:lnTo>
                    <a:pt x="0" y="2366010"/>
                  </a:lnTo>
                  <a:lnTo>
                    <a:pt x="0" y="10286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650236" y="1440179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80" y="0"/>
                  </a:moveTo>
                  <a:lnTo>
                    <a:pt x="363502" y="2769"/>
                  </a:lnTo>
                  <a:lnTo>
                    <a:pt x="317147" y="10870"/>
                  </a:lnTo>
                  <a:lnTo>
                    <a:pt x="272725" y="23994"/>
                  </a:lnTo>
                  <a:lnTo>
                    <a:pt x="230543" y="41832"/>
                  </a:lnTo>
                  <a:lnTo>
                    <a:pt x="190913" y="64075"/>
                  </a:lnTo>
                  <a:lnTo>
                    <a:pt x="154141" y="90413"/>
                  </a:lnTo>
                  <a:lnTo>
                    <a:pt x="120538" y="120538"/>
                  </a:lnTo>
                  <a:lnTo>
                    <a:pt x="90413" y="154141"/>
                  </a:lnTo>
                  <a:lnTo>
                    <a:pt x="64075" y="190913"/>
                  </a:lnTo>
                  <a:lnTo>
                    <a:pt x="41832" y="230543"/>
                  </a:lnTo>
                  <a:lnTo>
                    <a:pt x="23994" y="272725"/>
                  </a:lnTo>
                  <a:lnTo>
                    <a:pt x="10870" y="317147"/>
                  </a:lnTo>
                  <a:lnTo>
                    <a:pt x="2769" y="363502"/>
                  </a:lnTo>
                  <a:lnTo>
                    <a:pt x="0" y="411480"/>
                  </a:lnTo>
                  <a:lnTo>
                    <a:pt x="2769" y="459457"/>
                  </a:lnTo>
                  <a:lnTo>
                    <a:pt x="10870" y="505812"/>
                  </a:lnTo>
                  <a:lnTo>
                    <a:pt x="23994" y="550234"/>
                  </a:lnTo>
                  <a:lnTo>
                    <a:pt x="41832" y="592416"/>
                  </a:lnTo>
                  <a:lnTo>
                    <a:pt x="64075" y="632046"/>
                  </a:lnTo>
                  <a:lnTo>
                    <a:pt x="90413" y="668818"/>
                  </a:lnTo>
                  <a:lnTo>
                    <a:pt x="120538" y="702421"/>
                  </a:lnTo>
                  <a:lnTo>
                    <a:pt x="154141" y="732546"/>
                  </a:lnTo>
                  <a:lnTo>
                    <a:pt x="190913" y="758884"/>
                  </a:lnTo>
                  <a:lnTo>
                    <a:pt x="230543" y="781127"/>
                  </a:lnTo>
                  <a:lnTo>
                    <a:pt x="272725" y="798965"/>
                  </a:lnTo>
                  <a:lnTo>
                    <a:pt x="317147" y="812089"/>
                  </a:lnTo>
                  <a:lnTo>
                    <a:pt x="363502" y="820190"/>
                  </a:lnTo>
                  <a:lnTo>
                    <a:pt x="411480" y="822960"/>
                  </a:lnTo>
                  <a:lnTo>
                    <a:pt x="459457" y="820190"/>
                  </a:lnTo>
                  <a:lnTo>
                    <a:pt x="505812" y="812089"/>
                  </a:lnTo>
                  <a:lnTo>
                    <a:pt x="550234" y="798965"/>
                  </a:lnTo>
                  <a:lnTo>
                    <a:pt x="592416" y="781127"/>
                  </a:lnTo>
                  <a:lnTo>
                    <a:pt x="632046" y="758884"/>
                  </a:lnTo>
                  <a:lnTo>
                    <a:pt x="668818" y="732546"/>
                  </a:lnTo>
                  <a:lnTo>
                    <a:pt x="702421" y="702421"/>
                  </a:lnTo>
                  <a:lnTo>
                    <a:pt x="732546" y="668818"/>
                  </a:lnTo>
                  <a:lnTo>
                    <a:pt x="758884" y="632046"/>
                  </a:lnTo>
                  <a:lnTo>
                    <a:pt x="781127" y="592416"/>
                  </a:lnTo>
                  <a:lnTo>
                    <a:pt x="798965" y="550234"/>
                  </a:lnTo>
                  <a:lnTo>
                    <a:pt x="812089" y="505812"/>
                  </a:lnTo>
                  <a:lnTo>
                    <a:pt x="820190" y="459457"/>
                  </a:lnTo>
                  <a:lnTo>
                    <a:pt x="822960" y="411480"/>
                  </a:lnTo>
                  <a:lnTo>
                    <a:pt x="820190" y="363502"/>
                  </a:lnTo>
                  <a:lnTo>
                    <a:pt x="812089" y="317147"/>
                  </a:lnTo>
                  <a:lnTo>
                    <a:pt x="798965" y="272725"/>
                  </a:lnTo>
                  <a:lnTo>
                    <a:pt x="781127" y="230543"/>
                  </a:lnTo>
                  <a:lnTo>
                    <a:pt x="758884" y="190913"/>
                  </a:lnTo>
                  <a:lnTo>
                    <a:pt x="732546" y="154141"/>
                  </a:lnTo>
                  <a:lnTo>
                    <a:pt x="702421" y="120538"/>
                  </a:lnTo>
                  <a:lnTo>
                    <a:pt x="668818" y="90413"/>
                  </a:lnTo>
                  <a:lnTo>
                    <a:pt x="632046" y="64075"/>
                  </a:lnTo>
                  <a:lnTo>
                    <a:pt x="592416" y="41832"/>
                  </a:lnTo>
                  <a:lnTo>
                    <a:pt x="550234" y="23994"/>
                  </a:lnTo>
                  <a:lnTo>
                    <a:pt x="505812" y="10870"/>
                  </a:lnTo>
                  <a:lnTo>
                    <a:pt x="459457" y="2769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/home/claude/ppt/icons/phon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8355" y="1638300"/>
              <a:ext cx="428244" cy="42671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472308" y="2459227"/>
            <a:ext cx="117919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A2233"/>
                </a:solidFill>
                <a:latin typeface="Calibri"/>
                <a:cs typeface="Calibri"/>
              </a:rPr>
              <a:t>Votre</a:t>
            </a:r>
            <a:r>
              <a:rPr dirty="0" sz="1200" spc="-5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A2233"/>
                </a:solidFill>
                <a:latin typeface="Calibri"/>
                <a:cs typeface="Calibri"/>
              </a:rPr>
              <a:t>smartphone</a:t>
            </a:r>
            <a:endParaRPr sz="12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775"/>
              </a:spcBef>
            </a:pPr>
            <a:r>
              <a:rPr dirty="0" sz="900" i="1">
                <a:solidFill>
                  <a:srgbClr val="6B7180"/>
                </a:solidFill>
                <a:latin typeface="Calibri"/>
                <a:cs typeface="Calibri"/>
              </a:rPr>
              <a:t>Android</a:t>
            </a:r>
            <a:r>
              <a:rPr dirty="0" sz="900" spc="-3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180"/>
                </a:solidFill>
                <a:latin typeface="Calibri"/>
                <a:cs typeface="Calibri"/>
              </a:rPr>
              <a:t>ou</a:t>
            </a:r>
            <a:r>
              <a:rPr dirty="0" sz="900" spc="-3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25" i="1">
                <a:solidFill>
                  <a:srgbClr val="6B7180"/>
                </a:solidFill>
                <a:latin typeface="Calibri"/>
                <a:cs typeface="Calibri"/>
              </a:rPr>
              <a:t>iOS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48748" y="1107912"/>
            <a:ext cx="2654300" cy="2654300"/>
            <a:chOff x="4748748" y="1107912"/>
            <a:chExt cx="2654300" cy="26543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8748" y="1107912"/>
              <a:ext cx="2654115" cy="265411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44795" y="1165859"/>
              <a:ext cx="2468880" cy="2468880"/>
            </a:xfrm>
            <a:custGeom>
              <a:avLst/>
              <a:gdLst/>
              <a:ahLst/>
              <a:cxnLst/>
              <a:rect l="l" t="t" r="r" b="b"/>
              <a:pathLst>
                <a:path w="2468879" h="2468879">
                  <a:moveTo>
                    <a:pt x="2366009" y="0"/>
                  </a:moveTo>
                  <a:lnTo>
                    <a:pt x="102869" y="0"/>
                  </a:lnTo>
                  <a:lnTo>
                    <a:pt x="62847" y="8090"/>
                  </a:lnTo>
                  <a:lnTo>
                    <a:pt x="30146" y="30146"/>
                  </a:lnTo>
                  <a:lnTo>
                    <a:pt x="8090" y="62847"/>
                  </a:lnTo>
                  <a:lnTo>
                    <a:pt x="0" y="102869"/>
                  </a:lnTo>
                  <a:lnTo>
                    <a:pt x="0" y="2366010"/>
                  </a:lnTo>
                  <a:lnTo>
                    <a:pt x="8090" y="2406032"/>
                  </a:lnTo>
                  <a:lnTo>
                    <a:pt x="30146" y="2438733"/>
                  </a:lnTo>
                  <a:lnTo>
                    <a:pt x="62847" y="2460789"/>
                  </a:lnTo>
                  <a:lnTo>
                    <a:pt x="102869" y="2468879"/>
                  </a:lnTo>
                  <a:lnTo>
                    <a:pt x="2366009" y="2468879"/>
                  </a:lnTo>
                  <a:lnTo>
                    <a:pt x="2406032" y="2460789"/>
                  </a:lnTo>
                  <a:lnTo>
                    <a:pt x="2438733" y="2438733"/>
                  </a:lnTo>
                  <a:lnTo>
                    <a:pt x="2460789" y="2406032"/>
                  </a:lnTo>
                  <a:lnTo>
                    <a:pt x="2468879" y="2366010"/>
                  </a:lnTo>
                  <a:lnTo>
                    <a:pt x="2468879" y="102869"/>
                  </a:lnTo>
                  <a:lnTo>
                    <a:pt x="2460789" y="62847"/>
                  </a:lnTo>
                  <a:lnTo>
                    <a:pt x="2438733" y="30146"/>
                  </a:lnTo>
                  <a:lnTo>
                    <a:pt x="2406032" y="8090"/>
                  </a:lnTo>
                  <a:lnTo>
                    <a:pt x="23660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44795" y="1165859"/>
              <a:ext cx="2468880" cy="2468880"/>
            </a:xfrm>
            <a:custGeom>
              <a:avLst/>
              <a:gdLst/>
              <a:ahLst/>
              <a:cxnLst/>
              <a:rect l="l" t="t" r="r" b="b"/>
              <a:pathLst>
                <a:path w="2468879" h="2468879">
                  <a:moveTo>
                    <a:pt x="0" y="102869"/>
                  </a:moveTo>
                  <a:lnTo>
                    <a:pt x="8090" y="62847"/>
                  </a:lnTo>
                  <a:lnTo>
                    <a:pt x="30146" y="30146"/>
                  </a:lnTo>
                  <a:lnTo>
                    <a:pt x="62847" y="8090"/>
                  </a:lnTo>
                  <a:lnTo>
                    <a:pt x="102869" y="0"/>
                  </a:lnTo>
                  <a:lnTo>
                    <a:pt x="2366009" y="0"/>
                  </a:lnTo>
                  <a:lnTo>
                    <a:pt x="2406032" y="8090"/>
                  </a:lnTo>
                  <a:lnTo>
                    <a:pt x="2438733" y="30146"/>
                  </a:lnTo>
                  <a:lnTo>
                    <a:pt x="2460789" y="62847"/>
                  </a:lnTo>
                  <a:lnTo>
                    <a:pt x="2468879" y="102869"/>
                  </a:lnTo>
                  <a:lnTo>
                    <a:pt x="2468879" y="2366010"/>
                  </a:lnTo>
                  <a:lnTo>
                    <a:pt x="2460789" y="2406032"/>
                  </a:lnTo>
                  <a:lnTo>
                    <a:pt x="2438733" y="2438733"/>
                  </a:lnTo>
                  <a:lnTo>
                    <a:pt x="2406032" y="2460789"/>
                  </a:lnTo>
                  <a:lnTo>
                    <a:pt x="2366009" y="2468879"/>
                  </a:lnTo>
                  <a:lnTo>
                    <a:pt x="102869" y="2468879"/>
                  </a:lnTo>
                  <a:lnTo>
                    <a:pt x="62847" y="2460789"/>
                  </a:lnTo>
                  <a:lnTo>
                    <a:pt x="30146" y="2438733"/>
                  </a:lnTo>
                  <a:lnTo>
                    <a:pt x="8090" y="2406032"/>
                  </a:lnTo>
                  <a:lnTo>
                    <a:pt x="0" y="2366010"/>
                  </a:lnTo>
                  <a:lnTo>
                    <a:pt x="0" y="10286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667755" y="1440179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80" y="0"/>
                  </a:moveTo>
                  <a:lnTo>
                    <a:pt x="363502" y="2769"/>
                  </a:lnTo>
                  <a:lnTo>
                    <a:pt x="317147" y="10870"/>
                  </a:lnTo>
                  <a:lnTo>
                    <a:pt x="272725" y="23994"/>
                  </a:lnTo>
                  <a:lnTo>
                    <a:pt x="230543" y="41832"/>
                  </a:lnTo>
                  <a:lnTo>
                    <a:pt x="190913" y="64075"/>
                  </a:lnTo>
                  <a:lnTo>
                    <a:pt x="154141" y="90413"/>
                  </a:lnTo>
                  <a:lnTo>
                    <a:pt x="120538" y="120538"/>
                  </a:lnTo>
                  <a:lnTo>
                    <a:pt x="90413" y="154141"/>
                  </a:lnTo>
                  <a:lnTo>
                    <a:pt x="64075" y="190913"/>
                  </a:lnTo>
                  <a:lnTo>
                    <a:pt x="41832" y="230543"/>
                  </a:lnTo>
                  <a:lnTo>
                    <a:pt x="23994" y="272725"/>
                  </a:lnTo>
                  <a:lnTo>
                    <a:pt x="10870" y="317147"/>
                  </a:lnTo>
                  <a:lnTo>
                    <a:pt x="2769" y="363502"/>
                  </a:lnTo>
                  <a:lnTo>
                    <a:pt x="0" y="411480"/>
                  </a:lnTo>
                  <a:lnTo>
                    <a:pt x="2769" y="459457"/>
                  </a:lnTo>
                  <a:lnTo>
                    <a:pt x="10870" y="505812"/>
                  </a:lnTo>
                  <a:lnTo>
                    <a:pt x="23994" y="550234"/>
                  </a:lnTo>
                  <a:lnTo>
                    <a:pt x="41832" y="592416"/>
                  </a:lnTo>
                  <a:lnTo>
                    <a:pt x="64075" y="632046"/>
                  </a:lnTo>
                  <a:lnTo>
                    <a:pt x="90413" y="668818"/>
                  </a:lnTo>
                  <a:lnTo>
                    <a:pt x="120538" y="702421"/>
                  </a:lnTo>
                  <a:lnTo>
                    <a:pt x="154141" y="732546"/>
                  </a:lnTo>
                  <a:lnTo>
                    <a:pt x="190913" y="758884"/>
                  </a:lnTo>
                  <a:lnTo>
                    <a:pt x="230543" y="781127"/>
                  </a:lnTo>
                  <a:lnTo>
                    <a:pt x="272725" y="798965"/>
                  </a:lnTo>
                  <a:lnTo>
                    <a:pt x="317147" y="812089"/>
                  </a:lnTo>
                  <a:lnTo>
                    <a:pt x="363502" y="820190"/>
                  </a:lnTo>
                  <a:lnTo>
                    <a:pt x="411480" y="822960"/>
                  </a:lnTo>
                  <a:lnTo>
                    <a:pt x="459457" y="820190"/>
                  </a:lnTo>
                  <a:lnTo>
                    <a:pt x="505812" y="812089"/>
                  </a:lnTo>
                  <a:lnTo>
                    <a:pt x="550234" y="798965"/>
                  </a:lnTo>
                  <a:lnTo>
                    <a:pt x="592416" y="781127"/>
                  </a:lnTo>
                  <a:lnTo>
                    <a:pt x="632046" y="758884"/>
                  </a:lnTo>
                  <a:lnTo>
                    <a:pt x="668818" y="732546"/>
                  </a:lnTo>
                  <a:lnTo>
                    <a:pt x="702421" y="702421"/>
                  </a:lnTo>
                  <a:lnTo>
                    <a:pt x="732546" y="668818"/>
                  </a:lnTo>
                  <a:lnTo>
                    <a:pt x="758884" y="632046"/>
                  </a:lnTo>
                  <a:lnTo>
                    <a:pt x="781127" y="592416"/>
                  </a:lnTo>
                  <a:lnTo>
                    <a:pt x="798965" y="550234"/>
                  </a:lnTo>
                  <a:lnTo>
                    <a:pt x="812089" y="505812"/>
                  </a:lnTo>
                  <a:lnTo>
                    <a:pt x="820190" y="459457"/>
                  </a:lnTo>
                  <a:lnTo>
                    <a:pt x="822960" y="411480"/>
                  </a:lnTo>
                  <a:lnTo>
                    <a:pt x="820190" y="363502"/>
                  </a:lnTo>
                  <a:lnTo>
                    <a:pt x="812089" y="317147"/>
                  </a:lnTo>
                  <a:lnTo>
                    <a:pt x="798965" y="272725"/>
                  </a:lnTo>
                  <a:lnTo>
                    <a:pt x="781127" y="230543"/>
                  </a:lnTo>
                  <a:lnTo>
                    <a:pt x="758884" y="190913"/>
                  </a:lnTo>
                  <a:lnTo>
                    <a:pt x="732546" y="154141"/>
                  </a:lnTo>
                  <a:lnTo>
                    <a:pt x="702421" y="120538"/>
                  </a:lnTo>
                  <a:lnTo>
                    <a:pt x="668818" y="90413"/>
                  </a:lnTo>
                  <a:lnTo>
                    <a:pt x="632046" y="64075"/>
                  </a:lnTo>
                  <a:lnTo>
                    <a:pt x="592416" y="41832"/>
                  </a:lnTo>
                  <a:lnTo>
                    <a:pt x="550234" y="23994"/>
                  </a:lnTo>
                  <a:lnTo>
                    <a:pt x="505812" y="10870"/>
                  </a:lnTo>
                  <a:lnTo>
                    <a:pt x="459457" y="2769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/home/claude/ppt/icons/laptop_FFFFFF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875" y="1638300"/>
              <a:ext cx="428244" cy="42671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458205" y="2459227"/>
            <a:ext cx="1244600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A2233"/>
                </a:solidFill>
                <a:latin typeface="Calibri"/>
                <a:cs typeface="Calibri"/>
              </a:rPr>
              <a:t>Votre</a:t>
            </a:r>
            <a:r>
              <a:rPr dirty="0" sz="1200" spc="-5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A2233"/>
                </a:solidFill>
                <a:latin typeface="Calibri"/>
                <a:cs typeface="Calibri"/>
              </a:rPr>
              <a:t>ordinateur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dirty="0" sz="900" i="1">
                <a:solidFill>
                  <a:srgbClr val="6B7180"/>
                </a:solidFill>
                <a:latin typeface="Calibri"/>
                <a:cs typeface="Calibri"/>
              </a:rPr>
              <a:t>Windows,</a:t>
            </a:r>
            <a:r>
              <a:rPr dirty="0" sz="900" spc="-4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180"/>
                </a:solidFill>
                <a:latin typeface="Calibri"/>
                <a:cs typeface="Calibri"/>
              </a:rPr>
              <a:t>macOS</a:t>
            </a:r>
            <a:r>
              <a:rPr dirty="0" sz="900" spc="-3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180"/>
                </a:solidFill>
                <a:latin typeface="Calibri"/>
                <a:cs typeface="Calibri"/>
              </a:rPr>
              <a:t>ou</a:t>
            </a:r>
            <a:r>
              <a:rPr dirty="0" sz="900" spc="-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20" i="1">
                <a:solidFill>
                  <a:srgbClr val="6B7180"/>
                </a:solidFill>
                <a:latin typeface="Calibri"/>
                <a:cs typeface="Calibri"/>
              </a:rPr>
              <a:t>Linux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13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50772" y="4139895"/>
            <a:ext cx="785240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Chaque</a:t>
            </a:r>
            <a:r>
              <a:rPr dirty="0" sz="1200" spc="-5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fois</a:t>
            </a:r>
            <a:r>
              <a:rPr dirty="0" sz="1200" spc="-30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que</a:t>
            </a:r>
            <a:r>
              <a:rPr dirty="0" sz="1200" spc="-5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vous</a:t>
            </a:r>
            <a:r>
              <a:rPr dirty="0" sz="1200" spc="-20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1F385F"/>
                </a:solidFill>
                <a:latin typeface="Calibri"/>
                <a:cs typeface="Calibri"/>
              </a:rPr>
              <a:t>déverrouillez</a:t>
            </a:r>
            <a:r>
              <a:rPr dirty="0" sz="1200" spc="-5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l'un</a:t>
            </a:r>
            <a:r>
              <a:rPr dirty="0" sz="1200" spc="-10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de</a:t>
            </a:r>
            <a:r>
              <a:rPr dirty="0" sz="1200" spc="-5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ces</a:t>
            </a:r>
            <a:r>
              <a:rPr dirty="0" sz="1200" spc="-20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appareils,</a:t>
            </a:r>
            <a:r>
              <a:rPr dirty="0" sz="1200" spc="-10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un</a:t>
            </a:r>
            <a:r>
              <a:rPr dirty="0" sz="1200" spc="-15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1F385F"/>
                </a:solidFill>
                <a:latin typeface="Calibri"/>
                <a:cs typeface="Calibri"/>
              </a:rPr>
              <a:t>système</a:t>
            </a:r>
            <a:r>
              <a:rPr dirty="0" sz="1200" spc="-25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1F385F"/>
                </a:solidFill>
                <a:latin typeface="Calibri"/>
                <a:cs typeface="Calibri"/>
              </a:rPr>
              <a:t>d'exploitation</a:t>
            </a:r>
            <a:r>
              <a:rPr dirty="0" sz="1200" spc="-25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est</a:t>
            </a:r>
            <a:r>
              <a:rPr dirty="0" sz="1200" spc="-25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déjà</a:t>
            </a:r>
            <a:r>
              <a:rPr dirty="0" sz="1200" spc="-10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au</a:t>
            </a:r>
            <a:r>
              <a:rPr dirty="0" sz="1200" spc="-10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travail</a:t>
            </a:r>
            <a:r>
              <a:rPr dirty="0" sz="1200" spc="25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—</a:t>
            </a:r>
            <a:r>
              <a:rPr dirty="0" sz="1200" spc="-10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sans</a:t>
            </a:r>
            <a:r>
              <a:rPr dirty="0" sz="1200" spc="-20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que</a:t>
            </a:r>
            <a:r>
              <a:rPr dirty="0" sz="1200" spc="-5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vous</a:t>
            </a:r>
            <a:r>
              <a:rPr dirty="0" sz="1200" spc="-20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5F"/>
                </a:solidFill>
                <a:latin typeface="Calibri"/>
                <a:cs typeface="Calibri"/>
              </a:rPr>
              <a:t>le</a:t>
            </a:r>
            <a:r>
              <a:rPr dirty="0" sz="1200" spc="-5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1F385F"/>
                </a:solidFill>
                <a:latin typeface="Calibri"/>
                <a:cs typeface="Calibri"/>
              </a:rPr>
              <a:t>voyiez.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2025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25" b="1">
                <a:solidFill>
                  <a:srgbClr val="D5880F"/>
                </a:solidFill>
                <a:latin typeface="Calibri"/>
                <a:cs typeface="Calibri"/>
              </a:rPr>
              <a:t>1.1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Objectifs</a:t>
            </a:r>
            <a:r>
              <a:rPr dirty="0" spc="-40"/>
              <a:t> </a:t>
            </a:r>
            <a:r>
              <a:rPr dirty="0"/>
              <a:t>du</a:t>
            </a:r>
            <a:r>
              <a:rPr dirty="0" spc="-35"/>
              <a:t> </a:t>
            </a:r>
            <a:r>
              <a:rPr dirty="0" spc="-10"/>
              <a:t>chapitre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0059" y="1543811"/>
            <a:ext cx="378460" cy="376555"/>
            <a:chOff x="480059" y="1543811"/>
            <a:chExt cx="378460" cy="376555"/>
          </a:xfrm>
        </p:grpSpPr>
        <p:sp>
          <p:nvSpPr>
            <p:cNvPr id="5" name="object 5"/>
            <p:cNvSpPr/>
            <p:nvPr/>
          </p:nvSpPr>
          <p:spPr>
            <a:xfrm>
              <a:off x="480059" y="1543811"/>
              <a:ext cx="378460" cy="376555"/>
            </a:xfrm>
            <a:custGeom>
              <a:avLst/>
              <a:gdLst/>
              <a:ahLst/>
              <a:cxnLst/>
              <a:rect l="l" t="t" r="r" b="b"/>
              <a:pathLst>
                <a:path w="378459" h="376555">
                  <a:moveTo>
                    <a:pt x="188976" y="0"/>
                  </a:moveTo>
                  <a:lnTo>
                    <a:pt x="138738" y="6727"/>
                  </a:lnTo>
                  <a:lnTo>
                    <a:pt x="93596" y="25710"/>
                  </a:lnTo>
                  <a:lnTo>
                    <a:pt x="55349" y="55149"/>
                  </a:lnTo>
                  <a:lnTo>
                    <a:pt x="25800" y="93246"/>
                  </a:lnTo>
                  <a:lnTo>
                    <a:pt x="6750" y="138200"/>
                  </a:lnTo>
                  <a:lnTo>
                    <a:pt x="0" y="188213"/>
                  </a:lnTo>
                  <a:lnTo>
                    <a:pt x="6750" y="238227"/>
                  </a:lnTo>
                  <a:lnTo>
                    <a:pt x="25800" y="283181"/>
                  </a:lnTo>
                  <a:lnTo>
                    <a:pt x="55349" y="321278"/>
                  </a:lnTo>
                  <a:lnTo>
                    <a:pt x="93596" y="350717"/>
                  </a:lnTo>
                  <a:lnTo>
                    <a:pt x="138738" y="369700"/>
                  </a:lnTo>
                  <a:lnTo>
                    <a:pt x="188976" y="376427"/>
                  </a:lnTo>
                  <a:lnTo>
                    <a:pt x="239213" y="369700"/>
                  </a:lnTo>
                  <a:lnTo>
                    <a:pt x="284355" y="350717"/>
                  </a:lnTo>
                  <a:lnTo>
                    <a:pt x="322602" y="321278"/>
                  </a:lnTo>
                  <a:lnTo>
                    <a:pt x="352151" y="283181"/>
                  </a:lnTo>
                  <a:lnTo>
                    <a:pt x="371201" y="238227"/>
                  </a:lnTo>
                  <a:lnTo>
                    <a:pt x="377952" y="188213"/>
                  </a:lnTo>
                  <a:lnTo>
                    <a:pt x="371201" y="138200"/>
                  </a:lnTo>
                  <a:lnTo>
                    <a:pt x="352151" y="93246"/>
                  </a:lnTo>
                  <a:lnTo>
                    <a:pt x="322602" y="55149"/>
                  </a:lnTo>
                  <a:lnTo>
                    <a:pt x="284355" y="25710"/>
                  </a:lnTo>
                  <a:lnTo>
                    <a:pt x="239213" y="6727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/home/claude/ppt/icons/chec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975" y="1633727"/>
              <a:ext cx="196595" cy="1965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0219" y="1092530"/>
            <a:ext cx="6707505" cy="7632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i="1">
                <a:solidFill>
                  <a:srgbClr val="6B7180"/>
                </a:solidFill>
                <a:latin typeface="Calibri"/>
                <a:cs typeface="Calibri"/>
              </a:rPr>
              <a:t>À</a:t>
            </a:r>
            <a:r>
              <a:rPr dirty="0" sz="1100" spc="3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180"/>
                </a:solidFill>
                <a:latin typeface="Calibri"/>
                <a:cs typeface="Calibri"/>
              </a:rPr>
              <a:t>la</a:t>
            </a:r>
            <a:r>
              <a:rPr dirty="0" sz="1100" spc="3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180"/>
                </a:solidFill>
                <a:latin typeface="Calibri"/>
                <a:cs typeface="Calibri"/>
              </a:rPr>
              <a:t>fin</a:t>
            </a:r>
            <a:r>
              <a:rPr dirty="0" sz="1100" spc="1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180"/>
                </a:solidFill>
                <a:latin typeface="Calibri"/>
                <a:cs typeface="Calibri"/>
              </a:rPr>
              <a:t>de</a:t>
            </a:r>
            <a:r>
              <a:rPr dirty="0" sz="1100" spc="3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180"/>
                </a:solidFill>
                <a:latin typeface="Calibri"/>
                <a:cs typeface="Calibri"/>
              </a:rPr>
              <a:t>ce</a:t>
            </a:r>
            <a:r>
              <a:rPr dirty="0" sz="1100" spc="2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180"/>
                </a:solidFill>
                <a:latin typeface="Calibri"/>
                <a:cs typeface="Calibri"/>
              </a:rPr>
              <a:t>chapitre,</a:t>
            </a:r>
            <a:r>
              <a:rPr dirty="0" sz="1100" spc="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180"/>
                </a:solidFill>
                <a:latin typeface="Calibri"/>
                <a:cs typeface="Calibri"/>
              </a:rPr>
              <a:t>vous</a:t>
            </a:r>
            <a:r>
              <a:rPr dirty="0" sz="1100" spc="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180"/>
                </a:solidFill>
                <a:latin typeface="Calibri"/>
                <a:cs typeface="Calibri"/>
              </a:rPr>
              <a:t>serez</a:t>
            </a:r>
            <a:r>
              <a:rPr dirty="0" sz="1100" spc="4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180"/>
                </a:solidFill>
                <a:latin typeface="Calibri"/>
                <a:cs typeface="Calibri"/>
              </a:rPr>
              <a:t>capable</a:t>
            </a:r>
            <a:r>
              <a:rPr dirty="0" sz="1100" spc="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6B7180"/>
                </a:solidFill>
                <a:latin typeface="Calibri"/>
                <a:cs typeface="Calibri"/>
              </a:rPr>
              <a:t>de</a:t>
            </a:r>
            <a:r>
              <a:rPr dirty="0" sz="1100" spc="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100" spc="-50" i="1">
                <a:solidFill>
                  <a:srgbClr val="6B7180"/>
                </a:solidFill>
                <a:latin typeface="Calibri"/>
                <a:cs typeface="Calibri"/>
              </a:rPr>
              <a:t>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Calibri"/>
              <a:cs typeface="Calibri"/>
            </a:endParaRPr>
          </a:p>
          <a:p>
            <a:pPr marL="629920">
              <a:lnSpc>
                <a:spcPct val="100000"/>
              </a:lnSpc>
              <a:spcBef>
                <a:spcPts val="5"/>
              </a:spcBef>
            </a:pP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Expliquer,</a:t>
            </a:r>
            <a:r>
              <a:rPr dirty="0" sz="115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avec</a:t>
            </a:r>
            <a:r>
              <a:rPr dirty="0" sz="115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vos</a:t>
            </a:r>
            <a:r>
              <a:rPr dirty="0" sz="115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propres</a:t>
            </a:r>
            <a:r>
              <a:rPr dirty="0" sz="115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mots,</a:t>
            </a:r>
            <a:r>
              <a:rPr dirty="0" sz="115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ce</a:t>
            </a:r>
            <a:r>
              <a:rPr dirty="0" sz="115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qu'est</a:t>
            </a:r>
            <a:r>
              <a:rPr dirty="0" sz="115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r>
              <a:rPr dirty="0" sz="115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système</a:t>
            </a:r>
            <a:r>
              <a:rPr dirty="0" sz="115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d'exploitation</a:t>
            </a:r>
            <a:r>
              <a:rPr dirty="0" sz="1150" spc="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et</a:t>
            </a:r>
            <a:r>
              <a:rPr dirty="0" sz="115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pourquoi</a:t>
            </a:r>
            <a:r>
              <a:rPr dirty="0" sz="115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il</a:t>
            </a:r>
            <a:r>
              <a:rPr dirty="0" sz="115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est</a:t>
            </a:r>
            <a:r>
              <a:rPr dirty="0" sz="115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A2233"/>
                </a:solidFill>
                <a:latin typeface="Calibri"/>
                <a:cs typeface="Calibri"/>
              </a:rPr>
              <a:t>indispensable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0059" y="2263139"/>
            <a:ext cx="378460" cy="378460"/>
            <a:chOff x="480059" y="2263139"/>
            <a:chExt cx="378460" cy="378460"/>
          </a:xfrm>
        </p:grpSpPr>
        <p:sp>
          <p:nvSpPr>
            <p:cNvPr id="9" name="object 9"/>
            <p:cNvSpPr/>
            <p:nvPr/>
          </p:nvSpPr>
          <p:spPr>
            <a:xfrm>
              <a:off x="480059" y="2263139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6" y="0"/>
                  </a:moveTo>
                  <a:lnTo>
                    <a:pt x="138738" y="6748"/>
                  </a:lnTo>
                  <a:lnTo>
                    <a:pt x="93596" y="25795"/>
                  </a:lnTo>
                  <a:lnTo>
                    <a:pt x="55349" y="55340"/>
                  </a:lnTo>
                  <a:lnTo>
                    <a:pt x="25800" y="93584"/>
                  </a:lnTo>
                  <a:lnTo>
                    <a:pt x="6750" y="138729"/>
                  </a:lnTo>
                  <a:lnTo>
                    <a:pt x="0" y="188976"/>
                  </a:lnTo>
                  <a:lnTo>
                    <a:pt x="6750" y="239222"/>
                  </a:lnTo>
                  <a:lnTo>
                    <a:pt x="25800" y="284367"/>
                  </a:lnTo>
                  <a:lnTo>
                    <a:pt x="55349" y="322611"/>
                  </a:lnTo>
                  <a:lnTo>
                    <a:pt x="93596" y="352156"/>
                  </a:lnTo>
                  <a:lnTo>
                    <a:pt x="138738" y="371203"/>
                  </a:lnTo>
                  <a:lnTo>
                    <a:pt x="188976" y="377952"/>
                  </a:lnTo>
                  <a:lnTo>
                    <a:pt x="239213" y="371203"/>
                  </a:lnTo>
                  <a:lnTo>
                    <a:pt x="284355" y="352156"/>
                  </a:lnTo>
                  <a:lnTo>
                    <a:pt x="322602" y="322611"/>
                  </a:lnTo>
                  <a:lnTo>
                    <a:pt x="352151" y="284367"/>
                  </a:lnTo>
                  <a:lnTo>
                    <a:pt x="371201" y="239222"/>
                  </a:lnTo>
                  <a:lnTo>
                    <a:pt x="377952" y="188976"/>
                  </a:lnTo>
                  <a:lnTo>
                    <a:pt x="371201" y="138729"/>
                  </a:lnTo>
                  <a:lnTo>
                    <a:pt x="352151" y="93584"/>
                  </a:lnTo>
                  <a:lnTo>
                    <a:pt x="322602" y="55340"/>
                  </a:lnTo>
                  <a:lnTo>
                    <a:pt x="284355" y="25795"/>
                  </a:lnTo>
                  <a:lnTo>
                    <a:pt x="239213" y="6748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/home/claude/ppt/icons/chec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975" y="2353055"/>
              <a:ext cx="196595" cy="19659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07744" y="2372995"/>
            <a:ext cx="623189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Utiliser</a:t>
            </a:r>
            <a:r>
              <a:rPr dirty="0" sz="115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correctement</a:t>
            </a:r>
            <a:r>
              <a:rPr dirty="0" sz="115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115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vocabulaire</a:t>
            </a:r>
            <a:r>
              <a:rPr dirty="0" sz="115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de</a:t>
            </a:r>
            <a:r>
              <a:rPr dirty="0" sz="115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base</a:t>
            </a:r>
            <a:r>
              <a:rPr dirty="0" sz="115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:</a:t>
            </a:r>
            <a:r>
              <a:rPr dirty="0" sz="115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noyau,</a:t>
            </a:r>
            <a:r>
              <a:rPr dirty="0" sz="115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processus,</a:t>
            </a:r>
            <a:r>
              <a:rPr dirty="0" sz="1150" spc="-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thread,</a:t>
            </a:r>
            <a:r>
              <a:rPr dirty="0" sz="115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appel</a:t>
            </a:r>
            <a:r>
              <a:rPr dirty="0" sz="115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système,</a:t>
            </a:r>
            <a:r>
              <a:rPr dirty="0" sz="1150" spc="-10">
                <a:solidFill>
                  <a:srgbClr val="1A2233"/>
                </a:solidFill>
                <a:latin typeface="Calibri"/>
                <a:cs typeface="Calibri"/>
              </a:rPr>
              <a:t> ordonnanceur…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0059" y="2983992"/>
            <a:ext cx="378460" cy="376555"/>
            <a:chOff x="480059" y="2983992"/>
            <a:chExt cx="378460" cy="376555"/>
          </a:xfrm>
        </p:grpSpPr>
        <p:sp>
          <p:nvSpPr>
            <p:cNvPr id="13" name="object 13"/>
            <p:cNvSpPr/>
            <p:nvPr/>
          </p:nvSpPr>
          <p:spPr>
            <a:xfrm>
              <a:off x="480059" y="2983992"/>
              <a:ext cx="378460" cy="376555"/>
            </a:xfrm>
            <a:custGeom>
              <a:avLst/>
              <a:gdLst/>
              <a:ahLst/>
              <a:cxnLst/>
              <a:rect l="l" t="t" r="r" b="b"/>
              <a:pathLst>
                <a:path w="378459" h="376554">
                  <a:moveTo>
                    <a:pt x="188976" y="0"/>
                  </a:moveTo>
                  <a:lnTo>
                    <a:pt x="138738" y="6727"/>
                  </a:lnTo>
                  <a:lnTo>
                    <a:pt x="93596" y="25710"/>
                  </a:lnTo>
                  <a:lnTo>
                    <a:pt x="55349" y="55149"/>
                  </a:lnTo>
                  <a:lnTo>
                    <a:pt x="25800" y="93246"/>
                  </a:lnTo>
                  <a:lnTo>
                    <a:pt x="6750" y="138200"/>
                  </a:lnTo>
                  <a:lnTo>
                    <a:pt x="0" y="188213"/>
                  </a:lnTo>
                  <a:lnTo>
                    <a:pt x="6750" y="238227"/>
                  </a:lnTo>
                  <a:lnTo>
                    <a:pt x="25800" y="283181"/>
                  </a:lnTo>
                  <a:lnTo>
                    <a:pt x="55349" y="321278"/>
                  </a:lnTo>
                  <a:lnTo>
                    <a:pt x="93596" y="350717"/>
                  </a:lnTo>
                  <a:lnTo>
                    <a:pt x="138738" y="369700"/>
                  </a:lnTo>
                  <a:lnTo>
                    <a:pt x="188976" y="376427"/>
                  </a:lnTo>
                  <a:lnTo>
                    <a:pt x="239213" y="369700"/>
                  </a:lnTo>
                  <a:lnTo>
                    <a:pt x="284355" y="350717"/>
                  </a:lnTo>
                  <a:lnTo>
                    <a:pt x="322602" y="321278"/>
                  </a:lnTo>
                  <a:lnTo>
                    <a:pt x="352151" y="283181"/>
                  </a:lnTo>
                  <a:lnTo>
                    <a:pt x="371201" y="238227"/>
                  </a:lnTo>
                  <a:lnTo>
                    <a:pt x="377952" y="188213"/>
                  </a:lnTo>
                  <a:lnTo>
                    <a:pt x="371201" y="138200"/>
                  </a:lnTo>
                  <a:lnTo>
                    <a:pt x="352151" y="93246"/>
                  </a:lnTo>
                  <a:lnTo>
                    <a:pt x="322602" y="55149"/>
                  </a:lnTo>
                  <a:lnTo>
                    <a:pt x="284355" y="25710"/>
                  </a:lnTo>
                  <a:lnTo>
                    <a:pt x="239213" y="6727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/home/claude/ppt/icons/chec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975" y="3073908"/>
              <a:ext cx="196595" cy="19659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07744" y="3093211"/>
            <a:ext cx="394271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Situer</a:t>
            </a:r>
            <a:r>
              <a:rPr dirty="0" sz="115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les</a:t>
            </a:r>
            <a:r>
              <a:rPr dirty="0" sz="115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grandes</a:t>
            </a:r>
            <a:r>
              <a:rPr dirty="0" sz="115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étapes de</a:t>
            </a:r>
            <a:r>
              <a:rPr dirty="0" sz="115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l'histoire</a:t>
            </a:r>
            <a:r>
              <a:rPr dirty="0" sz="115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des systèmes</a:t>
            </a:r>
            <a:r>
              <a:rPr dirty="0" sz="115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A2233"/>
                </a:solidFill>
                <a:latin typeface="Calibri"/>
                <a:cs typeface="Calibri"/>
              </a:rPr>
              <a:t>d'exploitation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0059" y="3703320"/>
            <a:ext cx="378460" cy="378460"/>
            <a:chOff x="480059" y="3703320"/>
            <a:chExt cx="378460" cy="378460"/>
          </a:xfrm>
        </p:grpSpPr>
        <p:sp>
          <p:nvSpPr>
            <p:cNvPr id="17" name="object 17"/>
            <p:cNvSpPr/>
            <p:nvPr/>
          </p:nvSpPr>
          <p:spPr>
            <a:xfrm>
              <a:off x="480059" y="3703320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6" y="0"/>
                  </a:moveTo>
                  <a:lnTo>
                    <a:pt x="138738" y="6748"/>
                  </a:lnTo>
                  <a:lnTo>
                    <a:pt x="93596" y="25795"/>
                  </a:lnTo>
                  <a:lnTo>
                    <a:pt x="55349" y="55340"/>
                  </a:lnTo>
                  <a:lnTo>
                    <a:pt x="25800" y="93584"/>
                  </a:lnTo>
                  <a:lnTo>
                    <a:pt x="6750" y="138729"/>
                  </a:lnTo>
                  <a:lnTo>
                    <a:pt x="0" y="188975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1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5"/>
                  </a:lnTo>
                  <a:lnTo>
                    <a:pt x="371201" y="138729"/>
                  </a:lnTo>
                  <a:lnTo>
                    <a:pt x="352151" y="93584"/>
                  </a:lnTo>
                  <a:lnTo>
                    <a:pt x="322602" y="55340"/>
                  </a:lnTo>
                  <a:lnTo>
                    <a:pt x="284355" y="25795"/>
                  </a:lnTo>
                  <a:lnTo>
                    <a:pt x="239213" y="6748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/home/claude/ppt/icons/chec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975" y="3793236"/>
              <a:ext cx="196595" cy="19659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107744" y="3813454"/>
            <a:ext cx="5737860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Distinguer</a:t>
            </a:r>
            <a:r>
              <a:rPr dirty="0" sz="115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les</a:t>
            </a:r>
            <a:r>
              <a:rPr dirty="0" sz="115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trois</a:t>
            </a:r>
            <a:r>
              <a:rPr dirty="0" sz="115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grandes</a:t>
            </a:r>
            <a:r>
              <a:rPr dirty="0" sz="115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façons de</a:t>
            </a:r>
            <a:r>
              <a:rPr dirty="0" sz="115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construire</a:t>
            </a:r>
            <a:r>
              <a:rPr dirty="0" sz="115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r>
              <a:rPr dirty="0" sz="115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noyau</a:t>
            </a:r>
            <a:r>
              <a:rPr dirty="0" sz="115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(monolithique,</a:t>
            </a:r>
            <a:r>
              <a:rPr dirty="0" sz="115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A2233"/>
                </a:solidFill>
                <a:latin typeface="Calibri"/>
                <a:cs typeface="Calibri"/>
              </a:rPr>
              <a:t>microkernel,</a:t>
            </a:r>
            <a:r>
              <a:rPr dirty="0" sz="115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A2233"/>
                </a:solidFill>
                <a:latin typeface="Calibri"/>
                <a:cs typeface="Calibri"/>
              </a:rPr>
              <a:t>hybride)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40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750" spc="-25">
                <a:solidFill>
                  <a:srgbClr val="4471C4"/>
                </a:solidFill>
              </a:rPr>
              <a:t>1.2</a:t>
            </a:r>
            <a:endParaRPr sz="67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spc="-10">
                <a:solidFill>
                  <a:srgbClr val="FF4500"/>
                </a:solidFill>
                <a:latin typeface="Cambria"/>
                <a:cs typeface="Cambria"/>
              </a:rPr>
              <a:t>Préliminaire</a:t>
            </a:r>
            <a:endParaRPr sz="2550">
              <a:latin typeface="Cambria"/>
              <a:cs typeface="Cambria"/>
            </a:endParaRPr>
          </a:p>
          <a:p>
            <a:pPr marL="46355">
              <a:lnSpc>
                <a:spcPct val="100000"/>
              </a:lnSpc>
              <a:spcBef>
                <a:spcPts val="2135"/>
              </a:spcBef>
            </a:pP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Des</a:t>
            </a:r>
            <a:r>
              <a:rPr dirty="0" sz="1200" spc="-20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notions</a:t>
            </a:r>
            <a:r>
              <a:rPr dirty="0" sz="1200" spc="-25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que</a:t>
            </a:r>
            <a:r>
              <a:rPr dirty="0" sz="1200" spc="-30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vous</a:t>
            </a:r>
            <a:r>
              <a:rPr dirty="0" sz="1200" spc="-15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utilisez</a:t>
            </a:r>
            <a:r>
              <a:rPr dirty="0" sz="1200" spc="-30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déjà,</a:t>
            </a:r>
            <a:r>
              <a:rPr dirty="0" sz="1200" spc="-25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sans</a:t>
            </a:r>
            <a:r>
              <a:rPr dirty="0" sz="1200" spc="-5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les</a:t>
            </a:r>
            <a:r>
              <a:rPr dirty="0" sz="1200" spc="-30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333E50"/>
                </a:solidFill>
                <a:latin typeface="Calibri"/>
                <a:cs typeface="Calibri"/>
              </a:rPr>
              <a:t>définir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79" y="70103"/>
            <a:ext cx="5107305" cy="292735"/>
          </a:xfrm>
          <a:prstGeom prst="rect">
            <a:avLst/>
          </a:prstGeom>
          <a:solidFill>
            <a:srgbClr val="FF4500"/>
          </a:solidFill>
        </p:spPr>
        <p:txBody>
          <a:bodyPr wrap="square" lIns="0" tIns="825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65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9412" y="362711"/>
            <a:ext cx="4997450" cy="27432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82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5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437" y="2158697"/>
            <a:ext cx="8115300" cy="1858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475"/>
              </a:lnSpc>
              <a:spcBef>
                <a:spcPts val="110"/>
              </a:spcBef>
            </a:pPr>
            <a:r>
              <a:rPr dirty="0" u="sng" sz="2100" spc="-5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Informatique</a:t>
            </a:r>
            <a:r>
              <a:rPr dirty="0" u="sng" sz="2100" spc="-4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800" spc="-5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00965" marR="5080">
              <a:lnSpc>
                <a:spcPts val="2390"/>
              </a:lnSpc>
              <a:spcBef>
                <a:spcPts val="45"/>
              </a:spcBef>
              <a:tabLst>
                <a:tab pos="5488940" algn="l"/>
              </a:tabLst>
            </a:pPr>
            <a:r>
              <a:rPr dirty="0" sz="2000">
                <a:latin typeface="Garamond"/>
                <a:cs typeface="Garamond"/>
              </a:rPr>
              <a:t>Nom</a:t>
            </a:r>
            <a:r>
              <a:rPr dirty="0" sz="2000" spc="28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féminin</a:t>
            </a:r>
            <a:r>
              <a:rPr dirty="0" sz="2000" spc="29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(de</a:t>
            </a:r>
            <a:r>
              <a:rPr dirty="0" sz="2000" spc="30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information</a:t>
            </a:r>
            <a:r>
              <a:rPr dirty="0" sz="2000" spc="29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et</a:t>
            </a:r>
            <a:r>
              <a:rPr dirty="0" sz="2000" spc="30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automatique):</a:t>
            </a:r>
            <a:r>
              <a:rPr dirty="0" sz="2000" spc="300">
                <a:latin typeface="Garamond"/>
                <a:cs typeface="Garamond"/>
              </a:rPr>
              <a:t> </a:t>
            </a:r>
            <a:r>
              <a:rPr dirty="0" sz="2000" spc="-25">
                <a:latin typeface="Garamond"/>
                <a:cs typeface="Garamond"/>
              </a:rPr>
              <a:t>Le</a:t>
            </a:r>
            <a:r>
              <a:rPr dirty="0" sz="2000">
                <a:latin typeface="Garamond"/>
                <a:cs typeface="Garamond"/>
              </a:rPr>
              <a:t>	traitement</a:t>
            </a:r>
            <a:r>
              <a:rPr dirty="0" sz="2000" spc="254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automatique</a:t>
            </a:r>
            <a:r>
              <a:rPr dirty="0" sz="2000" spc="254">
                <a:latin typeface="Garamond"/>
                <a:cs typeface="Garamond"/>
              </a:rPr>
              <a:t> </a:t>
            </a:r>
            <a:r>
              <a:rPr dirty="0" sz="2000" spc="-25">
                <a:latin typeface="Garamond"/>
                <a:cs typeface="Garamond"/>
              </a:rPr>
              <a:t>et </a:t>
            </a:r>
            <a:r>
              <a:rPr dirty="0" sz="2000">
                <a:latin typeface="Garamond"/>
                <a:cs typeface="Garamond"/>
              </a:rPr>
              <a:t>rationnel</a:t>
            </a:r>
            <a:r>
              <a:rPr dirty="0" sz="2000" spc="-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de l'information considérée</a:t>
            </a:r>
            <a:r>
              <a:rPr dirty="0" sz="2000" spc="-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comme le support des</a:t>
            </a:r>
            <a:r>
              <a:rPr dirty="0" sz="2000" spc="-1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connaissances</a:t>
            </a:r>
            <a:r>
              <a:rPr dirty="0" sz="2000" spc="-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et</a:t>
            </a:r>
            <a:r>
              <a:rPr dirty="0" sz="2000" spc="-15">
                <a:latin typeface="Garamond"/>
                <a:cs typeface="Garamond"/>
              </a:rPr>
              <a:t> </a:t>
            </a:r>
            <a:r>
              <a:rPr dirty="0" sz="2000" spc="-25">
                <a:latin typeface="Garamond"/>
                <a:cs typeface="Garamond"/>
              </a:rPr>
              <a:t>des</a:t>
            </a:r>
            <a:endParaRPr sz="2000">
              <a:latin typeface="Garamond"/>
              <a:cs typeface="Garamond"/>
            </a:endParaRPr>
          </a:p>
          <a:p>
            <a:pPr marL="100965">
              <a:lnSpc>
                <a:spcPts val="2320"/>
              </a:lnSpc>
            </a:pPr>
            <a:r>
              <a:rPr dirty="0" sz="2000" spc="-10">
                <a:latin typeface="Garamond"/>
                <a:cs typeface="Garamond"/>
              </a:rPr>
              <a:t>communications.</a:t>
            </a:r>
            <a:endParaRPr sz="2000">
              <a:latin typeface="Garamond"/>
              <a:cs typeface="Garamond"/>
            </a:endParaRPr>
          </a:p>
          <a:p>
            <a:pPr marL="165100">
              <a:lnSpc>
                <a:spcPct val="100000"/>
              </a:lnSpc>
            </a:pPr>
            <a:r>
              <a:rPr dirty="0" sz="2000">
                <a:latin typeface="Garamond"/>
                <a:cs typeface="Garamond"/>
              </a:rPr>
              <a:t>Ensemble</a:t>
            </a:r>
            <a:r>
              <a:rPr dirty="0" sz="2000" spc="38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des</a:t>
            </a:r>
            <a:r>
              <a:rPr dirty="0" sz="2000" spc="38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applications</a:t>
            </a:r>
            <a:r>
              <a:rPr dirty="0" sz="2000" spc="39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de</a:t>
            </a:r>
            <a:r>
              <a:rPr dirty="0" sz="2000" spc="40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cette</a:t>
            </a:r>
            <a:r>
              <a:rPr dirty="0" sz="2000" spc="405">
                <a:latin typeface="Garamond"/>
                <a:cs typeface="Garamond"/>
              </a:rPr>
              <a:t> </a:t>
            </a:r>
            <a:r>
              <a:rPr dirty="0" u="sng" sz="20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aramond"/>
                <a:cs typeface="Garamond"/>
              </a:rPr>
              <a:t>science</a:t>
            </a:r>
            <a:r>
              <a:rPr dirty="0" u="none" sz="2000">
                <a:latin typeface="Garamond"/>
                <a:cs typeface="Garamond"/>
              </a:rPr>
              <a:t>,</a:t>
            </a:r>
            <a:r>
              <a:rPr dirty="0" u="none" sz="2000" spc="39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mettant</a:t>
            </a:r>
            <a:r>
              <a:rPr dirty="0" u="none" sz="2000" spc="40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en</a:t>
            </a:r>
            <a:r>
              <a:rPr dirty="0" u="none" sz="2000" spc="39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œuvre</a:t>
            </a:r>
            <a:r>
              <a:rPr dirty="0" u="none" sz="2000" spc="40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des</a:t>
            </a:r>
            <a:r>
              <a:rPr dirty="0" u="none" sz="2000" spc="385">
                <a:latin typeface="Garamond"/>
                <a:cs typeface="Garamond"/>
              </a:rPr>
              <a:t> </a:t>
            </a:r>
            <a:r>
              <a:rPr dirty="0" u="none" sz="2000" spc="-10">
                <a:latin typeface="Garamond"/>
                <a:cs typeface="Garamond"/>
              </a:rPr>
              <a:t>matériels</a:t>
            </a:r>
            <a:endParaRPr sz="2000">
              <a:latin typeface="Garamond"/>
              <a:cs typeface="Garamond"/>
            </a:endParaRPr>
          </a:p>
          <a:p>
            <a:pPr marL="100965">
              <a:lnSpc>
                <a:spcPct val="100000"/>
              </a:lnSpc>
            </a:pPr>
            <a:r>
              <a:rPr dirty="0" sz="2000">
                <a:latin typeface="Garamond"/>
                <a:cs typeface="Garamond"/>
              </a:rPr>
              <a:t>(ordinateurs)</a:t>
            </a:r>
            <a:r>
              <a:rPr dirty="0" sz="2000" spc="-5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et</a:t>
            </a:r>
            <a:r>
              <a:rPr dirty="0" sz="2000" spc="-2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des</a:t>
            </a:r>
            <a:r>
              <a:rPr dirty="0" sz="2000" spc="-35">
                <a:latin typeface="Garamond"/>
                <a:cs typeface="Garamond"/>
              </a:rPr>
              <a:t> </a:t>
            </a:r>
            <a:r>
              <a:rPr dirty="0" sz="2000" spc="-10">
                <a:latin typeface="Garamond"/>
                <a:cs typeface="Garamond"/>
              </a:rPr>
              <a:t>logiciels.</a:t>
            </a:r>
            <a:endParaRPr sz="2000">
              <a:latin typeface="Garamond"/>
              <a:cs typeface="Garamond"/>
            </a:endParaRPr>
          </a:p>
        </p:txBody>
      </p:sp>
      <p:pic>
        <p:nvPicPr>
          <p:cNvPr id="5" name="object 5" descr="Ordinateur, Calculatrice, Serveur De, Bureau, Moniteu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5835" y="637031"/>
            <a:ext cx="2842260" cy="18333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4021" y="1159255"/>
            <a:ext cx="2603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Définition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l’informatique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79" y="70103"/>
            <a:ext cx="5107305" cy="292735"/>
          </a:xfrm>
          <a:prstGeom prst="rect">
            <a:avLst/>
          </a:prstGeom>
          <a:solidFill>
            <a:srgbClr val="FF4500"/>
          </a:solidFill>
        </p:spPr>
        <p:txBody>
          <a:bodyPr wrap="square" lIns="0" tIns="825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65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9412" y="362711"/>
            <a:ext cx="4997450" cy="27432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82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5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437" y="2158697"/>
            <a:ext cx="8114665" cy="2052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270"/>
              </a:lnSpc>
              <a:spcBef>
                <a:spcPts val="110"/>
              </a:spcBef>
            </a:pPr>
            <a:r>
              <a:rPr dirty="0" u="sng" sz="2100" spc="-1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Ordinateur</a:t>
            </a:r>
            <a:r>
              <a:rPr dirty="0" u="sng" sz="18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00965">
              <a:lnSpc>
                <a:spcPts val="1910"/>
              </a:lnSpc>
            </a:pPr>
            <a:r>
              <a:rPr dirty="0" sz="2000">
                <a:latin typeface="Garamond"/>
                <a:cs typeface="Garamond"/>
              </a:rPr>
              <a:t>Nom</a:t>
            </a:r>
            <a:r>
              <a:rPr dirty="0" sz="2000" spc="-4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masculin</a:t>
            </a:r>
            <a:r>
              <a:rPr dirty="0" sz="2000" spc="-3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(latin</a:t>
            </a:r>
            <a:r>
              <a:rPr dirty="0" sz="2000" spc="-5">
                <a:latin typeface="Garamond"/>
                <a:cs typeface="Garamond"/>
              </a:rPr>
              <a:t> </a:t>
            </a:r>
            <a:r>
              <a:rPr dirty="0" sz="2000" spc="-10">
                <a:latin typeface="Garamond"/>
                <a:cs typeface="Garamond"/>
              </a:rPr>
              <a:t>ordinator,</a:t>
            </a:r>
            <a:r>
              <a:rPr dirty="0" sz="2000" spc="-3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celui</a:t>
            </a:r>
            <a:r>
              <a:rPr dirty="0" sz="2000" spc="-2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qui</a:t>
            </a:r>
            <a:r>
              <a:rPr dirty="0" sz="2000" spc="-3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met</a:t>
            </a:r>
            <a:r>
              <a:rPr dirty="0" sz="2000" spc="-2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en</a:t>
            </a:r>
            <a:r>
              <a:rPr dirty="0" sz="2000" spc="-3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ordre,</a:t>
            </a:r>
            <a:r>
              <a:rPr dirty="0" sz="2000" spc="-4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de</a:t>
            </a:r>
            <a:r>
              <a:rPr dirty="0" sz="2000" spc="-25">
                <a:latin typeface="Garamond"/>
                <a:cs typeface="Garamond"/>
              </a:rPr>
              <a:t> </a:t>
            </a:r>
            <a:r>
              <a:rPr dirty="0" sz="2000" spc="-10">
                <a:latin typeface="Garamond"/>
                <a:cs typeface="Garamond"/>
              </a:rPr>
              <a:t>ordinare)</a:t>
            </a:r>
            <a:endParaRPr sz="2000">
              <a:latin typeface="Garamond"/>
              <a:cs typeface="Garamond"/>
            </a:endParaRPr>
          </a:p>
          <a:p>
            <a:pPr marL="100965" marR="5080">
              <a:lnSpc>
                <a:spcPct val="80000"/>
              </a:lnSpc>
              <a:spcBef>
                <a:spcPts val="240"/>
              </a:spcBef>
              <a:tabLst>
                <a:tab pos="1165860" algn="l"/>
                <a:tab pos="1504315" algn="l"/>
                <a:tab pos="2365375" algn="l"/>
                <a:tab pos="2604770" algn="l"/>
                <a:tab pos="2842895" algn="l"/>
                <a:tab pos="3060700" algn="l"/>
                <a:tab pos="3330575" algn="l"/>
                <a:tab pos="4039235" algn="l"/>
                <a:tab pos="4289425" algn="l"/>
                <a:tab pos="4744720" algn="l"/>
                <a:tab pos="5411470" algn="l"/>
                <a:tab pos="6313170" algn="l"/>
                <a:tab pos="6903084" algn="l"/>
                <a:tab pos="7246620" algn="l"/>
                <a:tab pos="7452359" algn="l"/>
                <a:tab pos="7776845" algn="l"/>
              </a:tabLst>
            </a:pPr>
            <a:r>
              <a:rPr dirty="0" sz="2000" spc="-10">
                <a:latin typeface="Garamond"/>
                <a:cs typeface="Garamond"/>
              </a:rPr>
              <a:t>Machine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automatique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5">
                <a:latin typeface="Garamond"/>
                <a:cs typeface="Garamond"/>
              </a:rPr>
              <a:t>de</a:t>
            </a:r>
            <a:r>
              <a:rPr dirty="0" sz="2000">
                <a:latin typeface="Garamond"/>
                <a:cs typeface="Garamond"/>
              </a:rPr>
              <a:t>		</a:t>
            </a:r>
            <a:r>
              <a:rPr dirty="0" sz="2000" spc="-10">
                <a:latin typeface="Garamond"/>
                <a:cs typeface="Garamond"/>
              </a:rPr>
              <a:t>traitement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5">
                <a:latin typeface="Garamond"/>
                <a:cs typeface="Garamond"/>
              </a:rPr>
              <a:t>de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l'information,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obéissant</a:t>
            </a:r>
            <a:r>
              <a:rPr dirty="0" sz="2000">
                <a:latin typeface="Garamond"/>
                <a:cs typeface="Garamond"/>
              </a:rPr>
              <a:t>		</a:t>
            </a:r>
            <a:r>
              <a:rPr dirty="0" sz="2000" spc="-50">
                <a:latin typeface="Garamond"/>
                <a:cs typeface="Garamond"/>
              </a:rPr>
              <a:t>à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5">
                <a:latin typeface="Garamond"/>
                <a:cs typeface="Garamond"/>
              </a:rPr>
              <a:t>des </a:t>
            </a:r>
            <a:r>
              <a:rPr dirty="0" sz="2000" spc="-10">
                <a:latin typeface="Garamond"/>
                <a:cs typeface="Garamond"/>
              </a:rPr>
              <a:t>programmes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formés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5">
                <a:latin typeface="Garamond"/>
                <a:cs typeface="Garamond"/>
              </a:rPr>
              <a:t>par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5">
                <a:latin typeface="Garamond"/>
                <a:cs typeface="Garamond"/>
              </a:rPr>
              <a:t>des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suites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d'opérations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arithmétiques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5">
                <a:latin typeface="Garamond"/>
                <a:cs typeface="Garamond"/>
              </a:rPr>
              <a:t>et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0">
                <a:latin typeface="Garamond"/>
                <a:cs typeface="Garamond"/>
              </a:rPr>
              <a:t>logiques. </a:t>
            </a:r>
            <a:r>
              <a:rPr dirty="0" sz="2000">
                <a:latin typeface="Garamond"/>
                <a:cs typeface="Garamond"/>
              </a:rPr>
              <a:t>(Synonymes</a:t>
            </a:r>
            <a:r>
              <a:rPr dirty="0" sz="2000" spc="-4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:</a:t>
            </a:r>
            <a:r>
              <a:rPr dirty="0" sz="2000" spc="-4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calculateur</a:t>
            </a:r>
            <a:r>
              <a:rPr dirty="0" sz="2000" spc="-7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digital</a:t>
            </a:r>
            <a:r>
              <a:rPr dirty="0" sz="2000" spc="-3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ou</a:t>
            </a:r>
            <a:r>
              <a:rPr dirty="0" sz="2000" spc="-5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numérique,</a:t>
            </a:r>
            <a:r>
              <a:rPr dirty="0" sz="2000" spc="-8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computer,</a:t>
            </a:r>
            <a:r>
              <a:rPr dirty="0" sz="2000" spc="-70">
                <a:latin typeface="Garamond"/>
                <a:cs typeface="Garamond"/>
              </a:rPr>
              <a:t> </a:t>
            </a:r>
            <a:r>
              <a:rPr dirty="0" sz="2000" spc="-10">
                <a:latin typeface="Garamond"/>
                <a:cs typeface="Garamond"/>
              </a:rPr>
              <a:t>computeur.)</a:t>
            </a:r>
            <a:r>
              <a:rPr dirty="0" sz="2000" spc="50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Ordinateur</a:t>
            </a:r>
            <a:r>
              <a:rPr dirty="0" sz="2000" spc="39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domestique,</a:t>
            </a:r>
            <a:r>
              <a:rPr dirty="0" sz="2000" spc="42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ordinateur</a:t>
            </a:r>
            <a:r>
              <a:rPr dirty="0" sz="2000" spc="41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personnel</a:t>
            </a:r>
            <a:r>
              <a:rPr dirty="0" sz="2000" spc="40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:</a:t>
            </a:r>
            <a:r>
              <a:rPr dirty="0" sz="2000" spc="405">
                <a:latin typeface="Garamond"/>
                <a:cs typeface="Garamond"/>
              </a:rPr>
              <a:t> </a:t>
            </a:r>
            <a:r>
              <a:rPr dirty="0" sz="2000" spc="-10">
                <a:latin typeface="Garamond"/>
                <a:cs typeface="Garamond"/>
              </a:rPr>
              <a:t>micro-</a:t>
            </a:r>
            <a:r>
              <a:rPr dirty="0" sz="2000">
                <a:latin typeface="Garamond"/>
                <a:cs typeface="Garamond"/>
              </a:rPr>
              <a:t>ordinateur</a:t>
            </a:r>
            <a:r>
              <a:rPr dirty="0" sz="2000" spc="405">
                <a:latin typeface="Garamond"/>
                <a:cs typeface="Garamond"/>
              </a:rPr>
              <a:t> </a:t>
            </a:r>
            <a:r>
              <a:rPr dirty="0" sz="2000" spc="-10">
                <a:latin typeface="Garamond"/>
                <a:cs typeface="Garamond"/>
              </a:rPr>
              <a:t>spécialement </a:t>
            </a:r>
            <a:r>
              <a:rPr dirty="0" sz="2000">
                <a:latin typeface="Garamond"/>
                <a:cs typeface="Garamond"/>
              </a:rPr>
              <a:t>conçu</a:t>
            </a:r>
            <a:r>
              <a:rPr dirty="0" sz="2000" spc="18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pour</a:t>
            </a:r>
            <a:r>
              <a:rPr dirty="0" sz="2000" spc="17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des</a:t>
            </a:r>
            <a:r>
              <a:rPr dirty="0" sz="2000" spc="18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utilisations</a:t>
            </a:r>
            <a:r>
              <a:rPr dirty="0" sz="2000" spc="18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par</a:t>
            </a:r>
            <a:r>
              <a:rPr dirty="0" sz="2000" spc="18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l'individu</a:t>
            </a:r>
            <a:r>
              <a:rPr dirty="0" sz="2000" spc="17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dans</a:t>
            </a:r>
            <a:r>
              <a:rPr dirty="0" sz="2000" spc="17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le</a:t>
            </a:r>
            <a:r>
              <a:rPr dirty="0" sz="2000" spc="18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cadre</a:t>
            </a:r>
            <a:r>
              <a:rPr dirty="0" sz="2000" spc="16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de</a:t>
            </a:r>
            <a:r>
              <a:rPr dirty="0" sz="2000" spc="17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son</a:t>
            </a:r>
            <a:r>
              <a:rPr dirty="0" sz="2000" spc="17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foyer</a:t>
            </a:r>
            <a:r>
              <a:rPr dirty="0" sz="2000" spc="19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ou</a:t>
            </a:r>
            <a:r>
              <a:rPr dirty="0" sz="2000" spc="17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de</a:t>
            </a:r>
            <a:r>
              <a:rPr dirty="0" sz="2000" spc="185">
                <a:latin typeface="Garamond"/>
                <a:cs typeface="Garamond"/>
              </a:rPr>
              <a:t> </a:t>
            </a:r>
            <a:r>
              <a:rPr dirty="0" sz="2000" spc="-25">
                <a:latin typeface="Garamond"/>
                <a:cs typeface="Garamond"/>
              </a:rPr>
              <a:t>son </a:t>
            </a:r>
            <a:r>
              <a:rPr dirty="0" sz="2000">
                <a:latin typeface="Garamond"/>
                <a:cs typeface="Garamond"/>
              </a:rPr>
              <a:t>travail.</a:t>
            </a:r>
            <a:r>
              <a:rPr dirty="0" sz="2000" spc="-6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(Synonyme</a:t>
            </a:r>
            <a:r>
              <a:rPr dirty="0" sz="2000" spc="-5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:</a:t>
            </a:r>
            <a:r>
              <a:rPr dirty="0" sz="2000" spc="-60">
                <a:latin typeface="Garamond"/>
                <a:cs typeface="Garamond"/>
              </a:rPr>
              <a:t> </a:t>
            </a:r>
            <a:r>
              <a:rPr dirty="0" sz="2000" spc="-20">
                <a:latin typeface="Garamond"/>
                <a:cs typeface="Garamond"/>
              </a:rPr>
              <a:t>PC.)</a:t>
            </a:r>
            <a:endParaRPr sz="2000">
              <a:latin typeface="Garamond"/>
              <a:cs typeface="Garamond"/>
            </a:endParaRPr>
          </a:p>
        </p:txBody>
      </p:sp>
      <p:pic>
        <p:nvPicPr>
          <p:cNvPr id="5" name="object 5" descr="Ordinateur, Calculatrice, Serveur De, Bureau, Moniteu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5835" y="637031"/>
            <a:ext cx="2842260" cy="18333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4021" y="1159255"/>
            <a:ext cx="24422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Définition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ordinateurs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79" y="70103"/>
            <a:ext cx="5107305" cy="292735"/>
          </a:xfrm>
          <a:prstGeom prst="rect">
            <a:avLst/>
          </a:prstGeom>
          <a:solidFill>
            <a:srgbClr val="FF4500"/>
          </a:solidFill>
        </p:spPr>
        <p:txBody>
          <a:bodyPr wrap="square" lIns="0" tIns="825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65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9412" y="362711"/>
            <a:ext cx="4997450" cy="27432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82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5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5934" y="2627963"/>
            <a:ext cx="7632065" cy="1397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95"/>
              </a:spcBef>
            </a:pPr>
            <a:r>
              <a:rPr dirty="0" sz="2000">
                <a:latin typeface="Garamond"/>
                <a:cs typeface="Garamond"/>
              </a:rPr>
              <a:t>Les</a:t>
            </a:r>
            <a:r>
              <a:rPr dirty="0" sz="2000" spc="120">
                <a:latin typeface="Garamond"/>
                <a:cs typeface="Garamond"/>
              </a:rPr>
              <a:t>  </a:t>
            </a:r>
            <a:r>
              <a:rPr dirty="0" sz="2000">
                <a:latin typeface="Garamond"/>
                <a:cs typeface="Garamond"/>
              </a:rPr>
              <a:t>ordinateurs</a:t>
            </a:r>
            <a:r>
              <a:rPr dirty="0" sz="2000" spc="125">
                <a:latin typeface="Garamond"/>
                <a:cs typeface="Garamond"/>
              </a:rPr>
              <a:t>  </a:t>
            </a:r>
            <a:r>
              <a:rPr dirty="0" sz="2000">
                <a:latin typeface="Garamond"/>
                <a:cs typeface="Garamond"/>
              </a:rPr>
              <a:t>permettent</a:t>
            </a:r>
            <a:r>
              <a:rPr dirty="0" sz="2000" spc="120">
                <a:latin typeface="Garamond"/>
                <a:cs typeface="Garamond"/>
              </a:rPr>
              <a:t>  </a:t>
            </a:r>
            <a:r>
              <a:rPr dirty="0" sz="2000">
                <a:latin typeface="Garamond"/>
                <a:cs typeface="Garamond"/>
              </a:rPr>
              <a:t>de</a:t>
            </a:r>
            <a:r>
              <a:rPr dirty="0" sz="2000" spc="125">
                <a:latin typeface="Garamond"/>
                <a:cs typeface="Garamond"/>
              </a:rPr>
              <a:t>  </a:t>
            </a:r>
            <a:r>
              <a:rPr dirty="0" sz="2000" b="1">
                <a:solidFill>
                  <a:srgbClr val="FF0000"/>
                </a:solidFill>
                <a:latin typeface="Garamond"/>
                <a:cs typeface="Garamond"/>
              </a:rPr>
              <a:t>collecter</a:t>
            </a:r>
            <a:r>
              <a:rPr dirty="0" sz="2000" spc="120" b="1">
                <a:solidFill>
                  <a:srgbClr val="FF0000"/>
                </a:solidFill>
                <a:latin typeface="Garamond"/>
                <a:cs typeface="Garamond"/>
              </a:rPr>
              <a:t>  </a:t>
            </a:r>
            <a:r>
              <a:rPr dirty="0" sz="2000">
                <a:latin typeface="Garamond"/>
                <a:cs typeface="Garamond"/>
              </a:rPr>
              <a:t>des</a:t>
            </a:r>
            <a:r>
              <a:rPr dirty="0" sz="2000" spc="120">
                <a:latin typeface="Garamond"/>
                <a:cs typeface="Garamond"/>
              </a:rPr>
              <a:t>  </a:t>
            </a:r>
            <a:r>
              <a:rPr dirty="0" sz="2000">
                <a:latin typeface="Garamond"/>
                <a:cs typeface="Garamond"/>
              </a:rPr>
              <a:t>données,</a:t>
            </a:r>
            <a:r>
              <a:rPr dirty="0" sz="2000" spc="120">
                <a:latin typeface="Garamond"/>
                <a:cs typeface="Garamond"/>
              </a:rPr>
              <a:t>  </a:t>
            </a:r>
            <a:r>
              <a:rPr dirty="0" sz="2000">
                <a:latin typeface="Garamond"/>
                <a:cs typeface="Garamond"/>
              </a:rPr>
              <a:t>de</a:t>
            </a:r>
            <a:r>
              <a:rPr dirty="0" sz="2000" spc="120">
                <a:latin typeface="Garamond"/>
                <a:cs typeface="Garamond"/>
              </a:rPr>
              <a:t>  </a:t>
            </a:r>
            <a:r>
              <a:rPr dirty="0" sz="2000">
                <a:latin typeface="Garamond"/>
                <a:cs typeface="Garamond"/>
              </a:rPr>
              <a:t>réaliser</a:t>
            </a:r>
            <a:r>
              <a:rPr dirty="0" sz="2000" spc="120">
                <a:latin typeface="Garamond"/>
                <a:cs typeface="Garamond"/>
              </a:rPr>
              <a:t>  </a:t>
            </a:r>
            <a:r>
              <a:rPr dirty="0" sz="2000" spc="-25">
                <a:latin typeface="Garamond"/>
                <a:cs typeface="Garamond"/>
              </a:rPr>
              <a:t>des </a:t>
            </a:r>
            <a:r>
              <a:rPr dirty="0" sz="2000" b="1">
                <a:solidFill>
                  <a:srgbClr val="FF0000"/>
                </a:solidFill>
                <a:latin typeface="Garamond"/>
                <a:cs typeface="Garamond"/>
              </a:rPr>
              <a:t>calculs</a:t>
            </a:r>
            <a:r>
              <a:rPr dirty="0" sz="2000">
                <a:latin typeface="Garamond"/>
                <a:cs typeface="Garamond"/>
              </a:rPr>
              <a:t>,</a:t>
            </a:r>
            <a:r>
              <a:rPr dirty="0" sz="2000" spc="180">
                <a:latin typeface="Garamond"/>
                <a:cs typeface="Garamond"/>
              </a:rPr>
              <a:t>  </a:t>
            </a:r>
            <a:r>
              <a:rPr dirty="0" sz="2000">
                <a:latin typeface="Garamond"/>
                <a:cs typeface="Garamond"/>
              </a:rPr>
              <a:t>de</a:t>
            </a:r>
            <a:r>
              <a:rPr dirty="0" sz="2000" spc="180">
                <a:latin typeface="Garamond"/>
                <a:cs typeface="Garamond"/>
              </a:rPr>
              <a:t>  </a:t>
            </a:r>
            <a:r>
              <a:rPr dirty="0" sz="2000" b="1">
                <a:solidFill>
                  <a:srgbClr val="FF0000"/>
                </a:solidFill>
                <a:latin typeface="Garamond"/>
                <a:cs typeface="Garamond"/>
              </a:rPr>
              <a:t>stocker</a:t>
            </a:r>
            <a:r>
              <a:rPr dirty="0" sz="2000" spc="175" b="1">
                <a:solidFill>
                  <a:srgbClr val="FF0000"/>
                </a:solidFill>
                <a:latin typeface="Garamond"/>
                <a:cs typeface="Garamond"/>
              </a:rPr>
              <a:t>  </a:t>
            </a:r>
            <a:r>
              <a:rPr dirty="0" sz="2000">
                <a:latin typeface="Garamond"/>
                <a:cs typeface="Garamond"/>
              </a:rPr>
              <a:t>des</a:t>
            </a:r>
            <a:r>
              <a:rPr dirty="0" sz="2000" spc="18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informations</a:t>
            </a:r>
            <a:r>
              <a:rPr dirty="0" sz="2000" spc="16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et</a:t>
            </a:r>
            <a:r>
              <a:rPr dirty="0" sz="2000" spc="18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de</a:t>
            </a:r>
            <a:r>
              <a:rPr dirty="0" sz="2000" spc="185">
                <a:latin typeface="Garamond"/>
                <a:cs typeface="Garamond"/>
              </a:rPr>
              <a:t> </a:t>
            </a:r>
            <a:r>
              <a:rPr dirty="0" sz="2000" b="1">
                <a:solidFill>
                  <a:srgbClr val="FF0000"/>
                </a:solidFill>
                <a:latin typeface="Garamond"/>
                <a:cs typeface="Garamond"/>
              </a:rPr>
              <a:t>communiquer</a:t>
            </a:r>
            <a:r>
              <a:rPr dirty="0" sz="2000" spc="165" b="1">
                <a:solidFill>
                  <a:srgbClr val="FF0000"/>
                </a:solidFill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avec</a:t>
            </a:r>
            <a:r>
              <a:rPr dirty="0" sz="2000" spc="185">
                <a:latin typeface="Garamond"/>
                <a:cs typeface="Garamond"/>
              </a:rPr>
              <a:t> </a:t>
            </a:r>
            <a:r>
              <a:rPr dirty="0" sz="2000" spc="-10">
                <a:latin typeface="Garamond"/>
                <a:cs typeface="Garamond"/>
              </a:rPr>
              <a:t>d’autres </a:t>
            </a:r>
            <a:r>
              <a:rPr dirty="0" sz="2000">
                <a:latin typeface="Garamond"/>
                <a:cs typeface="Garamond"/>
              </a:rPr>
              <a:t>ordinateurs</a:t>
            </a:r>
            <a:r>
              <a:rPr dirty="0" sz="2000" spc="-5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(ou</a:t>
            </a:r>
            <a:r>
              <a:rPr dirty="0" sz="2000" spc="-1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d’autres</a:t>
            </a:r>
            <a:r>
              <a:rPr dirty="0" sz="2000" spc="-55">
                <a:latin typeface="Garamond"/>
                <a:cs typeface="Garamond"/>
              </a:rPr>
              <a:t> </a:t>
            </a:r>
            <a:r>
              <a:rPr dirty="0" sz="2000" spc="-10">
                <a:latin typeface="Garamond"/>
                <a:cs typeface="Garamond"/>
              </a:rPr>
              <a:t>machines).</a:t>
            </a:r>
            <a:endParaRPr sz="2000">
              <a:latin typeface="Garamond"/>
              <a:cs typeface="Garamond"/>
            </a:endParaRPr>
          </a:p>
        </p:txBody>
      </p:sp>
      <p:pic>
        <p:nvPicPr>
          <p:cNvPr id="5" name="object 5" descr="Ordinateur, Calculatrice, Serveur De, Bureau, Moniteu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9" y="909827"/>
            <a:ext cx="3072384" cy="1981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4021" y="1159255"/>
            <a:ext cx="19297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Rôle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ordinateurs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79" y="70103"/>
            <a:ext cx="5107305" cy="292735"/>
          </a:xfrm>
          <a:prstGeom prst="rect">
            <a:avLst/>
          </a:prstGeom>
          <a:solidFill>
            <a:srgbClr val="FF4500"/>
          </a:solidFill>
        </p:spPr>
        <p:txBody>
          <a:bodyPr wrap="square" lIns="0" tIns="825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65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9412" y="362711"/>
            <a:ext cx="4997450" cy="27432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82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5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pic>
        <p:nvPicPr>
          <p:cNvPr id="4" name="object 4" descr="Ordinateur, Calculatrice, Serveur De, Bureau, Moniteu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7771" y="161544"/>
            <a:ext cx="2464307" cy="15895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9234" y="1156208"/>
            <a:ext cx="8359775" cy="2658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Garamond"/>
                <a:cs typeface="Garamond"/>
              </a:rPr>
              <a:t>Constitution</a:t>
            </a:r>
            <a:r>
              <a:rPr dirty="0" sz="1800" spc="-60">
                <a:latin typeface="Garamond"/>
                <a:cs typeface="Garamond"/>
              </a:rPr>
              <a:t> </a:t>
            </a:r>
            <a:r>
              <a:rPr dirty="0" sz="1800">
                <a:latin typeface="Garamond"/>
                <a:cs typeface="Garamond"/>
              </a:rPr>
              <a:t>générale</a:t>
            </a:r>
            <a:r>
              <a:rPr dirty="0" sz="1800" spc="-30">
                <a:latin typeface="Garamond"/>
                <a:cs typeface="Garamond"/>
              </a:rPr>
              <a:t> </a:t>
            </a:r>
            <a:r>
              <a:rPr dirty="0" sz="1800">
                <a:latin typeface="Garamond"/>
                <a:cs typeface="Garamond"/>
              </a:rPr>
              <a:t>d’un</a:t>
            </a:r>
            <a:r>
              <a:rPr dirty="0" sz="1800" spc="400">
                <a:latin typeface="Garamond"/>
                <a:cs typeface="Garamond"/>
              </a:rPr>
              <a:t> </a:t>
            </a:r>
            <a:r>
              <a:rPr dirty="0" sz="1800">
                <a:latin typeface="Garamond"/>
                <a:cs typeface="Garamond"/>
              </a:rPr>
              <a:t>système</a:t>
            </a:r>
            <a:r>
              <a:rPr dirty="0" sz="1800" spc="-35">
                <a:latin typeface="Garamond"/>
                <a:cs typeface="Garamond"/>
              </a:rPr>
              <a:t> </a:t>
            </a:r>
            <a:r>
              <a:rPr dirty="0" sz="1800" spc="-10">
                <a:latin typeface="Garamond"/>
                <a:cs typeface="Garamond"/>
              </a:rPr>
              <a:t>informatique</a:t>
            </a:r>
            <a:endParaRPr sz="18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tabLst>
                <a:tab pos="486409" algn="l"/>
                <a:tab pos="1425575" algn="l"/>
                <a:tab pos="2872105" algn="l"/>
                <a:tab pos="3309620" algn="l"/>
                <a:tab pos="4364355" algn="l"/>
                <a:tab pos="4761865" algn="l"/>
                <a:tab pos="5400675" algn="l"/>
                <a:tab pos="6219190" algn="l"/>
                <a:tab pos="6807834" algn="l"/>
                <a:tab pos="7894320" algn="l"/>
              </a:tabLst>
            </a:pPr>
            <a:r>
              <a:rPr dirty="0" sz="2000" spc="-25">
                <a:latin typeface="Garamond"/>
                <a:cs typeface="Garamond"/>
              </a:rPr>
              <a:t>Un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système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informatique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5">
                <a:latin typeface="Garamond"/>
                <a:cs typeface="Garamond"/>
              </a:rPr>
              <a:t>est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composé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5">
                <a:latin typeface="Garamond"/>
                <a:cs typeface="Garamond"/>
              </a:rPr>
              <a:t>de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0">
                <a:latin typeface="Garamond"/>
                <a:cs typeface="Garamond"/>
              </a:rPr>
              <a:t>deux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parties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0">
                <a:latin typeface="Garamond"/>
                <a:cs typeface="Garamond"/>
              </a:rPr>
              <a:t>bien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distinctes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0">
                <a:latin typeface="Garamond"/>
                <a:cs typeface="Garamond"/>
              </a:rPr>
              <a:t>mais</a:t>
            </a:r>
            <a:endParaRPr sz="2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Garamond"/>
                <a:cs typeface="Garamond"/>
              </a:rPr>
              <a:t>inséparables</a:t>
            </a:r>
            <a:r>
              <a:rPr dirty="0" sz="2000" spc="-70">
                <a:latin typeface="Garamond"/>
                <a:cs typeface="Garamond"/>
              </a:rPr>
              <a:t> </a:t>
            </a:r>
            <a:r>
              <a:rPr dirty="0" sz="2000" spc="-50">
                <a:latin typeface="Garamond"/>
                <a:cs typeface="Garamond"/>
              </a:rPr>
              <a:t>:</a:t>
            </a:r>
            <a:endParaRPr sz="2000">
              <a:latin typeface="Garamond"/>
              <a:cs typeface="Garamond"/>
            </a:endParaRPr>
          </a:p>
          <a:p>
            <a:pPr algn="just" marL="469900" marR="6985" indent="-4572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Garamond"/>
                <a:cs typeface="Garamond"/>
              </a:rPr>
              <a:t>1.</a:t>
            </a:r>
            <a:r>
              <a:rPr dirty="0" sz="2000" spc="240" b="1">
                <a:latin typeface="Garamond"/>
                <a:cs typeface="Garamond"/>
              </a:rPr>
              <a:t>  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Le</a:t>
            </a:r>
            <a:r>
              <a:rPr dirty="0" u="sng" sz="2000" spc="484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matériel</a:t>
            </a:r>
            <a:r>
              <a:rPr dirty="0" u="none" sz="2000" spc="495" b="1">
                <a:latin typeface="Garamond"/>
                <a:cs typeface="Garamond"/>
              </a:rPr>
              <a:t>  </a:t>
            </a:r>
            <a:r>
              <a:rPr dirty="0" u="none" sz="2000">
                <a:latin typeface="Garamond"/>
                <a:cs typeface="Garamond"/>
              </a:rPr>
              <a:t>(Hardware,  en</a:t>
            </a:r>
            <a:r>
              <a:rPr dirty="0" u="none" sz="2000" spc="49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anglais)</a:t>
            </a:r>
            <a:r>
              <a:rPr dirty="0" u="none" sz="2000" spc="49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qui</a:t>
            </a:r>
            <a:r>
              <a:rPr dirty="0" u="none" sz="2000" spc="484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comprend</a:t>
            </a:r>
            <a:r>
              <a:rPr dirty="0" u="none" sz="2000" spc="49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aussi</a:t>
            </a:r>
            <a:r>
              <a:rPr dirty="0" u="none" sz="2000" spc="47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bien  </a:t>
            </a:r>
            <a:r>
              <a:rPr dirty="0" u="none" sz="2000" spc="-10">
                <a:latin typeface="Garamond"/>
                <a:cs typeface="Garamond"/>
              </a:rPr>
              <a:t>l’ordinateur </a:t>
            </a:r>
            <a:r>
              <a:rPr dirty="0" u="none" sz="2000">
                <a:latin typeface="Garamond"/>
                <a:cs typeface="Garamond"/>
              </a:rPr>
              <a:t>proprement</a:t>
            </a:r>
            <a:r>
              <a:rPr dirty="0" u="none" sz="2000" spc="22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dit</a:t>
            </a:r>
            <a:r>
              <a:rPr dirty="0" u="none" sz="2000" spc="22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que</a:t>
            </a:r>
            <a:r>
              <a:rPr dirty="0" u="none" sz="2000" spc="24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tous</a:t>
            </a:r>
            <a:r>
              <a:rPr dirty="0" u="none" sz="2000" spc="24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les</a:t>
            </a:r>
            <a:r>
              <a:rPr dirty="0" u="none" sz="2000" spc="22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autres</a:t>
            </a:r>
            <a:r>
              <a:rPr dirty="0" u="none" sz="2000" spc="22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appareils</a:t>
            </a:r>
            <a:r>
              <a:rPr dirty="0" u="none" sz="2000" spc="21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qui</a:t>
            </a:r>
            <a:r>
              <a:rPr dirty="0" u="none" sz="2000" spc="23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lui</a:t>
            </a:r>
            <a:r>
              <a:rPr dirty="0" u="none" sz="2000" spc="229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sont</a:t>
            </a:r>
            <a:r>
              <a:rPr dirty="0" u="none" sz="2000" spc="24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connectés</a:t>
            </a:r>
            <a:r>
              <a:rPr dirty="0" u="none" sz="2000" spc="24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(ce</a:t>
            </a:r>
            <a:r>
              <a:rPr dirty="0" u="none" sz="2000" spc="235">
                <a:latin typeface="Garamond"/>
                <a:cs typeface="Garamond"/>
              </a:rPr>
              <a:t> </a:t>
            </a:r>
            <a:r>
              <a:rPr dirty="0" u="none" sz="2000" spc="-10">
                <a:latin typeface="Garamond"/>
                <a:cs typeface="Garamond"/>
              </a:rPr>
              <a:t>qu’on </a:t>
            </a:r>
            <a:r>
              <a:rPr dirty="0" u="none" sz="2000">
                <a:latin typeface="Garamond"/>
                <a:cs typeface="Garamond"/>
              </a:rPr>
              <a:t>appelle</a:t>
            </a:r>
            <a:r>
              <a:rPr dirty="0" u="none" sz="2000" spc="21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le</a:t>
            </a:r>
            <a:r>
              <a:rPr dirty="0" u="none" sz="2000" spc="22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périphériques)</a:t>
            </a:r>
            <a:r>
              <a:rPr dirty="0" u="none" sz="2000" spc="229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;</a:t>
            </a:r>
            <a:r>
              <a:rPr dirty="0" u="none" sz="2000" spc="21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le</a:t>
            </a:r>
            <a:r>
              <a:rPr dirty="0" u="none" sz="2000" spc="21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matériel</a:t>
            </a:r>
            <a:r>
              <a:rPr dirty="0" u="none" sz="2000" spc="22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représente</a:t>
            </a:r>
            <a:r>
              <a:rPr dirty="0" u="none" sz="2000" spc="23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donc</a:t>
            </a:r>
            <a:r>
              <a:rPr dirty="0" u="none" sz="2000" spc="22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la</a:t>
            </a:r>
            <a:r>
              <a:rPr dirty="0" u="none" sz="2000" spc="229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partie</a:t>
            </a:r>
            <a:r>
              <a:rPr dirty="0" u="none" sz="2000" spc="229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physique</a:t>
            </a:r>
            <a:r>
              <a:rPr dirty="0" u="none" sz="2000" spc="215">
                <a:latin typeface="Garamond"/>
                <a:cs typeface="Garamond"/>
              </a:rPr>
              <a:t> </a:t>
            </a:r>
            <a:r>
              <a:rPr dirty="0" u="none" sz="2000" spc="-20">
                <a:latin typeface="Garamond"/>
                <a:cs typeface="Garamond"/>
              </a:rPr>
              <a:t>d’un </a:t>
            </a:r>
            <a:r>
              <a:rPr dirty="0" u="none" sz="2000" spc="-10">
                <a:latin typeface="Garamond"/>
                <a:cs typeface="Garamond"/>
              </a:rPr>
              <a:t>ordinateur.</a:t>
            </a:r>
            <a:endParaRPr sz="2000">
              <a:latin typeface="Garamond"/>
              <a:cs typeface="Garamond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79" y="70103"/>
            <a:ext cx="5107305" cy="292735"/>
          </a:xfrm>
          <a:prstGeom prst="rect">
            <a:avLst/>
          </a:prstGeom>
          <a:solidFill>
            <a:srgbClr val="FF4500"/>
          </a:solidFill>
        </p:spPr>
        <p:txBody>
          <a:bodyPr wrap="square" lIns="0" tIns="825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65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9412" y="362711"/>
            <a:ext cx="4997450" cy="27432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82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5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pic>
        <p:nvPicPr>
          <p:cNvPr id="4" name="object 4" descr="Ordinateur, Calculatrice, Serveur De, Bureau, Moniteu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7771" y="161544"/>
            <a:ext cx="2464307" cy="15895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9234" y="1156208"/>
            <a:ext cx="8359775" cy="3268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Garamond"/>
                <a:cs typeface="Garamond"/>
              </a:rPr>
              <a:t>Constitution</a:t>
            </a:r>
            <a:r>
              <a:rPr dirty="0" sz="1800" spc="-60">
                <a:latin typeface="Garamond"/>
                <a:cs typeface="Garamond"/>
              </a:rPr>
              <a:t> </a:t>
            </a:r>
            <a:r>
              <a:rPr dirty="0" sz="1800">
                <a:latin typeface="Garamond"/>
                <a:cs typeface="Garamond"/>
              </a:rPr>
              <a:t>générale</a:t>
            </a:r>
            <a:r>
              <a:rPr dirty="0" sz="1800" spc="-30">
                <a:latin typeface="Garamond"/>
                <a:cs typeface="Garamond"/>
              </a:rPr>
              <a:t> </a:t>
            </a:r>
            <a:r>
              <a:rPr dirty="0" sz="1800">
                <a:latin typeface="Garamond"/>
                <a:cs typeface="Garamond"/>
              </a:rPr>
              <a:t>d’un</a:t>
            </a:r>
            <a:r>
              <a:rPr dirty="0" sz="1800" spc="400">
                <a:latin typeface="Garamond"/>
                <a:cs typeface="Garamond"/>
              </a:rPr>
              <a:t> </a:t>
            </a:r>
            <a:r>
              <a:rPr dirty="0" sz="1800">
                <a:latin typeface="Garamond"/>
                <a:cs typeface="Garamond"/>
              </a:rPr>
              <a:t>système</a:t>
            </a:r>
            <a:r>
              <a:rPr dirty="0" sz="1800" spc="-35">
                <a:latin typeface="Garamond"/>
                <a:cs typeface="Garamond"/>
              </a:rPr>
              <a:t> </a:t>
            </a:r>
            <a:r>
              <a:rPr dirty="0" sz="1800" spc="-10">
                <a:latin typeface="Garamond"/>
                <a:cs typeface="Garamond"/>
              </a:rPr>
              <a:t>informatique</a:t>
            </a:r>
            <a:endParaRPr sz="18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tabLst>
                <a:tab pos="486409" algn="l"/>
                <a:tab pos="1425575" algn="l"/>
                <a:tab pos="2872105" algn="l"/>
                <a:tab pos="3309620" algn="l"/>
                <a:tab pos="4364355" algn="l"/>
                <a:tab pos="4761865" algn="l"/>
                <a:tab pos="5400675" algn="l"/>
                <a:tab pos="6219190" algn="l"/>
                <a:tab pos="6807834" algn="l"/>
                <a:tab pos="7894320" algn="l"/>
              </a:tabLst>
            </a:pPr>
            <a:r>
              <a:rPr dirty="0" sz="2000" spc="-25">
                <a:latin typeface="Garamond"/>
                <a:cs typeface="Garamond"/>
              </a:rPr>
              <a:t>Un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système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informatique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5">
                <a:latin typeface="Garamond"/>
                <a:cs typeface="Garamond"/>
              </a:rPr>
              <a:t>est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composé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5">
                <a:latin typeface="Garamond"/>
                <a:cs typeface="Garamond"/>
              </a:rPr>
              <a:t>de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0">
                <a:latin typeface="Garamond"/>
                <a:cs typeface="Garamond"/>
              </a:rPr>
              <a:t>deux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parties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0">
                <a:latin typeface="Garamond"/>
                <a:cs typeface="Garamond"/>
              </a:rPr>
              <a:t>bien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10">
                <a:latin typeface="Garamond"/>
                <a:cs typeface="Garamond"/>
              </a:rPr>
              <a:t>distinctes</a:t>
            </a:r>
            <a:r>
              <a:rPr dirty="0" sz="2000">
                <a:latin typeface="Garamond"/>
                <a:cs typeface="Garamond"/>
              </a:rPr>
              <a:t>	</a:t>
            </a:r>
            <a:r>
              <a:rPr dirty="0" sz="2000" spc="-20">
                <a:latin typeface="Garamond"/>
                <a:cs typeface="Garamond"/>
              </a:rPr>
              <a:t>mais</a:t>
            </a:r>
            <a:endParaRPr sz="2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Garamond"/>
                <a:cs typeface="Garamond"/>
              </a:rPr>
              <a:t>inséparables</a:t>
            </a:r>
            <a:r>
              <a:rPr dirty="0" sz="2000" spc="-70">
                <a:latin typeface="Garamond"/>
                <a:cs typeface="Garamond"/>
              </a:rPr>
              <a:t> </a:t>
            </a:r>
            <a:r>
              <a:rPr dirty="0" sz="2000" spc="-50">
                <a:latin typeface="Garamond"/>
                <a:cs typeface="Garamond"/>
              </a:rPr>
              <a:t>:</a:t>
            </a:r>
            <a:endParaRPr sz="2000">
              <a:latin typeface="Garamond"/>
              <a:cs typeface="Garamond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878205" algn="l"/>
                <a:tab pos="1884045" algn="l"/>
              </a:tabLst>
            </a:pPr>
            <a:r>
              <a:rPr dirty="0" u="sng" sz="2000" spc="-2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Le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	</a:t>
            </a: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matériel</a:t>
            </a:r>
            <a:r>
              <a:rPr dirty="0" u="none" sz="2000" b="1">
                <a:latin typeface="Garamond"/>
                <a:cs typeface="Garamond"/>
              </a:rPr>
              <a:t>	</a:t>
            </a:r>
            <a:r>
              <a:rPr dirty="0" u="none" sz="2000" spc="-50">
                <a:latin typeface="Garamond"/>
                <a:cs typeface="Garamond"/>
              </a:rPr>
              <a:t>…</a:t>
            </a:r>
            <a:endParaRPr sz="2000">
              <a:latin typeface="Garamond"/>
              <a:cs typeface="Garamond"/>
            </a:endParaRPr>
          </a:p>
          <a:p>
            <a:pPr marL="469900" marR="6985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900" algn="l"/>
                <a:tab pos="1748789" algn="l"/>
              </a:tabLst>
            </a:pPr>
            <a:r>
              <a:rPr dirty="0" u="sng" sz="200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Le</a:t>
            </a:r>
            <a:r>
              <a:rPr dirty="0" u="sng" sz="2000" spc="5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logiciel</a:t>
            </a:r>
            <a:r>
              <a:rPr dirty="0" u="none" sz="2000" b="1">
                <a:latin typeface="Garamond"/>
                <a:cs typeface="Garamond"/>
              </a:rPr>
              <a:t>	</a:t>
            </a:r>
            <a:r>
              <a:rPr dirty="0" u="none" sz="2000">
                <a:latin typeface="Garamond"/>
                <a:cs typeface="Garamond"/>
              </a:rPr>
              <a:t>(Software,</a:t>
            </a:r>
            <a:r>
              <a:rPr dirty="0" u="none" sz="2000" spc="5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en</a:t>
            </a:r>
            <a:r>
              <a:rPr dirty="0" u="none" sz="2000" spc="4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anglais)</a:t>
            </a:r>
            <a:r>
              <a:rPr dirty="0" u="none" sz="2000" spc="4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ou</a:t>
            </a:r>
            <a:r>
              <a:rPr dirty="0" u="none" sz="2000" spc="4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programme,</a:t>
            </a:r>
            <a:r>
              <a:rPr dirty="0" u="none" sz="2000" spc="3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sans</a:t>
            </a:r>
            <a:r>
              <a:rPr dirty="0" u="none" sz="2000" spc="4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lequel</a:t>
            </a:r>
            <a:r>
              <a:rPr dirty="0" u="none" sz="2000" spc="3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l’ordinateur</a:t>
            </a:r>
            <a:r>
              <a:rPr dirty="0" u="none" sz="2000" spc="40">
                <a:latin typeface="Garamond"/>
                <a:cs typeface="Garamond"/>
              </a:rPr>
              <a:t> </a:t>
            </a:r>
            <a:r>
              <a:rPr dirty="0" u="none" sz="2000" spc="-10">
                <a:latin typeface="Garamond"/>
                <a:cs typeface="Garamond"/>
              </a:rPr>
              <a:t>n’est </a:t>
            </a:r>
            <a:r>
              <a:rPr dirty="0" u="none" sz="2000">
                <a:latin typeface="Garamond"/>
                <a:cs typeface="Garamond"/>
              </a:rPr>
              <a:t>qu’un</a:t>
            </a:r>
            <a:r>
              <a:rPr dirty="0" u="none" sz="2000" spc="2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tas</a:t>
            </a:r>
            <a:r>
              <a:rPr dirty="0" u="none" sz="2000" spc="1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de</a:t>
            </a:r>
            <a:r>
              <a:rPr dirty="0" u="none" sz="2000" spc="1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«</a:t>
            </a:r>
            <a:r>
              <a:rPr dirty="0" u="none" sz="2000" spc="2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quincaillerie</a:t>
            </a:r>
            <a:r>
              <a:rPr dirty="0" u="none" sz="2000" spc="2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»</a:t>
            </a:r>
            <a:r>
              <a:rPr dirty="0" u="none" sz="2000" spc="2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;</a:t>
            </a:r>
            <a:r>
              <a:rPr dirty="0" u="none" sz="2000" spc="3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le</a:t>
            </a:r>
            <a:r>
              <a:rPr dirty="0" u="none" sz="2000" spc="3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logiciel</a:t>
            </a:r>
            <a:r>
              <a:rPr dirty="0" u="none" sz="2000" spc="25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représente</a:t>
            </a:r>
            <a:r>
              <a:rPr dirty="0" u="none" sz="2000" spc="3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donc</a:t>
            </a:r>
            <a:r>
              <a:rPr dirty="0" u="none" sz="2000" spc="3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la</a:t>
            </a:r>
            <a:r>
              <a:rPr dirty="0" u="none" sz="2000" spc="3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partie</a:t>
            </a:r>
            <a:r>
              <a:rPr dirty="0" u="none" sz="2000" spc="30">
                <a:latin typeface="Garamond"/>
                <a:cs typeface="Garamond"/>
              </a:rPr>
              <a:t> </a:t>
            </a:r>
            <a:r>
              <a:rPr dirty="0" u="none" sz="2000">
                <a:latin typeface="Garamond"/>
                <a:cs typeface="Garamond"/>
              </a:rPr>
              <a:t>«</a:t>
            </a:r>
            <a:r>
              <a:rPr dirty="0" u="none" sz="2000" spc="30">
                <a:latin typeface="Garamond"/>
                <a:cs typeface="Garamond"/>
              </a:rPr>
              <a:t> </a:t>
            </a:r>
            <a:r>
              <a:rPr dirty="0" u="none" sz="2000" spc="-10">
                <a:latin typeface="Garamond"/>
                <a:cs typeface="Garamond"/>
              </a:rPr>
              <a:t>intellectuelle</a:t>
            </a:r>
            <a:endParaRPr sz="2000">
              <a:latin typeface="Garamond"/>
              <a:cs typeface="Garamond"/>
            </a:endParaRPr>
          </a:p>
          <a:p>
            <a:pPr marL="469900">
              <a:lnSpc>
                <a:spcPct val="100000"/>
              </a:lnSpc>
            </a:pPr>
            <a:r>
              <a:rPr dirty="0" sz="2000">
                <a:latin typeface="Garamond"/>
                <a:cs typeface="Garamond"/>
              </a:rPr>
              <a:t>»</a:t>
            </a:r>
            <a:r>
              <a:rPr dirty="0" sz="2000" spc="-1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de</a:t>
            </a:r>
            <a:r>
              <a:rPr dirty="0" sz="2000" spc="-10">
                <a:latin typeface="Garamond"/>
                <a:cs typeface="Garamond"/>
              </a:rPr>
              <a:t> l’ordinateur.</a:t>
            </a:r>
            <a:endParaRPr sz="2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Garamond"/>
                <a:cs typeface="Garamond"/>
              </a:rPr>
              <a:t>Dans</a:t>
            </a:r>
            <a:r>
              <a:rPr dirty="0" sz="2000" spc="-4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notre</a:t>
            </a:r>
            <a:r>
              <a:rPr dirty="0" sz="2000" spc="-1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cours</a:t>
            </a:r>
            <a:r>
              <a:rPr dirty="0" sz="2000" spc="-3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on</a:t>
            </a:r>
            <a:r>
              <a:rPr dirty="0" sz="2000" spc="-2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s’intéressera</a:t>
            </a:r>
            <a:r>
              <a:rPr dirty="0" sz="2000" spc="-4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plus</a:t>
            </a:r>
            <a:r>
              <a:rPr dirty="0" sz="2000" spc="-3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particulièrement</a:t>
            </a:r>
            <a:r>
              <a:rPr dirty="0" sz="2000" spc="45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à</a:t>
            </a:r>
            <a:r>
              <a:rPr dirty="0" sz="2000" spc="-25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la</a:t>
            </a:r>
            <a:r>
              <a:rPr dirty="0" sz="2000" spc="-10">
                <a:latin typeface="Garamond"/>
                <a:cs typeface="Garamond"/>
              </a:rPr>
              <a:t> </a:t>
            </a:r>
            <a:r>
              <a:rPr dirty="0" sz="2000">
                <a:latin typeface="Garamond"/>
                <a:cs typeface="Garamond"/>
              </a:rPr>
              <a:t>partie</a:t>
            </a:r>
            <a:r>
              <a:rPr dirty="0" sz="2000" spc="-5">
                <a:latin typeface="Garamond"/>
                <a:cs typeface="Garamond"/>
              </a:rPr>
              <a:t> </a:t>
            </a:r>
            <a:r>
              <a:rPr dirty="0" sz="2000" spc="-10">
                <a:latin typeface="Garamond"/>
                <a:cs typeface="Garamond"/>
              </a:rPr>
              <a:t>logiciel.</a:t>
            </a:r>
            <a:endParaRPr sz="2000">
              <a:latin typeface="Garamond"/>
              <a:cs typeface="Garamond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40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750" spc="-25">
                <a:solidFill>
                  <a:srgbClr val="4471C4"/>
                </a:solidFill>
              </a:rPr>
              <a:t>1.2</a:t>
            </a:r>
            <a:endParaRPr sz="67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spc="-25">
                <a:solidFill>
                  <a:srgbClr val="FF4500"/>
                </a:solidFill>
                <a:latin typeface="Cambria"/>
                <a:cs typeface="Cambria"/>
              </a:rPr>
              <a:t>Qu'est-</a:t>
            </a:r>
            <a:r>
              <a:rPr dirty="0" sz="2550">
                <a:solidFill>
                  <a:srgbClr val="FF4500"/>
                </a:solidFill>
                <a:latin typeface="Cambria"/>
                <a:cs typeface="Cambria"/>
              </a:rPr>
              <a:t>ce</a:t>
            </a:r>
            <a:r>
              <a:rPr dirty="0" sz="2550" spc="-35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>
                <a:solidFill>
                  <a:srgbClr val="FF4500"/>
                </a:solidFill>
                <a:latin typeface="Cambria"/>
                <a:cs typeface="Cambria"/>
              </a:rPr>
              <a:t>qu'un</a:t>
            </a:r>
            <a:r>
              <a:rPr dirty="0" sz="2550" spc="-70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 spc="-10">
                <a:solidFill>
                  <a:srgbClr val="FF4500"/>
                </a:solidFill>
                <a:latin typeface="Cambria"/>
                <a:cs typeface="Cambria"/>
              </a:rPr>
              <a:t>système</a:t>
            </a:r>
            <a:r>
              <a:rPr dirty="0" sz="2550" spc="-60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>
                <a:solidFill>
                  <a:srgbClr val="FF4500"/>
                </a:solidFill>
                <a:latin typeface="Cambria"/>
                <a:cs typeface="Cambria"/>
              </a:rPr>
              <a:t>d'exploitation</a:t>
            </a:r>
            <a:r>
              <a:rPr dirty="0" sz="2550" spc="-45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 spc="-50">
                <a:solidFill>
                  <a:srgbClr val="FF4500"/>
                </a:solidFill>
                <a:latin typeface="Cambria"/>
                <a:cs typeface="Cambria"/>
              </a:rPr>
              <a:t>?</a:t>
            </a:r>
            <a:endParaRPr sz="2550">
              <a:latin typeface="Cambria"/>
              <a:cs typeface="Cambria"/>
            </a:endParaRPr>
          </a:p>
          <a:p>
            <a:pPr marL="46355">
              <a:lnSpc>
                <a:spcPct val="100000"/>
              </a:lnSpc>
              <a:spcBef>
                <a:spcPts val="2135"/>
              </a:spcBef>
            </a:pP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Une</a:t>
            </a:r>
            <a:r>
              <a:rPr dirty="0" sz="1200" spc="-15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notion</a:t>
            </a:r>
            <a:r>
              <a:rPr dirty="0" sz="1200" spc="-30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que</a:t>
            </a:r>
            <a:r>
              <a:rPr dirty="0" sz="1200" spc="-10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vous</a:t>
            </a:r>
            <a:r>
              <a:rPr dirty="0" sz="1200" spc="-25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utilisez</a:t>
            </a:r>
            <a:r>
              <a:rPr dirty="0" sz="1200" spc="-30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déjà,</a:t>
            </a:r>
            <a:r>
              <a:rPr dirty="0" sz="1200" spc="-20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sans</a:t>
            </a:r>
            <a:r>
              <a:rPr dirty="0" sz="1200" spc="-10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333E50"/>
                </a:solidFill>
                <a:latin typeface="Calibri"/>
                <a:cs typeface="Calibri"/>
              </a:rPr>
              <a:t>le</a:t>
            </a:r>
            <a:r>
              <a:rPr dirty="0" sz="1200" spc="-25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333E50"/>
                </a:solidFill>
                <a:latin typeface="Calibri"/>
                <a:cs typeface="Calibri"/>
              </a:rPr>
              <a:t>savoir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907539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UNE</a:t>
            </a:r>
            <a:r>
              <a:rPr dirty="0" sz="950" spc="17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D5880F"/>
                </a:solidFill>
                <a:latin typeface="Calibri"/>
                <a:cs typeface="Calibri"/>
              </a:rPr>
              <a:t>IMAGE</a:t>
            </a:r>
            <a:r>
              <a:rPr dirty="0" sz="950" spc="16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D5880F"/>
                </a:solidFill>
                <a:latin typeface="Calibri"/>
                <a:cs typeface="Calibri"/>
              </a:rPr>
              <a:t>POUR</a:t>
            </a:r>
            <a:r>
              <a:rPr dirty="0" sz="950" spc="19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COMMENCER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/>
              <a:t>Comme</a:t>
            </a:r>
            <a:r>
              <a:rPr dirty="0" sz="2100" spc="-20"/>
              <a:t> </a:t>
            </a:r>
            <a:r>
              <a:rPr dirty="0" sz="2100"/>
              <a:t>une</a:t>
            </a:r>
            <a:r>
              <a:rPr dirty="0" sz="2100" spc="-55"/>
              <a:t> </a:t>
            </a:r>
            <a:r>
              <a:rPr dirty="0" sz="2100" spc="-45"/>
              <a:t>Toure</a:t>
            </a:r>
            <a:r>
              <a:rPr dirty="0" sz="2100" spc="-50"/>
              <a:t> </a:t>
            </a:r>
            <a:r>
              <a:rPr dirty="0" sz="2100"/>
              <a:t>de</a:t>
            </a:r>
            <a:r>
              <a:rPr dirty="0" sz="2100" spc="-25"/>
              <a:t> </a:t>
            </a:r>
            <a:r>
              <a:rPr dirty="0" sz="2100"/>
              <a:t>contrôle</a:t>
            </a:r>
            <a:r>
              <a:rPr dirty="0" sz="2100" spc="-25"/>
              <a:t> </a:t>
            </a:r>
            <a:r>
              <a:rPr dirty="0" sz="1500"/>
              <a:t>(ou</a:t>
            </a:r>
            <a:r>
              <a:rPr dirty="0" sz="1500" spc="-20"/>
              <a:t> </a:t>
            </a:r>
            <a:r>
              <a:rPr dirty="0" sz="1500"/>
              <a:t>un</a:t>
            </a:r>
            <a:r>
              <a:rPr dirty="0" sz="1500" spc="-35"/>
              <a:t> </a:t>
            </a:r>
            <a:r>
              <a:rPr dirty="0" sz="1500"/>
              <a:t>policier</a:t>
            </a:r>
            <a:r>
              <a:rPr dirty="0" sz="1500" spc="-25"/>
              <a:t> </a:t>
            </a:r>
            <a:r>
              <a:rPr dirty="0" sz="1500"/>
              <a:t>de</a:t>
            </a:r>
            <a:r>
              <a:rPr dirty="0" sz="1500" spc="-35"/>
              <a:t> </a:t>
            </a:r>
            <a:r>
              <a:rPr dirty="0" sz="1500" spc="-10"/>
              <a:t>circulation</a:t>
            </a:r>
            <a:r>
              <a:rPr dirty="0" sz="1500" spc="-40"/>
              <a:t> </a:t>
            </a:r>
            <a:r>
              <a:rPr dirty="0" sz="1500" spc="-25"/>
              <a:t>)</a:t>
            </a:r>
            <a:r>
              <a:rPr dirty="0" sz="2100" spc="-25"/>
              <a:t>…</a:t>
            </a:r>
            <a:endParaRPr sz="2100"/>
          </a:p>
        </p:txBody>
      </p:sp>
      <p:grpSp>
        <p:nvGrpSpPr>
          <p:cNvPr id="4" name="object 4"/>
          <p:cNvGrpSpPr/>
          <p:nvPr/>
        </p:nvGrpSpPr>
        <p:grpSpPr>
          <a:xfrm>
            <a:off x="548640" y="998110"/>
            <a:ext cx="8181975" cy="2814320"/>
            <a:chOff x="548640" y="998110"/>
            <a:chExt cx="8181975" cy="2814320"/>
          </a:xfrm>
        </p:grpSpPr>
        <p:sp>
          <p:nvSpPr>
            <p:cNvPr id="5" name="object 5"/>
            <p:cNvSpPr/>
            <p:nvPr/>
          </p:nvSpPr>
          <p:spPr>
            <a:xfrm>
              <a:off x="548640" y="1303019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822960" y="0"/>
                  </a:moveTo>
                  <a:lnTo>
                    <a:pt x="774604" y="1396"/>
                  </a:lnTo>
                  <a:lnTo>
                    <a:pt x="726985" y="5536"/>
                  </a:lnTo>
                  <a:lnTo>
                    <a:pt x="680179" y="12340"/>
                  </a:lnTo>
                  <a:lnTo>
                    <a:pt x="634263" y="21733"/>
                  </a:lnTo>
                  <a:lnTo>
                    <a:pt x="589314" y="33637"/>
                  </a:lnTo>
                  <a:lnTo>
                    <a:pt x="545409" y="47974"/>
                  </a:lnTo>
                  <a:lnTo>
                    <a:pt x="502627" y="64668"/>
                  </a:lnTo>
                  <a:lnTo>
                    <a:pt x="461043" y="83642"/>
                  </a:lnTo>
                  <a:lnTo>
                    <a:pt x="420735" y="104818"/>
                  </a:lnTo>
                  <a:lnTo>
                    <a:pt x="381781" y="128118"/>
                  </a:lnTo>
                  <a:lnTo>
                    <a:pt x="344257" y="153467"/>
                  </a:lnTo>
                  <a:lnTo>
                    <a:pt x="308240" y="180787"/>
                  </a:lnTo>
                  <a:lnTo>
                    <a:pt x="273809" y="210000"/>
                  </a:lnTo>
                  <a:lnTo>
                    <a:pt x="241039" y="241030"/>
                  </a:lnTo>
                  <a:lnTo>
                    <a:pt x="210009" y="273799"/>
                  </a:lnTo>
                  <a:lnTo>
                    <a:pt x="180795" y="308230"/>
                  </a:lnTo>
                  <a:lnTo>
                    <a:pt x="153474" y="344246"/>
                  </a:lnTo>
                  <a:lnTo>
                    <a:pt x="128125" y="381769"/>
                  </a:lnTo>
                  <a:lnTo>
                    <a:pt x="104823" y="420724"/>
                  </a:lnTo>
                  <a:lnTo>
                    <a:pt x="83646" y="461032"/>
                  </a:lnTo>
                  <a:lnTo>
                    <a:pt x="64672" y="502616"/>
                  </a:lnTo>
                  <a:lnTo>
                    <a:pt x="47977" y="545399"/>
                  </a:lnTo>
                  <a:lnTo>
                    <a:pt x="33639" y="589304"/>
                  </a:lnTo>
                  <a:lnTo>
                    <a:pt x="21734" y="634255"/>
                  </a:lnTo>
                  <a:lnTo>
                    <a:pt x="12341" y="680172"/>
                  </a:lnTo>
                  <a:lnTo>
                    <a:pt x="5536" y="726980"/>
                  </a:lnTo>
                  <a:lnTo>
                    <a:pt x="1397" y="774602"/>
                  </a:lnTo>
                  <a:lnTo>
                    <a:pt x="0" y="822959"/>
                  </a:lnTo>
                  <a:lnTo>
                    <a:pt x="1397" y="871317"/>
                  </a:lnTo>
                  <a:lnTo>
                    <a:pt x="5536" y="918939"/>
                  </a:lnTo>
                  <a:lnTo>
                    <a:pt x="12341" y="965747"/>
                  </a:lnTo>
                  <a:lnTo>
                    <a:pt x="21734" y="1011664"/>
                  </a:lnTo>
                  <a:lnTo>
                    <a:pt x="33639" y="1056615"/>
                  </a:lnTo>
                  <a:lnTo>
                    <a:pt x="47977" y="1100520"/>
                  </a:lnTo>
                  <a:lnTo>
                    <a:pt x="64672" y="1143303"/>
                  </a:lnTo>
                  <a:lnTo>
                    <a:pt x="83646" y="1184887"/>
                  </a:lnTo>
                  <a:lnTo>
                    <a:pt x="104823" y="1225195"/>
                  </a:lnTo>
                  <a:lnTo>
                    <a:pt x="128125" y="1264150"/>
                  </a:lnTo>
                  <a:lnTo>
                    <a:pt x="153474" y="1301673"/>
                  </a:lnTo>
                  <a:lnTo>
                    <a:pt x="180795" y="1337689"/>
                  </a:lnTo>
                  <a:lnTo>
                    <a:pt x="210009" y="1372120"/>
                  </a:lnTo>
                  <a:lnTo>
                    <a:pt x="241039" y="1404889"/>
                  </a:lnTo>
                  <a:lnTo>
                    <a:pt x="273809" y="1435919"/>
                  </a:lnTo>
                  <a:lnTo>
                    <a:pt x="308240" y="1465132"/>
                  </a:lnTo>
                  <a:lnTo>
                    <a:pt x="344257" y="1492452"/>
                  </a:lnTo>
                  <a:lnTo>
                    <a:pt x="381781" y="1517801"/>
                  </a:lnTo>
                  <a:lnTo>
                    <a:pt x="420735" y="1541101"/>
                  </a:lnTo>
                  <a:lnTo>
                    <a:pt x="461043" y="1562277"/>
                  </a:lnTo>
                  <a:lnTo>
                    <a:pt x="502627" y="1581251"/>
                  </a:lnTo>
                  <a:lnTo>
                    <a:pt x="545409" y="1597945"/>
                  </a:lnTo>
                  <a:lnTo>
                    <a:pt x="589314" y="1612282"/>
                  </a:lnTo>
                  <a:lnTo>
                    <a:pt x="634263" y="1624186"/>
                  </a:lnTo>
                  <a:lnTo>
                    <a:pt x="680179" y="1633579"/>
                  </a:lnTo>
                  <a:lnTo>
                    <a:pt x="726985" y="1640383"/>
                  </a:lnTo>
                  <a:lnTo>
                    <a:pt x="774604" y="1644523"/>
                  </a:lnTo>
                  <a:lnTo>
                    <a:pt x="822960" y="1645919"/>
                  </a:lnTo>
                  <a:lnTo>
                    <a:pt x="871317" y="1644523"/>
                  </a:lnTo>
                  <a:lnTo>
                    <a:pt x="918939" y="1640383"/>
                  </a:lnTo>
                  <a:lnTo>
                    <a:pt x="965747" y="1633579"/>
                  </a:lnTo>
                  <a:lnTo>
                    <a:pt x="1011664" y="1624186"/>
                  </a:lnTo>
                  <a:lnTo>
                    <a:pt x="1056615" y="1612282"/>
                  </a:lnTo>
                  <a:lnTo>
                    <a:pt x="1100520" y="1597945"/>
                  </a:lnTo>
                  <a:lnTo>
                    <a:pt x="1143303" y="1581251"/>
                  </a:lnTo>
                  <a:lnTo>
                    <a:pt x="1184887" y="1562277"/>
                  </a:lnTo>
                  <a:lnTo>
                    <a:pt x="1225195" y="1541101"/>
                  </a:lnTo>
                  <a:lnTo>
                    <a:pt x="1264150" y="1517801"/>
                  </a:lnTo>
                  <a:lnTo>
                    <a:pt x="1301673" y="1492452"/>
                  </a:lnTo>
                  <a:lnTo>
                    <a:pt x="1337689" y="1465132"/>
                  </a:lnTo>
                  <a:lnTo>
                    <a:pt x="1372120" y="1435919"/>
                  </a:lnTo>
                  <a:lnTo>
                    <a:pt x="1404889" y="1404889"/>
                  </a:lnTo>
                  <a:lnTo>
                    <a:pt x="1435919" y="1372120"/>
                  </a:lnTo>
                  <a:lnTo>
                    <a:pt x="1465132" y="1337689"/>
                  </a:lnTo>
                  <a:lnTo>
                    <a:pt x="1492452" y="1301673"/>
                  </a:lnTo>
                  <a:lnTo>
                    <a:pt x="1517801" y="1264150"/>
                  </a:lnTo>
                  <a:lnTo>
                    <a:pt x="1541101" y="1225195"/>
                  </a:lnTo>
                  <a:lnTo>
                    <a:pt x="1562277" y="1184887"/>
                  </a:lnTo>
                  <a:lnTo>
                    <a:pt x="1581251" y="1143303"/>
                  </a:lnTo>
                  <a:lnTo>
                    <a:pt x="1597945" y="1100520"/>
                  </a:lnTo>
                  <a:lnTo>
                    <a:pt x="1612282" y="1056615"/>
                  </a:lnTo>
                  <a:lnTo>
                    <a:pt x="1624186" y="1011664"/>
                  </a:lnTo>
                  <a:lnTo>
                    <a:pt x="1633579" y="965747"/>
                  </a:lnTo>
                  <a:lnTo>
                    <a:pt x="1640383" y="918939"/>
                  </a:lnTo>
                  <a:lnTo>
                    <a:pt x="1644523" y="871317"/>
                  </a:lnTo>
                  <a:lnTo>
                    <a:pt x="1645920" y="822959"/>
                  </a:lnTo>
                  <a:lnTo>
                    <a:pt x="1644523" y="774602"/>
                  </a:lnTo>
                  <a:lnTo>
                    <a:pt x="1640383" y="726980"/>
                  </a:lnTo>
                  <a:lnTo>
                    <a:pt x="1633579" y="680172"/>
                  </a:lnTo>
                  <a:lnTo>
                    <a:pt x="1624186" y="634255"/>
                  </a:lnTo>
                  <a:lnTo>
                    <a:pt x="1612282" y="589304"/>
                  </a:lnTo>
                  <a:lnTo>
                    <a:pt x="1597945" y="545399"/>
                  </a:lnTo>
                  <a:lnTo>
                    <a:pt x="1581251" y="502616"/>
                  </a:lnTo>
                  <a:lnTo>
                    <a:pt x="1562277" y="461032"/>
                  </a:lnTo>
                  <a:lnTo>
                    <a:pt x="1541101" y="420724"/>
                  </a:lnTo>
                  <a:lnTo>
                    <a:pt x="1517801" y="381769"/>
                  </a:lnTo>
                  <a:lnTo>
                    <a:pt x="1492452" y="344246"/>
                  </a:lnTo>
                  <a:lnTo>
                    <a:pt x="1465132" y="308230"/>
                  </a:lnTo>
                  <a:lnTo>
                    <a:pt x="1435919" y="273799"/>
                  </a:lnTo>
                  <a:lnTo>
                    <a:pt x="1404889" y="241030"/>
                  </a:lnTo>
                  <a:lnTo>
                    <a:pt x="1372120" y="210000"/>
                  </a:lnTo>
                  <a:lnTo>
                    <a:pt x="1337689" y="180787"/>
                  </a:lnTo>
                  <a:lnTo>
                    <a:pt x="1301673" y="153467"/>
                  </a:lnTo>
                  <a:lnTo>
                    <a:pt x="1264150" y="128118"/>
                  </a:lnTo>
                  <a:lnTo>
                    <a:pt x="1225195" y="104818"/>
                  </a:lnTo>
                  <a:lnTo>
                    <a:pt x="1184887" y="83642"/>
                  </a:lnTo>
                  <a:lnTo>
                    <a:pt x="1143303" y="64668"/>
                  </a:lnTo>
                  <a:lnTo>
                    <a:pt x="1100520" y="47974"/>
                  </a:lnTo>
                  <a:lnTo>
                    <a:pt x="1056615" y="33637"/>
                  </a:lnTo>
                  <a:lnTo>
                    <a:pt x="1011664" y="21733"/>
                  </a:lnTo>
                  <a:lnTo>
                    <a:pt x="965747" y="12340"/>
                  </a:lnTo>
                  <a:lnTo>
                    <a:pt x="918939" y="5536"/>
                  </a:lnTo>
                  <a:lnTo>
                    <a:pt x="871317" y="1396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2853" y="998110"/>
              <a:ext cx="6357395" cy="281423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468879" y="1042415"/>
              <a:ext cx="6172200" cy="2642870"/>
            </a:xfrm>
            <a:custGeom>
              <a:avLst/>
              <a:gdLst/>
              <a:ahLst/>
              <a:cxnLst/>
              <a:rect l="l" t="t" r="r" b="b"/>
              <a:pathLst>
                <a:path w="6172200" h="2642870">
                  <a:moveTo>
                    <a:pt x="6048375" y="0"/>
                  </a:moveTo>
                  <a:lnTo>
                    <a:pt x="123825" y="0"/>
                  </a:lnTo>
                  <a:lnTo>
                    <a:pt x="75652" y="9739"/>
                  </a:lnTo>
                  <a:lnTo>
                    <a:pt x="36290" y="36290"/>
                  </a:lnTo>
                  <a:lnTo>
                    <a:pt x="9739" y="75652"/>
                  </a:lnTo>
                  <a:lnTo>
                    <a:pt x="0" y="123825"/>
                  </a:lnTo>
                  <a:lnTo>
                    <a:pt x="0" y="2518791"/>
                  </a:lnTo>
                  <a:lnTo>
                    <a:pt x="9739" y="2566963"/>
                  </a:lnTo>
                  <a:lnTo>
                    <a:pt x="36290" y="2606325"/>
                  </a:lnTo>
                  <a:lnTo>
                    <a:pt x="75652" y="2632876"/>
                  </a:lnTo>
                  <a:lnTo>
                    <a:pt x="123825" y="2642616"/>
                  </a:lnTo>
                  <a:lnTo>
                    <a:pt x="6048375" y="2642616"/>
                  </a:lnTo>
                  <a:lnTo>
                    <a:pt x="6096547" y="2632876"/>
                  </a:lnTo>
                  <a:lnTo>
                    <a:pt x="6135909" y="2606325"/>
                  </a:lnTo>
                  <a:lnTo>
                    <a:pt x="6162460" y="2566963"/>
                  </a:lnTo>
                  <a:lnTo>
                    <a:pt x="6172200" y="2518791"/>
                  </a:lnTo>
                  <a:lnTo>
                    <a:pt x="6172200" y="123825"/>
                  </a:lnTo>
                  <a:lnTo>
                    <a:pt x="6162460" y="75652"/>
                  </a:lnTo>
                  <a:lnTo>
                    <a:pt x="6135909" y="36290"/>
                  </a:lnTo>
                  <a:lnTo>
                    <a:pt x="6096547" y="9739"/>
                  </a:lnTo>
                  <a:lnTo>
                    <a:pt x="6048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468879" y="1042415"/>
              <a:ext cx="6172200" cy="2642870"/>
            </a:xfrm>
            <a:custGeom>
              <a:avLst/>
              <a:gdLst/>
              <a:ahLst/>
              <a:cxnLst/>
              <a:rect l="l" t="t" r="r" b="b"/>
              <a:pathLst>
                <a:path w="6172200" h="2642870">
                  <a:moveTo>
                    <a:pt x="0" y="123825"/>
                  </a:moveTo>
                  <a:lnTo>
                    <a:pt x="9739" y="75652"/>
                  </a:lnTo>
                  <a:lnTo>
                    <a:pt x="36290" y="36290"/>
                  </a:lnTo>
                  <a:lnTo>
                    <a:pt x="75652" y="9739"/>
                  </a:lnTo>
                  <a:lnTo>
                    <a:pt x="123825" y="0"/>
                  </a:lnTo>
                  <a:lnTo>
                    <a:pt x="6048375" y="0"/>
                  </a:lnTo>
                  <a:lnTo>
                    <a:pt x="6096547" y="9739"/>
                  </a:lnTo>
                  <a:lnTo>
                    <a:pt x="6135909" y="36290"/>
                  </a:lnTo>
                  <a:lnTo>
                    <a:pt x="6162460" y="75652"/>
                  </a:lnTo>
                  <a:lnTo>
                    <a:pt x="6172200" y="123825"/>
                  </a:lnTo>
                  <a:lnTo>
                    <a:pt x="6172200" y="2518791"/>
                  </a:lnTo>
                  <a:lnTo>
                    <a:pt x="6162460" y="2566963"/>
                  </a:lnTo>
                  <a:lnTo>
                    <a:pt x="6135909" y="2606325"/>
                  </a:lnTo>
                  <a:lnTo>
                    <a:pt x="6096547" y="2632876"/>
                  </a:lnTo>
                  <a:lnTo>
                    <a:pt x="6048375" y="2642616"/>
                  </a:lnTo>
                  <a:lnTo>
                    <a:pt x="123825" y="2642616"/>
                  </a:lnTo>
                  <a:lnTo>
                    <a:pt x="75652" y="2632876"/>
                  </a:lnTo>
                  <a:lnTo>
                    <a:pt x="36290" y="2606325"/>
                  </a:lnTo>
                  <a:lnTo>
                    <a:pt x="9739" y="2566963"/>
                  </a:lnTo>
                  <a:lnTo>
                    <a:pt x="0" y="2518791"/>
                  </a:lnTo>
                  <a:lnTo>
                    <a:pt x="0" y="123825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753995" y="3236467"/>
            <a:ext cx="5314315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00"/>
              </a:spcBef>
            </a:pP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Un</a:t>
            </a:r>
            <a:r>
              <a:rPr dirty="0" sz="1150" spc="1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système</a:t>
            </a:r>
            <a:r>
              <a:rPr dirty="0" sz="1150" spc="1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d'exploitation</a:t>
            </a:r>
            <a:r>
              <a:rPr dirty="0" sz="1150" spc="-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joue</a:t>
            </a:r>
            <a:r>
              <a:rPr dirty="0" sz="1150" spc="2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exactement ce</a:t>
            </a:r>
            <a:r>
              <a:rPr dirty="0" sz="1150" spc="1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rôle</a:t>
            </a:r>
            <a:r>
              <a:rPr dirty="0" sz="1150" spc="3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avec</a:t>
            </a:r>
            <a:r>
              <a:rPr dirty="0" sz="1150" spc="1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le</a:t>
            </a:r>
            <a:r>
              <a:rPr dirty="0" sz="1150" spc="2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matériel</a:t>
            </a:r>
            <a:r>
              <a:rPr dirty="0" sz="1150" spc="1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de</a:t>
            </a:r>
            <a:r>
              <a:rPr dirty="0" sz="1150" spc="2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votre</a:t>
            </a:r>
            <a:r>
              <a:rPr dirty="0" sz="1150" spc="2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appareil</a:t>
            </a:r>
            <a:r>
              <a:rPr dirty="0" sz="1150" spc="2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1F385F"/>
                </a:solidFill>
                <a:latin typeface="Calibri"/>
                <a:cs typeface="Calibri"/>
              </a:rPr>
              <a:t>: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processeur,</a:t>
            </a:r>
            <a:r>
              <a:rPr dirty="0" sz="1150" spc="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mémoire,</a:t>
            </a:r>
            <a:r>
              <a:rPr dirty="0" sz="1150" spc="3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écran,</a:t>
            </a:r>
            <a:r>
              <a:rPr dirty="0" sz="1150" spc="2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F385F"/>
                </a:solidFill>
                <a:latin typeface="Calibri"/>
                <a:cs typeface="Calibri"/>
              </a:rPr>
              <a:t>batterie,</a:t>
            </a:r>
            <a:r>
              <a:rPr dirty="0" sz="1150" spc="1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1F385F"/>
                </a:solidFill>
                <a:latin typeface="Calibri"/>
                <a:cs typeface="Calibri"/>
              </a:rPr>
              <a:t>réseau…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8640" y="3806952"/>
            <a:ext cx="8023859" cy="685800"/>
          </a:xfrm>
          <a:custGeom>
            <a:avLst/>
            <a:gdLst/>
            <a:ahLst/>
            <a:cxnLst/>
            <a:rect l="l" t="t" r="r" b="b"/>
            <a:pathLst>
              <a:path w="8023859" h="685800">
                <a:moveTo>
                  <a:pt x="7941563" y="0"/>
                </a:moveTo>
                <a:lnTo>
                  <a:pt x="82295" y="0"/>
                </a:lnTo>
                <a:lnTo>
                  <a:pt x="50261" y="6465"/>
                </a:lnTo>
                <a:lnTo>
                  <a:pt x="24103" y="24098"/>
                </a:lnTo>
                <a:lnTo>
                  <a:pt x="6466" y="50256"/>
                </a:lnTo>
                <a:lnTo>
                  <a:pt x="0" y="82296"/>
                </a:lnTo>
                <a:lnTo>
                  <a:pt x="0" y="603504"/>
                </a:lnTo>
                <a:lnTo>
                  <a:pt x="6466" y="635538"/>
                </a:lnTo>
                <a:lnTo>
                  <a:pt x="24103" y="661696"/>
                </a:lnTo>
                <a:lnTo>
                  <a:pt x="50261" y="679333"/>
                </a:lnTo>
                <a:lnTo>
                  <a:pt x="82295" y="685800"/>
                </a:lnTo>
                <a:lnTo>
                  <a:pt x="7941563" y="685800"/>
                </a:lnTo>
                <a:lnTo>
                  <a:pt x="7973603" y="679333"/>
                </a:lnTo>
                <a:lnTo>
                  <a:pt x="7999761" y="661696"/>
                </a:lnTo>
                <a:lnTo>
                  <a:pt x="8017394" y="635538"/>
                </a:lnTo>
                <a:lnTo>
                  <a:pt x="8023859" y="603504"/>
                </a:lnTo>
                <a:lnTo>
                  <a:pt x="8023859" y="82296"/>
                </a:lnTo>
                <a:lnTo>
                  <a:pt x="8017394" y="50256"/>
                </a:lnTo>
                <a:lnTo>
                  <a:pt x="7999761" y="24098"/>
                </a:lnTo>
                <a:lnTo>
                  <a:pt x="7973603" y="6465"/>
                </a:lnTo>
                <a:lnTo>
                  <a:pt x="7941563" y="0"/>
                </a:lnTo>
                <a:close/>
              </a:path>
            </a:pathLst>
          </a:custGeom>
          <a:solidFill>
            <a:srgbClr val="1F3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02004" y="4042664"/>
            <a:ext cx="572389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Sans</a:t>
            </a:r>
            <a:r>
              <a:rPr dirty="0" sz="1100" spc="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OS,</a:t>
            </a:r>
            <a:r>
              <a:rPr dirty="0" sz="1100" spc="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chaque</a:t>
            </a:r>
            <a:r>
              <a:rPr dirty="0" sz="1100" spc="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100" spc="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devrait</a:t>
            </a:r>
            <a:r>
              <a:rPr dirty="0" sz="1100" spc="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«</a:t>
            </a:r>
            <a:r>
              <a:rPr dirty="0" sz="1100" spc="6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diriger</a:t>
            </a:r>
            <a:r>
              <a:rPr dirty="0" sz="1100" spc="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l'orchestre</a:t>
            </a:r>
            <a:r>
              <a:rPr dirty="0" sz="1100" spc="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»</a:t>
            </a:r>
            <a:r>
              <a:rPr dirty="0" sz="1100" spc="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elle-même</a:t>
            </a:r>
            <a:r>
              <a:rPr dirty="0" sz="1100" spc="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1100" spc="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impossible</a:t>
            </a:r>
            <a:r>
              <a:rPr dirty="0" sz="1100" spc="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dirty="0" sz="1100" spc="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grande</a:t>
            </a:r>
            <a:r>
              <a:rPr dirty="0" sz="1100" spc="6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échelle.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2311" y="923544"/>
            <a:ext cx="7778750" cy="2464435"/>
            <a:chOff x="972311" y="923544"/>
            <a:chExt cx="7778750" cy="2464435"/>
          </a:xfrm>
        </p:grpSpPr>
        <p:pic>
          <p:nvPicPr>
            <p:cNvPr id="13" name="object 13" descr="r/AdobeIllustrator - Isometric vector airport with the runway. My work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5436" y="923544"/>
              <a:ext cx="6405371" cy="2464307"/>
            </a:xfrm>
            <a:prstGeom prst="rect">
              <a:avLst/>
            </a:prstGeom>
          </p:spPr>
        </p:pic>
        <p:pic>
          <p:nvPicPr>
            <p:cNvPr id="14" name="object 14" descr="r/AdobeIllustrator - Isometric vector airport with the runway. My work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7459" y="1115568"/>
              <a:ext cx="6035040" cy="20939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311" y="1499616"/>
              <a:ext cx="797051" cy="124358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20840" y="0"/>
            <a:ext cx="2423160" cy="2400300"/>
          </a:xfrm>
          <a:custGeom>
            <a:avLst/>
            <a:gdLst/>
            <a:ahLst/>
            <a:cxnLst/>
            <a:rect l="l" t="t" r="r" b="b"/>
            <a:pathLst>
              <a:path w="2423159" h="2400300">
                <a:moveTo>
                  <a:pt x="2423159" y="0"/>
                </a:moveTo>
                <a:lnTo>
                  <a:pt x="142757" y="0"/>
                </a:lnTo>
                <a:lnTo>
                  <a:pt x="139175" y="8018"/>
                </a:lnTo>
                <a:lnTo>
                  <a:pt x="121799" y="49877"/>
                </a:lnTo>
                <a:lnTo>
                  <a:pt x="105504" y="92286"/>
                </a:lnTo>
                <a:lnTo>
                  <a:pt x="90309" y="135227"/>
                </a:lnTo>
                <a:lnTo>
                  <a:pt x="76232" y="178683"/>
                </a:lnTo>
                <a:lnTo>
                  <a:pt x="63288" y="222638"/>
                </a:lnTo>
                <a:lnTo>
                  <a:pt x="51495" y="267073"/>
                </a:lnTo>
                <a:lnTo>
                  <a:pt x="40871" y="311972"/>
                </a:lnTo>
                <a:lnTo>
                  <a:pt x="31432" y="357318"/>
                </a:lnTo>
                <a:lnTo>
                  <a:pt x="23196" y="403093"/>
                </a:lnTo>
                <a:lnTo>
                  <a:pt x="16180" y="449281"/>
                </a:lnTo>
                <a:lnTo>
                  <a:pt x="10401" y="495863"/>
                </a:lnTo>
                <a:lnTo>
                  <a:pt x="5876" y="542824"/>
                </a:lnTo>
                <a:lnTo>
                  <a:pt x="2623" y="590144"/>
                </a:lnTo>
                <a:lnTo>
                  <a:pt x="658" y="637809"/>
                </a:lnTo>
                <a:lnTo>
                  <a:pt x="0" y="685800"/>
                </a:lnTo>
                <a:lnTo>
                  <a:pt x="658" y="733790"/>
                </a:lnTo>
                <a:lnTo>
                  <a:pt x="2623" y="781455"/>
                </a:lnTo>
                <a:lnTo>
                  <a:pt x="5876" y="828775"/>
                </a:lnTo>
                <a:lnTo>
                  <a:pt x="10401" y="875736"/>
                </a:lnTo>
                <a:lnTo>
                  <a:pt x="16180" y="922318"/>
                </a:lnTo>
                <a:lnTo>
                  <a:pt x="23196" y="968506"/>
                </a:lnTo>
                <a:lnTo>
                  <a:pt x="31432" y="1014281"/>
                </a:lnTo>
                <a:lnTo>
                  <a:pt x="40871" y="1059627"/>
                </a:lnTo>
                <a:lnTo>
                  <a:pt x="51495" y="1104526"/>
                </a:lnTo>
                <a:lnTo>
                  <a:pt x="63288" y="1148961"/>
                </a:lnTo>
                <a:lnTo>
                  <a:pt x="76232" y="1192916"/>
                </a:lnTo>
                <a:lnTo>
                  <a:pt x="90309" y="1236372"/>
                </a:lnTo>
                <a:lnTo>
                  <a:pt x="105504" y="1279313"/>
                </a:lnTo>
                <a:lnTo>
                  <a:pt x="121799" y="1321722"/>
                </a:lnTo>
                <a:lnTo>
                  <a:pt x="139175" y="1363581"/>
                </a:lnTo>
                <a:lnTo>
                  <a:pt x="157617" y="1404873"/>
                </a:lnTo>
                <a:lnTo>
                  <a:pt x="177108" y="1445581"/>
                </a:lnTo>
                <a:lnTo>
                  <a:pt x="197629" y="1485688"/>
                </a:lnTo>
                <a:lnTo>
                  <a:pt x="219163" y="1525176"/>
                </a:lnTo>
                <a:lnTo>
                  <a:pt x="241695" y="1564028"/>
                </a:lnTo>
                <a:lnTo>
                  <a:pt x="265205" y="1602228"/>
                </a:lnTo>
                <a:lnTo>
                  <a:pt x="289678" y="1639758"/>
                </a:lnTo>
                <a:lnTo>
                  <a:pt x="315096" y="1676601"/>
                </a:lnTo>
                <a:lnTo>
                  <a:pt x="341441" y="1712739"/>
                </a:lnTo>
                <a:lnTo>
                  <a:pt x="368697" y="1748156"/>
                </a:lnTo>
                <a:lnTo>
                  <a:pt x="396847" y="1782834"/>
                </a:lnTo>
                <a:lnTo>
                  <a:pt x="425873" y="1816756"/>
                </a:lnTo>
                <a:lnTo>
                  <a:pt x="455757" y="1849905"/>
                </a:lnTo>
                <a:lnTo>
                  <a:pt x="486484" y="1882264"/>
                </a:lnTo>
                <a:lnTo>
                  <a:pt x="518035" y="1913815"/>
                </a:lnTo>
                <a:lnTo>
                  <a:pt x="550394" y="1944542"/>
                </a:lnTo>
                <a:lnTo>
                  <a:pt x="583543" y="1974426"/>
                </a:lnTo>
                <a:lnTo>
                  <a:pt x="617465" y="2003452"/>
                </a:lnTo>
                <a:lnTo>
                  <a:pt x="652143" y="2031602"/>
                </a:lnTo>
                <a:lnTo>
                  <a:pt x="687560" y="2058858"/>
                </a:lnTo>
                <a:lnTo>
                  <a:pt x="723698" y="2085203"/>
                </a:lnTo>
                <a:lnTo>
                  <a:pt x="760541" y="2110621"/>
                </a:lnTo>
                <a:lnTo>
                  <a:pt x="798071" y="2135094"/>
                </a:lnTo>
                <a:lnTo>
                  <a:pt x="836271" y="2158604"/>
                </a:lnTo>
                <a:lnTo>
                  <a:pt x="875123" y="2181136"/>
                </a:lnTo>
                <a:lnTo>
                  <a:pt x="914611" y="2202670"/>
                </a:lnTo>
                <a:lnTo>
                  <a:pt x="954718" y="2223191"/>
                </a:lnTo>
                <a:lnTo>
                  <a:pt x="995426" y="2242682"/>
                </a:lnTo>
                <a:lnTo>
                  <a:pt x="1036718" y="2261124"/>
                </a:lnTo>
                <a:lnTo>
                  <a:pt x="1078577" y="2278500"/>
                </a:lnTo>
                <a:lnTo>
                  <a:pt x="1120986" y="2294795"/>
                </a:lnTo>
                <a:lnTo>
                  <a:pt x="1163927" y="2309990"/>
                </a:lnTo>
                <a:lnTo>
                  <a:pt x="1207383" y="2324067"/>
                </a:lnTo>
                <a:lnTo>
                  <a:pt x="1251338" y="2337011"/>
                </a:lnTo>
                <a:lnTo>
                  <a:pt x="1295773" y="2348804"/>
                </a:lnTo>
                <a:lnTo>
                  <a:pt x="1340672" y="2359428"/>
                </a:lnTo>
                <a:lnTo>
                  <a:pt x="1386018" y="2368867"/>
                </a:lnTo>
                <a:lnTo>
                  <a:pt x="1431793" y="2377103"/>
                </a:lnTo>
                <a:lnTo>
                  <a:pt x="1477981" y="2384119"/>
                </a:lnTo>
                <a:lnTo>
                  <a:pt x="1524563" y="2389898"/>
                </a:lnTo>
                <a:lnTo>
                  <a:pt x="1571524" y="2394423"/>
                </a:lnTo>
                <a:lnTo>
                  <a:pt x="1618844" y="2397676"/>
                </a:lnTo>
                <a:lnTo>
                  <a:pt x="1666509" y="2399641"/>
                </a:lnTo>
                <a:lnTo>
                  <a:pt x="1714500" y="2400300"/>
                </a:lnTo>
                <a:lnTo>
                  <a:pt x="1762490" y="2399641"/>
                </a:lnTo>
                <a:lnTo>
                  <a:pt x="1810155" y="2397676"/>
                </a:lnTo>
                <a:lnTo>
                  <a:pt x="1857475" y="2394423"/>
                </a:lnTo>
                <a:lnTo>
                  <a:pt x="1904436" y="2389898"/>
                </a:lnTo>
                <a:lnTo>
                  <a:pt x="1951018" y="2384119"/>
                </a:lnTo>
                <a:lnTo>
                  <a:pt x="1997206" y="2377103"/>
                </a:lnTo>
                <a:lnTo>
                  <a:pt x="2042981" y="2368867"/>
                </a:lnTo>
                <a:lnTo>
                  <a:pt x="2088327" y="2359428"/>
                </a:lnTo>
                <a:lnTo>
                  <a:pt x="2133226" y="2348804"/>
                </a:lnTo>
                <a:lnTo>
                  <a:pt x="2177661" y="2337011"/>
                </a:lnTo>
                <a:lnTo>
                  <a:pt x="2221616" y="2324067"/>
                </a:lnTo>
                <a:lnTo>
                  <a:pt x="2265072" y="2309990"/>
                </a:lnTo>
                <a:lnTo>
                  <a:pt x="2308013" y="2294795"/>
                </a:lnTo>
                <a:lnTo>
                  <a:pt x="2350422" y="2278500"/>
                </a:lnTo>
                <a:lnTo>
                  <a:pt x="2392281" y="2261124"/>
                </a:lnTo>
                <a:lnTo>
                  <a:pt x="2423159" y="2247332"/>
                </a:lnTo>
                <a:lnTo>
                  <a:pt x="2423159" y="0"/>
                </a:lnTo>
                <a:close/>
              </a:path>
            </a:pathLst>
          </a:custGeom>
          <a:solidFill>
            <a:srgbClr val="4471C4">
              <a:alpha val="27842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17219" y="833627"/>
            <a:ext cx="7886700" cy="2870200"/>
            <a:chOff x="617219" y="833627"/>
            <a:chExt cx="7886700" cy="2870200"/>
          </a:xfrm>
        </p:grpSpPr>
        <p:sp>
          <p:nvSpPr>
            <p:cNvPr id="4" name="object 4"/>
            <p:cNvSpPr/>
            <p:nvPr/>
          </p:nvSpPr>
          <p:spPr>
            <a:xfrm>
              <a:off x="617219" y="833627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19" h="617219">
                  <a:moveTo>
                    <a:pt x="308610" y="0"/>
                  </a:moveTo>
                  <a:lnTo>
                    <a:pt x="263004" y="3346"/>
                  </a:lnTo>
                  <a:lnTo>
                    <a:pt x="219477" y="13066"/>
                  </a:lnTo>
                  <a:lnTo>
                    <a:pt x="178505" y="28684"/>
                  </a:lnTo>
                  <a:lnTo>
                    <a:pt x="140565" y="49720"/>
                  </a:lnTo>
                  <a:lnTo>
                    <a:pt x="106136" y="75699"/>
                  </a:lnTo>
                  <a:lnTo>
                    <a:pt x="75694" y="106141"/>
                  </a:lnTo>
                  <a:lnTo>
                    <a:pt x="49717" y="140571"/>
                  </a:lnTo>
                  <a:lnTo>
                    <a:pt x="28682" y="178510"/>
                  </a:lnTo>
                  <a:lnTo>
                    <a:pt x="13065" y="219481"/>
                  </a:lnTo>
                  <a:lnTo>
                    <a:pt x="3345" y="263007"/>
                  </a:lnTo>
                  <a:lnTo>
                    <a:pt x="0" y="308610"/>
                  </a:lnTo>
                  <a:lnTo>
                    <a:pt x="3345" y="354212"/>
                  </a:lnTo>
                  <a:lnTo>
                    <a:pt x="13065" y="397738"/>
                  </a:lnTo>
                  <a:lnTo>
                    <a:pt x="28682" y="438709"/>
                  </a:lnTo>
                  <a:lnTo>
                    <a:pt x="49717" y="476648"/>
                  </a:lnTo>
                  <a:lnTo>
                    <a:pt x="75694" y="511078"/>
                  </a:lnTo>
                  <a:lnTo>
                    <a:pt x="106136" y="541520"/>
                  </a:lnTo>
                  <a:lnTo>
                    <a:pt x="140565" y="567499"/>
                  </a:lnTo>
                  <a:lnTo>
                    <a:pt x="178505" y="588535"/>
                  </a:lnTo>
                  <a:lnTo>
                    <a:pt x="219477" y="604153"/>
                  </a:lnTo>
                  <a:lnTo>
                    <a:pt x="263004" y="613873"/>
                  </a:lnTo>
                  <a:lnTo>
                    <a:pt x="308610" y="617220"/>
                  </a:lnTo>
                  <a:lnTo>
                    <a:pt x="354215" y="613873"/>
                  </a:lnTo>
                  <a:lnTo>
                    <a:pt x="397742" y="604153"/>
                  </a:lnTo>
                  <a:lnTo>
                    <a:pt x="438714" y="588535"/>
                  </a:lnTo>
                  <a:lnTo>
                    <a:pt x="476654" y="567499"/>
                  </a:lnTo>
                  <a:lnTo>
                    <a:pt x="511083" y="541520"/>
                  </a:lnTo>
                  <a:lnTo>
                    <a:pt x="541525" y="511078"/>
                  </a:lnTo>
                  <a:lnTo>
                    <a:pt x="567502" y="476648"/>
                  </a:lnTo>
                  <a:lnTo>
                    <a:pt x="588537" y="438709"/>
                  </a:lnTo>
                  <a:lnTo>
                    <a:pt x="604154" y="397738"/>
                  </a:lnTo>
                  <a:lnTo>
                    <a:pt x="613874" y="354212"/>
                  </a:lnTo>
                  <a:lnTo>
                    <a:pt x="617220" y="308610"/>
                  </a:lnTo>
                  <a:lnTo>
                    <a:pt x="613874" y="263007"/>
                  </a:lnTo>
                  <a:lnTo>
                    <a:pt x="604154" y="219481"/>
                  </a:lnTo>
                  <a:lnTo>
                    <a:pt x="588537" y="178510"/>
                  </a:lnTo>
                  <a:lnTo>
                    <a:pt x="567502" y="140571"/>
                  </a:lnTo>
                  <a:lnTo>
                    <a:pt x="541525" y="106141"/>
                  </a:lnTo>
                  <a:lnTo>
                    <a:pt x="511083" y="75699"/>
                  </a:lnTo>
                  <a:lnTo>
                    <a:pt x="476654" y="49720"/>
                  </a:lnTo>
                  <a:lnTo>
                    <a:pt x="438714" y="28684"/>
                  </a:lnTo>
                  <a:lnTo>
                    <a:pt x="397742" y="13066"/>
                  </a:lnTo>
                  <a:lnTo>
                    <a:pt x="354215" y="3346"/>
                  </a:lnTo>
                  <a:lnTo>
                    <a:pt x="308610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/home/claude/ppt/icons/boo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47" y="981455"/>
              <a:ext cx="321564" cy="3215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7219" y="1440179"/>
              <a:ext cx="7886700" cy="2263140"/>
            </a:xfrm>
            <a:custGeom>
              <a:avLst/>
              <a:gdLst/>
              <a:ahLst/>
              <a:cxnLst/>
              <a:rect l="l" t="t" r="r" b="b"/>
              <a:pathLst>
                <a:path w="7886700" h="2263140">
                  <a:moveTo>
                    <a:pt x="7783830" y="0"/>
                  </a:moveTo>
                  <a:lnTo>
                    <a:pt x="102857" y="0"/>
                  </a:lnTo>
                  <a:lnTo>
                    <a:pt x="62820" y="8090"/>
                  </a:lnTo>
                  <a:lnTo>
                    <a:pt x="30125" y="30146"/>
                  </a:lnTo>
                  <a:lnTo>
                    <a:pt x="8082" y="62847"/>
                  </a:lnTo>
                  <a:lnTo>
                    <a:pt x="0" y="102870"/>
                  </a:lnTo>
                  <a:lnTo>
                    <a:pt x="0" y="2160270"/>
                  </a:lnTo>
                  <a:lnTo>
                    <a:pt x="8082" y="2200292"/>
                  </a:lnTo>
                  <a:lnTo>
                    <a:pt x="30125" y="2232993"/>
                  </a:lnTo>
                  <a:lnTo>
                    <a:pt x="62820" y="2255049"/>
                  </a:lnTo>
                  <a:lnTo>
                    <a:pt x="102857" y="2263140"/>
                  </a:lnTo>
                  <a:lnTo>
                    <a:pt x="7783830" y="2263140"/>
                  </a:lnTo>
                  <a:lnTo>
                    <a:pt x="7823852" y="2255049"/>
                  </a:lnTo>
                  <a:lnTo>
                    <a:pt x="7856553" y="2232993"/>
                  </a:lnTo>
                  <a:lnTo>
                    <a:pt x="7878609" y="2200292"/>
                  </a:lnTo>
                  <a:lnTo>
                    <a:pt x="7886700" y="2160270"/>
                  </a:lnTo>
                  <a:lnTo>
                    <a:pt x="7886700" y="102870"/>
                  </a:lnTo>
                  <a:lnTo>
                    <a:pt x="7878609" y="62847"/>
                  </a:lnTo>
                  <a:lnTo>
                    <a:pt x="7856553" y="30146"/>
                  </a:lnTo>
                  <a:lnTo>
                    <a:pt x="7823852" y="8090"/>
                  </a:lnTo>
                  <a:lnTo>
                    <a:pt x="7783830" y="0"/>
                  </a:lnTo>
                  <a:close/>
                </a:path>
              </a:pathLst>
            </a:custGeom>
            <a:solidFill>
              <a:srgbClr val="FFFFFF">
                <a:alpha val="96076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484757" y="1000505"/>
            <a:ext cx="80454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65" b="1">
                <a:solidFill>
                  <a:srgbClr val="333E50"/>
                </a:solidFill>
                <a:latin typeface="Calibri"/>
                <a:cs typeface="Calibri"/>
              </a:rPr>
              <a:t>DÉFINITION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23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4722" y="2005076"/>
            <a:ext cx="698436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Un</a:t>
            </a:r>
            <a:r>
              <a:rPr dirty="0" sz="1800" spc="-1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F385F"/>
                </a:solidFill>
                <a:latin typeface="Cambria"/>
                <a:cs typeface="Cambria"/>
              </a:rPr>
              <a:t>système</a:t>
            </a:r>
            <a:r>
              <a:rPr dirty="0" sz="1800" spc="-5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F385F"/>
                </a:solidFill>
                <a:latin typeface="Cambria"/>
                <a:cs typeface="Cambria"/>
              </a:rPr>
              <a:t>d'exploitation</a:t>
            </a:r>
            <a:r>
              <a:rPr dirty="0" sz="1800" spc="-1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(OS)</a:t>
            </a:r>
            <a:r>
              <a:rPr dirty="0" sz="1800" spc="-1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est</a:t>
            </a:r>
            <a:r>
              <a:rPr dirty="0" sz="1800" spc="-2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un</a:t>
            </a:r>
            <a:r>
              <a:rPr dirty="0" sz="1800" spc="-1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logiciel</a:t>
            </a:r>
            <a:r>
              <a:rPr dirty="0" sz="1800" spc="-1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qui</a:t>
            </a:r>
            <a:r>
              <a:rPr dirty="0" sz="1800" spc="-2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gère</a:t>
            </a:r>
            <a:r>
              <a:rPr dirty="0" sz="1800" spc="-3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spc="-25" b="1">
                <a:solidFill>
                  <a:srgbClr val="1F385F"/>
                </a:solidFill>
                <a:latin typeface="Cambria"/>
                <a:cs typeface="Cambria"/>
              </a:rPr>
              <a:t>les </a:t>
            </a:r>
            <a:r>
              <a:rPr dirty="0" sz="1800" spc="-10" b="1">
                <a:solidFill>
                  <a:srgbClr val="1F385F"/>
                </a:solidFill>
                <a:latin typeface="Cambria"/>
                <a:cs typeface="Cambria"/>
              </a:rPr>
              <a:t>ressources</a:t>
            </a:r>
            <a:r>
              <a:rPr dirty="0" sz="18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matérielles</a:t>
            </a:r>
            <a:r>
              <a:rPr dirty="0" sz="1800" spc="-6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d'un</a:t>
            </a:r>
            <a:r>
              <a:rPr dirty="0" sz="1800" spc="-2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appareil</a:t>
            </a:r>
            <a:r>
              <a:rPr dirty="0" sz="18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(</a:t>
            </a:r>
            <a:r>
              <a:rPr dirty="0" sz="1800" spc="-2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spc="-25" b="1">
                <a:solidFill>
                  <a:srgbClr val="1F385F"/>
                </a:solidFill>
                <a:latin typeface="Cambria"/>
                <a:cs typeface="Cambria"/>
              </a:rPr>
              <a:t>processeur,</a:t>
            </a:r>
            <a:r>
              <a:rPr dirty="0" sz="18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mémoire,</a:t>
            </a:r>
            <a:r>
              <a:rPr dirty="0" sz="1800" spc="-5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F385F"/>
                </a:solidFill>
                <a:latin typeface="Cambria"/>
                <a:cs typeface="Cambria"/>
              </a:rPr>
              <a:t>écran, batterie,</a:t>
            </a:r>
            <a:r>
              <a:rPr dirty="0" sz="18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stockage</a:t>
            </a:r>
            <a:r>
              <a:rPr dirty="0" sz="1800" spc="-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)</a:t>
            </a:r>
            <a:r>
              <a:rPr dirty="0" sz="1800" spc="-1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et</a:t>
            </a:r>
            <a:r>
              <a:rPr dirty="0" sz="1800" spc="-2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qui</a:t>
            </a:r>
            <a:r>
              <a:rPr dirty="0" sz="1800" spc="-2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permet</a:t>
            </a:r>
            <a:r>
              <a:rPr dirty="0" sz="18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à</a:t>
            </a:r>
            <a:r>
              <a:rPr dirty="0" sz="1800" spc="-10" b="1">
                <a:solidFill>
                  <a:srgbClr val="1F385F"/>
                </a:solidFill>
                <a:latin typeface="Cambria"/>
                <a:cs typeface="Cambria"/>
              </a:rPr>
              <a:t> toutes</a:t>
            </a:r>
            <a:r>
              <a:rPr dirty="0" sz="1800" spc="-3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les</a:t>
            </a:r>
            <a:r>
              <a:rPr dirty="0" sz="1800" spc="-2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applications de</a:t>
            </a:r>
            <a:r>
              <a:rPr dirty="0" sz="1800" spc="-25" b="1">
                <a:solidFill>
                  <a:srgbClr val="1F385F"/>
                </a:solidFill>
                <a:latin typeface="Cambria"/>
                <a:cs typeface="Cambria"/>
              </a:rPr>
              <a:t> les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utiliser</a:t>
            </a:r>
            <a:r>
              <a:rPr dirty="0" sz="18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facilement</a:t>
            </a:r>
            <a:r>
              <a:rPr dirty="0" sz="1800" spc="-3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et</a:t>
            </a:r>
            <a:r>
              <a:rPr dirty="0" sz="1800" spc="-3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F385F"/>
                </a:solidFill>
                <a:latin typeface="Cambria"/>
                <a:cs typeface="Cambria"/>
              </a:rPr>
              <a:t>en</a:t>
            </a:r>
            <a:r>
              <a:rPr dirty="0" sz="1800" spc="-3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F385F"/>
                </a:solidFill>
                <a:latin typeface="Cambria"/>
                <a:cs typeface="Cambria"/>
              </a:rPr>
              <a:t>sécurité.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47341" y="4048455"/>
            <a:ext cx="44354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Retenez</a:t>
            </a:r>
            <a:r>
              <a:rPr dirty="0" sz="1050" spc="-5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:</a:t>
            </a:r>
            <a:r>
              <a:rPr dirty="0" sz="1050" spc="-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un</a:t>
            </a:r>
            <a:r>
              <a:rPr dirty="0" sz="1050" spc="-1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OS</a:t>
            </a:r>
            <a:r>
              <a:rPr dirty="0" sz="1050" spc="-1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gère</a:t>
            </a:r>
            <a:r>
              <a:rPr dirty="0" sz="1050" spc="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les</a:t>
            </a:r>
            <a:r>
              <a:rPr dirty="0" sz="1050" spc="-2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ressources</a:t>
            </a:r>
            <a:r>
              <a:rPr dirty="0" sz="1050" spc="-2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ET</a:t>
            </a:r>
            <a:r>
              <a:rPr dirty="0" sz="1050" spc="1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simplifie</a:t>
            </a:r>
            <a:r>
              <a:rPr dirty="0" sz="1050" spc="-2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leur</a:t>
            </a:r>
            <a:r>
              <a:rPr dirty="0" sz="1050" spc="-1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usage</a:t>
            </a:r>
            <a:r>
              <a:rPr dirty="0" sz="1050" spc="-1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pour</a:t>
            </a:r>
            <a:r>
              <a:rPr dirty="0" sz="1050" spc="-1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333E50"/>
                </a:solidFill>
                <a:latin typeface="Calibri"/>
                <a:cs typeface="Calibri"/>
              </a:rPr>
              <a:t>les</a:t>
            </a:r>
            <a:r>
              <a:rPr dirty="0" sz="1050" spc="-10" b="1" i="1">
                <a:solidFill>
                  <a:srgbClr val="333E50"/>
                </a:solidFill>
                <a:latin typeface="Calibri"/>
                <a:cs typeface="Calibri"/>
              </a:rPr>
              <a:t> applications.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06679" y="70103"/>
            <a:ext cx="5107305" cy="292735"/>
          </a:xfrm>
          <a:prstGeom prst="rect"/>
          <a:solidFill>
            <a:srgbClr val="FF4500"/>
          </a:solidFill>
        </p:spPr>
        <p:txBody>
          <a:bodyPr wrap="square" lIns="0" tIns="133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412" y="362711"/>
            <a:ext cx="4997450" cy="27432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82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5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1050" y="3996927"/>
            <a:ext cx="175021" cy="17859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7256" y="809066"/>
            <a:ext cx="29210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 b="1">
                <a:solidFill>
                  <a:srgbClr val="FF4500"/>
                </a:solidFill>
                <a:latin typeface="Arial"/>
                <a:cs typeface="Arial"/>
              </a:rPr>
              <a:t>RÔLE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9969" y="886714"/>
            <a:ext cx="66008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Un</a:t>
            </a:r>
            <a:r>
              <a:rPr dirty="0" sz="2100" spc="-2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OS</a:t>
            </a:r>
            <a:r>
              <a:rPr dirty="0" sz="2100" spc="-2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transforme</a:t>
            </a:r>
            <a:r>
              <a:rPr dirty="0" sz="2100" spc="-2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le</a:t>
            </a:r>
            <a:r>
              <a:rPr dirty="0" sz="2100" spc="-2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matériel</a:t>
            </a:r>
            <a:r>
              <a:rPr dirty="0" sz="2100" spc="-4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en</a:t>
            </a:r>
            <a:r>
              <a:rPr dirty="0" sz="2100" spc="-1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services</a:t>
            </a:r>
            <a:r>
              <a:rPr dirty="0" sz="2100" spc="-4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1A1A1A"/>
                </a:solidFill>
                <a:latin typeface="Arial"/>
                <a:cs typeface="Arial"/>
              </a:rPr>
              <a:t>utilisables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5216" y="2101595"/>
            <a:ext cx="1572895" cy="711835"/>
          </a:xfrm>
          <a:prstGeom prst="rect">
            <a:avLst/>
          </a:prstGeom>
          <a:solidFill>
            <a:srgbClr val="FF4500"/>
          </a:solidFill>
          <a:ln w="18287">
            <a:solidFill>
              <a:srgbClr val="1A1A1A"/>
            </a:solidFill>
          </a:ln>
        </p:spPr>
        <p:txBody>
          <a:bodyPr wrap="square" lIns="0" tIns="755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95"/>
              </a:spcBef>
            </a:pPr>
            <a:endParaRPr sz="1400">
              <a:latin typeface="Times New Roman"/>
              <a:cs typeface="Times New Roman"/>
            </a:endParaRPr>
          </a:p>
          <a:p>
            <a:pPr marL="134620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APPLICATIONS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6583" y="1607819"/>
            <a:ext cx="4371340" cy="500380"/>
          </a:xfrm>
          <a:prstGeom prst="rect">
            <a:avLst/>
          </a:prstGeom>
          <a:solidFill>
            <a:srgbClr val="F7F7F5"/>
          </a:solidFill>
          <a:ln w="18288">
            <a:solidFill>
              <a:srgbClr val="1A1A1A"/>
            </a:solidFill>
          </a:ln>
        </p:spPr>
        <p:txBody>
          <a:bodyPr wrap="square" lIns="0" tIns="160020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1260"/>
              </a:spcBef>
            </a:pPr>
            <a:r>
              <a:rPr dirty="0" sz="1400" spc="-50" b="1">
                <a:solidFill>
                  <a:srgbClr val="1A1A1A"/>
                </a:solidFill>
                <a:latin typeface="Arial"/>
                <a:cs typeface="Arial"/>
              </a:rPr>
              <a:t>Services</a:t>
            </a:r>
            <a:r>
              <a:rPr dirty="0" sz="1400" spc="-16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A1A1A"/>
                </a:solidFill>
                <a:latin typeface="Arial"/>
                <a:cs typeface="Arial"/>
              </a:rPr>
              <a:t>:</a:t>
            </a:r>
            <a:r>
              <a:rPr dirty="0" sz="1400" spc="-11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00" spc="-65" b="1">
                <a:solidFill>
                  <a:srgbClr val="1A1A1A"/>
                </a:solidFill>
                <a:latin typeface="Arial"/>
                <a:cs typeface="Arial"/>
              </a:rPr>
              <a:t>fichiers</a:t>
            </a:r>
            <a:r>
              <a:rPr dirty="0" sz="1400" spc="-16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A1A1A"/>
                </a:solidFill>
                <a:latin typeface="Arial"/>
                <a:cs typeface="Arial"/>
              </a:rPr>
              <a:t>·</a:t>
            </a:r>
            <a:r>
              <a:rPr dirty="0" sz="1400" spc="-9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00" spc="-60" b="1">
                <a:solidFill>
                  <a:srgbClr val="1A1A1A"/>
                </a:solidFill>
                <a:latin typeface="Arial"/>
                <a:cs typeface="Arial"/>
              </a:rPr>
              <a:t>réseau</a:t>
            </a:r>
            <a:r>
              <a:rPr dirty="0" sz="1400" spc="-7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A1A1A"/>
                </a:solidFill>
                <a:latin typeface="Arial"/>
                <a:cs typeface="Arial"/>
              </a:rPr>
              <a:t>·</a:t>
            </a:r>
            <a:r>
              <a:rPr dirty="0" sz="1400" spc="-16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A1A1A"/>
                </a:solidFill>
                <a:latin typeface="Arial"/>
                <a:cs typeface="Arial"/>
              </a:rPr>
              <a:t>sécurité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86583" y="2206751"/>
            <a:ext cx="4371340" cy="501650"/>
          </a:xfrm>
          <a:prstGeom prst="rect">
            <a:avLst/>
          </a:prstGeom>
          <a:solidFill>
            <a:srgbClr val="FFE8DF"/>
          </a:solidFill>
          <a:ln w="18288">
            <a:solidFill>
              <a:srgbClr val="1A1A1A"/>
            </a:solidFill>
          </a:ln>
        </p:spPr>
        <p:txBody>
          <a:bodyPr wrap="square" lIns="0" tIns="161925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1275"/>
              </a:spcBef>
            </a:pPr>
            <a:r>
              <a:rPr dirty="0" sz="1300" spc="-60" b="1">
                <a:solidFill>
                  <a:srgbClr val="1A1A1A"/>
                </a:solidFill>
                <a:latin typeface="Arial"/>
                <a:cs typeface="Arial"/>
              </a:rPr>
              <a:t>Gestionnaire</a:t>
            </a:r>
            <a:r>
              <a:rPr dirty="0" sz="1300" spc="2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A1A1A"/>
                </a:solidFill>
                <a:latin typeface="Arial"/>
                <a:cs typeface="Arial"/>
              </a:rPr>
              <a:t>de </a:t>
            </a:r>
            <a:r>
              <a:rPr dirty="0" sz="1300" spc="-85" b="1">
                <a:solidFill>
                  <a:srgbClr val="1A1A1A"/>
                </a:solidFill>
                <a:latin typeface="Arial"/>
                <a:cs typeface="Arial"/>
              </a:rPr>
              <a:t>ressources</a:t>
            </a:r>
            <a:r>
              <a:rPr dirty="0" sz="1300" spc="-18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A1A1A"/>
                </a:solidFill>
                <a:latin typeface="Arial"/>
                <a:cs typeface="Arial"/>
              </a:rPr>
              <a:t>:</a:t>
            </a:r>
            <a:r>
              <a:rPr dirty="0" sz="1300" spc="-12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300" spc="-55" b="1">
                <a:solidFill>
                  <a:srgbClr val="1A1A1A"/>
                </a:solidFill>
                <a:latin typeface="Arial"/>
                <a:cs typeface="Arial"/>
              </a:rPr>
              <a:t>CPU</a:t>
            </a:r>
            <a:r>
              <a:rPr dirty="0" sz="1300" spc="1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A1A1A"/>
                </a:solidFill>
                <a:latin typeface="Arial"/>
                <a:cs typeface="Arial"/>
              </a:rPr>
              <a:t>·</a:t>
            </a:r>
            <a:r>
              <a:rPr dirty="0" sz="1300" spc="-12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300" spc="-40" b="1">
                <a:solidFill>
                  <a:srgbClr val="1A1A1A"/>
                </a:solidFill>
                <a:latin typeface="Arial"/>
                <a:cs typeface="Arial"/>
              </a:rPr>
              <a:t>mémoire</a:t>
            </a:r>
            <a:r>
              <a:rPr dirty="0" sz="1300" spc="-2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A1A1A"/>
                </a:solidFill>
                <a:latin typeface="Arial"/>
                <a:cs typeface="Arial"/>
              </a:rPr>
              <a:t>·</a:t>
            </a:r>
            <a:r>
              <a:rPr dirty="0" sz="1300" spc="-12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300" spc="-45" b="1">
                <a:solidFill>
                  <a:srgbClr val="1A1A1A"/>
                </a:solidFill>
                <a:latin typeface="Arial"/>
                <a:cs typeface="Arial"/>
              </a:rPr>
              <a:t>E/</a:t>
            </a:r>
            <a:r>
              <a:rPr dirty="0" sz="1300" spc="-19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300" spc="-50" b="1">
                <a:solidFill>
                  <a:srgbClr val="1A1A1A"/>
                </a:solidFill>
                <a:latin typeface="Arial"/>
                <a:cs typeface="Arial"/>
              </a:rPr>
              <a:t>S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86583" y="2807207"/>
            <a:ext cx="4371340" cy="500380"/>
          </a:xfrm>
          <a:prstGeom prst="rect">
            <a:avLst/>
          </a:prstGeom>
          <a:solidFill>
            <a:srgbClr val="F7F7F5"/>
          </a:solidFill>
          <a:ln w="18288">
            <a:solidFill>
              <a:srgbClr val="1A1A1A"/>
            </a:solidFill>
          </a:ln>
        </p:spPr>
        <p:txBody>
          <a:bodyPr wrap="square" lIns="0" tIns="160655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1265"/>
              </a:spcBef>
            </a:pPr>
            <a:r>
              <a:rPr dirty="0" sz="1400" spc="-55" b="1">
                <a:solidFill>
                  <a:srgbClr val="1A1A1A"/>
                </a:solidFill>
                <a:latin typeface="Arial"/>
                <a:cs typeface="Arial"/>
              </a:rPr>
              <a:t>Abstraction</a:t>
            </a:r>
            <a:r>
              <a:rPr dirty="0" sz="1400" spc="-7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A1A1A"/>
                </a:solidFill>
                <a:latin typeface="Arial"/>
                <a:cs typeface="Arial"/>
              </a:rPr>
              <a:t>:</a:t>
            </a:r>
            <a:r>
              <a:rPr dirty="0" sz="1400" spc="-8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00" spc="-95" b="1">
                <a:solidFill>
                  <a:srgbClr val="1A1A1A"/>
                </a:solidFill>
                <a:latin typeface="Arial"/>
                <a:cs typeface="Arial"/>
              </a:rPr>
              <a:t>processus</a:t>
            </a:r>
            <a:r>
              <a:rPr dirty="0" sz="1400" spc="-18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A1A1A"/>
                </a:solidFill>
                <a:latin typeface="Arial"/>
                <a:cs typeface="Arial"/>
              </a:rPr>
              <a:t>·</a:t>
            </a:r>
            <a:r>
              <a:rPr dirty="0" sz="1400" spc="-70" b="1">
                <a:solidFill>
                  <a:srgbClr val="1A1A1A"/>
                </a:solidFill>
                <a:latin typeface="Arial"/>
                <a:cs typeface="Arial"/>
              </a:rPr>
              <a:t> fichiers</a:t>
            </a:r>
            <a:r>
              <a:rPr dirty="0" sz="1400" spc="-13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A1A1A"/>
                </a:solidFill>
                <a:latin typeface="Arial"/>
                <a:cs typeface="Arial"/>
              </a:rPr>
              <a:t>·</a:t>
            </a:r>
            <a:r>
              <a:rPr dirty="0" sz="1400" spc="-15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A1A1A"/>
                </a:solidFill>
                <a:latin typeface="Arial"/>
                <a:cs typeface="Arial"/>
              </a:rPr>
              <a:t>sockets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86016" y="2101595"/>
            <a:ext cx="1572895" cy="711835"/>
          </a:xfrm>
          <a:custGeom>
            <a:avLst/>
            <a:gdLst/>
            <a:ahLst/>
            <a:cxnLst/>
            <a:rect l="l" t="t" r="r" b="b"/>
            <a:pathLst>
              <a:path w="1572895" h="711835">
                <a:moveTo>
                  <a:pt x="0" y="711707"/>
                </a:moveTo>
                <a:lnTo>
                  <a:pt x="1572768" y="711707"/>
                </a:lnTo>
                <a:lnTo>
                  <a:pt x="1572768" y="0"/>
                </a:lnTo>
                <a:lnTo>
                  <a:pt x="0" y="0"/>
                </a:lnTo>
                <a:lnTo>
                  <a:pt x="0" y="711707"/>
                </a:lnTo>
                <a:close/>
              </a:path>
            </a:pathLst>
          </a:custGeom>
          <a:ln w="18288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976871" y="2092451"/>
            <a:ext cx="1591310" cy="730250"/>
          </a:xfrm>
          <a:prstGeom prst="rect">
            <a:avLst/>
          </a:prstGeom>
          <a:solidFill>
            <a:srgbClr val="1A1A1A"/>
          </a:solidFill>
        </p:spPr>
        <p:txBody>
          <a:bodyPr wrap="square" lIns="0" tIns="844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65"/>
              </a:spcBef>
            </a:pPr>
            <a:endParaRPr sz="1400">
              <a:latin typeface="Times New Roman"/>
              <a:cs typeface="Times New Roman"/>
            </a:endParaRPr>
          </a:p>
          <a:p>
            <a:pPr marL="350520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MATÉRIEL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5216" y="3851147"/>
            <a:ext cx="7973695" cy="13970"/>
          </a:xfrm>
          <a:custGeom>
            <a:avLst/>
            <a:gdLst/>
            <a:ahLst/>
            <a:cxnLst/>
            <a:rect l="l" t="t" r="r" b="b"/>
            <a:pathLst>
              <a:path w="7973695" h="13970">
                <a:moveTo>
                  <a:pt x="7973568" y="0"/>
                </a:moveTo>
                <a:lnTo>
                  <a:pt x="0" y="0"/>
                </a:lnTo>
                <a:lnTo>
                  <a:pt x="0" y="13715"/>
                </a:lnTo>
                <a:lnTo>
                  <a:pt x="7973568" y="13715"/>
                </a:lnTo>
                <a:lnTo>
                  <a:pt x="7973568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73125" y="3999382"/>
            <a:ext cx="591185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333333"/>
                </a:solidFill>
                <a:latin typeface="Arial"/>
                <a:cs typeface="Arial"/>
              </a:rPr>
              <a:t>L’OS</a:t>
            </a:r>
            <a:r>
              <a:rPr dirty="0" sz="14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33333"/>
                </a:solidFill>
                <a:latin typeface="Arial"/>
                <a:cs typeface="Arial"/>
              </a:rPr>
              <a:t>masque</a:t>
            </a:r>
            <a:r>
              <a:rPr dirty="0" sz="1400" spc="-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33333"/>
                </a:solidFill>
                <a:latin typeface="Arial"/>
                <a:cs typeface="Arial"/>
              </a:rPr>
              <a:t>la</a:t>
            </a:r>
            <a:r>
              <a:rPr dirty="0" sz="1400" spc="-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Arial"/>
                <a:cs typeface="Arial"/>
              </a:rPr>
              <a:t>complexité</a:t>
            </a:r>
            <a:r>
              <a:rPr dirty="0" sz="1400" spc="-5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33333"/>
                </a:solidFill>
                <a:latin typeface="Arial"/>
                <a:cs typeface="Arial"/>
              </a:rPr>
              <a:t>des</a:t>
            </a:r>
            <a:r>
              <a:rPr dirty="0" sz="1400" spc="-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Arial"/>
                <a:cs typeface="Arial"/>
              </a:rPr>
              <a:t>circuits</a:t>
            </a:r>
            <a:r>
              <a:rPr dirty="0" sz="1400" spc="-7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33333"/>
                </a:solidFill>
                <a:latin typeface="Arial"/>
                <a:cs typeface="Arial"/>
              </a:rPr>
              <a:t>et arbitre</a:t>
            </a:r>
            <a:r>
              <a:rPr dirty="0" sz="1400" spc="-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33333"/>
                </a:solidFill>
                <a:latin typeface="Arial"/>
                <a:cs typeface="Arial"/>
              </a:rPr>
              <a:t>les </a:t>
            </a:r>
            <a:r>
              <a:rPr dirty="0" sz="1400" spc="-10">
                <a:solidFill>
                  <a:srgbClr val="333333"/>
                </a:solidFill>
                <a:latin typeface="Arial"/>
                <a:cs typeface="Arial"/>
              </a:rPr>
              <a:t>ressources</a:t>
            </a:r>
            <a:r>
              <a:rPr dirty="0" sz="1400" spc="-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Arial"/>
                <a:cs typeface="Arial"/>
              </a:rPr>
              <a:t>partagées.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679" y="70103"/>
            <a:ext cx="5520055" cy="567055"/>
            <a:chOff x="106679" y="70103"/>
            <a:chExt cx="5520055" cy="567055"/>
          </a:xfrm>
        </p:grpSpPr>
        <p:sp>
          <p:nvSpPr>
            <p:cNvPr id="14" name="object 14"/>
            <p:cNvSpPr/>
            <p:nvPr/>
          </p:nvSpPr>
          <p:spPr>
            <a:xfrm>
              <a:off x="106679" y="70103"/>
              <a:ext cx="5107305" cy="274320"/>
            </a:xfrm>
            <a:custGeom>
              <a:avLst/>
              <a:gdLst/>
              <a:ahLst/>
              <a:cxnLst/>
              <a:rect l="l" t="t" r="r" b="b"/>
              <a:pathLst>
                <a:path w="5107305" h="274320">
                  <a:moveTo>
                    <a:pt x="5106924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5106924" y="274320"/>
                  </a:lnTo>
                  <a:lnTo>
                    <a:pt x="5106924" y="0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9411" y="362712"/>
              <a:ext cx="4997450" cy="274320"/>
            </a:xfrm>
            <a:custGeom>
              <a:avLst/>
              <a:gdLst/>
              <a:ahLst/>
              <a:cxnLst/>
              <a:rect l="l" t="t" r="r" b="b"/>
              <a:pathLst>
                <a:path w="4997450" h="274320">
                  <a:moveTo>
                    <a:pt x="499719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4997196" y="274320"/>
                  </a:lnTo>
                  <a:lnTo>
                    <a:pt x="4997196" y="0"/>
                  </a:lnTo>
                  <a:close/>
                </a:path>
              </a:pathLst>
            </a:custGeom>
            <a:solidFill>
              <a:srgbClr val="F49E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86029" y="-3454"/>
            <a:ext cx="4674870" cy="600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4035" marR="5080" indent="-521970">
              <a:lnSpc>
                <a:spcPct val="1348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710689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70" b="1">
                <a:solidFill>
                  <a:srgbClr val="D5880F"/>
                </a:solidFill>
                <a:latin typeface="Calibri"/>
                <a:cs typeface="Calibri"/>
              </a:rPr>
              <a:t>VISUALISER</a:t>
            </a:r>
            <a:r>
              <a:rPr dirty="0" sz="950" spc="23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D5880F"/>
                </a:solidFill>
                <a:latin typeface="Calibri"/>
                <a:cs typeface="Calibri"/>
              </a:rPr>
              <a:t>LE</a:t>
            </a:r>
            <a:r>
              <a:rPr dirty="0" sz="950" spc="22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D5880F"/>
                </a:solidFill>
                <a:latin typeface="Calibri"/>
                <a:cs typeface="Calibri"/>
              </a:rPr>
              <a:t>RÔLE</a:t>
            </a:r>
            <a:r>
              <a:rPr dirty="0" sz="950" spc="21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D5880F"/>
                </a:solidFill>
                <a:latin typeface="Calibri"/>
                <a:cs typeface="Calibri"/>
              </a:rPr>
              <a:t>DE</a:t>
            </a:r>
            <a:r>
              <a:rPr dirty="0" sz="950" spc="204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40" b="1">
                <a:solidFill>
                  <a:srgbClr val="D5880F"/>
                </a:solidFill>
                <a:latin typeface="Calibri"/>
                <a:cs typeface="Calibri"/>
              </a:rPr>
              <a:t>L'OS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L'OS,</a:t>
            </a:r>
            <a:r>
              <a:rPr dirty="0" spc="-65"/>
              <a:t> </a:t>
            </a:r>
            <a:r>
              <a:rPr dirty="0"/>
              <a:t>un</a:t>
            </a:r>
            <a:r>
              <a:rPr dirty="0" spc="-75"/>
              <a:t> </a:t>
            </a:r>
            <a:r>
              <a:rPr dirty="0" spc="-10"/>
              <a:t>intermédiaire</a:t>
            </a:r>
            <a:r>
              <a:rPr dirty="0" spc="-75"/>
              <a:t> </a:t>
            </a:r>
            <a:r>
              <a:rPr dirty="0"/>
              <a:t>à</a:t>
            </a:r>
            <a:r>
              <a:rPr dirty="0" spc="-80"/>
              <a:t> </a:t>
            </a:r>
            <a:r>
              <a:rPr dirty="0"/>
              <a:t>quatre</a:t>
            </a:r>
            <a:r>
              <a:rPr dirty="0" spc="-50"/>
              <a:t> </a:t>
            </a:r>
            <a:r>
              <a:rPr dirty="0" spc="-10"/>
              <a:t>niveaux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78636" y="1165860"/>
            <a:ext cx="6583680" cy="652780"/>
            <a:chOff x="1278636" y="1165860"/>
            <a:chExt cx="6583680" cy="652780"/>
          </a:xfrm>
        </p:grpSpPr>
        <p:sp>
          <p:nvSpPr>
            <p:cNvPr id="5" name="object 5"/>
            <p:cNvSpPr/>
            <p:nvPr/>
          </p:nvSpPr>
          <p:spPr>
            <a:xfrm>
              <a:off x="1278636" y="1165860"/>
              <a:ext cx="6583680" cy="652780"/>
            </a:xfrm>
            <a:custGeom>
              <a:avLst/>
              <a:gdLst/>
              <a:ahLst/>
              <a:cxnLst/>
              <a:rect l="l" t="t" r="r" b="b"/>
              <a:pathLst>
                <a:path w="6583680" h="652780">
                  <a:moveTo>
                    <a:pt x="6514973" y="0"/>
                  </a:moveTo>
                  <a:lnTo>
                    <a:pt x="68706" y="0"/>
                  </a:lnTo>
                  <a:lnTo>
                    <a:pt x="41951" y="5395"/>
                  </a:lnTo>
                  <a:lnTo>
                    <a:pt x="20113" y="20113"/>
                  </a:lnTo>
                  <a:lnTo>
                    <a:pt x="5395" y="41951"/>
                  </a:lnTo>
                  <a:lnTo>
                    <a:pt x="0" y="68706"/>
                  </a:lnTo>
                  <a:lnTo>
                    <a:pt x="0" y="583564"/>
                  </a:lnTo>
                  <a:lnTo>
                    <a:pt x="5395" y="610320"/>
                  </a:lnTo>
                  <a:lnTo>
                    <a:pt x="20113" y="632158"/>
                  </a:lnTo>
                  <a:lnTo>
                    <a:pt x="41951" y="646876"/>
                  </a:lnTo>
                  <a:lnTo>
                    <a:pt x="68706" y="652272"/>
                  </a:lnTo>
                  <a:lnTo>
                    <a:pt x="6514973" y="652272"/>
                  </a:lnTo>
                  <a:lnTo>
                    <a:pt x="6541728" y="646876"/>
                  </a:lnTo>
                  <a:lnTo>
                    <a:pt x="6563566" y="632158"/>
                  </a:lnTo>
                  <a:lnTo>
                    <a:pt x="6578284" y="610320"/>
                  </a:lnTo>
                  <a:lnTo>
                    <a:pt x="6583680" y="583564"/>
                  </a:lnTo>
                  <a:lnTo>
                    <a:pt x="6583680" y="68706"/>
                  </a:lnTo>
                  <a:lnTo>
                    <a:pt x="6578284" y="41951"/>
                  </a:lnTo>
                  <a:lnTo>
                    <a:pt x="6563566" y="20113"/>
                  </a:lnTo>
                  <a:lnTo>
                    <a:pt x="6541728" y="5395"/>
                  </a:lnTo>
                  <a:lnTo>
                    <a:pt x="6514973" y="0"/>
                  </a:lnTo>
                  <a:close/>
                </a:path>
              </a:pathLst>
            </a:custGeom>
            <a:solidFill>
              <a:srgbClr val="E8E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02080" y="1299972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3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3" y="384048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7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/home/claude/ppt/icons/people_1F3860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5044" y="1391412"/>
              <a:ext cx="199644" cy="19964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009648" y="1251965"/>
            <a:ext cx="690245" cy="461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A2233"/>
                </a:solidFill>
                <a:latin typeface="Calibri"/>
                <a:cs typeface="Calibri"/>
              </a:rPr>
              <a:t>Utilisateur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000" spc="-20" b="1" i="1">
                <a:solidFill>
                  <a:srgbClr val="6B7180"/>
                </a:solidFill>
                <a:latin typeface="Calibri"/>
                <a:cs typeface="Calibri"/>
              </a:rPr>
              <a:t>Vous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78636" y="1941576"/>
            <a:ext cx="6583680" cy="650875"/>
          </a:xfrm>
          <a:custGeom>
            <a:avLst/>
            <a:gdLst/>
            <a:ahLst/>
            <a:cxnLst/>
            <a:rect l="l" t="t" r="r" b="b"/>
            <a:pathLst>
              <a:path w="6583680" h="650875">
                <a:moveTo>
                  <a:pt x="6515227" y="0"/>
                </a:moveTo>
                <a:lnTo>
                  <a:pt x="68452" y="0"/>
                </a:lnTo>
                <a:lnTo>
                  <a:pt x="41790" y="5373"/>
                </a:lnTo>
                <a:lnTo>
                  <a:pt x="20034" y="20034"/>
                </a:lnTo>
                <a:lnTo>
                  <a:pt x="5373" y="41790"/>
                </a:lnTo>
                <a:lnTo>
                  <a:pt x="0" y="68453"/>
                </a:lnTo>
                <a:lnTo>
                  <a:pt x="0" y="582294"/>
                </a:lnTo>
                <a:lnTo>
                  <a:pt x="5373" y="608957"/>
                </a:lnTo>
                <a:lnTo>
                  <a:pt x="20034" y="630713"/>
                </a:lnTo>
                <a:lnTo>
                  <a:pt x="41790" y="645374"/>
                </a:lnTo>
                <a:lnTo>
                  <a:pt x="68452" y="650748"/>
                </a:lnTo>
                <a:lnTo>
                  <a:pt x="6515227" y="650748"/>
                </a:lnTo>
                <a:lnTo>
                  <a:pt x="6541889" y="645374"/>
                </a:lnTo>
                <a:lnTo>
                  <a:pt x="6563645" y="630713"/>
                </a:lnTo>
                <a:lnTo>
                  <a:pt x="6578306" y="608957"/>
                </a:lnTo>
                <a:lnTo>
                  <a:pt x="6583680" y="582294"/>
                </a:lnTo>
                <a:lnTo>
                  <a:pt x="6583680" y="68453"/>
                </a:lnTo>
                <a:lnTo>
                  <a:pt x="6578306" y="41790"/>
                </a:lnTo>
                <a:lnTo>
                  <a:pt x="6563645" y="20034"/>
                </a:lnTo>
                <a:lnTo>
                  <a:pt x="6541889" y="5373"/>
                </a:lnTo>
                <a:lnTo>
                  <a:pt x="6515227" y="0"/>
                </a:lnTo>
                <a:close/>
              </a:path>
            </a:pathLst>
          </a:custGeom>
          <a:solidFill>
            <a:srgbClr val="CFDF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481321" y="1736216"/>
            <a:ext cx="1816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D5880F"/>
                </a:solidFill>
                <a:latin typeface="Calibri"/>
                <a:cs typeface="Calibri"/>
              </a:rPr>
              <a:t>↕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02080" y="2074164"/>
            <a:ext cx="384175" cy="384175"/>
            <a:chOff x="1402080" y="2074164"/>
            <a:chExt cx="384175" cy="384175"/>
          </a:xfrm>
        </p:grpSpPr>
        <p:sp>
          <p:nvSpPr>
            <p:cNvPr id="12" name="object 12"/>
            <p:cNvSpPr/>
            <p:nvPr/>
          </p:nvSpPr>
          <p:spPr>
            <a:xfrm>
              <a:off x="1402080" y="207416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3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3" y="384048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7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/home/claude/ppt/icons/apps_1F3860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5044" y="2167128"/>
              <a:ext cx="199644" cy="19964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009648" y="2027047"/>
            <a:ext cx="1478915" cy="461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A2233"/>
                </a:solidFill>
                <a:latin typeface="Calibri"/>
                <a:cs typeface="Calibri"/>
              </a:rPr>
              <a:t>Applications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000" b="1" i="1">
                <a:solidFill>
                  <a:srgbClr val="6B7180"/>
                </a:solidFill>
                <a:latin typeface="Calibri"/>
                <a:cs typeface="Calibri"/>
              </a:rPr>
              <a:t>Instagram,</a:t>
            </a:r>
            <a:r>
              <a:rPr dirty="0" sz="1000" spc="-35" b="1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 b="1" i="1">
                <a:solidFill>
                  <a:srgbClr val="6B7180"/>
                </a:solidFill>
                <a:latin typeface="Calibri"/>
                <a:cs typeface="Calibri"/>
              </a:rPr>
              <a:t>Chrome,</a:t>
            </a:r>
            <a:r>
              <a:rPr dirty="0" sz="1000" spc="-35" b="1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 spc="-20" b="1" i="1">
                <a:solidFill>
                  <a:srgbClr val="6B7180"/>
                </a:solidFill>
                <a:latin typeface="Calibri"/>
                <a:cs typeface="Calibri"/>
              </a:rPr>
              <a:t>Word…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78636" y="2715767"/>
            <a:ext cx="6583680" cy="652780"/>
            <a:chOff x="1278636" y="2715767"/>
            <a:chExt cx="6583680" cy="652780"/>
          </a:xfrm>
        </p:grpSpPr>
        <p:sp>
          <p:nvSpPr>
            <p:cNvPr id="16" name="object 16"/>
            <p:cNvSpPr/>
            <p:nvPr/>
          </p:nvSpPr>
          <p:spPr>
            <a:xfrm>
              <a:off x="1278636" y="2715767"/>
              <a:ext cx="6583680" cy="652780"/>
            </a:xfrm>
            <a:custGeom>
              <a:avLst/>
              <a:gdLst/>
              <a:ahLst/>
              <a:cxnLst/>
              <a:rect l="l" t="t" r="r" b="b"/>
              <a:pathLst>
                <a:path w="6583680" h="652779">
                  <a:moveTo>
                    <a:pt x="6514973" y="0"/>
                  </a:moveTo>
                  <a:lnTo>
                    <a:pt x="68706" y="0"/>
                  </a:lnTo>
                  <a:lnTo>
                    <a:pt x="41951" y="5395"/>
                  </a:lnTo>
                  <a:lnTo>
                    <a:pt x="20113" y="20113"/>
                  </a:lnTo>
                  <a:lnTo>
                    <a:pt x="5395" y="41951"/>
                  </a:lnTo>
                  <a:lnTo>
                    <a:pt x="0" y="68706"/>
                  </a:lnTo>
                  <a:lnTo>
                    <a:pt x="0" y="583564"/>
                  </a:lnTo>
                  <a:lnTo>
                    <a:pt x="5395" y="610320"/>
                  </a:lnTo>
                  <a:lnTo>
                    <a:pt x="20113" y="632158"/>
                  </a:lnTo>
                  <a:lnTo>
                    <a:pt x="41951" y="646876"/>
                  </a:lnTo>
                  <a:lnTo>
                    <a:pt x="68706" y="652271"/>
                  </a:lnTo>
                  <a:lnTo>
                    <a:pt x="6514973" y="652271"/>
                  </a:lnTo>
                  <a:lnTo>
                    <a:pt x="6541728" y="646876"/>
                  </a:lnTo>
                  <a:lnTo>
                    <a:pt x="6563566" y="632158"/>
                  </a:lnTo>
                  <a:lnTo>
                    <a:pt x="6578284" y="610320"/>
                  </a:lnTo>
                  <a:lnTo>
                    <a:pt x="6583680" y="583564"/>
                  </a:lnTo>
                  <a:lnTo>
                    <a:pt x="6583680" y="68706"/>
                  </a:lnTo>
                  <a:lnTo>
                    <a:pt x="6578284" y="41951"/>
                  </a:lnTo>
                  <a:lnTo>
                    <a:pt x="6563566" y="20113"/>
                  </a:lnTo>
                  <a:lnTo>
                    <a:pt x="6541728" y="5395"/>
                  </a:lnTo>
                  <a:lnTo>
                    <a:pt x="651497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02080" y="284987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3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3" y="384047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7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/home/claude/ppt/icons/settings_4472C4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5044" y="2941319"/>
              <a:ext cx="199644" cy="19964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009648" y="2802127"/>
            <a:ext cx="1600835" cy="461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Système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d'exploitation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000" b="1" i="1">
                <a:solidFill>
                  <a:srgbClr val="DCE6F7"/>
                </a:solidFill>
                <a:latin typeface="Calibri"/>
                <a:cs typeface="Calibri"/>
              </a:rPr>
              <a:t>Gère</a:t>
            </a:r>
            <a:r>
              <a:rPr dirty="0" sz="1000" spc="-20" b="1" i="1">
                <a:solidFill>
                  <a:srgbClr val="DCE6F7"/>
                </a:solidFill>
                <a:latin typeface="Calibri"/>
                <a:cs typeface="Calibri"/>
              </a:rPr>
              <a:t> </a:t>
            </a:r>
            <a:r>
              <a:rPr dirty="0" sz="1000" b="1" i="1">
                <a:solidFill>
                  <a:srgbClr val="DCE6F7"/>
                </a:solidFill>
                <a:latin typeface="Calibri"/>
                <a:cs typeface="Calibri"/>
              </a:rPr>
              <a:t>et</a:t>
            </a:r>
            <a:r>
              <a:rPr dirty="0" sz="1000" spc="-5" b="1" i="1">
                <a:solidFill>
                  <a:srgbClr val="DCE6F7"/>
                </a:solidFill>
                <a:latin typeface="Calibri"/>
                <a:cs typeface="Calibri"/>
              </a:rPr>
              <a:t> </a:t>
            </a:r>
            <a:r>
              <a:rPr dirty="0" sz="1000" spc="-10" b="1" i="1">
                <a:solidFill>
                  <a:srgbClr val="DCE6F7"/>
                </a:solidFill>
                <a:latin typeface="Calibri"/>
                <a:cs typeface="Calibri"/>
              </a:rPr>
              <a:t>protège</a:t>
            </a:r>
            <a:r>
              <a:rPr dirty="0" sz="1000" spc="-25" b="1" i="1">
                <a:solidFill>
                  <a:srgbClr val="DCE6F7"/>
                </a:solidFill>
                <a:latin typeface="Calibri"/>
                <a:cs typeface="Calibri"/>
              </a:rPr>
              <a:t> </a:t>
            </a:r>
            <a:r>
              <a:rPr dirty="0" sz="1000" b="1" i="1">
                <a:solidFill>
                  <a:srgbClr val="DCE6F7"/>
                </a:solidFill>
                <a:latin typeface="Calibri"/>
                <a:cs typeface="Calibri"/>
              </a:rPr>
              <a:t>les</a:t>
            </a:r>
            <a:r>
              <a:rPr dirty="0" sz="1000" spc="10" b="1" i="1">
                <a:solidFill>
                  <a:srgbClr val="DCE6F7"/>
                </a:solidFill>
                <a:latin typeface="Calibri"/>
                <a:cs typeface="Calibri"/>
              </a:rPr>
              <a:t> </a:t>
            </a:r>
            <a:r>
              <a:rPr dirty="0" sz="1000" spc="-10" b="1" i="1">
                <a:solidFill>
                  <a:srgbClr val="DCE6F7"/>
                </a:solidFill>
                <a:latin typeface="Calibri"/>
                <a:cs typeface="Calibri"/>
              </a:rPr>
              <a:t>ressources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78636" y="3491484"/>
            <a:ext cx="6583680" cy="650875"/>
            <a:chOff x="1278636" y="3491484"/>
            <a:chExt cx="6583680" cy="650875"/>
          </a:xfrm>
        </p:grpSpPr>
        <p:sp>
          <p:nvSpPr>
            <p:cNvPr id="21" name="object 21"/>
            <p:cNvSpPr/>
            <p:nvPr/>
          </p:nvSpPr>
          <p:spPr>
            <a:xfrm>
              <a:off x="1278636" y="3491484"/>
              <a:ext cx="6583680" cy="650875"/>
            </a:xfrm>
            <a:custGeom>
              <a:avLst/>
              <a:gdLst/>
              <a:ahLst/>
              <a:cxnLst/>
              <a:rect l="l" t="t" r="r" b="b"/>
              <a:pathLst>
                <a:path w="6583680" h="650875">
                  <a:moveTo>
                    <a:pt x="6515227" y="0"/>
                  </a:moveTo>
                  <a:lnTo>
                    <a:pt x="68452" y="0"/>
                  </a:lnTo>
                  <a:lnTo>
                    <a:pt x="41790" y="5373"/>
                  </a:lnTo>
                  <a:lnTo>
                    <a:pt x="20034" y="20034"/>
                  </a:lnTo>
                  <a:lnTo>
                    <a:pt x="5373" y="41790"/>
                  </a:lnTo>
                  <a:lnTo>
                    <a:pt x="0" y="68453"/>
                  </a:lnTo>
                  <a:lnTo>
                    <a:pt x="0" y="582244"/>
                  </a:lnTo>
                  <a:lnTo>
                    <a:pt x="5373" y="608908"/>
                  </a:lnTo>
                  <a:lnTo>
                    <a:pt x="20034" y="630683"/>
                  </a:lnTo>
                  <a:lnTo>
                    <a:pt x="41790" y="645364"/>
                  </a:lnTo>
                  <a:lnTo>
                    <a:pt x="68452" y="650748"/>
                  </a:lnTo>
                  <a:lnTo>
                    <a:pt x="6515227" y="650748"/>
                  </a:lnTo>
                  <a:lnTo>
                    <a:pt x="6541889" y="645364"/>
                  </a:lnTo>
                  <a:lnTo>
                    <a:pt x="6563645" y="630683"/>
                  </a:lnTo>
                  <a:lnTo>
                    <a:pt x="6578306" y="608908"/>
                  </a:lnTo>
                  <a:lnTo>
                    <a:pt x="6583680" y="582244"/>
                  </a:lnTo>
                  <a:lnTo>
                    <a:pt x="6583680" y="68453"/>
                  </a:lnTo>
                  <a:lnTo>
                    <a:pt x="6578306" y="41790"/>
                  </a:lnTo>
                  <a:lnTo>
                    <a:pt x="6563645" y="20034"/>
                  </a:lnTo>
                  <a:lnTo>
                    <a:pt x="6541889" y="5373"/>
                  </a:lnTo>
                  <a:lnTo>
                    <a:pt x="6515227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402080" y="3624072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3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3"/>
                  </a:lnTo>
                  <a:lnTo>
                    <a:pt x="5071" y="236055"/>
                  </a:lnTo>
                  <a:lnTo>
                    <a:pt x="19518" y="276473"/>
                  </a:lnTo>
                  <a:lnTo>
                    <a:pt x="42187" y="312127"/>
                  </a:lnTo>
                  <a:lnTo>
                    <a:pt x="71925" y="341864"/>
                  </a:lnTo>
                  <a:lnTo>
                    <a:pt x="107579" y="364531"/>
                  </a:lnTo>
                  <a:lnTo>
                    <a:pt x="147996" y="378976"/>
                  </a:lnTo>
                  <a:lnTo>
                    <a:pt x="192023" y="384047"/>
                  </a:lnTo>
                  <a:lnTo>
                    <a:pt x="236051" y="378976"/>
                  </a:lnTo>
                  <a:lnTo>
                    <a:pt x="276468" y="364531"/>
                  </a:lnTo>
                  <a:lnTo>
                    <a:pt x="312122" y="341864"/>
                  </a:lnTo>
                  <a:lnTo>
                    <a:pt x="341860" y="312127"/>
                  </a:lnTo>
                  <a:lnTo>
                    <a:pt x="364529" y="276473"/>
                  </a:lnTo>
                  <a:lnTo>
                    <a:pt x="378976" y="236055"/>
                  </a:lnTo>
                  <a:lnTo>
                    <a:pt x="384047" y="192023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/home/claude/ppt/icons/chip_1F3860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5044" y="3717036"/>
              <a:ext cx="199644" cy="19964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009648" y="3577590"/>
            <a:ext cx="3244850" cy="461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Matériel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000" b="1" i="1">
                <a:solidFill>
                  <a:srgbClr val="DCE6F7"/>
                </a:solidFill>
                <a:latin typeface="Calibri"/>
                <a:cs typeface="Calibri"/>
              </a:rPr>
              <a:t>Processeur,</a:t>
            </a:r>
            <a:r>
              <a:rPr dirty="0" sz="1000" spc="-30" b="1" i="1">
                <a:solidFill>
                  <a:srgbClr val="DCE6F7"/>
                </a:solidFill>
                <a:latin typeface="Calibri"/>
                <a:cs typeface="Calibri"/>
              </a:rPr>
              <a:t> </a:t>
            </a:r>
            <a:r>
              <a:rPr dirty="0" sz="1000" b="1" i="1">
                <a:solidFill>
                  <a:srgbClr val="DCE6F7"/>
                </a:solidFill>
                <a:latin typeface="Calibri"/>
                <a:cs typeface="Calibri"/>
              </a:rPr>
              <a:t>mémoire,</a:t>
            </a:r>
            <a:r>
              <a:rPr dirty="0" sz="1000" spc="-50" b="1" i="1">
                <a:solidFill>
                  <a:srgbClr val="DCE6F7"/>
                </a:solidFill>
                <a:latin typeface="Calibri"/>
                <a:cs typeface="Calibri"/>
              </a:rPr>
              <a:t> </a:t>
            </a:r>
            <a:r>
              <a:rPr dirty="0" sz="1000" b="1" i="1">
                <a:solidFill>
                  <a:srgbClr val="DCE6F7"/>
                </a:solidFill>
                <a:latin typeface="Calibri"/>
                <a:cs typeface="Calibri"/>
              </a:rPr>
              <a:t>écran,</a:t>
            </a:r>
            <a:r>
              <a:rPr dirty="0" sz="1000" spc="-20" b="1" i="1">
                <a:solidFill>
                  <a:srgbClr val="DCE6F7"/>
                </a:solidFill>
                <a:latin typeface="Calibri"/>
                <a:cs typeface="Calibri"/>
              </a:rPr>
              <a:t> </a:t>
            </a:r>
            <a:r>
              <a:rPr dirty="0" sz="1000" b="1" i="1">
                <a:solidFill>
                  <a:srgbClr val="DCE6F7"/>
                </a:solidFill>
                <a:latin typeface="Calibri"/>
                <a:cs typeface="Calibri"/>
              </a:rPr>
              <a:t>disque,</a:t>
            </a:r>
            <a:r>
              <a:rPr dirty="0" sz="1000" spc="-45" b="1" i="1">
                <a:solidFill>
                  <a:srgbClr val="DCE6F7"/>
                </a:solidFill>
                <a:latin typeface="Calibri"/>
                <a:cs typeface="Calibri"/>
              </a:rPr>
              <a:t> </a:t>
            </a:r>
            <a:r>
              <a:rPr dirty="0" sz="1000" b="1" i="1">
                <a:solidFill>
                  <a:srgbClr val="DCE6F7"/>
                </a:solidFill>
                <a:latin typeface="Calibri"/>
                <a:cs typeface="Calibri"/>
              </a:rPr>
              <a:t>périphériques,</a:t>
            </a:r>
            <a:r>
              <a:rPr dirty="0" sz="1000" spc="-35" b="1" i="1">
                <a:solidFill>
                  <a:srgbClr val="DCE6F7"/>
                </a:solidFill>
                <a:latin typeface="Calibri"/>
                <a:cs typeface="Calibri"/>
              </a:rPr>
              <a:t> </a:t>
            </a:r>
            <a:r>
              <a:rPr dirty="0" sz="1000" spc="-10" b="1" i="1">
                <a:solidFill>
                  <a:srgbClr val="DCE6F7"/>
                </a:solidFill>
                <a:latin typeface="Calibri"/>
                <a:cs typeface="Calibri"/>
              </a:rPr>
              <a:t>batterie…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25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348486" y="4421530"/>
            <a:ext cx="641667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 i="1">
                <a:solidFill>
                  <a:srgbClr val="333E50"/>
                </a:solidFill>
                <a:latin typeface="Calibri"/>
                <a:cs typeface="Calibri"/>
              </a:rPr>
              <a:t>L'OS</a:t>
            </a:r>
            <a:r>
              <a:rPr dirty="0" sz="1100" spc="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333E50"/>
                </a:solidFill>
                <a:latin typeface="Calibri"/>
                <a:cs typeface="Calibri"/>
              </a:rPr>
              <a:t>ne </a:t>
            </a:r>
            <a:r>
              <a:rPr dirty="0" sz="1100" spc="-10" b="1" i="1">
                <a:solidFill>
                  <a:srgbClr val="333E50"/>
                </a:solidFill>
                <a:latin typeface="Calibri"/>
                <a:cs typeface="Calibri"/>
              </a:rPr>
              <a:t>communique</a:t>
            </a:r>
            <a:r>
              <a:rPr dirty="0" sz="1100" spc="-3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333E50"/>
                </a:solidFill>
                <a:latin typeface="Calibri"/>
                <a:cs typeface="Calibri"/>
              </a:rPr>
              <a:t>qu'avec</a:t>
            </a:r>
            <a:r>
              <a:rPr dirty="0" sz="1100" spc="-2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333E50"/>
                </a:solidFill>
                <a:latin typeface="Calibri"/>
                <a:cs typeface="Calibri"/>
              </a:rPr>
              <a:t>les</a:t>
            </a:r>
            <a:r>
              <a:rPr dirty="0" sz="1100" spc="1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333E50"/>
                </a:solidFill>
                <a:latin typeface="Calibri"/>
                <a:cs typeface="Calibri"/>
              </a:rPr>
              <a:t>couches</a:t>
            </a:r>
            <a:r>
              <a:rPr dirty="0" sz="1100" spc="-2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333E50"/>
                </a:solidFill>
                <a:latin typeface="Calibri"/>
                <a:cs typeface="Calibri"/>
              </a:rPr>
              <a:t>voisines</a:t>
            </a:r>
            <a:r>
              <a:rPr dirty="0" sz="1100" spc="-1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333E50"/>
                </a:solidFill>
                <a:latin typeface="Calibri"/>
                <a:cs typeface="Calibri"/>
              </a:rPr>
              <a:t>:</a:t>
            </a:r>
            <a:r>
              <a:rPr dirty="0" sz="1100" spc="1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333E50"/>
                </a:solidFill>
                <a:latin typeface="Calibri"/>
                <a:cs typeface="Calibri"/>
              </a:rPr>
              <a:t>les</a:t>
            </a:r>
            <a:r>
              <a:rPr dirty="0" sz="1100" spc="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333E50"/>
                </a:solidFill>
                <a:latin typeface="Calibri"/>
                <a:cs typeface="Calibri"/>
              </a:rPr>
              <a:t>applications</a:t>
            </a:r>
            <a:r>
              <a:rPr dirty="0" sz="1100" spc="-2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333E50"/>
                </a:solidFill>
                <a:latin typeface="Calibri"/>
                <a:cs typeface="Calibri"/>
              </a:rPr>
              <a:t>n'accèdent</a:t>
            </a:r>
            <a:r>
              <a:rPr dirty="0" sz="1100" spc="-2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333E50"/>
                </a:solidFill>
                <a:latin typeface="Calibri"/>
                <a:cs typeface="Calibri"/>
              </a:rPr>
              <a:t>jamais</a:t>
            </a:r>
            <a:r>
              <a:rPr dirty="0" sz="1100" spc="-2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333E50"/>
                </a:solidFill>
                <a:latin typeface="Calibri"/>
                <a:cs typeface="Calibri"/>
              </a:rPr>
              <a:t>directement</a:t>
            </a:r>
            <a:r>
              <a:rPr dirty="0" sz="1100" spc="-2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333E50"/>
                </a:solidFill>
                <a:latin typeface="Calibri"/>
                <a:cs typeface="Calibri"/>
              </a:rPr>
              <a:t>au </a:t>
            </a:r>
            <a:r>
              <a:rPr dirty="0" sz="1100" spc="-10" b="1" i="1">
                <a:solidFill>
                  <a:srgbClr val="333E50"/>
                </a:solidFill>
                <a:latin typeface="Calibri"/>
                <a:cs typeface="Calibri"/>
              </a:rPr>
              <a:t>matériel.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81321" y="2497277"/>
            <a:ext cx="1816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D5880F"/>
                </a:solidFill>
                <a:latin typeface="Calibri"/>
                <a:cs typeface="Calibri"/>
              </a:rPr>
              <a:t>↕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81321" y="3289808"/>
            <a:ext cx="1816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D5880F"/>
                </a:solidFill>
                <a:latin typeface="Calibri"/>
                <a:cs typeface="Calibri"/>
              </a:rPr>
              <a:t>↕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7256" y="809066"/>
            <a:ext cx="27622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0" b="0">
                <a:solidFill>
                  <a:srgbClr val="FF4500"/>
                </a:solidFill>
                <a:latin typeface="Malgun Gothic Semilight"/>
                <a:cs typeface="Malgun Gothic Semilight"/>
              </a:rPr>
              <a:t>RÔLE</a:t>
            </a:r>
            <a:endParaRPr sz="800">
              <a:latin typeface="Malgun Gothic Semilight"/>
              <a:cs typeface="Malgun Gothic Semi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85216" y="2863595"/>
            <a:ext cx="7973695" cy="2158365"/>
            <a:chOff x="585216" y="2863595"/>
            <a:chExt cx="7973695" cy="2158365"/>
          </a:xfrm>
        </p:grpSpPr>
        <p:sp>
          <p:nvSpPr>
            <p:cNvPr id="4" name="object 4"/>
            <p:cNvSpPr/>
            <p:nvPr/>
          </p:nvSpPr>
          <p:spPr>
            <a:xfrm>
              <a:off x="585216" y="3858767"/>
              <a:ext cx="7973695" cy="15240"/>
            </a:xfrm>
            <a:custGeom>
              <a:avLst/>
              <a:gdLst/>
              <a:ahLst/>
              <a:cxnLst/>
              <a:rect l="l" t="t" r="r" b="b"/>
              <a:pathLst>
                <a:path w="7973695" h="15239">
                  <a:moveTo>
                    <a:pt x="7973568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7973568" y="15239"/>
                  </a:lnTo>
                  <a:lnTo>
                    <a:pt x="7973568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4163" y="2863595"/>
              <a:ext cx="4722876" cy="1065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6223" y="3150133"/>
              <a:ext cx="2240279" cy="6476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3600" y="2903219"/>
              <a:ext cx="4608576" cy="9525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3312" y="3828287"/>
              <a:ext cx="6236208" cy="119329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94532" y="4087367"/>
              <a:ext cx="1953767" cy="8610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2748" y="3867911"/>
              <a:ext cx="6121908" cy="1080516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6679" y="70103"/>
            <a:ext cx="5520055" cy="567055"/>
            <a:chOff x="106679" y="70103"/>
            <a:chExt cx="5520055" cy="567055"/>
          </a:xfrm>
        </p:grpSpPr>
        <p:sp>
          <p:nvSpPr>
            <p:cNvPr id="12" name="object 12"/>
            <p:cNvSpPr/>
            <p:nvPr/>
          </p:nvSpPr>
          <p:spPr>
            <a:xfrm>
              <a:off x="106679" y="70103"/>
              <a:ext cx="5107305" cy="274320"/>
            </a:xfrm>
            <a:custGeom>
              <a:avLst/>
              <a:gdLst/>
              <a:ahLst/>
              <a:cxnLst/>
              <a:rect l="l" t="t" r="r" b="b"/>
              <a:pathLst>
                <a:path w="5107305" h="274320">
                  <a:moveTo>
                    <a:pt x="5106924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5106924" y="274320"/>
                  </a:lnTo>
                  <a:lnTo>
                    <a:pt x="5106924" y="0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9411" y="362712"/>
              <a:ext cx="4997450" cy="274320"/>
            </a:xfrm>
            <a:custGeom>
              <a:avLst/>
              <a:gdLst/>
              <a:ahLst/>
              <a:cxnLst/>
              <a:rect l="l" t="t" r="r" b="b"/>
              <a:pathLst>
                <a:path w="4997450" h="274320">
                  <a:moveTo>
                    <a:pt x="499719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4997196" y="274320"/>
                  </a:lnTo>
                  <a:lnTo>
                    <a:pt x="4997196" y="0"/>
                  </a:lnTo>
                  <a:close/>
                </a:path>
              </a:pathLst>
            </a:custGeom>
            <a:solidFill>
              <a:srgbClr val="F49E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6029" y="-3454"/>
            <a:ext cx="4674870" cy="600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4035" marR="5080" indent="-521970">
              <a:lnSpc>
                <a:spcPct val="1348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54882" y="4200245"/>
            <a:ext cx="14389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90415" y="3508247"/>
            <a:ext cx="2707005" cy="488315"/>
            <a:chOff x="4090415" y="3508247"/>
            <a:chExt cx="2707005" cy="48831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90415" y="3528059"/>
              <a:ext cx="2706624" cy="38248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23103" y="3508247"/>
              <a:ext cx="838187" cy="48769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49851" y="3567683"/>
              <a:ext cx="2592324" cy="26974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515359" y="3191230"/>
            <a:ext cx="2198370" cy="62611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dirty="0" sz="20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400" spc="-10">
                <a:solidFill>
                  <a:srgbClr val="001F5F"/>
                </a:solidFill>
                <a:latin typeface="Calibri"/>
                <a:cs typeface="Calibri"/>
              </a:rPr>
              <a:t>Drivers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12720" y="1763267"/>
            <a:ext cx="3426460" cy="1202690"/>
            <a:chOff x="2712720" y="1763267"/>
            <a:chExt cx="3426460" cy="1202690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12720" y="1763267"/>
              <a:ext cx="3425952" cy="120243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82924" y="2151913"/>
              <a:ext cx="1687068" cy="6476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72156" y="1802891"/>
              <a:ext cx="3311652" cy="108966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782695" y="2239721"/>
            <a:ext cx="12934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56460" y="4642103"/>
            <a:ext cx="1295400" cy="2882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4945">
              <a:lnSpc>
                <a:spcPts val="2105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Processor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48684" y="4642103"/>
            <a:ext cx="1297305" cy="2882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48920">
              <a:lnSpc>
                <a:spcPts val="2105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Memory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40908" y="4646676"/>
            <a:ext cx="1297305" cy="2882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88595">
              <a:lnSpc>
                <a:spcPts val="21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Interfaces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829811" y="1463039"/>
            <a:ext cx="1183005" cy="307975"/>
            <a:chOff x="3829811" y="1463039"/>
            <a:chExt cx="1183005" cy="307975"/>
          </a:xfrm>
        </p:grpSpPr>
        <p:sp>
          <p:nvSpPr>
            <p:cNvPr id="30" name="object 30"/>
            <p:cNvSpPr/>
            <p:nvPr/>
          </p:nvSpPr>
          <p:spPr>
            <a:xfrm>
              <a:off x="3835907" y="1476755"/>
              <a:ext cx="353695" cy="288290"/>
            </a:xfrm>
            <a:custGeom>
              <a:avLst/>
              <a:gdLst/>
              <a:ahLst/>
              <a:cxnLst/>
              <a:rect l="l" t="t" r="r" b="b"/>
              <a:pathLst>
                <a:path w="353695" h="288289">
                  <a:moveTo>
                    <a:pt x="176783" y="0"/>
                  </a:moveTo>
                  <a:lnTo>
                    <a:pt x="120895" y="7345"/>
                  </a:lnTo>
                  <a:lnTo>
                    <a:pt x="72365" y="27797"/>
                  </a:lnTo>
                  <a:lnTo>
                    <a:pt x="34101" y="58978"/>
                  </a:lnTo>
                  <a:lnTo>
                    <a:pt x="9009" y="98511"/>
                  </a:lnTo>
                  <a:lnTo>
                    <a:pt x="0" y="144018"/>
                  </a:lnTo>
                  <a:lnTo>
                    <a:pt x="9009" y="189524"/>
                  </a:lnTo>
                  <a:lnTo>
                    <a:pt x="34101" y="229057"/>
                  </a:lnTo>
                  <a:lnTo>
                    <a:pt x="72365" y="260238"/>
                  </a:lnTo>
                  <a:lnTo>
                    <a:pt x="120895" y="280690"/>
                  </a:lnTo>
                  <a:lnTo>
                    <a:pt x="176783" y="288036"/>
                  </a:lnTo>
                  <a:lnTo>
                    <a:pt x="232672" y="280690"/>
                  </a:lnTo>
                  <a:lnTo>
                    <a:pt x="281202" y="260238"/>
                  </a:lnTo>
                  <a:lnTo>
                    <a:pt x="319466" y="229057"/>
                  </a:lnTo>
                  <a:lnTo>
                    <a:pt x="344558" y="189524"/>
                  </a:lnTo>
                  <a:lnTo>
                    <a:pt x="353567" y="144018"/>
                  </a:lnTo>
                  <a:lnTo>
                    <a:pt x="344558" y="98511"/>
                  </a:lnTo>
                  <a:lnTo>
                    <a:pt x="319466" y="58978"/>
                  </a:lnTo>
                  <a:lnTo>
                    <a:pt x="281202" y="27797"/>
                  </a:lnTo>
                  <a:lnTo>
                    <a:pt x="232672" y="7345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937634" y="1562734"/>
              <a:ext cx="150495" cy="30480"/>
            </a:xfrm>
            <a:custGeom>
              <a:avLst/>
              <a:gdLst/>
              <a:ahLst/>
              <a:cxnLst/>
              <a:rect l="l" t="t" r="r" b="b"/>
              <a:pathLst>
                <a:path w="150495" h="30480">
                  <a:moveTo>
                    <a:pt x="28575" y="0"/>
                  </a:moveTo>
                  <a:lnTo>
                    <a:pt x="8254" y="0"/>
                  </a:lnTo>
                  <a:lnTo>
                    <a:pt x="0" y="6730"/>
                  </a:lnTo>
                  <a:lnTo>
                    <a:pt x="0" y="23240"/>
                  </a:lnTo>
                  <a:lnTo>
                    <a:pt x="8254" y="29972"/>
                  </a:lnTo>
                  <a:lnTo>
                    <a:pt x="28575" y="29972"/>
                  </a:lnTo>
                  <a:lnTo>
                    <a:pt x="36829" y="23240"/>
                  </a:lnTo>
                  <a:lnTo>
                    <a:pt x="36829" y="6730"/>
                  </a:lnTo>
                  <a:lnTo>
                    <a:pt x="28575" y="0"/>
                  </a:lnTo>
                  <a:close/>
                </a:path>
                <a:path w="150495" h="30480">
                  <a:moveTo>
                    <a:pt x="141859" y="0"/>
                  </a:moveTo>
                  <a:lnTo>
                    <a:pt x="121538" y="0"/>
                  </a:lnTo>
                  <a:lnTo>
                    <a:pt x="113284" y="6730"/>
                  </a:lnTo>
                  <a:lnTo>
                    <a:pt x="113284" y="23240"/>
                  </a:lnTo>
                  <a:lnTo>
                    <a:pt x="121538" y="29972"/>
                  </a:lnTo>
                  <a:lnTo>
                    <a:pt x="141859" y="29972"/>
                  </a:lnTo>
                  <a:lnTo>
                    <a:pt x="150113" y="23240"/>
                  </a:lnTo>
                  <a:lnTo>
                    <a:pt x="150113" y="6730"/>
                  </a:lnTo>
                  <a:lnTo>
                    <a:pt x="141859" y="0"/>
                  </a:lnTo>
                  <a:close/>
                </a:path>
              </a:pathLst>
            </a:custGeom>
            <a:solidFill>
              <a:srgbClr val="75A7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835907" y="1476755"/>
              <a:ext cx="353695" cy="288290"/>
            </a:xfrm>
            <a:custGeom>
              <a:avLst/>
              <a:gdLst/>
              <a:ahLst/>
              <a:cxnLst/>
              <a:rect l="l" t="t" r="r" b="b"/>
              <a:pathLst>
                <a:path w="353695" h="288289">
                  <a:moveTo>
                    <a:pt x="101726" y="100965"/>
                  </a:moveTo>
                  <a:lnTo>
                    <a:pt x="101726" y="92710"/>
                  </a:lnTo>
                  <a:lnTo>
                    <a:pt x="109981" y="85979"/>
                  </a:lnTo>
                  <a:lnTo>
                    <a:pt x="120141" y="85979"/>
                  </a:lnTo>
                  <a:lnTo>
                    <a:pt x="130301" y="85979"/>
                  </a:lnTo>
                  <a:lnTo>
                    <a:pt x="138556" y="92710"/>
                  </a:lnTo>
                  <a:lnTo>
                    <a:pt x="138556" y="100965"/>
                  </a:lnTo>
                  <a:lnTo>
                    <a:pt x="138556" y="109220"/>
                  </a:lnTo>
                  <a:lnTo>
                    <a:pt x="130301" y="115951"/>
                  </a:lnTo>
                  <a:lnTo>
                    <a:pt x="120141" y="115951"/>
                  </a:lnTo>
                  <a:lnTo>
                    <a:pt x="109981" y="115951"/>
                  </a:lnTo>
                  <a:lnTo>
                    <a:pt x="101726" y="109220"/>
                  </a:lnTo>
                  <a:lnTo>
                    <a:pt x="101726" y="100965"/>
                  </a:lnTo>
                  <a:close/>
                </a:path>
                <a:path w="353695" h="288289">
                  <a:moveTo>
                    <a:pt x="215011" y="100965"/>
                  </a:moveTo>
                  <a:lnTo>
                    <a:pt x="215011" y="92710"/>
                  </a:lnTo>
                  <a:lnTo>
                    <a:pt x="223265" y="85979"/>
                  </a:lnTo>
                  <a:lnTo>
                    <a:pt x="233425" y="85979"/>
                  </a:lnTo>
                  <a:lnTo>
                    <a:pt x="243586" y="85979"/>
                  </a:lnTo>
                  <a:lnTo>
                    <a:pt x="251840" y="92710"/>
                  </a:lnTo>
                  <a:lnTo>
                    <a:pt x="251840" y="100965"/>
                  </a:lnTo>
                  <a:lnTo>
                    <a:pt x="251840" y="109220"/>
                  </a:lnTo>
                  <a:lnTo>
                    <a:pt x="243586" y="115951"/>
                  </a:lnTo>
                  <a:lnTo>
                    <a:pt x="233425" y="115951"/>
                  </a:lnTo>
                  <a:lnTo>
                    <a:pt x="223265" y="115951"/>
                  </a:lnTo>
                  <a:lnTo>
                    <a:pt x="215011" y="109220"/>
                  </a:lnTo>
                  <a:lnTo>
                    <a:pt x="215011" y="100965"/>
                  </a:lnTo>
                  <a:close/>
                </a:path>
                <a:path w="353695" h="288289">
                  <a:moveTo>
                    <a:pt x="81025" y="206883"/>
                  </a:moveTo>
                  <a:lnTo>
                    <a:pt x="128914" y="226956"/>
                  </a:lnTo>
                  <a:lnTo>
                    <a:pt x="176768" y="233648"/>
                  </a:lnTo>
                  <a:lnTo>
                    <a:pt x="224597" y="226956"/>
                  </a:lnTo>
                  <a:lnTo>
                    <a:pt x="272414" y="206883"/>
                  </a:lnTo>
                </a:path>
                <a:path w="353695" h="288289">
                  <a:moveTo>
                    <a:pt x="0" y="144018"/>
                  </a:moveTo>
                  <a:lnTo>
                    <a:pt x="9009" y="98511"/>
                  </a:lnTo>
                  <a:lnTo>
                    <a:pt x="34101" y="58978"/>
                  </a:lnTo>
                  <a:lnTo>
                    <a:pt x="72365" y="27797"/>
                  </a:lnTo>
                  <a:lnTo>
                    <a:pt x="120895" y="7345"/>
                  </a:lnTo>
                  <a:lnTo>
                    <a:pt x="176783" y="0"/>
                  </a:lnTo>
                  <a:lnTo>
                    <a:pt x="232672" y="7345"/>
                  </a:lnTo>
                  <a:lnTo>
                    <a:pt x="281202" y="27797"/>
                  </a:lnTo>
                  <a:lnTo>
                    <a:pt x="319466" y="58978"/>
                  </a:lnTo>
                  <a:lnTo>
                    <a:pt x="344558" y="98511"/>
                  </a:lnTo>
                  <a:lnTo>
                    <a:pt x="353567" y="144018"/>
                  </a:lnTo>
                  <a:lnTo>
                    <a:pt x="344558" y="189524"/>
                  </a:lnTo>
                  <a:lnTo>
                    <a:pt x="319466" y="229057"/>
                  </a:lnTo>
                  <a:lnTo>
                    <a:pt x="281202" y="260238"/>
                  </a:lnTo>
                  <a:lnTo>
                    <a:pt x="232672" y="280690"/>
                  </a:lnTo>
                  <a:lnTo>
                    <a:pt x="176783" y="288036"/>
                  </a:lnTo>
                  <a:lnTo>
                    <a:pt x="120895" y="280690"/>
                  </a:lnTo>
                  <a:lnTo>
                    <a:pt x="72365" y="260238"/>
                  </a:lnTo>
                  <a:lnTo>
                    <a:pt x="34101" y="229057"/>
                  </a:lnTo>
                  <a:lnTo>
                    <a:pt x="9009" y="189524"/>
                  </a:lnTo>
                  <a:lnTo>
                    <a:pt x="0" y="144018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238243" y="1473707"/>
              <a:ext cx="352425" cy="288290"/>
            </a:xfrm>
            <a:custGeom>
              <a:avLst/>
              <a:gdLst/>
              <a:ahLst/>
              <a:cxnLst/>
              <a:rect l="l" t="t" r="r" b="b"/>
              <a:pathLst>
                <a:path w="352425" h="288289">
                  <a:moveTo>
                    <a:pt x="176021" y="0"/>
                  </a:moveTo>
                  <a:lnTo>
                    <a:pt x="120408" y="7345"/>
                  </a:lnTo>
                  <a:lnTo>
                    <a:pt x="72091" y="27797"/>
                  </a:lnTo>
                  <a:lnTo>
                    <a:pt x="33979" y="58978"/>
                  </a:lnTo>
                  <a:lnTo>
                    <a:pt x="8979" y="98511"/>
                  </a:lnTo>
                  <a:lnTo>
                    <a:pt x="0" y="144017"/>
                  </a:lnTo>
                  <a:lnTo>
                    <a:pt x="8979" y="189524"/>
                  </a:lnTo>
                  <a:lnTo>
                    <a:pt x="33979" y="229057"/>
                  </a:lnTo>
                  <a:lnTo>
                    <a:pt x="72091" y="260238"/>
                  </a:lnTo>
                  <a:lnTo>
                    <a:pt x="120408" y="280690"/>
                  </a:lnTo>
                  <a:lnTo>
                    <a:pt x="176021" y="288036"/>
                  </a:lnTo>
                  <a:lnTo>
                    <a:pt x="231635" y="280690"/>
                  </a:lnTo>
                  <a:lnTo>
                    <a:pt x="279952" y="260238"/>
                  </a:lnTo>
                  <a:lnTo>
                    <a:pt x="318064" y="229057"/>
                  </a:lnTo>
                  <a:lnTo>
                    <a:pt x="343064" y="189524"/>
                  </a:lnTo>
                  <a:lnTo>
                    <a:pt x="352043" y="144017"/>
                  </a:lnTo>
                  <a:lnTo>
                    <a:pt x="343064" y="98511"/>
                  </a:lnTo>
                  <a:lnTo>
                    <a:pt x="318064" y="58978"/>
                  </a:lnTo>
                  <a:lnTo>
                    <a:pt x="279952" y="27797"/>
                  </a:lnTo>
                  <a:lnTo>
                    <a:pt x="231635" y="7345"/>
                  </a:lnTo>
                  <a:lnTo>
                    <a:pt x="17602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339589" y="1559686"/>
              <a:ext cx="149860" cy="30480"/>
            </a:xfrm>
            <a:custGeom>
              <a:avLst/>
              <a:gdLst/>
              <a:ahLst/>
              <a:cxnLst/>
              <a:rect l="l" t="t" r="r" b="b"/>
              <a:pathLst>
                <a:path w="149860" h="30480">
                  <a:moveTo>
                    <a:pt x="28448" y="0"/>
                  </a:moveTo>
                  <a:lnTo>
                    <a:pt x="8127" y="0"/>
                  </a:lnTo>
                  <a:lnTo>
                    <a:pt x="0" y="6730"/>
                  </a:lnTo>
                  <a:lnTo>
                    <a:pt x="0" y="23240"/>
                  </a:lnTo>
                  <a:lnTo>
                    <a:pt x="8127" y="29972"/>
                  </a:lnTo>
                  <a:lnTo>
                    <a:pt x="28448" y="29972"/>
                  </a:lnTo>
                  <a:lnTo>
                    <a:pt x="36575" y="23240"/>
                  </a:lnTo>
                  <a:lnTo>
                    <a:pt x="36575" y="6730"/>
                  </a:lnTo>
                  <a:lnTo>
                    <a:pt x="28448" y="0"/>
                  </a:lnTo>
                  <a:close/>
                </a:path>
                <a:path w="149860" h="30480">
                  <a:moveTo>
                    <a:pt x="141224" y="0"/>
                  </a:moveTo>
                  <a:lnTo>
                    <a:pt x="120904" y="0"/>
                  </a:lnTo>
                  <a:lnTo>
                    <a:pt x="112775" y="6730"/>
                  </a:lnTo>
                  <a:lnTo>
                    <a:pt x="112775" y="23240"/>
                  </a:lnTo>
                  <a:lnTo>
                    <a:pt x="120904" y="29972"/>
                  </a:lnTo>
                  <a:lnTo>
                    <a:pt x="141224" y="29972"/>
                  </a:lnTo>
                  <a:lnTo>
                    <a:pt x="149351" y="23240"/>
                  </a:lnTo>
                  <a:lnTo>
                    <a:pt x="149351" y="6730"/>
                  </a:lnTo>
                  <a:lnTo>
                    <a:pt x="141224" y="0"/>
                  </a:lnTo>
                  <a:close/>
                </a:path>
              </a:pathLst>
            </a:custGeom>
            <a:solidFill>
              <a:srgbClr val="75A7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238243" y="1473707"/>
              <a:ext cx="352425" cy="288290"/>
            </a:xfrm>
            <a:custGeom>
              <a:avLst/>
              <a:gdLst/>
              <a:ahLst/>
              <a:cxnLst/>
              <a:rect l="l" t="t" r="r" b="b"/>
              <a:pathLst>
                <a:path w="352425" h="288289">
                  <a:moveTo>
                    <a:pt x="101345" y="100964"/>
                  </a:moveTo>
                  <a:lnTo>
                    <a:pt x="101345" y="92709"/>
                  </a:lnTo>
                  <a:lnTo>
                    <a:pt x="109473" y="85978"/>
                  </a:lnTo>
                  <a:lnTo>
                    <a:pt x="119633" y="85978"/>
                  </a:lnTo>
                  <a:lnTo>
                    <a:pt x="129793" y="85978"/>
                  </a:lnTo>
                  <a:lnTo>
                    <a:pt x="137921" y="92709"/>
                  </a:lnTo>
                  <a:lnTo>
                    <a:pt x="137921" y="100964"/>
                  </a:lnTo>
                  <a:lnTo>
                    <a:pt x="137921" y="109219"/>
                  </a:lnTo>
                  <a:lnTo>
                    <a:pt x="129793" y="115950"/>
                  </a:lnTo>
                  <a:lnTo>
                    <a:pt x="119633" y="115950"/>
                  </a:lnTo>
                  <a:lnTo>
                    <a:pt x="109473" y="115950"/>
                  </a:lnTo>
                  <a:lnTo>
                    <a:pt x="101345" y="109219"/>
                  </a:lnTo>
                  <a:lnTo>
                    <a:pt x="101345" y="100964"/>
                  </a:lnTo>
                  <a:close/>
                </a:path>
                <a:path w="352425" h="288289">
                  <a:moveTo>
                    <a:pt x="214121" y="100964"/>
                  </a:moveTo>
                  <a:lnTo>
                    <a:pt x="214121" y="92709"/>
                  </a:lnTo>
                  <a:lnTo>
                    <a:pt x="222250" y="85978"/>
                  </a:lnTo>
                  <a:lnTo>
                    <a:pt x="232409" y="85978"/>
                  </a:lnTo>
                  <a:lnTo>
                    <a:pt x="242569" y="85978"/>
                  </a:lnTo>
                  <a:lnTo>
                    <a:pt x="250697" y="92709"/>
                  </a:lnTo>
                  <a:lnTo>
                    <a:pt x="250697" y="100964"/>
                  </a:lnTo>
                  <a:lnTo>
                    <a:pt x="250697" y="109219"/>
                  </a:lnTo>
                  <a:lnTo>
                    <a:pt x="242569" y="115950"/>
                  </a:lnTo>
                  <a:lnTo>
                    <a:pt x="232409" y="115950"/>
                  </a:lnTo>
                  <a:lnTo>
                    <a:pt x="222250" y="115950"/>
                  </a:lnTo>
                  <a:lnTo>
                    <a:pt x="214121" y="109219"/>
                  </a:lnTo>
                  <a:lnTo>
                    <a:pt x="214121" y="100964"/>
                  </a:lnTo>
                  <a:close/>
                </a:path>
                <a:path w="352425" h="288289">
                  <a:moveTo>
                    <a:pt x="80644" y="206882"/>
                  </a:moveTo>
                  <a:lnTo>
                    <a:pt x="128341" y="226956"/>
                  </a:lnTo>
                  <a:lnTo>
                    <a:pt x="175990" y="233648"/>
                  </a:lnTo>
                  <a:lnTo>
                    <a:pt x="223591" y="226956"/>
                  </a:lnTo>
                  <a:lnTo>
                    <a:pt x="271144" y="206882"/>
                  </a:lnTo>
                </a:path>
                <a:path w="352425" h="288289">
                  <a:moveTo>
                    <a:pt x="0" y="144017"/>
                  </a:moveTo>
                  <a:lnTo>
                    <a:pt x="8979" y="98511"/>
                  </a:lnTo>
                  <a:lnTo>
                    <a:pt x="33979" y="58978"/>
                  </a:lnTo>
                  <a:lnTo>
                    <a:pt x="72091" y="27797"/>
                  </a:lnTo>
                  <a:lnTo>
                    <a:pt x="120408" y="7345"/>
                  </a:lnTo>
                  <a:lnTo>
                    <a:pt x="176021" y="0"/>
                  </a:lnTo>
                  <a:lnTo>
                    <a:pt x="231635" y="7345"/>
                  </a:lnTo>
                  <a:lnTo>
                    <a:pt x="279952" y="27797"/>
                  </a:lnTo>
                  <a:lnTo>
                    <a:pt x="318064" y="58978"/>
                  </a:lnTo>
                  <a:lnTo>
                    <a:pt x="343064" y="98511"/>
                  </a:lnTo>
                  <a:lnTo>
                    <a:pt x="352043" y="144017"/>
                  </a:lnTo>
                  <a:lnTo>
                    <a:pt x="343064" y="189524"/>
                  </a:lnTo>
                  <a:lnTo>
                    <a:pt x="318064" y="229057"/>
                  </a:lnTo>
                  <a:lnTo>
                    <a:pt x="279952" y="260238"/>
                  </a:lnTo>
                  <a:lnTo>
                    <a:pt x="231635" y="280690"/>
                  </a:lnTo>
                  <a:lnTo>
                    <a:pt x="176021" y="288036"/>
                  </a:lnTo>
                  <a:lnTo>
                    <a:pt x="120408" y="280690"/>
                  </a:lnTo>
                  <a:lnTo>
                    <a:pt x="72091" y="260238"/>
                  </a:lnTo>
                  <a:lnTo>
                    <a:pt x="33979" y="229057"/>
                  </a:lnTo>
                  <a:lnTo>
                    <a:pt x="8979" y="189524"/>
                  </a:lnTo>
                  <a:lnTo>
                    <a:pt x="0" y="144017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654295" y="1469135"/>
              <a:ext cx="352425" cy="288290"/>
            </a:xfrm>
            <a:custGeom>
              <a:avLst/>
              <a:gdLst/>
              <a:ahLst/>
              <a:cxnLst/>
              <a:rect l="l" t="t" r="r" b="b"/>
              <a:pathLst>
                <a:path w="352425" h="288289">
                  <a:moveTo>
                    <a:pt x="176021" y="0"/>
                  </a:moveTo>
                  <a:lnTo>
                    <a:pt x="120408" y="7345"/>
                  </a:lnTo>
                  <a:lnTo>
                    <a:pt x="72091" y="27797"/>
                  </a:lnTo>
                  <a:lnTo>
                    <a:pt x="33979" y="58978"/>
                  </a:lnTo>
                  <a:lnTo>
                    <a:pt x="8979" y="98511"/>
                  </a:lnTo>
                  <a:lnTo>
                    <a:pt x="0" y="144017"/>
                  </a:lnTo>
                  <a:lnTo>
                    <a:pt x="8979" y="189524"/>
                  </a:lnTo>
                  <a:lnTo>
                    <a:pt x="33979" y="229057"/>
                  </a:lnTo>
                  <a:lnTo>
                    <a:pt x="72091" y="260238"/>
                  </a:lnTo>
                  <a:lnTo>
                    <a:pt x="120408" y="280690"/>
                  </a:lnTo>
                  <a:lnTo>
                    <a:pt x="176021" y="288036"/>
                  </a:lnTo>
                  <a:lnTo>
                    <a:pt x="231635" y="280690"/>
                  </a:lnTo>
                  <a:lnTo>
                    <a:pt x="279952" y="260238"/>
                  </a:lnTo>
                  <a:lnTo>
                    <a:pt x="318064" y="229057"/>
                  </a:lnTo>
                  <a:lnTo>
                    <a:pt x="343064" y="189524"/>
                  </a:lnTo>
                  <a:lnTo>
                    <a:pt x="352043" y="144017"/>
                  </a:lnTo>
                  <a:lnTo>
                    <a:pt x="343064" y="98511"/>
                  </a:lnTo>
                  <a:lnTo>
                    <a:pt x="318064" y="58978"/>
                  </a:lnTo>
                  <a:lnTo>
                    <a:pt x="279952" y="27797"/>
                  </a:lnTo>
                  <a:lnTo>
                    <a:pt x="231635" y="7345"/>
                  </a:lnTo>
                  <a:lnTo>
                    <a:pt x="17602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755641" y="1555114"/>
              <a:ext cx="149860" cy="30480"/>
            </a:xfrm>
            <a:custGeom>
              <a:avLst/>
              <a:gdLst/>
              <a:ahLst/>
              <a:cxnLst/>
              <a:rect l="l" t="t" r="r" b="b"/>
              <a:pathLst>
                <a:path w="149860" h="30480">
                  <a:moveTo>
                    <a:pt x="28448" y="0"/>
                  </a:moveTo>
                  <a:lnTo>
                    <a:pt x="8128" y="0"/>
                  </a:lnTo>
                  <a:lnTo>
                    <a:pt x="0" y="6731"/>
                  </a:lnTo>
                  <a:lnTo>
                    <a:pt x="0" y="23240"/>
                  </a:lnTo>
                  <a:lnTo>
                    <a:pt x="8128" y="29972"/>
                  </a:lnTo>
                  <a:lnTo>
                    <a:pt x="28448" y="29972"/>
                  </a:lnTo>
                  <a:lnTo>
                    <a:pt x="36575" y="23240"/>
                  </a:lnTo>
                  <a:lnTo>
                    <a:pt x="36575" y="6731"/>
                  </a:lnTo>
                  <a:lnTo>
                    <a:pt x="28448" y="0"/>
                  </a:lnTo>
                  <a:close/>
                </a:path>
                <a:path w="149860" h="30480">
                  <a:moveTo>
                    <a:pt x="141224" y="0"/>
                  </a:moveTo>
                  <a:lnTo>
                    <a:pt x="120904" y="0"/>
                  </a:lnTo>
                  <a:lnTo>
                    <a:pt x="112775" y="6731"/>
                  </a:lnTo>
                  <a:lnTo>
                    <a:pt x="112775" y="23240"/>
                  </a:lnTo>
                  <a:lnTo>
                    <a:pt x="120904" y="29972"/>
                  </a:lnTo>
                  <a:lnTo>
                    <a:pt x="141224" y="29972"/>
                  </a:lnTo>
                  <a:lnTo>
                    <a:pt x="149352" y="23240"/>
                  </a:lnTo>
                  <a:lnTo>
                    <a:pt x="149352" y="6731"/>
                  </a:lnTo>
                  <a:lnTo>
                    <a:pt x="141224" y="0"/>
                  </a:lnTo>
                  <a:close/>
                </a:path>
              </a:pathLst>
            </a:custGeom>
            <a:solidFill>
              <a:srgbClr val="75A7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654295" y="1469135"/>
              <a:ext cx="352425" cy="288290"/>
            </a:xfrm>
            <a:custGeom>
              <a:avLst/>
              <a:gdLst/>
              <a:ahLst/>
              <a:cxnLst/>
              <a:rect l="l" t="t" r="r" b="b"/>
              <a:pathLst>
                <a:path w="352425" h="288289">
                  <a:moveTo>
                    <a:pt x="101345" y="100964"/>
                  </a:moveTo>
                  <a:lnTo>
                    <a:pt x="101345" y="92710"/>
                  </a:lnTo>
                  <a:lnTo>
                    <a:pt x="109474" y="85978"/>
                  </a:lnTo>
                  <a:lnTo>
                    <a:pt x="119633" y="85978"/>
                  </a:lnTo>
                  <a:lnTo>
                    <a:pt x="129793" y="85978"/>
                  </a:lnTo>
                  <a:lnTo>
                    <a:pt x="137921" y="92710"/>
                  </a:lnTo>
                  <a:lnTo>
                    <a:pt x="137921" y="100964"/>
                  </a:lnTo>
                  <a:lnTo>
                    <a:pt x="137921" y="109219"/>
                  </a:lnTo>
                  <a:lnTo>
                    <a:pt x="129793" y="115950"/>
                  </a:lnTo>
                  <a:lnTo>
                    <a:pt x="119633" y="115950"/>
                  </a:lnTo>
                  <a:lnTo>
                    <a:pt x="109474" y="115950"/>
                  </a:lnTo>
                  <a:lnTo>
                    <a:pt x="101345" y="109219"/>
                  </a:lnTo>
                  <a:lnTo>
                    <a:pt x="101345" y="100964"/>
                  </a:lnTo>
                  <a:close/>
                </a:path>
                <a:path w="352425" h="288289">
                  <a:moveTo>
                    <a:pt x="214121" y="100964"/>
                  </a:moveTo>
                  <a:lnTo>
                    <a:pt x="214121" y="92710"/>
                  </a:lnTo>
                  <a:lnTo>
                    <a:pt x="222250" y="85978"/>
                  </a:lnTo>
                  <a:lnTo>
                    <a:pt x="232409" y="85978"/>
                  </a:lnTo>
                  <a:lnTo>
                    <a:pt x="242569" y="85978"/>
                  </a:lnTo>
                  <a:lnTo>
                    <a:pt x="250698" y="92710"/>
                  </a:lnTo>
                  <a:lnTo>
                    <a:pt x="250698" y="100964"/>
                  </a:lnTo>
                  <a:lnTo>
                    <a:pt x="250698" y="109219"/>
                  </a:lnTo>
                  <a:lnTo>
                    <a:pt x="242569" y="115950"/>
                  </a:lnTo>
                  <a:lnTo>
                    <a:pt x="232409" y="115950"/>
                  </a:lnTo>
                  <a:lnTo>
                    <a:pt x="222250" y="115950"/>
                  </a:lnTo>
                  <a:lnTo>
                    <a:pt x="214121" y="109219"/>
                  </a:lnTo>
                  <a:lnTo>
                    <a:pt x="214121" y="100964"/>
                  </a:lnTo>
                  <a:close/>
                </a:path>
                <a:path w="352425" h="288289">
                  <a:moveTo>
                    <a:pt x="80644" y="206883"/>
                  </a:moveTo>
                  <a:lnTo>
                    <a:pt x="128341" y="226956"/>
                  </a:lnTo>
                  <a:lnTo>
                    <a:pt x="175990" y="233648"/>
                  </a:lnTo>
                  <a:lnTo>
                    <a:pt x="223591" y="226956"/>
                  </a:lnTo>
                  <a:lnTo>
                    <a:pt x="271144" y="206883"/>
                  </a:lnTo>
                </a:path>
                <a:path w="352425" h="288289">
                  <a:moveTo>
                    <a:pt x="0" y="144017"/>
                  </a:moveTo>
                  <a:lnTo>
                    <a:pt x="8979" y="98511"/>
                  </a:lnTo>
                  <a:lnTo>
                    <a:pt x="33979" y="58978"/>
                  </a:lnTo>
                  <a:lnTo>
                    <a:pt x="72091" y="27797"/>
                  </a:lnTo>
                  <a:lnTo>
                    <a:pt x="120408" y="7345"/>
                  </a:lnTo>
                  <a:lnTo>
                    <a:pt x="176021" y="0"/>
                  </a:lnTo>
                  <a:lnTo>
                    <a:pt x="231635" y="7345"/>
                  </a:lnTo>
                  <a:lnTo>
                    <a:pt x="279952" y="27797"/>
                  </a:lnTo>
                  <a:lnTo>
                    <a:pt x="318064" y="58978"/>
                  </a:lnTo>
                  <a:lnTo>
                    <a:pt x="343064" y="98511"/>
                  </a:lnTo>
                  <a:lnTo>
                    <a:pt x="352043" y="144017"/>
                  </a:lnTo>
                  <a:lnTo>
                    <a:pt x="343064" y="189524"/>
                  </a:lnTo>
                  <a:lnTo>
                    <a:pt x="318064" y="229057"/>
                  </a:lnTo>
                  <a:lnTo>
                    <a:pt x="279952" y="260238"/>
                  </a:lnTo>
                  <a:lnTo>
                    <a:pt x="231635" y="280690"/>
                  </a:lnTo>
                  <a:lnTo>
                    <a:pt x="176021" y="288036"/>
                  </a:lnTo>
                  <a:lnTo>
                    <a:pt x="120408" y="280690"/>
                  </a:lnTo>
                  <a:lnTo>
                    <a:pt x="72091" y="260238"/>
                  </a:lnTo>
                  <a:lnTo>
                    <a:pt x="33979" y="229057"/>
                  </a:lnTo>
                  <a:lnTo>
                    <a:pt x="8979" y="189524"/>
                  </a:lnTo>
                  <a:lnTo>
                    <a:pt x="0" y="144017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1766061" y="2825648"/>
            <a:ext cx="1075690" cy="1050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900" marR="5080" indent="215900">
              <a:lnSpc>
                <a:spcPct val="140600"/>
              </a:lnSpc>
              <a:spcBef>
                <a:spcPts val="100"/>
              </a:spcBef>
            </a:pPr>
            <a:r>
              <a:rPr dirty="0" sz="1600" spc="-10">
                <a:latin typeface="Calibri"/>
                <a:cs typeface="Calibri"/>
              </a:rPr>
              <a:t>LINUX MAC-</a:t>
            </a:r>
            <a:r>
              <a:rPr dirty="0" sz="1600" spc="-25">
                <a:latin typeface="Calibri"/>
                <a:cs typeface="Calibri"/>
              </a:rPr>
              <a:t>OS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600" spc="-10">
                <a:latin typeface="Calibri"/>
                <a:cs typeface="Calibri"/>
              </a:rPr>
              <a:t>WINDOWS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26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229969" y="886714"/>
            <a:ext cx="6600825" cy="1245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Un</a:t>
            </a:r>
            <a:r>
              <a:rPr dirty="0" sz="2100" spc="-2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OS</a:t>
            </a:r>
            <a:r>
              <a:rPr dirty="0" sz="2100" spc="-2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transforme</a:t>
            </a:r>
            <a:r>
              <a:rPr dirty="0" sz="2100" spc="-2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le</a:t>
            </a:r>
            <a:r>
              <a:rPr dirty="0" sz="2100" spc="-2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matériel</a:t>
            </a:r>
            <a:r>
              <a:rPr dirty="0" sz="2100" spc="-4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en</a:t>
            </a:r>
            <a:r>
              <a:rPr dirty="0" sz="2100" spc="-1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services</a:t>
            </a:r>
            <a:r>
              <a:rPr dirty="0" sz="2100" spc="-4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1A1A1A"/>
                </a:solidFill>
                <a:latin typeface="Arial"/>
                <a:cs typeface="Arial"/>
              </a:rPr>
              <a:t>utilisables</a:t>
            </a:r>
            <a:endParaRPr sz="2100">
              <a:latin typeface="Arial"/>
              <a:cs typeface="Arial"/>
            </a:endParaRPr>
          </a:p>
          <a:p>
            <a:pPr algn="ctr" marL="1600200">
              <a:lnSpc>
                <a:spcPct val="100000"/>
              </a:lnSpc>
              <a:spcBef>
                <a:spcPts val="1910"/>
              </a:spcBef>
            </a:pPr>
            <a:r>
              <a:rPr dirty="0" sz="1800" spc="-10">
                <a:latin typeface="Calibri"/>
                <a:cs typeface="Calibri"/>
              </a:rPr>
              <a:t>Users</a:t>
            </a:r>
            <a:endParaRPr sz="1800">
              <a:latin typeface="Calibri"/>
              <a:cs typeface="Calibri"/>
            </a:endParaRPr>
          </a:p>
          <a:p>
            <a:pPr marL="4180840">
              <a:lnSpc>
                <a:spcPct val="100000"/>
              </a:lnSpc>
              <a:spcBef>
                <a:spcPts val="1090"/>
              </a:spcBef>
            </a:pPr>
            <a:r>
              <a:rPr dirty="0" sz="1600" spc="-40">
                <a:latin typeface="Calibri"/>
                <a:cs typeface="Calibri"/>
              </a:rPr>
              <a:t>Text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editing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387721" y="2113432"/>
            <a:ext cx="1460500" cy="716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" marR="5080" indent="-10795">
              <a:lnSpc>
                <a:spcPct val="141700"/>
              </a:lnSpc>
              <a:spcBef>
                <a:spcPts val="100"/>
              </a:spcBef>
            </a:pPr>
            <a:r>
              <a:rPr dirty="0" sz="1600" spc="-10">
                <a:latin typeface="Calibri"/>
                <a:cs typeface="Calibri"/>
              </a:rPr>
              <a:t>Programming </a:t>
            </a:r>
            <a:r>
              <a:rPr dirty="0" sz="1600">
                <a:latin typeface="Calibri"/>
                <a:cs typeface="Calibri"/>
              </a:rPr>
              <a:t>Image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processing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69926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UNE</a:t>
            </a:r>
            <a:r>
              <a:rPr dirty="0" sz="950" spc="21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D5880F"/>
                </a:solidFill>
                <a:latin typeface="Calibri"/>
                <a:cs typeface="Calibri"/>
              </a:rPr>
              <a:t>EXPÉRIENCE</a:t>
            </a:r>
            <a:r>
              <a:rPr dirty="0" sz="950" spc="204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D5880F"/>
                </a:solidFill>
                <a:latin typeface="Calibri"/>
                <a:cs typeface="Calibri"/>
              </a:rPr>
              <a:t>DE</a:t>
            </a:r>
            <a:r>
              <a:rPr dirty="0" sz="950" spc="21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55" b="1">
                <a:solidFill>
                  <a:srgbClr val="D5880F"/>
                </a:solidFill>
                <a:latin typeface="Calibri"/>
                <a:cs typeface="Calibri"/>
              </a:rPr>
              <a:t>PENSÉE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332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Et</a:t>
            </a:r>
            <a:r>
              <a:rPr dirty="0" sz="2400" spc="-5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si</a:t>
            </a:r>
            <a:r>
              <a:rPr dirty="0" sz="2400" spc="-5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l'OS</a:t>
            </a:r>
            <a:r>
              <a:rPr dirty="0" sz="2400" spc="-4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n'existait</a:t>
            </a:r>
            <a:r>
              <a:rPr dirty="0" sz="2400" spc="-4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pas</a:t>
            </a:r>
            <a:r>
              <a:rPr dirty="0" sz="2400" spc="-3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50" b="1">
                <a:solidFill>
                  <a:srgbClr val="1F385F"/>
                </a:solidFill>
                <a:latin typeface="Cambria"/>
                <a:cs typeface="Cambria"/>
              </a:rPr>
              <a:t>?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0916" y="1225296"/>
            <a:ext cx="3827145" cy="3106420"/>
            <a:chOff x="470916" y="1225296"/>
            <a:chExt cx="3827145" cy="3106420"/>
          </a:xfrm>
        </p:grpSpPr>
        <p:sp>
          <p:nvSpPr>
            <p:cNvPr id="5" name="object 5"/>
            <p:cNvSpPr/>
            <p:nvPr/>
          </p:nvSpPr>
          <p:spPr>
            <a:xfrm>
              <a:off x="480822" y="1235202"/>
              <a:ext cx="3807460" cy="3086100"/>
            </a:xfrm>
            <a:custGeom>
              <a:avLst/>
              <a:gdLst/>
              <a:ahLst/>
              <a:cxnLst/>
              <a:rect l="l" t="t" r="r" b="b"/>
              <a:pathLst>
                <a:path w="3807460" h="3086100">
                  <a:moveTo>
                    <a:pt x="0" y="102870"/>
                  </a:moveTo>
                  <a:lnTo>
                    <a:pt x="8082" y="62847"/>
                  </a:lnTo>
                  <a:lnTo>
                    <a:pt x="30125" y="30146"/>
                  </a:lnTo>
                  <a:lnTo>
                    <a:pt x="62820" y="8090"/>
                  </a:lnTo>
                  <a:lnTo>
                    <a:pt x="102857" y="0"/>
                  </a:lnTo>
                  <a:lnTo>
                    <a:pt x="3704081" y="0"/>
                  </a:lnTo>
                  <a:lnTo>
                    <a:pt x="3744104" y="8090"/>
                  </a:lnTo>
                  <a:lnTo>
                    <a:pt x="3776805" y="30146"/>
                  </a:lnTo>
                  <a:lnTo>
                    <a:pt x="3798861" y="62847"/>
                  </a:lnTo>
                  <a:lnTo>
                    <a:pt x="3806952" y="102870"/>
                  </a:lnTo>
                  <a:lnTo>
                    <a:pt x="3806952" y="2983242"/>
                  </a:lnTo>
                  <a:lnTo>
                    <a:pt x="3798861" y="3023279"/>
                  </a:lnTo>
                  <a:lnTo>
                    <a:pt x="3776805" y="3055974"/>
                  </a:lnTo>
                  <a:lnTo>
                    <a:pt x="3744104" y="3078017"/>
                  </a:lnTo>
                  <a:lnTo>
                    <a:pt x="3704081" y="3086100"/>
                  </a:lnTo>
                  <a:lnTo>
                    <a:pt x="102857" y="3086100"/>
                  </a:lnTo>
                  <a:lnTo>
                    <a:pt x="62820" y="3078017"/>
                  </a:lnTo>
                  <a:lnTo>
                    <a:pt x="30125" y="3055974"/>
                  </a:lnTo>
                  <a:lnTo>
                    <a:pt x="8082" y="3023279"/>
                  </a:lnTo>
                  <a:lnTo>
                    <a:pt x="0" y="2983242"/>
                  </a:lnTo>
                  <a:lnTo>
                    <a:pt x="0" y="102870"/>
                  </a:lnTo>
                  <a:close/>
                </a:path>
              </a:pathLst>
            </a:custGeom>
            <a:ln w="19812">
              <a:solidFill>
                <a:srgbClr val="9BCF9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109216" y="147523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19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19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/home/claude/ppt/icons/chec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0280" y="1606296"/>
              <a:ext cx="284988" cy="28498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3119" y="2153158"/>
            <a:ext cx="2834005" cy="1611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5316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2D7C31"/>
                </a:solidFill>
                <a:latin typeface="Calibri"/>
                <a:cs typeface="Calibri"/>
              </a:rPr>
              <a:t>Avec</a:t>
            </a:r>
            <a:r>
              <a:rPr dirty="0" sz="1350" spc="-4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D7C31"/>
                </a:solidFill>
                <a:latin typeface="Calibri"/>
                <a:cs typeface="Calibri"/>
              </a:rPr>
              <a:t>un</a:t>
            </a:r>
            <a:r>
              <a:rPr dirty="0" sz="135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50" spc="-25" b="1">
                <a:solidFill>
                  <a:srgbClr val="2D7C31"/>
                </a:solidFill>
                <a:latin typeface="Calibri"/>
                <a:cs typeface="Calibri"/>
              </a:rPr>
              <a:t>OS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35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buChar char="•"/>
              <a:tabLst>
                <a:tab pos="132080" algn="l"/>
              </a:tabLst>
            </a:pP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Chaque</a:t>
            </a:r>
            <a:r>
              <a:rPr dirty="0" sz="1000" spc="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appli</a:t>
            </a:r>
            <a:r>
              <a:rPr dirty="0" sz="1000" spc="5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demande</a:t>
            </a:r>
            <a:r>
              <a:rPr dirty="0" sz="1000" spc="4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poliment</a:t>
            </a:r>
            <a:r>
              <a:rPr dirty="0" sz="1000" spc="5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(appel</a:t>
            </a:r>
            <a:r>
              <a:rPr dirty="0" sz="1000" spc="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233"/>
                </a:solidFill>
                <a:latin typeface="Calibri"/>
                <a:cs typeface="Calibri"/>
              </a:rPr>
              <a:t>système)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1A2233"/>
              </a:buClr>
              <a:buFont typeface="Calibri"/>
              <a:buChar char="•"/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1A2233"/>
              </a:buClr>
              <a:buFont typeface="Calibri"/>
              <a:buChar char="•"/>
            </a:pPr>
            <a:endParaRPr sz="100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buChar char="•"/>
              <a:tabLst>
                <a:tab pos="132080" algn="l"/>
              </a:tabLst>
            </a:pP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L'OS</a:t>
            </a:r>
            <a:r>
              <a:rPr dirty="0" sz="10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gère</a:t>
            </a:r>
            <a:r>
              <a:rPr dirty="0" sz="10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l'écran,</a:t>
            </a:r>
            <a:r>
              <a:rPr dirty="0" sz="10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disque,</a:t>
            </a:r>
            <a:r>
              <a:rPr dirty="0" sz="1000" spc="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réseau</a:t>
            </a:r>
            <a:r>
              <a:rPr dirty="0" sz="10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une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seule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1A2233"/>
                </a:solidFill>
                <a:latin typeface="Calibri"/>
                <a:cs typeface="Calibri"/>
              </a:rPr>
              <a:t>fois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1A2233"/>
              </a:buClr>
              <a:buFont typeface="Calibri"/>
              <a:buChar char="•"/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Clr>
                <a:srgbClr val="1A2233"/>
              </a:buClr>
              <a:buFont typeface="Calibri"/>
              <a:buChar char="•"/>
            </a:pPr>
            <a:endParaRPr sz="100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buChar char="•"/>
              <a:tabLst>
                <a:tab pos="132080" algn="l"/>
              </a:tabLst>
            </a:pP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Les</a:t>
            </a:r>
            <a:r>
              <a:rPr dirty="0" sz="100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applications</a:t>
            </a:r>
            <a:r>
              <a:rPr dirty="0" sz="1000" spc="8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sont</a:t>
            </a:r>
            <a:r>
              <a:rPr dirty="0" sz="1000" spc="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simples</a:t>
            </a:r>
            <a:r>
              <a:rPr dirty="0" sz="1000" spc="5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à</a:t>
            </a:r>
            <a:r>
              <a:rPr dirty="0" sz="10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233"/>
                </a:solidFill>
                <a:latin typeface="Calibri"/>
                <a:cs typeface="Calibri"/>
              </a:rPr>
              <a:t>développer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60035" y="1225296"/>
            <a:ext cx="3827145" cy="3106420"/>
            <a:chOff x="4860035" y="1225296"/>
            <a:chExt cx="3827145" cy="3106420"/>
          </a:xfrm>
        </p:grpSpPr>
        <p:sp>
          <p:nvSpPr>
            <p:cNvPr id="10" name="object 10"/>
            <p:cNvSpPr/>
            <p:nvPr/>
          </p:nvSpPr>
          <p:spPr>
            <a:xfrm>
              <a:off x="4869941" y="1235202"/>
              <a:ext cx="3807460" cy="3086100"/>
            </a:xfrm>
            <a:custGeom>
              <a:avLst/>
              <a:gdLst/>
              <a:ahLst/>
              <a:cxnLst/>
              <a:rect l="l" t="t" r="r" b="b"/>
              <a:pathLst>
                <a:path w="3807459" h="3086100">
                  <a:moveTo>
                    <a:pt x="0" y="102870"/>
                  </a:moveTo>
                  <a:lnTo>
                    <a:pt x="8090" y="62847"/>
                  </a:lnTo>
                  <a:lnTo>
                    <a:pt x="30146" y="30146"/>
                  </a:lnTo>
                  <a:lnTo>
                    <a:pt x="62847" y="8090"/>
                  </a:lnTo>
                  <a:lnTo>
                    <a:pt x="102870" y="0"/>
                  </a:lnTo>
                  <a:lnTo>
                    <a:pt x="3704082" y="0"/>
                  </a:lnTo>
                  <a:lnTo>
                    <a:pt x="3744104" y="8090"/>
                  </a:lnTo>
                  <a:lnTo>
                    <a:pt x="3776805" y="30146"/>
                  </a:lnTo>
                  <a:lnTo>
                    <a:pt x="3798861" y="62847"/>
                  </a:lnTo>
                  <a:lnTo>
                    <a:pt x="3806952" y="102870"/>
                  </a:lnTo>
                  <a:lnTo>
                    <a:pt x="3806952" y="2983242"/>
                  </a:lnTo>
                  <a:lnTo>
                    <a:pt x="3798861" y="3023279"/>
                  </a:lnTo>
                  <a:lnTo>
                    <a:pt x="3776805" y="3055974"/>
                  </a:lnTo>
                  <a:lnTo>
                    <a:pt x="3744104" y="3078017"/>
                  </a:lnTo>
                  <a:lnTo>
                    <a:pt x="3704082" y="3086100"/>
                  </a:lnTo>
                  <a:lnTo>
                    <a:pt x="102870" y="3086100"/>
                  </a:lnTo>
                  <a:lnTo>
                    <a:pt x="62847" y="3078017"/>
                  </a:lnTo>
                  <a:lnTo>
                    <a:pt x="30146" y="3055974"/>
                  </a:lnTo>
                  <a:lnTo>
                    <a:pt x="8090" y="3023279"/>
                  </a:lnTo>
                  <a:lnTo>
                    <a:pt x="0" y="2983242"/>
                  </a:lnTo>
                  <a:lnTo>
                    <a:pt x="0" y="102870"/>
                  </a:lnTo>
                  <a:close/>
                </a:path>
              </a:pathLst>
            </a:custGeom>
            <a:ln w="19812">
              <a:solidFill>
                <a:srgbClr val="E29B9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98335" y="147523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19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/home/claude/ppt/icons/clos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1606296"/>
              <a:ext cx="284988" cy="28498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223128" y="2153158"/>
            <a:ext cx="3001010" cy="1611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9906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C0392B"/>
                </a:solidFill>
                <a:latin typeface="Calibri"/>
                <a:cs typeface="Calibri"/>
              </a:rPr>
              <a:t>Sans</a:t>
            </a:r>
            <a:r>
              <a:rPr dirty="0" sz="1350" spc="-25" b="1">
                <a:solidFill>
                  <a:srgbClr val="C0392B"/>
                </a:solidFill>
                <a:latin typeface="Calibri"/>
                <a:cs typeface="Calibri"/>
              </a:rPr>
              <a:t> OS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35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buChar char="•"/>
              <a:tabLst>
                <a:tab pos="132080" algn="l"/>
              </a:tabLst>
            </a:pP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Chaque</a:t>
            </a:r>
            <a:r>
              <a:rPr dirty="0" sz="1000" spc="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appli</a:t>
            </a:r>
            <a:r>
              <a:rPr dirty="0" sz="1000" spc="4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pilote</a:t>
            </a:r>
            <a:r>
              <a:rPr dirty="0" sz="1000" spc="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l'écran</a:t>
            </a:r>
            <a:r>
              <a:rPr dirty="0" sz="10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pixel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par</a:t>
            </a:r>
            <a:r>
              <a:rPr dirty="0" sz="10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pixel</a:t>
            </a:r>
            <a:r>
              <a:rPr dirty="0" sz="1000" spc="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elle-</a:t>
            </a:r>
            <a:r>
              <a:rPr dirty="0" sz="1000" spc="-20">
                <a:solidFill>
                  <a:srgbClr val="1A2233"/>
                </a:solidFill>
                <a:latin typeface="Calibri"/>
                <a:cs typeface="Calibri"/>
              </a:rPr>
              <a:t>même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1A2233"/>
              </a:buClr>
              <a:buFont typeface="Calibri"/>
              <a:buChar char="•"/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Clr>
                <a:srgbClr val="1A2233"/>
              </a:buClr>
              <a:buFont typeface="Calibri"/>
              <a:buChar char="•"/>
            </a:pPr>
            <a:endParaRPr sz="1000">
              <a:latin typeface="Calibri"/>
              <a:cs typeface="Calibri"/>
            </a:endParaRPr>
          </a:p>
          <a:p>
            <a:pPr marL="12700" marR="280035" indent="119380">
              <a:lnSpc>
                <a:spcPct val="101000"/>
              </a:lnSpc>
              <a:buChar char="•"/>
              <a:tabLst>
                <a:tab pos="132080" algn="l"/>
              </a:tabLst>
            </a:pP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Chaque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appli</a:t>
            </a:r>
            <a:r>
              <a:rPr dirty="0" sz="1000" spc="4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doit</a:t>
            </a:r>
            <a:r>
              <a:rPr dirty="0" sz="10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savoir</a:t>
            </a:r>
            <a:r>
              <a:rPr dirty="0" sz="1000" spc="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lire</a:t>
            </a:r>
            <a:r>
              <a:rPr dirty="0" sz="100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10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disque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secteur</a:t>
            </a:r>
            <a:r>
              <a:rPr dirty="0" sz="10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A2233"/>
                </a:solidFill>
                <a:latin typeface="Calibri"/>
                <a:cs typeface="Calibri"/>
              </a:rPr>
              <a:t>par</a:t>
            </a:r>
            <a:r>
              <a:rPr dirty="0" sz="1000" spc="-10">
                <a:solidFill>
                  <a:srgbClr val="1A2233"/>
                </a:solidFill>
                <a:latin typeface="Calibri"/>
                <a:cs typeface="Calibri"/>
              </a:rPr>
              <a:t> secteur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Clr>
                <a:srgbClr val="1A2233"/>
              </a:buClr>
              <a:buFont typeface="Calibri"/>
              <a:buChar char="•"/>
            </a:pPr>
            <a:endParaRPr sz="100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buChar char="•"/>
              <a:tabLst>
                <a:tab pos="132080" algn="l"/>
              </a:tabLst>
            </a:pP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r>
              <a:rPr dirty="0" sz="100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travail</a:t>
            </a:r>
            <a:r>
              <a:rPr dirty="0" sz="1000" spc="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énorme,</a:t>
            </a:r>
            <a:r>
              <a:rPr dirty="0" sz="1000" spc="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à</a:t>
            </a:r>
            <a:r>
              <a:rPr dirty="0" sz="10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refaire</a:t>
            </a:r>
            <a:r>
              <a:rPr dirty="0" sz="10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pour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chaque</a:t>
            </a:r>
            <a:r>
              <a:rPr dirty="0" sz="1000" spc="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programme</a:t>
            </a:r>
            <a:r>
              <a:rPr dirty="0" sz="1000" spc="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1A2233"/>
                </a:solidFill>
                <a:latin typeface="Calibri"/>
                <a:cs typeface="Calibri"/>
              </a:rPr>
              <a:t>!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90900" y="9144"/>
            <a:ext cx="5105400" cy="273050"/>
          </a:xfrm>
          <a:custGeom>
            <a:avLst/>
            <a:gdLst/>
            <a:ahLst/>
            <a:cxnLst/>
            <a:rect l="l" t="t" r="r" b="b"/>
            <a:pathLst>
              <a:path w="5105400" h="273050">
                <a:moveTo>
                  <a:pt x="5105400" y="0"/>
                </a:moveTo>
                <a:lnTo>
                  <a:pt x="0" y="0"/>
                </a:lnTo>
                <a:lnTo>
                  <a:pt x="0" y="272796"/>
                </a:lnTo>
                <a:lnTo>
                  <a:pt x="5105400" y="272796"/>
                </a:lnTo>
                <a:lnTo>
                  <a:pt x="5105400" y="0"/>
                </a:lnTo>
                <a:close/>
              </a:path>
            </a:pathLst>
          </a:custGeom>
          <a:solidFill>
            <a:srgbClr val="FF45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3469894" y="8636"/>
            <a:ext cx="4675505" cy="2393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12108" y="301752"/>
            <a:ext cx="4998720" cy="273050"/>
          </a:xfrm>
          <a:custGeom>
            <a:avLst/>
            <a:gdLst/>
            <a:ahLst/>
            <a:cxnLst/>
            <a:rect l="l" t="t" r="r" b="b"/>
            <a:pathLst>
              <a:path w="4998720" h="273050">
                <a:moveTo>
                  <a:pt x="4998720" y="0"/>
                </a:moveTo>
                <a:lnTo>
                  <a:pt x="0" y="0"/>
                </a:lnTo>
                <a:lnTo>
                  <a:pt x="0" y="272796"/>
                </a:lnTo>
                <a:lnTo>
                  <a:pt x="4998720" y="272796"/>
                </a:lnTo>
                <a:lnTo>
                  <a:pt x="4998720" y="0"/>
                </a:lnTo>
                <a:close/>
              </a:path>
            </a:pathLst>
          </a:custGeom>
          <a:solidFill>
            <a:srgbClr val="F49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991483" y="296418"/>
            <a:ext cx="28568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98628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60" b="1">
                <a:solidFill>
                  <a:srgbClr val="D5880F"/>
                </a:solidFill>
                <a:latin typeface="Calibri"/>
                <a:cs typeface="Calibri"/>
              </a:rPr>
              <a:t>DEUX</a:t>
            </a:r>
            <a:r>
              <a:rPr dirty="0" sz="950" spc="21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FAÇONS</a:t>
            </a:r>
            <a:r>
              <a:rPr dirty="0" sz="950" spc="22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D5880F"/>
                </a:solidFill>
                <a:latin typeface="Calibri"/>
                <a:cs typeface="Calibri"/>
              </a:rPr>
              <a:t>DE</a:t>
            </a:r>
            <a:r>
              <a:rPr dirty="0" sz="950" spc="20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DÉFINIR</a:t>
            </a:r>
            <a:r>
              <a:rPr dirty="0" sz="950" spc="22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D5880F"/>
                </a:solidFill>
                <a:latin typeface="Calibri"/>
                <a:cs typeface="Calibri"/>
              </a:rPr>
              <a:t>UN</a:t>
            </a:r>
            <a:r>
              <a:rPr dirty="0" sz="950" spc="20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-25" b="1">
                <a:solidFill>
                  <a:srgbClr val="D5880F"/>
                </a:solidFill>
                <a:latin typeface="Calibri"/>
                <a:cs typeface="Calibri"/>
              </a:rPr>
              <a:t>OS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6676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Machine</a:t>
            </a:r>
            <a:r>
              <a:rPr dirty="0" sz="2400" spc="-10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étendue</a:t>
            </a:r>
            <a:r>
              <a:rPr dirty="0" sz="2400" spc="-7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vs.</a:t>
            </a:r>
            <a:r>
              <a:rPr dirty="0" sz="2400" spc="-9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gestionnaire</a:t>
            </a:r>
            <a:r>
              <a:rPr dirty="0" sz="2400" spc="-8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de</a:t>
            </a:r>
            <a:r>
              <a:rPr dirty="0" sz="2400" spc="-8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ressources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0059" y="1371600"/>
            <a:ext cx="3807460" cy="2674620"/>
            <a:chOff x="480059" y="1371600"/>
            <a:chExt cx="3807460" cy="2674620"/>
          </a:xfrm>
        </p:grpSpPr>
        <p:sp>
          <p:nvSpPr>
            <p:cNvPr id="5" name="object 5"/>
            <p:cNvSpPr/>
            <p:nvPr/>
          </p:nvSpPr>
          <p:spPr>
            <a:xfrm>
              <a:off x="480059" y="1371600"/>
              <a:ext cx="3807460" cy="2674620"/>
            </a:xfrm>
            <a:custGeom>
              <a:avLst/>
              <a:gdLst/>
              <a:ahLst/>
              <a:cxnLst/>
              <a:rect l="l" t="t" r="r" b="b"/>
              <a:pathLst>
                <a:path w="3807460" h="2674620">
                  <a:moveTo>
                    <a:pt x="3704081" y="0"/>
                  </a:moveTo>
                  <a:lnTo>
                    <a:pt x="102870" y="0"/>
                  </a:lnTo>
                  <a:lnTo>
                    <a:pt x="62825" y="8090"/>
                  </a:lnTo>
                  <a:lnTo>
                    <a:pt x="30127" y="30146"/>
                  </a:lnTo>
                  <a:lnTo>
                    <a:pt x="8083" y="62847"/>
                  </a:lnTo>
                  <a:lnTo>
                    <a:pt x="0" y="102870"/>
                  </a:lnTo>
                  <a:lnTo>
                    <a:pt x="0" y="2571750"/>
                  </a:lnTo>
                  <a:lnTo>
                    <a:pt x="8083" y="2611794"/>
                  </a:lnTo>
                  <a:lnTo>
                    <a:pt x="30127" y="2644492"/>
                  </a:lnTo>
                  <a:lnTo>
                    <a:pt x="62825" y="2666536"/>
                  </a:lnTo>
                  <a:lnTo>
                    <a:pt x="102870" y="2674620"/>
                  </a:lnTo>
                  <a:lnTo>
                    <a:pt x="3704081" y="2674620"/>
                  </a:lnTo>
                  <a:lnTo>
                    <a:pt x="3744104" y="2666536"/>
                  </a:lnTo>
                  <a:lnTo>
                    <a:pt x="3776805" y="2644492"/>
                  </a:lnTo>
                  <a:lnTo>
                    <a:pt x="3798861" y="2611794"/>
                  </a:lnTo>
                  <a:lnTo>
                    <a:pt x="3806952" y="2571750"/>
                  </a:lnTo>
                  <a:lnTo>
                    <a:pt x="3806952" y="102870"/>
                  </a:lnTo>
                  <a:lnTo>
                    <a:pt x="3798861" y="62847"/>
                  </a:lnTo>
                  <a:lnTo>
                    <a:pt x="3776805" y="30146"/>
                  </a:lnTo>
                  <a:lnTo>
                    <a:pt x="3744104" y="8090"/>
                  </a:lnTo>
                  <a:lnTo>
                    <a:pt x="3704081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4379" y="1645920"/>
              <a:ext cx="584200" cy="584200"/>
            </a:xfrm>
            <a:custGeom>
              <a:avLst/>
              <a:gdLst/>
              <a:ahLst/>
              <a:cxnLst/>
              <a:rect l="l" t="t" r="r" b="b"/>
              <a:pathLst>
                <a:path w="584200" h="584200">
                  <a:moveTo>
                    <a:pt x="291845" y="0"/>
                  </a:moveTo>
                  <a:lnTo>
                    <a:pt x="244505" y="3820"/>
                  </a:lnTo>
                  <a:lnTo>
                    <a:pt x="199597" y="14880"/>
                  </a:lnTo>
                  <a:lnTo>
                    <a:pt x="157723" y="32578"/>
                  </a:lnTo>
                  <a:lnTo>
                    <a:pt x="119482" y="56314"/>
                  </a:lnTo>
                  <a:lnTo>
                    <a:pt x="85477" y="85486"/>
                  </a:lnTo>
                  <a:lnTo>
                    <a:pt x="56307" y="119493"/>
                  </a:lnTo>
                  <a:lnTo>
                    <a:pt x="32574" y="157734"/>
                  </a:lnTo>
                  <a:lnTo>
                    <a:pt x="14877" y="199607"/>
                  </a:lnTo>
                  <a:lnTo>
                    <a:pt x="3819" y="244511"/>
                  </a:lnTo>
                  <a:lnTo>
                    <a:pt x="0" y="291845"/>
                  </a:lnTo>
                  <a:lnTo>
                    <a:pt x="3819" y="339180"/>
                  </a:lnTo>
                  <a:lnTo>
                    <a:pt x="14877" y="384084"/>
                  </a:lnTo>
                  <a:lnTo>
                    <a:pt x="32574" y="425957"/>
                  </a:lnTo>
                  <a:lnTo>
                    <a:pt x="56307" y="464198"/>
                  </a:lnTo>
                  <a:lnTo>
                    <a:pt x="85477" y="498205"/>
                  </a:lnTo>
                  <a:lnTo>
                    <a:pt x="119482" y="527377"/>
                  </a:lnTo>
                  <a:lnTo>
                    <a:pt x="157723" y="551113"/>
                  </a:lnTo>
                  <a:lnTo>
                    <a:pt x="199597" y="568811"/>
                  </a:lnTo>
                  <a:lnTo>
                    <a:pt x="244505" y="579871"/>
                  </a:lnTo>
                  <a:lnTo>
                    <a:pt x="291845" y="583691"/>
                  </a:lnTo>
                  <a:lnTo>
                    <a:pt x="339183" y="579871"/>
                  </a:lnTo>
                  <a:lnTo>
                    <a:pt x="384089" y="568811"/>
                  </a:lnTo>
                  <a:lnTo>
                    <a:pt x="425963" y="551113"/>
                  </a:lnTo>
                  <a:lnTo>
                    <a:pt x="464203" y="527377"/>
                  </a:lnTo>
                  <a:lnTo>
                    <a:pt x="498209" y="498205"/>
                  </a:lnTo>
                  <a:lnTo>
                    <a:pt x="527380" y="464198"/>
                  </a:lnTo>
                  <a:lnTo>
                    <a:pt x="551115" y="425957"/>
                  </a:lnTo>
                  <a:lnTo>
                    <a:pt x="568812" y="384084"/>
                  </a:lnTo>
                  <a:lnTo>
                    <a:pt x="579872" y="339180"/>
                  </a:lnTo>
                  <a:lnTo>
                    <a:pt x="583692" y="291845"/>
                  </a:lnTo>
                  <a:lnTo>
                    <a:pt x="579872" y="244511"/>
                  </a:lnTo>
                  <a:lnTo>
                    <a:pt x="568812" y="199607"/>
                  </a:lnTo>
                  <a:lnTo>
                    <a:pt x="551115" y="157734"/>
                  </a:lnTo>
                  <a:lnTo>
                    <a:pt x="527380" y="119493"/>
                  </a:lnTo>
                  <a:lnTo>
                    <a:pt x="498209" y="85486"/>
                  </a:lnTo>
                  <a:lnTo>
                    <a:pt x="464203" y="56314"/>
                  </a:lnTo>
                  <a:lnTo>
                    <a:pt x="425963" y="32578"/>
                  </a:lnTo>
                  <a:lnTo>
                    <a:pt x="384089" y="14880"/>
                  </a:lnTo>
                  <a:lnTo>
                    <a:pt x="339183" y="3820"/>
                  </a:lnTo>
                  <a:lnTo>
                    <a:pt x="29184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/home/claude/ppt/icons/bulb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587" y="1786127"/>
              <a:ext cx="303275" cy="30327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3119" y="2396489"/>
            <a:ext cx="1833880" cy="40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00"/>
              </a:spcBef>
            </a:pPr>
            <a:r>
              <a:rPr dirty="0" sz="1200" b="1">
                <a:solidFill>
                  <a:srgbClr val="1F385F"/>
                </a:solidFill>
                <a:latin typeface="Calibri"/>
                <a:cs typeface="Calibri"/>
              </a:rPr>
              <a:t>Vision</a:t>
            </a:r>
            <a:r>
              <a:rPr dirty="0" sz="1200" spc="6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385F"/>
                </a:solidFill>
                <a:latin typeface="Calibri"/>
                <a:cs typeface="Calibri"/>
              </a:rPr>
              <a:t>«</a:t>
            </a:r>
            <a:r>
              <a:rPr dirty="0" sz="1200" spc="7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385F"/>
                </a:solidFill>
                <a:latin typeface="Calibri"/>
                <a:cs typeface="Calibri"/>
              </a:rPr>
              <a:t>machine</a:t>
            </a:r>
            <a:r>
              <a:rPr dirty="0" sz="1200" spc="4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385F"/>
                </a:solidFill>
                <a:latin typeface="Calibri"/>
                <a:cs typeface="Calibri"/>
              </a:rPr>
              <a:t>étendue</a:t>
            </a:r>
            <a:r>
              <a:rPr dirty="0" sz="1200" spc="6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F385F"/>
                </a:solidFill>
                <a:latin typeface="Calibri"/>
                <a:cs typeface="Calibri"/>
              </a:rPr>
              <a:t>» </a:t>
            </a:r>
            <a:r>
              <a:rPr dirty="0" sz="1200" b="1">
                <a:solidFill>
                  <a:srgbClr val="1F385F"/>
                </a:solidFill>
                <a:latin typeface="Calibri"/>
                <a:cs typeface="Calibri"/>
              </a:rPr>
              <a:t>Coté</a:t>
            </a:r>
            <a:r>
              <a:rPr dirty="0" sz="1200" spc="3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385F"/>
                </a:solidFill>
                <a:latin typeface="Calibri"/>
                <a:cs typeface="Calibri"/>
              </a:rPr>
              <a:t>utilisateur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3119" y="3143757"/>
            <a:ext cx="3104515" cy="488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L'OS</a:t>
            </a:r>
            <a:r>
              <a:rPr dirty="0" sz="10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masque</a:t>
            </a:r>
            <a:r>
              <a:rPr dirty="0" sz="1000" spc="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la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complexité</a:t>
            </a:r>
            <a:r>
              <a:rPr dirty="0" sz="1000" spc="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du</a:t>
            </a:r>
            <a:r>
              <a:rPr dirty="0" sz="1000" spc="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matériel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:</a:t>
            </a:r>
            <a:r>
              <a:rPr dirty="0" sz="10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il</a:t>
            </a:r>
            <a:r>
              <a:rPr dirty="0" sz="100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offre</a:t>
            </a:r>
            <a:r>
              <a:rPr dirty="0" sz="10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des </a:t>
            </a:r>
            <a:r>
              <a:rPr dirty="0" sz="1000" spc="-50">
                <a:solidFill>
                  <a:srgbClr val="1A2233"/>
                </a:solidFill>
                <a:latin typeface="Calibri"/>
                <a:cs typeface="Calibri"/>
              </a:rPr>
              <a:t>«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 fichiers</a:t>
            </a:r>
            <a:r>
              <a:rPr dirty="0" sz="1000" spc="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»</a:t>
            </a:r>
            <a:r>
              <a:rPr dirty="0" sz="10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plutôt</a:t>
            </a:r>
            <a:r>
              <a:rPr dirty="0" sz="1000" spc="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que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des</a:t>
            </a:r>
            <a:r>
              <a:rPr dirty="0" sz="10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secteurs</a:t>
            </a:r>
            <a:r>
              <a:rPr dirty="0" sz="100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de</a:t>
            </a:r>
            <a:r>
              <a:rPr dirty="0" sz="100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disque,</a:t>
            </a:r>
            <a:r>
              <a:rPr dirty="0" sz="1000" spc="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des</a:t>
            </a:r>
            <a:r>
              <a:rPr dirty="0" sz="10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«</a:t>
            </a:r>
            <a:r>
              <a:rPr dirty="0" sz="10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233"/>
                </a:solidFill>
                <a:latin typeface="Calibri"/>
                <a:cs typeface="Calibri"/>
              </a:rPr>
              <a:t>fenêtres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» plutôt</a:t>
            </a:r>
            <a:r>
              <a:rPr dirty="0" sz="1000" spc="4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que</a:t>
            </a:r>
            <a:r>
              <a:rPr dirty="0" sz="1000" spc="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des registres</a:t>
            </a:r>
            <a:r>
              <a:rPr dirty="0" sz="10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233"/>
                </a:solidFill>
                <a:latin typeface="Calibri"/>
                <a:cs typeface="Calibri"/>
              </a:rPr>
              <a:t>graphiques.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69179" y="1371600"/>
            <a:ext cx="3807460" cy="2674620"/>
            <a:chOff x="4869179" y="1371600"/>
            <a:chExt cx="3807460" cy="2674620"/>
          </a:xfrm>
        </p:grpSpPr>
        <p:sp>
          <p:nvSpPr>
            <p:cNvPr id="11" name="object 11"/>
            <p:cNvSpPr/>
            <p:nvPr/>
          </p:nvSpPr>
          <p:spPr>
            <a:xfrm>
              <a:off x="4869179" y="1371600"/>
              <a:ext cx="3807460" cy="2674620"/>
            </a:xfrm>
            <a:custGeom>
              <a:avLst/>
              <a:gdLst/>
              <a:ahLst/>
              <a:cxnLst/>
              <a:rect l="l" t="t" r="r" b="b"/>
              <a:pathLst>
                <a:path w="3807459" h="2674620">
                  <a:moveTo>
                    <a:pt x="3704081" y="0"/>
                  </a:moveTo>
                  <a:lnTo>
                    <a:pt x="102870" y="0"/>
                  </a:lnTo>
                  <a:lnTo>
                    <a:pt x="62847" y="8090"/>
                  </a:lnTo>
                  <a:lnTo>
                    <a:pt x="30146" y="30146"/>
                  </a:lnTo>
                  <a:lnTo>
                    <a:pt x="8090" y="62847"/>
                  </a:lnTo>
                  <a:lnTo>
                    <a:pt x="0" y="102870"/>
                  </a:lnTo>
                  <a:lnTo>
                    <a:pt x="0" y="2571750"/>
                  </a:lnTo>
                  <a:lnTo>
                    <a:pt x="8090" y="2611794"/>
                  </a:lnTo>
                  <a:lnTo>
                    <a:pt x="30146" y="2644492"/>
                  </a:lnTo>
                  <a:lnTo>
                    <a:pt x="62847" y="2666536"/>
                  </a:lnTo>
                  <a:lnTo>
                    <a:pt x="102870" y="2674620"/>
                  </a:lnTo>
                  <a:lnTo>
                    <a:pt x="3704081" y="2674620"/>
                  </a:lnTo>
                  <a:lnTo>
                    <a:pt x="3744104" y="2666536"/>
                  </a:lnTo>
                  <a:lnTo>
                    <a:pt x="3776805" y="2644492"/>
                  </a:lnTo>
                  <a:lnTo>
                    <a:pt x="3798861" y="2611794"/>
                  </a:lnTo>
                  <a:lnTo>
                    <a:pt x="3806952" y="2571750"/>
                  </a:lnTo>
                  <a:lnTo>
                    <a:pt x="3806952" y="102870"/>
                  </a:lnTo>
                  <a:lnTo>
                    <a:pt x="3798861" y="62847"/>
                  </a:lnTo>
                  <a:lnTo>
                    <a:pt x="3776805" y="30146"/>
                  </a:lnTo>
                  <a:lnTo>
                    <a:pt x="3744104" y="8090"/>
                  </a:lnTo>
                  <a:lnTo>
                    <a:pt x="3704081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143499" y="1645920"/>
              <a:ext cx="584200" cy="584200"/>
            </a:xfrm>
            <a:custGeom>
              <a:avLst/>
              <a:gdLst/>
              <a:ahLst/>
              <a:cxnLst/>
              <a:rect l="l" t="t" r="r" b="b"/>
              <a:pathLst>
                <a:path w="584200" h="584200">
                  <a:moveTo>
                    <a:pt x="291846" y="0"/>
                  </a:moveTo>
                  <a:lnTo>
                    <a:pt x="244511" y="3820"/>
                  </a:lnTo>
                  <a:lnTo>
                    <a:pt x="199607" y="14880"/>
                  </a:lnTo>
                  <a:lnTo>
                    <a:pt x="157734" y="32578"/>
                  </a:lnTo>
                  <a:lnTo>
                    <a:pt x="119493" y="56314"/>
                  </a:lnTo>
                  <a:lnTo>
                    <a:pt x="85486" y="85486"/>
                  </a:lnTo>
                  <a:lnTo>
                    <a:pt x="56314" y="119493"/>
                  </a:lnTo>
                  <a:lnTo>
                    <a:pt x="32578" y="157734"/>
                  </a:lnTo>
                  <a:lnTo>
                    <a:pt x="14880" y="199607"/>
                  </a:lnTo>
                  <a:lnTo>
                    <a:pt x="3820" y="244511"/>
                  </a:lnTo>
                  <a:lnTo>
                    <a:pt x="0" y="291845"/>
                  </a:lnTo>
                  <a:lnTo>
                    <a:pt x="3820" y="339180"/>
                  </a:lnTo>
                  <a:lnTo>
                    <a:pt x="14880" y="384084"/>
                  </a:lnTo>
                  <a:lnTo>
                    <a:pt x="32578" y="425957"/>
                  </a:lnTo>
                  <a:lnTo>
                    <a:pt x="56314" y="464198"/>
                  </a:lnTo>
                  <a:lnTo>
                    <a:pt x="85486" y="498205"/>
                  </a:lnTo>
                  <a:lnTo>
                    <a:pt x="119493" y="527377"/>
                  </a:lnTo>
                  <a:lnTo>
                    <a:pt x="157734" y="551113"/>
                  </a:lnTo>
                  <a:lnTo>
                    <a:pt x="199607" y="568811"/>
                  </a:lnTo>
                  <a:lnTo>
                    <a:pt x="244511" y="579871"/>
                  </a:lnTo>
                  <a:lnTo>
                    <a:pt x="291846" y="583691"/>
                  </a:lnTo>
                  <a:lnTo>
                    <a:pt x="339180" y="579871"/>
                  </a:lnTo>
                  <a:lnTo>
                    <a:pt x="384084" y="568811"/>
                  </a:lnTo>
                  <a:lnTo>
                    <a:pt x="425957" y="551113"/>
                  </a:lnTo>
                  <a:lnTo>
                    <a:pt x="464198" y="527377"/>
                  </a:lnTo>
                  <a:lnTo>
                    <a:pt x="498205" y="498205"/>
                  </a:lnTo>
                  <a:lnTo>
                    <a:pt x="527377" y="464198"/>
                  </a:lnTo>
                  <a:lnTo>
                    <a:pt x="551113" y="425957"/>
                  </a:lnTo>
                  <a:lnTo>
                    <a:pt x="568811" y="384084"/>
                  </a:lnTo>
                  <a:lnTo>
                    <a:pt x="579871" y="339180"/>
                  </a:lnTo>
                  <a:lnTo>
                    <a:pt x="583691" y="291845"/>
                  </a:lnTo>
                  <a:lnTo>
                    <a:pt x="579871" y="244511"/>
                  </a:lnTo>
                  <a:lnTo>
                    <a:pt x="568811" y="199607"/>
                  </a:lnTo>
                  <a:lnTo>
                    <a:pt x="551113" y="157734"/>
                  </a:lnTo>
                  <a:lnTo>
                    <a:pt x="527377" y="119493"/>
                  </a:lnTo>
                  <a:lnTo>
                    <a:pt x="498205" y="85486"/>
                  </a:lnTo>
                  <a:lnTo>
                    <a:pt x="464198" y="56314"/>
                  </a:lnTo>
                  <a:lnTo>
                    <a:pt x="425957" y="32578"/>
                  </a:lnTo>
                  <a:lnTo>
                    <a:pt x="384084" y="14880"/>
                  </a:lnTo>
                  <a:lnTo>
                    <a:pt x="339180" y="3820"/>
                  </a:lnTo>
                  <a:lnTo>
                    <a:pt x="291846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/home/claude/ppt/icons/scal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3707" y="1786127"/>
              <a:ext cx="303275" cy="30327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223128" y="2396489"/>
            <a:ext cx="2431415" cy="40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00"/>
              </a:spcBef>
            </a:pPr>
            <a:r>
              <a:rPr dirty="0" sz="1200" b="1">
                <a:solidFill>
                  <a:srgbClr val="1F385F"/>
                </a:solidFill>
                <a:latin typeface="Calibri"/>
                <a:cs typeface="Calibri"/>
              </a:rPr>
              <a:t>Vision</a:t>
            </a:r>
            <a:r>
              <a:rPr dirty="0" sz="1200" spc="6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385F"/>
                </a:solidFill>
                <a:latin typeface="Calibri"/>
                <a:cs typeface="Calibri"/>
              </a:rPr>
              <a:t>«</a:t>
            </a:r>
            <a:r>
              <a:rPr dirty="0" sz="1200" spc="6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385F"/>
                </a:solidFill>
                <a:latin typeface="Calibri"/>
                <a:cs typeface="Calibri"/>
              </a:rPr>
              <a:t>gestionnaire</a:t>
            </a:r>
            <a:r>
              <a:rPr dirty="0" sz="1200" spc="4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385F"/>
                </a:solidFill>
                <a:latin typeface="Calibri"/>
                <a:cs typeface="Calibri"/>
              </a:rPr>
              <a:t>de</a:t>
            </a:r>
            <a:r>
              <a:rPr dirty="0" sz="1200" spc="9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385F"/>
                </a:solidFill>
                <a:latin typeface="Calibri"/>
                <a:cs typeface="Calibri"/>
              </a:rPr>
              <a:t>ressources</a:t>
            </a:r>
            <a:r>
              <a:rPr dirty="0" sz="1200" spc="5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F385F"/>
                </a:solidFill>
                <a:latin typeface="Calibri"/>
                <a:cs typeface="Calibri"/>
              </a:rPr>
              <a:t>» </a:t>
            </a:r>
            <a:r>
              <a:rPr dirty="0" sz="1200" b="1">
                <a:solidFill>
                  <a:srgbClr val="1F385F"/>
                </a:solidFill>
                <a:latin typeface="Calibri"/>
                <a:cs typeface="Calibri"/>
              </a:rPr>
              <a:t>Coté</a:t>
            </a:r>
            <a:r>
              <a:rPr dirty="0" sz="1200" spc="3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385F"/>
                </a:solidFill>
                <a:latin typeface="Calibri"/>
                <a:cs typeface="Calibri"/>
              </a:rPr>
              <a:t>matériel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23128" y="3143757"/>
            <a:ext cx="3095625" cy="488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L'OS</a:t>
            </a:r>
            <a:r>
              <a:rPr dirty="0" sz="10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répartit</a:t>
            </a:r>
            <a:r>
              <a:rPr dirty="0" sz="100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équitablement</a:t>
            </a:r>
            <a:r>
              <a:rPr dirty="0" sz="1000" spc="4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10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processeur,</a:t>
            </a:r>
            <a:r>
              <a:rPr dirty="0" sz="10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la</a:t>
            </a:r>
            <a:r>
              <a:rPr dirty="0" sz="10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mémoire</a:t>
            </a:r>
            <a:r>
              <a:rPr dirty="0" sz="10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A2233"/>
                </a:solidFill>
                <a:latin typeface="Calibri"/>
                <a:cs typeface="Calibri"/>
              </a:rPr>
              <a:t>et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 les</a:t>
            </a:r>
            <a:r>
              <a:rPr dirty="0" sz="10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périphériques</a:t>
            </a:r>
            <a:r>
              <a:rPr dirty="0" sz="1000" spc="4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entre</a:t>
            </a:r>
            <a:r>
              <a:rPr dirty="0" sz="100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les</a:t>
            </a:r>
            <a:r>
              <a:rPr dirty="0" sz="10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programmes</a:t>
            </a:r>
            <a:r>
              <a:rPr dirty="0" sz="1000" spc="4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qui</a:t>
            </a:r>
            <a:r>
              <a:rPr dirty="0" sz="100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s'exécutent</a:t>
            </a:r>
            <a:r>
              <a:rPr dirty="0" sz="100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A2233"/>
                </a:solidFill>
                <a:latin typeface="Calibri"/>
                <a:cs typeface="Calibri"/>
              </a:rPr>
              <a:t>en</a:t>
            </a:r>
            <a:r>
              <a:rPr dirty="0" sz="1000">
                <a:solidFill>
                  <a:srgbClr val="1A2233"/>
                </a:solidFill>
                <a:latin typeface="Calibri"/>
                <a:cs typeface="Calibri"/>
              </a:rPr>
              <a:t> même </a:t>
            </a:r>
            <a:r>
              <a:rPr dirty="0" sz="1000" spc="-10">
                <a:solidFill>
                  <a:srgbClr val="1A2233"/>
                </a:solidFill>
                <a:latin typeface="Calibri"/>
                <a:cs typeface="Calibri"/>
              </a:rPr>
              <a:t>temps.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08376" y="1004316"/>
            <a:ext cx="2981325" cy="300355"/>
          </a:xfrm>
          <a:prstGeom prst="rect">
            <a:avLst/>
          </a:prstGeom>
          <a:solidFill>
            <a:srgbClr val="DEEBF7"/>
          </a:solidFill>
          <a:ln w="9144">
            <a:solidFill>
              <a:srgbClr val="BCD6ED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dirty="0" sz="1350" b="1">
                <a:solidFill>
                  <a:srgbClr val="FF4500"/>
                </a:solidFill>
                <a:latin typeface="Calibri"/>
                <a:cs typeface="Calibri"/>
              </a:rPr>
              <a:t>L'OS</a:t>
            </a:r>
            <a:r>
              <a:rPr dirty="0" sz="1350" spc="-25" b="1">
                <a:solidFill>
                  <a:srgbClr val="FF4500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F4500"/>
                </a:solidFill>
                <a:latin typeface="Calibri"/>
                <a:cs typeface="Calibri"/>
              </a:rPr>
              <a:t>offre</a:t>
            </a:r>
            <a:r>
              <a:rPr dirty="0" sz="1350" spc="-50" b="1">
                <a:solidFill>
                  <a:srgbClr val="FF4500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F4500"/>
                </a:solidFill>
                <a:latin typeface="Calibri"/>
                <a:cs typeface="Calibri"/>
              </a:rPr>
              <a:t>deux</a:t>
            </a:r>
            <a:r>
              <a:rPr dirty="0" sz="1350" spc="-40" b="1">
                <a:solidFill>
                  <a:srgbClr val="FF4500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FF4500"/>
                </a:solidFill>
                <a:latin typeface="Calibri"/>
                <a:cs typeface="Calibri"/>
              </a:rPr>
              <a:t>services</a:t>
            </a:r>
            <a:r>
              <a:rPr dirty="0" sz="1350" spc="-40" b="1">
                <a:solidFill>
                  <a:srgbClr val="FF4500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FF4500"/>
                </a:solidFill>
                <a:latin typeface="Calibri"/>
                <a:cs typeface="Calibri"/>
              </a:rPr>
              <a:t>fondamentaux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83223" y="1078991"/>
            <a:ext cx="807720" cy="410209"/>
            <a:chOff x="5983223" y="1078991"/>
            <a:chExt cx="807720" cy="410209"/>
          </a:xfrm>
        </p:grpSpPr>
        <p:sp>
          <p:nvSpPr>
            <p:cNvPr id="18" name="object 18"/>
            <p:cNvSpPr/>
            <p:nvPr/>
          </p:nvSpPr>
          <p:spPr>
            <a:xfrm>
              <a:off x="5989319" y="1085087"/>
              <a:ext cx="795655" cy="398145"/>
            </a:xfrm>
            <a:custGeom>
              <a:avLst/>
              <a:gdLst/>
              <a:ahLst/>
              <a:cxnLst/>
              <a:rect l="l" t="t" r="r" b="b"/>
              <a:pathLst>
                <a:path w="795654" h="398144">
                  <a:moveTo>
                    <a:pt x="571753" y="0"/>
                  </a:moveTo>
                  <a:lnTo>
                    <a:pt x="0" y="0"/>
                  </a:lnTo>
                  <a:lnTo>
                    <a:pt x="0" y="99440"/>
                  </a:lnTo>
                  <a:lnTo>
                    <a:pt x="571753" y="99440"/>
                  </a:lnTo>
                  <a:lnTo>
                    <a:pt x="600815" y="105302"/>
                  </a:lnTo>
                  <a:lnTo>
                    <a:pt x="624506" y="121285"/>
                  </a:lnTo>
                  <a:lnTo>
                    <a:pt x="640459" y="144982"/>
                  </a:lnTo>
                  <a:lnTo>
                    <a:pt x="646302" y="173989"/>
                  </a:lnTo>
                  <a:lnTo>
                    <a:pt x="646302" y="298323"/>
                  </a:lnTo>
                  <a:lnTo>
                    <a:pt x="596646" y="298323"/>
                  </a:lnTo>
                  <a:lnTo>
                    <a:pt x="696086" y="397763"/>
                  </a:lnTo>
                  <a:lnTo>
                    <a:pt x="795527" y="298323"/>
                  </a:lnTo>
                  <a:lnTo>
                    <a:pt x="745744" y="298323"/>
                  </a:lnTo>
                  <a:lnTo>
                    <a:pt x="745744" y="173989"/>
                  </a:lnTo>
                  <a:lnTo>
                    <a:pt x="739532" y="127720"/>
                  </a:lnTo>
                  <a:lnTo>
                    <a:pt x="721999" y="86153"/>
                  </a:lnTo>
                  <a:lnTo>
                    <a:pt x="694801" y="50942"/>
                  </a:lnTo>
                  <a:lnTo>
                    <a:pt x="659590" y="23744"/>
                  </a:lnTo>
                  <a:lnTo>
                    <a:pt x="618023" y="6211"/>
                  </a:lnTo>
                  <a:lnTo>
                    <a:pt x="571753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989319" y="1085087"/>
              <a:ext cx="795655" cy="398145"/>
            </a:xfrm>
            <a:custGeom>
              <a:avLst/>
              <a:gdLst/>
              <a:ahLst/>
              <a:cxnLst/>
              <a:rect l="l" t="t" r="r" b="b"/>
              <a:pathLst>
                <a:path w="795654" h="398144">
                  <a:moveTo>
                    <a:pt x="0" y="0"/>
                  </a:moveTo>
                  <a:lnTo>
                    <a:pt x="571753" y="0"/>
                  </a:lnTo>
                  <a:lnTo>
                    <a:pt x="618023" y="6211"/>
                  </a:lnTo>
                  <a:lnTo>
                    <a:pt x="659590" y="23744"/>
                  </a:lnTo>
                  <a:lnTo>
                    <a:pt x="694801" y="50942"/>
                  </a:lnTo>
                  <a:lnTo>
                    <a:pt x="721999" y="86153"/>
                  </a:lnTo>
                  <a:lnTo>
                    <a:pt x="739532" y="127720"/>
                  </a:lnTo>
                  <a:lnTo>
                    <a:pt x="745744" y="173989"/>
                  </a:lnTo>
                  <a:lnTo>
                    <a:pt x="745744" y="298323"/>
                  </a:lnTo>
                  <a:lnTo>
                    <a:pt x="795527" y="298323"/>
                  </a:lnTo>
                  <a:lnTo>
                    <a:pt x="696086" y="397763"/>
                  </a:lnTo>
                  <a:lnTo>
                    <a:pt x="596646" y="298323"/>
                  </a:lnTo>
                  <a:lnTo>
                    <a:pt x="646302" y="298323"/>
                  </a:lnTo>
                  <a:lnTo>
                    <a:pt x="646302" y="173989"/>
                  </a:lnTo>
                  <a:lnTo>
                    <a:pt x="640459" y="144982"/>
                  </a:lnTo>
                  <a:lnTo>
                    <a:pt x="624506" y="121285"/>
                  </a:lnTo>
                  <a:lnTo>
                    <a:pt x="600815" y="105302"/>
                  </a:lnTo>
                  <a:lnTo>
                    <a:pt x="571753" y="99440"/>
                  </a:lnTo>
                  <a:lnTo>
                    <a:pt x="0" y="99440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BCD6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2206751" y="1091183"/>
            <a:ext cx="807720" cy="410209"/>
            <a:chOff x="2206751" y="1091183"/>
            <a:chExt cx="807720" cy="410209"/>
          </a:xfrm>
        </p:grpSpPr>
        <p:sp>
          <p:nvSpPr>
            <p:cNvPr id="21" name="object 21"/>
            <p:cNvSpPr/>
            <p:nvPr/>
          </p:nvSpPr>
          <p:spPr>
            <a:xfrm>
              <a:off x="2212847" y="1097279"/>
              <a:ext cx="795655" cy="398145"/>
            </a:xfrm>
            <a:custGeom>
              <a:avLst/>
              <a:gdLst/>
              <a:ahLst/>
              <a:cxnLst/>
              <a:rect l="l" t="t" r="r" b="b"/>
              <a:pathLst>
                <a:path w="795655" h="398144">
                  <a:moveTo>
                    <a:pt x="795527" y="0"/>
                  </a:moveTo>
                  <a:lnTo>
                    <a:pt x="223774" y="0"/>
                  </a:lnTo>
                  <a:lnTo>
                    <a:pt x="177494" y="6211"/>
                  </a:lnTo>
                  <a:lnTo>
                    <a:pt x="135904" y="23744"/>
                  </a:lnTo>
                  <a:lnTo>
                    <a:pt x="100663" y="50942"/>
                  </a:lnTo>
                  <a:lnTo>
                    <a:pt x="73434" y="86153"/>
                  </a:lnTo>
                  <a:lnTo>
                    <a:pt x="55878" y="127720"/>
                  </a:lnTo>
                  <a:lnTo>
                    <a:pt x="49656" y="173990"/>
                  </a:lnTo>
                  <a:lnTo>
                    <a:pt x="49656" y="298323"/>
                  </a:lnTo>
                  <a:lnTo>
                    <a:pt x="0" y="298323"/>
                  </a:lnTo>
                  <a:lnTo>
                    <a:pt x="99440" y="397764"/>
                  </a:lnTo>
                  <a:lnTo>
                    <a:pt x="198881" y="298323"/>
                  </a:lnTo>
                  <a:lnTo>
                    <a:pt x="149097" y="298323"/>
                  </a:lnTo>
                  <a:lnTo>
                    <a:pt x="149097" y="173990"/>
                  </a:lnTo>
                  <a:lnTo>
                    <a:pt x="154961" y="144982"/>
                  </a:lnTo>
                  <a:lnTo>
                    <a:pt x="170957" y="121285"/>
                  </a:lnTo>
                  <a:lnTo>
                    <a:pt x="194692" y="105302"/>
                  </a:lnTo>
                  <a:lnTo>
                    <a:pt x="223774" y="99441"/>
                  </a:lnTo>
                  <a:lnTo>
                    <a:pt x="795527" y="99441"/>
                  </a:lnTo>
                  <a:lnTo>
                    <a:pt x="79552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12847" y="1097279"/>
              <a:ext cx="795655" cy="398145"/>
            </a:xfrm>
            <a:custGeom>
              <a:avLst/>
              <a:gdLst/>
              <a:ahLst/>
              <a:cxnLst/>
              <a:rect l="l" t="t" r="r" b="b"/>
              <a:pathLst>
                <a:path w="795655" h="398144">
                  <a:moveTo>
                    <a:pt x="795527" y="0"/>
                  </a:moveTo>
                  <a:lnTo>
                    <a:pt x="223774" y="0"/>
                  </a:lnTo>
                  <a:lnTo>
                    <a:pt x="177494" y="6211"/>
                  </a:lnTo>
                  <a:lnTo>
                    <a:pt x="135904" y="23744"/>
                  </a:lnTo>
                  <a:lnTo>
                    <a:pt x="100663" y="50942"/>
                  </a:lnTo>
                  <a:lnTo>
                    <a:pt x="73434" y="86153"/>
                  </a:lnTo>
                  <a:lnTo>
                    <a:pt x="55878" y="127720"/>
                  </a:lnTo>
                  <a:lnTo>
                    <a:pt x="49656" y="173990"/>
                  </a:lnTo>
                  <a:lnTo>
                    <a:pt x="49656" y="298323"/>
                  </a:lnTo>
                  <a:lnTo>
                    <a:pt x="0" y="298323"/>
                  </a:lnTo>
                  <a:lnTo>
                    <a:pt x="99440" y="397764"/>
                  </a:lnTo>
                  <a:lnTo>
                    <a:pt x="198881" y="298323"/>
                  </a:lnTo>
                  <a:lnTo>
                    <a:pt x="149097" y="298323"/>
                  </a:lnTo>
                  <a:lnTo>
                    <a:pt x="149097" y="173990"/>
                  </a:lnTo>
                  <a:lnTo>
                    <a:pt x="154961" y="144982"/>
                  </a:lnTo>
                  <a:lnTo>
                    <a:pt x="170957" y="121285"/>
                  </a:lnTo>
                  <a:lnTo>
                    <a:pt x="194692" y="105302"/>
                  </a:lnTo>
                  <a:lnTo>
                    <a:pt x="223774" y="99441"/>
                  </a:lnTo>
                  <a:lnTo>
                    <a:pt x="795527" y="99441"/>
                  </a:lnTo>
                  <a:lnTo>
                    <a:pt x="795527" y="0"/>
                  </a:lnTo>
                  <a:close/>
                </a:path>
              </a:pathLst>
            </a:custGeom>
            <a:ln w="12192">
              <a:solidFill>
                <a:srgbClr val="BCD6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3390900" y="9144"/>
            <a:ext cx="5105400" cy="273050"/>
          </a:xfrm>
          <a:custGeom>
            <a:avLst/>
            <a:gdLst/>
            <a:ahLst/>
            <a:cxnLst/>
            <a:rect l="l" t="t" r="r" b="b"/>
            <a:pathLst>
              <a:path w="5105400" h="273050">
                <a:moveTo>
                  <a:pt x="5105400" y="0"/>
                </a:moveTo>
                <a:lnTo>
                  <a:pt x="0" y="0"/>
                </a:lnTo>
                <a:lnTo>
                  <a:pt x="0" y="272796"/>
                </a:lnTo>
                <a:lnTo>
                  <a:pt x="5105400" y="272796"/>
                </a:lnTo>
                <a:lnTo>
                  <a:pt x="5105400" y="0"/>
                </a:lnTo>
                <a:close/>
              </a:path>
            </a:pathLst>
          </a:custGeom>
          <a:solidFill>
            <a:srgbClr val="FF45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3469894" y="8636"/>
            <a:ext cx="4675505" cy="2393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912108" y="301752"/>
            <a:ext cx="4998720" cy="273050"/>
          </a:xfrm>
          <a:custGeom>
            <a:avLst/>
            <a:gdLst/>
            <a:ahLst/>
            <a:cxnLst/>
            <a:rect l="l" t="t" r="r" b="b"/>
            <a:pathLst>
              <a:path w="4998720" h="273050">
                <a:moveTo>
                  <a:pt x="4998720" y="0"/>
                </a:moveTo>
                <a:lnTo>
                  <a:pt x="0" y="0"/>
                </a:lnTo>
                <a:lnTo>
                  <a:pt x="0" y="272796"/>
                </a:lnTo>
                <a:lnTo>
                  <a:pt x="4998720" y="272796"/>
                </a:lnTo>
                <a:lnTo>
                  <a:pt x="4998720" y="0"/>
                </a:lnTo>
                <a:close/>
              </a:path>
            </a:pathLst>
          </a:custGeom>
          <a:solidFill>
            <a:srgbClr val="F49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991483" y="296418"/>
            <a:ext cx="28568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0" y="0"/>
            <a:ext cx="2560320" cy="2880360"/>
          </a:xfrm>
          <a:custGeom>
            <a:avLst/>
            <a:gdLst/>
            <a:ahLst/>
            <a:cxnLst/>
            <a:rect l="l" t="t" r="r" b="b"/>
            <a:pathLst>
              <a:path w="2560320" h="2880360">
                <a:moveTo>
                  <a:pt x="2560320" y="0"/>
                </a:moveTo>
                <a:lnTo>
                  <a:pt x="171208" y="0"/>
                </a:lnTo>
                <a:lnTo>
                  <a:pt x="170718" y="1089"/>
                </a:lnTo>
                <a:lnTo>
                  <a:pt x="152871" y="43285"/>
                </a:lnTo>
                <a:lnTo>
                  <a:pt x="135942" y="85954"/>
                </a:lnTo>
                <a:lnTo>
                  <a:pt x="119943" y="129084"/>
                </a:lnTo>
                <a:lnTo>
                  <a:pt x="104887" y="172663"/>
                </a:lnTo>
                <a:lnTo>
                  <a:pt x="90786" y="216678"/>
                </a:lnTo>
                <a:lnTo>
                  <a:pt x="77653" y="261117"/>
                </a:lnTo>
                <a:lnTo>
                  <a:pt x="65499" y="305967"/>
                </a:lnTo>
                <a:lnTo>
                  <a:pt x="54337" y="351217"/>
                </a:lnTo>
                <a:lnTo>
                  <a:pt x="44180" y="396854"/>
                </a:lnTo>
                <a:lnTo>
                  <a:pt x="35039" y="442865"/>
                </a:lnTo>
                <a:lnTo>
                  <a:pt x="26927" y="489239"/>
                </a:lnTo>
                <a:lnTo>
                  <a:pt x="19857" y="535962"/>
                </a:lnTo>
                <a:lnTo>
                  <a:pt x="13841" y="583024"/>
                </a:lnTo>
                <a:lnTo>
                  <a:pt x="8891" y="630410"/>
                </a:lnTo>
                <a:lnTo>
                  <a:pt x="5020" y="678109"/>
                </a:lnTo>
                <a:lnTo>
                  <a:pt x="2239" y="726108"/>
                </a:lnTo>
                <a:lnTo>
                  <a:pt x="561" y="774396"/>
                </a:lnTo>
                <a:lnTo>
                  <a:pt x="0" y="822960"/>
                </a:lnTo>
                <a:lnTo>
                  <a:pt x="561" y="871523"/>
                </a:lnTo>
                <a:lnTo>
                  <a:pt x="2239" y="919811"/>
                </a:lnTo>
                <a:lnTo>
                  <a:pt x="5020" y="967810"/>
                </a:lnTo>
                <a:lnTo>
                  <a:pt x="8891" y="1015509"/>
                </a:lnTo>
                <a:lnTo>
                  <a:pt x="13841" y="1062895"/>
                </a:lnTo>
                <a:lnTo>
                  <a:pt x="19857" y="1109957"/>
                </a:lnTo>
                <a:lnTo>
                  <a:pt x="26927" y="1156680"/>
                </a:lnTo>
                <a:lnTo>
                  <a:pt x="35039" y="1203054"/>
                </a:lnTo>
                <a:lnTo>
                  <a:pt x="44180" y="1249065"/>
                </a:lnTo>
                <a:lnTo>
                  <a:pt x="54337" y="1294702"/>
                </a:lnTo>
                <a:lnTo>
                  <a:pt x="65499" y="1339952"/>
                </a:lnTo>
                <a:lnTo>
                  <a:pt x="77653" y="1384802"/>
                </a:lnTo>
                <a:lnTo>
                  <a:pt x="90786" y="1429241"/>
                </a:lnTo>
                <a:lnTo>
                  <a:pt x="104887" y="1473256"/>
                </a:lnTo>
                <a:lnTo>
                  <a:pt x="119943" y="1516835"/>
                </a:lnTo>
                <a:lnTo>
                  <a:pt x="135942" y="1559965"/>
                </a:lnTo>
                <a:lnTo>
                  <a:pt x="152871" y="1602634"/>
                </a:lnTo>
                <a:lnTo>
                  <a:pt x="170718" y="1644830"/>
                </a:lnTo>
                <a:lnTo>
                  <a:pt x="189470" y="1686539"/>
                </a:lnTo>
                <a:lnTo>
                  <a:pt x="209116" y="1727751"/>
                </a:lnTo>
                <a:lnTo>
                  <a:pt x="229643" y="1768453"/>
                </a:lnTo>
                <a:lnTo>
                  <a:pt x="251038" y="1808631"/>
                </a:lnTo>
                <a:lnTo>
                  <a:pt x="273290" y="1848275"/>
                </a:lnTo>
                <a:lnTo>
                  <a:pt x="296385" y="1887370"/>
                </a:lnTo>
                <a:lnTo>
                  <a:pt x="320312" y="1925907"/>
                </a:lnTo>
                <a:lnTo>
                  <a:pt x="345058" y="1963871"/>
                </a:lnTo>
                <a:lnTo>
                  <a:pt x="370611" y="2001250"/>
                </a:lnTo>
                <a:lnTo>
                  <a:pt x="396959" y="2038033"/>
                </a:lnTo>
                <a:lnTo>
                  <a:pt x="424088" y="2074206"/>
                </a:lnTo>
                <a:lnTo>
                  <a:pt x="451988" y="2109758"/>
                </a:lnTo>
                <a:lnTo>
                  <a:pt x="480644" y="2144675"/>
                </a:lnTo>
                <a:lnTo>
                  <a:pt x="510046" y="2178947"/>
                </a:lnTo>
                <a:lnTo>
                  <a:pt x="540181" y="2212560"/>
                </a:lnTo>
                <a:lnTo>
                  <a:pt x="571036" y="2245502"/>
                </a:lnTo>
                <a:lnTo>
                  <a:pt x="602599" y="2277760"/>
                </a:lnTo>
                <a:lnTo>
                  <a:pt x="634857" y="2309323"/>
                </a:lnTo>
                <a:lnTo>
                  <a:pt x="667799" y="2340178"/>
                </a:lnTo>
                <a:lnTo>
                  <a:pt x="701412" y="2370313"/>
                </a:lnTo>
                <a:lnTo>
                  <a:pt x="735684" y="2399715"/>
                </a:lnTo>
                <a:lnTo>
                  <a:pt x="770601" y="2428371"/>
                </a:lnTo>
                <a:lnTo>
                  <a:pt x="806153" y="2456271"/>
                </a:lnTo>
                <a:lnTo>
                  <a:pt x="842326" y="2483400"/>
                </a:lnTo>
                <a:lnTo>
                  <a:pt x="879109" y="2509748"/>
                </a:lnTo>
                <a:lnTo>
                  <a:pt x="916488" y="2535301"/>
                </a:lnTo>
                <a:lnTo>
                  <a:pt x="954452" y="2560047"/>
                </a:lnTo>
                <a:lnTo>
                  <a:pt x="992989" y="2583974"/>
                </a:lnTo>
                <a:lnTo>
                  <a:pt x="1032084" y="2607069"/>
                </a:lnTo>
                <a:lnTo>
                  <a:pt x="1071728" y="2629321"/>
                </a:lnTo>
                <a:lnTo>
                  <a:pt x="1111906" y="2650716"/>
                </a:lnTo>
                <a:lnTo>
                  <a:pt x="1152608" y="2671243"/>
                </a:lnTo>
                <a:lnTo>
                  <a:pt x="1193820" y="2690889"/>
                </a:lnTo>
                <a:lnTo>
                  <a:pt x="1235529" y="2709641"/>
                </a:lnTo>
                <a:lnTo>
                  <a:pt x="1277725" y="2727488"/>
                </a:lnTo>
                <a:lnTo>
                  <a:pt x="1320394" y="2744417"/>
                </a:lnTo>
                <a:lnTo>
                  <a:pt x="1363524" y="2760416"/>
                </a:lnTo>
                <a:lnTo>
                  <a:pt x="1407103" y="2775472"/>
                </a:lnTo>
                <a:lnTo>
                  <a:pt x="1451118" y="2789573"/>
                </a:lnTo>
                <a:lnTo>
                  <a:pt x="1495557" y="2802706"/>
                </a:lnTo>
                <a:lnTo>
                  <a:pt x="1540407" y="2814860"/>
                </a:lnTo>
                <a:lnTo>
                  <a:pt x="1585657" y="2826022"/>
                </a:lnTo>
                <a:lnTo>
                  <a:pt x="1631294" y="2836179"/>
                </a:lnTo>
                <a:lnTo>
                  <a:pt x="1677305" y="2845320"/>
                </a:lnTo>
                <a:lnTo>
                  <a:pt x="1723679" y="2853432"/>
                </a:lnTo>
                <a:lnTo>
                  <a:pt x="1770402" y="2860502"/>
                </a:lnTo>
                <a:lnTo>
                  <a:pt x="1817464" y="2866518"/>
                </a:lnTo>
                <a:lnTo>
                  <a:pt x="1864850" y="2871468"/>
                </a:lnTo>
                <a:lnTo>
                  <a:pt x="1912549" y="2875339"/>
                </a:lnTo>
                <a:lnTo>
                  <a:pt x="1960548" y="2878120"/>
                </a:lnTo>
                <a:lnTo>
                  <a:pt x="2008836" y="2879798"/>
                </a:lnTo>
                <a:lnTo>
                  <a:pt x="2057400" y="2880360"/>
                </a:lnTo>
                <a:lnTo>
                  <a:pt x="2105963" y="2879798"/>
                </a:lnTo>
                <a:lnTo>
                  <a:pt x="2154251" y="2878120"/>
                </a:lnTo>
                <a:lnTo>
                  <a:pt x="2202250" y="2875339"/>
                </a:lnTo>
                <a:lnTo>
                  <a:pt x="2249949" y="2871468"/>
                </a:lnTo>
                <a:lnTo>
                  <a:pt x="2297335" y="2866518"/>
                </a:lnTo>
                <a:lnTo>
                  <a:pt x="2344397" y="2860502"/>
                </a:lnTo>
                <a:lnTo>
                  <a:pt x="2391120" y="2853432"/>
                </a:lnTo>
                <a:lnTo>
                  <a:pt x="2437494" y="2845320"/>
                </a:lnTo>
                <a:lnTo>
                  <a:pt x="2483505" y="2836179"/>
                </a:lnTo>
                <a:lnTo>
                  <a:pt x="2529142" y="2826022"/>
                </a:lnTo>
                <a:lnTo>
                  <a:pt x="2560320" y="2818331"/>
                </a:lnTo>
                <a:lnTo>
                  <a:pt x="2560320" y="0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0861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342900" y="0"/>
                </a:moveTo>
                <a:lnTo>
                  <a:pt x="294910" y="658"/>
                </a:lnTo>
                <a:lnTo>
                  <a:pt x="247247" y="2623"/>
                </a:lnTo>
                <a:lnTo>
                  <a:pt x="199927" y="5876"/>
                </a:lnTo>
                <a:lnTo>
                  <a:pt x="152968" y="10401"/>
                </a:lnTo>
                <a:lnTo>
                  <a:pt x="106386" y="16180"/>
                </a:lnTo>
                <a:lnTo>
                  <a:pt x="60200" y="23196"/>
                </a:lnTo>
                <a:lnTo>
                  <a:pt x="14425" y="31432"/>
                </a:lnTo>
                <a:lnTo>
                  <a:pt x="0" y="34434"/>
                </a:lnTo>
                <a:lnTo>
                  <a:pt x="0" y="2057400"/>
                </a:lnTo>
                <a:lnTo>
                  <a:pt x="2022965" y="2057400"/>
                </a:lnTo>
                <a:lnTo>
                  <a:pt x="2025967" y="2042974"/>
                </a:lnTo>
                <a:lnTo>
                  <a:pt x="2034203" y="1997199"/>
                </a:lnTo>
                <a:lnTo>
                  <a:pt x="2041219" y="1951013"/>
                </a:lnTo>
                <a:lnTo>
                  <a:pt x="2046998" y="1904431"/>
                </a:lnTo>
                <a:lnTo>
                  <a:pt x="2051523" y="1857472"/>
                </a:lnTo>
                <a:lnTo>
                  <a:pt x="2054776" y="1810152"/>
                </a:lnTo>
                <a:lnTo>
                  <a:pt x="2056741" y="1762489"/>
                </a:lnTo>
                <a:lnTo>
                  <a:pt x="2057400" y="1714500"/>
                </a:lnTo>
                <a:lnTo>
                  <a:pt x="2056741" y="1666509"/>
                </a:lnTo>
                <a:lnTo>
                  <a:pt x="2054776" y="1618844"/>
                </a:lnTo>
                <a:lnTo>
                  <a:pt x="2051523" y="1571524"/>
                </a:lnTo>
                <a:lnTo>
                  <a:pt x="2046998" y="1524563"/>
                </a:lnTo>
                <a:lnTo>
                  <a:pt x="2041219" y="1477981"/>
                </a:lnTo>
                <a:lnTo>
                  <a:pt x="2034203" y="1431793"/>
                </a:lnTo>
                <a:lnTo>
                  <a:pt x="2025967" y="1386018"/>
                </a:lnTo>
                <a:lnTo>
                  <a:pt x="2016528" y="1340672"/>
                </a:lnTo>
                <a:lnTo>
                  <a:pt x="2005904" y="1295773"/>
                </a:lnTo>
                <a:lnTo>
                  <a:pt x="1994111" y="1251338"/>
                </a:lnTo>
                <a:lnTo>
                  <a:pt x="1981167" y="1207383"/>
                </a:lnTo>
                <a:lnTo>
                  <a:pt x="1967090" y="1163927"/>
                </a:lnTo>
                <a:lnTo>
                  <a:pt x="1951895" y="1120986"/>
                </a:lnTo>
                <a:lnTo>
                  <a:pt x="1935600" y="1078577"/>
                </a:lnTo>
                <a:lnTo>
                  <a:pt x="1918224" y="1036718"/>
                </a:lnTo>
                <a:lnTo>
                  <a:pt x="1899782" y="995426"/>
                </a:lnTo>
                <a:lnTo>
                  <a:pt x="1880291" y="954718"/>
                </a:lnTo>
                <a:lnTo>
                  <a:pt x="1859770" y="914611"/>
                </a:lnTo>
                <a:lnTo>
                  <a:pt x="1838236" y="875123"/>
                </a:lnTo>
                <a:lnTo>
                  <a:pt x="1815704" y="836271"/>
                </a:lnTo>
                <a:lnTo>
                  <a:pt x="1792194" y="798071"/>
                </a:lnTo>
                <a:lnTo>
                  <a:pt x="1767721" y="760541"/>
                </a:lnTo>
                <a:lnTo>
                  <a:pt x="1742303" y="723698"/>
                </a:lnTo>
                <a:lnTo>
                  <a:pt x="1715958" y="687560"/>
                </a:lnTo>
                <a:lnTo>
                  <a:pt x="1688702" y="652143"/>
                </a:lnTo>
                <a:lnTo>
                  <a:pt x="1660552" y="617465"/>
                </a:lnTo>
                <a:lnTo>
                  <a:pt x="1631526" y="583543"/>
                </a:lnTo>
                <a:lnTo>
                  <a:pt x="1601642" y="550394"/>
                </a:lnTo>
                <a:lnTo>
                  <a:pt x="1570915" y="518035"/>
                </a:lnTo>
                <a:lnTo>
                  <a:pt x="1539364" y="486484"/>
                </a:lnTo>
                <a:lnTo>
                  <a:pt x="1507005" y="455757"/>
                </a:lnTo>
                <a:lnTo>
                  <a:pt x="1473856" y="425873"/>
                </a:lnTo>
                <a:lnTo>
                  <a:pt x="1439934" y="396847"/>
                </a:lnTo>
                <a:lnTo>
                  <a:pt x="1405256" y="368697"/>
                </a:lnTo>
                <a:lnTo>
                  <a:pt x="1369839" y="341441"/>
                </a:lnTo>
                <a:lnTo>
                  <a:pt x="1333701" y="315096"/>
                </a:lnTo>
                <a:lnTo>
                  <a:pt x="1296858" y="289678"/>
                </a:lnTo>
                <a:lnTo>
                  <a:pt x="1259328" y="265205"/>
                </a:lnTo>
                <a:lnTo>
                  <a:pt x="1221128" y="241695"/>
                </a:lnTo>
                <a:lnTo>
                  <a:pt x="1182276" y="219163"/>
                </a:lnTo>
                <a:lnTo>
                  <a:pt x="1142788" y="197629"/>
                </a:lnTo>
                <a:lnTo>
                  <a:pt x="1102681" y="177108"/>
                </a:lnTo>
                <a:lnTo>
                  <a:pt x="1061973" y="157617"/>
                </a:lnTo>
                <a:lnTo>
                  <a:pt x="1020681" y="139175"/>
                </a:lnTo>
                <a:lnTo>
                  <a:pt x="978822" y="121799"/>
                </a:lnTo>
                <a:lnTo>
                  <a:pt x="936413" y="105504"/>
                </a:lnTo>
                <a:lnTo>
                  <a:pt x="893472" y="90309"/>
                </a:lnTo>
                <a:lnTo>
                  <a:pt x="850016" y="76232"/>
                </a:lnTo>
                <a:lnTo>
                  <a:pt x="806061" y="63288"/>
                </a:lnTo>
                <a:lnTo>
                  <a:pt x="761626" y="51495"/>
                </a:lnTo>
                <a:lnTo>
                  <a:pt x="716727" y="40871"/>
                </a:lnTo>
                <a:lnTo>
                  <a:pt x="671381" y="31432"/>
                </a:lnTo>
                <a:lnTo>
                  <a:pt x="625606" y="23196"/>
                </a:lnTo>
                <a:lnTo>
                  <a:pt x="579418" y="16180"/>
                </a:lnTo>
                <a:lnTo>
                  <a:pt x="532836" y="10401"/>
                </a:lnTo>
                <a:lnTo>
                  <a:pt x="485875" y="5876"/>
                </a:lnTo>
                <a:lnTo>
                  <a:pt x="438555" y="2623"/>
                </a:lnTo>
                <a:lnTo>
                  <a:pt x="390890" y="658"/>
                </a:lnTo>
                <a:lnTo>
                  <a:pt x="342900" y="0"/>
                </a:lnTo>
                <a:close/>
              </a:path>
            </a:pathLst>
          </a:custGeom>
          <a:solidFill>
            <a:srgbClr val="D5880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95959" y="1550619"/>
            <a:ext cx="1240790" cy="105600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750" spc="-25">
                <a:solidFill>
                  <a:srgbClr val="4471C4"/>
                </a:solidFill>
              </a:rPr>
              <a:t>1.3</a:t>
            </a:r>
            <a:endParaRPr sz="6750"/>
          </a:p>
        </p:txBody>
      </p:sp>
      <p:sp>
        <p:nvSpPr>
          <p:cNvPr id="5" name="object 5"/>
          <p:cNvSpPr txBox="1"/>
          <p:nvPr/>
        </p:nvSpPr>
        <p:spPr>
          <a:xfrm>
            <a:off x="730402" y="2725623"/>
            <a:ext cx="4476750" cy="8807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spc="-25" b="1">
                <a:solidFill>
                  <a:srgbClr val="FF4500"/>
                </a:solidFill>
                <a:latin typeface="Cambria"/>
                <a:cs typeface="Cambria"/>
              </a:rPr>
              <a:t>Terminologie</a:t>
            </a:r>
            <a:r>
              <a:rPr dirty="0" sz="2550" spc="-55" b="1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 b="1">
                <a:solidFill>
                  <a:srgbClr val="FF4500"/>
                </a:solidFill>
                <a:latin typeface="Cambria"/>
                <a:cs typeface="Cambria"/>
              </a:rPr>
              <a:t>de</a:t>
            </a:r>
            <a:r>
              <a:rPr dirty="0" sz="2550" spc="-45" b="1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 spc="-20" b="1">
                <a:solidFill>
                  <a:srgbClr val="FF4500"/>
                </a:solidFill>
                <a:latin typeface="Cambria"/>
                <a:cs typeface="Cambria"/>
              </a:rPr>
              <a:t>base</a:t>
            </a:r>
            <a:endParaRPr sz="2550">
              <a:latin typeface="Cambria"/>
              <a:cs typeface="Cambria"/>
            </a:endParaRPr>
          </a:p>
          <a:p>
            <a:pPr marL="46355">
              <a:lnSpc>
                <a:spcPct val="100000"/>
              </a:lnSpc>
              <a:spcBef>
                <a:spcPts val="1995"/>
              </a:spcBef>
            </a:pP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Le</a:t>
            </a:r>
            <a:r>
              <a:rPr dirty="0" sz="1400" spc="-2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vocabulaire</a:t>
            </a:r>
            <a:r>
              <a:rPr dirty="0" sz="1400" spc="-4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dont</a:t>
            </a:r>
            <a:r>
              <a:rPr dirty="0" sz="1400" spc="-4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vous</a:t>
            </a:r>
            <a:r>
              <a:rPr dirty="0" sz="1400" spc="-4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aurez</a:t>
            </a:r>
            <a:r>
              <a:rPr dirty="0" sz="1400" spc="-3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besoin</a:t>
            </a:r>
            <a:r>
              <a:rPr dirty="0" sz="1400" spc="-3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pour</a:t>
            </a:r>
            <a:r>
              <a:rPr dirty="0" sz="1400" spc="-4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la</a:t>
            </a:r>
            <a:r>
              <a:rPr dirty="0" sz="1400" spc="-1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suite</a:t>
            </a:r>
            <a:r>
              <a:rPr dirty="0" sz="1400" spc="-4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du</a:t>
            </a:r>
            <a:r>
              <a:rPr dirty="0" sz="1400" spc="-3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spc="-10" b="1" i="1">
                <a:solidFill>
                  <a:srgbClr val="333E50"/>
                </a:solidFill>
                <a:latin typeface="Calibri"/>
                <a:cs typeface="Calibri"/>
              </a:rPr>
              <a:t>cours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1588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1.3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TERMINOLOGIE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25069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Le</a:t>
            </a:r>
            <a:r>
              <a:rPr dirty="0" sz="2400" spc="-6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noyau</a:t>
            </a:r>
            <a:r>
              <a:rPr dirty="0" sz="2400" spc="-7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(kernel)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303019"/>
            <a:ext cx="1440180" cy="1440180"/>
            <a:chOff x="548640" y="1303019"/>
            <a:chExt cx="1440180" cy="1440180"/>
          </a:xfrm>
        </p:grpSpPr>
        <p:sp>
          <p:nvSpPr>
            <p:cNvPr id="5" name="object 5"/>
            <p:cNvSpPr/>
            <p:nvPr/>
          </p:nvSpPr>
          <p:spPr>
            <a:xfrm>
              <a:off x="548640" y="1303019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90" y="0"/>
                  </a:moveTo>
                  <a:lnTo>
                    <a:pt x="672743" y="1531"/>
                  </a:lnTo>
                  <a:lnTo>
                    <a:pt x="626214" y="6064"/>
                  </a:lnTo>
                  <a:lnTo>
                    <a:pt x="580598" y="13502"/>
                  </a:lnTo>
                  <a:lnTo>
                    <a:pt x="535989" y="23751"/>
                  </a:lnTo>
                  <a:lnTo>
                    <a:pt x="492483" y="36716"/>
                  </a:lnTo>
                  <a:lnTo>
                    <a:pt x="450174" y="52301"/>
                  </a:lnTo>
                  <a:lnTo>
                    <a:pt x="409158" y="70412"/>
                  </a:lnTo>
                  <a:lnTo>
                    <a:pt x="369529" y="90955"/>
                  </a:lnTo>
                  <a:lnTo>
                    <a:pt x="331382" y="113833"/>
                  </a:lnTo>
                  <a:lnTo>
                    <a:pt x="294811" y="138952"/>
                  </a:lnTo>
                  <a:lnTo>
                    <a:pt x="259913" y="166217"/>
                  </a:lnTo>
                  <a:lnTo>
                    <a:pt x="226781" y="195533"/>
                  </a:lnTo>
                  <a:lnTo>
                    <a:pt x="195510" y="226805"/>
                  </a:lnTo>
                  <a:lnTo>
                    <a:pt x="166196" y="259939"/>
                  </a:lnTo>
                  <a:lnTo>
                    <a:pt x="138933" y="294839"/>
                  </a:lnTo>
                  <a:lnTo>
                    <a:pt x="113817" y="331410"/>
                  </a:lnTo>
                  <a:lnTo>
                    <a:pt x="90941" y="369557"/>
                  </a:lnTo>
                  <a:lnTo>
                    <a:pt x="70402" y="409186"/>
                  </a:lnTo>
                  <a:lnTo>
                    <a:pt x="52293" y="450201"/>
                  </a:lnTo>
                  <a:lnTo>
                    <a:pt x="36710" y="492508"/>
                  </a:lnTo>
                  <a:lnTo>
                    <a:pt x="23747" y="536011"/>
                  </a:lnTo>
                  <a:lnTo>
                    <a:pt x="13500" y="580615"/>
                  </a:lnTo>
                  <a:lnTo>
                    <a:pt x="6063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3" y="813952"/>
                  </a:lnTo>
                  <a:lnTo>
                    <a:pt x="13500" y="859564"/>
                  </a:lnTo>
                  <a:lnTo>
                    <a:pt x="23747" y="904168"/>
                  </a:lnTo>
                  <a:lnTo>
                    <a:pt x="36710" y="947671"/>
                  </a:lnTo>
                  <a:lnTo>
                    <a:pt x="52293" y="989978"/>
                  </a:lnTo>
                  <a:lnTo>
                    <a:pt x="70402" y="1030993"/>
                  </a:lnTo>
                  <a:lnTo>
                    <a:pt x="90941" y="1070622"/>
                  </a:lnTo>
                  <a:lnTo>
                    <a:pt x="113817" y="1108769"/>
                  </a:lnTo>
                  <a:lnTo>
                    <a:pt x="138933" y="1145340"/>
                  </a:lnTo>
                  <a:lnTo>
                    <a:pt x="166196" y="1180240"/>
                  </a:lnTo>
                  <a:lnTo>
                    <a:pt x="195510" y="1213374"/>
                  </a:lnTo>
                  <a:lnTo>
                    <a:pt x="226781" y="1244646"/>
                  </a:lnTo>
                  <a:lnTo>
                    <a:pt x="259913" y="1273962"/>
                  </a:lnTo>
                  <a:lnTo>
                    <a:pt x="294811" y="1301227"/>
                  </a:lnTo>
                  <a:lnTo>
                    <a:pt x="331382" y="1326346"/>
                  </a:lnTo>
                  <a:lnTo>
                    <a:pt x="369529" y="1349224"/>
                  </a:lnTo>
                  <a:lnTo>
                    <a:pt x="409158" y="1369767"/>
                  </a:lnTo>
                  <a:lnTo>
                    <a:pt x="450174" y="1387878"/>
                  </a:lnTo>
                  <a:lnTo>
                    <a:pt x="492483" y="1403463"/>
                  </a:lnTo>
                  <a:lnTo>
                    <a:pt x="535989" y="1416428"/>
                  </a:lnTo>
                  <a:lnTo>
                    <a:pt x="580598" y="1426677"/>
                  </a:lnTo>
                  <a:lnTo>
                    <a:pt x="626214" y="1434115"/>
                  </a:lnTo>
                  <a:lnTo>
                    <a:pt x="672743" y="1438648"/>
                  </a:lnTo>
                  <a:lnTo>
                    <a:pt x="720090" y="1440179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59564" y="1426677"/>
                  </a:lnTo>
                  <a:lnTo>
                    <a:pt x="904168" y="1416428"/>
                  </a:lnTo>
                  <a:lnTo>
                    <a:pt x="947671" y="1403463"/>
                  </a:lnTo>
                  <a:lnTo>
                    <a:pt x="989978" y="1387878"/>
                  </a:lnTo>
                  <a:lnTo>
                    <a:pt x="1030993" y="1369767"/>
                  </a:lnTo>
                  <a:lnTo>
                    <a:pt x="1070622" y="1349224"/>
                  </a:lnTo>
                  <a:lnTo>
                    <a:pt x="1108769" y="1326346"/>
                  </a:lnTo>
                  <a:lnTo>
                    <a:pt x="1145340" y="1301227"/>
                  </a:lnTo>
                  <a:lnTo>
                    <a:pt x="1180240" y="1273962"/>
                  </a:lnTo>
                  <a:lnTo>
                    <a:pt x="1213374" y="1244646"/>
                  </a:lnTo>
                  <a:lnTo>
                    <a:pt x="1244646" y="1213374"/>
                  </a:lnTo>
                  <a:lnTo>
                    <a:pt x="1273962" y="1180240"/>
                  </a:lnTo>
                  <a:lnTo>
                    <a:pt x="1301227" y="1145340"/>
                  </a:lnTo>
                  <a:lnTo>
                    <a:pt x="1326346" y="1108769"/>
                  </a:lnTo>
                  <a:lnTo>
                    <a:pt x="1349224" y="1070622"/>
                  </a:lnTo>
                  <a:lnTo>
                    <a:pt x="1369767" y="1030993"/>
                  </a:lnTo>
                  <a:lnTo>
                    <a:pt x="1387878" y="989978"/>
                  </a:lnTo>
                  <a:lnTo>
                    <a:pt x="1403463" y="947671"/>
                  </a:lnTo>
                  <a:lnTo>
                    <a:pt x="1416428" y="904168"/>
                  </a:lnTo>
                  <a:lnTo>
                    <a:pt x="1426677" y="859564"/>
                  </a:lnTo>
                  <a:lnTo>
                    <a:pt x="1434115" y="813952"/>
                  </a:lnTo>
                  <a:lnTo>
                    <a:pt x="1438648" y="767429"/>
                  </a:lnTo>
                  <a:lnTo>
                    <a:pt x="1440180" y="720089"/>
                  </a:lnTo>
                  <a:lnTo>
                    <a:pt x="1438648" y="672750"/>
                  </a:lnTo>
                  <a:lnTo>
                    <a:pt x="1434115" y="626227"/>
                  </a:lnTo>
                  <a:lnTo>
                    <a:pt x="1426677" y="580615"/>
                  </a:lnTo>
                  <a:lnTo>
                    <a:pt x="1416428" y="536011"/>
                  </a:lnTo>
                  <a:lnTo>
                    <a:pt x="1403463" y="492508"/>
                  </a:lnTo>
                  <a:lnTo>
                    <a:pt x="1387878" y="450201"/>
                  </a:lnTo>
                  <a:lnTo>
                    <a:pt x="1369767" y="409186"/>
                  </a:lnTo>
                  <a:lnTo>
                    <a:pt x="1349224" y="369557"/>
                  </a:lnTo>
                  <a:lnTo>
                    <a:pt x="1326346" y="331410"/>
                  </a:lnTo>
                  <a:lnTo>
                    <a:pt x="1301227" y="294839"/>
                  </a:lnTo>
                  <a:lnTo>
                    <a:pt x="1273962" y="259939"/>
                  </a:lnTo>
                  <a:lnTo>
                    <a:pt x="1244646" y="226805"/>
                  </a:lnTo>
                  <a:lnTo>
                    <a:pt x="1213374" y="195533"/>
                  </a:lnTo>
                  <a:lnTo>
                    <a:pt x="1180240" y="166217"/>
                  </a:lnTo>
                  <a:lnTo>
                    <a:pt x="1145340" y="138952"/>
                  </a:lnTo>
                  <a:lnTo>
                    <a:pt x="1108769" y="113833"/>
                  </a:lnTo>
                  <a:lnTo>
                    <a:pt x="1070622" y="90955"/>
                  </a:lnTo>
                  <a:lnTo>
                    <a:pt x="1030993" y="70412"/>
                  </a:lnTo>
                  <a:lnTo>
                    <a:pt x="989978" y="52301"/>
                  </a:lnTo>
                  <a:lnTo>
                    <a:pt x="947671" y="36716"/>
                  </a:lnTo>
                  <a:lnTo>
                    <a:pt x="904168" y="23751"/>
                  </a:lnTo>
                  <a:lnTo>
                    <a:pt x="859564" y="13502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/home/claude/ppt/icons/layers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588" y="1648967"/>
              <a:ext cx="748284" cy="74828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2331720" y="1303019"/>
            <a:ext cx="6309360" cy="1165860"/>
          </a:xfrm>
          <a:custGeom>
            <a:avLst/>
            <a:gdLst/>
            <a:ahLst/>
            <a:cxnLst/>
            <a:rect l="l" t="t" r="r" b="b"/>
            <a:pathLst>
              <a:path w="6309359" h="1165860">
                <a:moveTo>
                  <a:pt x="6227063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5"/>
                </a:lnTo>
                <a:lnTo>
                  <a:pt x="0" y="1083563"/>
                </a:lnTo>
                <a:lnTo>
                  <a:pt x="6465" y="1115603"/>
                </a:lnTo>
                <a:lnTo>
                  <a:pt x="24098" y="1141761"/>
                </a:lnTo>
                <a:lnTo>
                  <a:pt x="50256" y="1159394"/>
                </a:lnTo>
                <a:lnTo>
                  <a:pt x="82296" y="1165859"/>
                </a:lnTo>
                <a:lnTo>
                  <a:pt x="6227063" y="1165859"/>
                </a:lnTo>
                <a:lnTo>
                  <a:pt x="6259103" y="1159394"/>
                </a:lnTo>
                <a:lnTo>
                  <a:pt x="6285261" y="1141761"/>
                </a:lnTo>
                <a:lnTo>
                  <a:pt x="6302894" y="1115603"/>
                </a:lnTo>
                <a:lnTo>
                  <a:pt x="6309359" y="1083563"/>
                </a:lnTo>
                <a:lnTo>
                  <a:pt x="6309359" y="82295"/>
                </a:lnTo>
                <a:lnTo>
                  <a:pt x="6302894" y="50256"/>
                </a:lnTo>
                <a:lnTo>
                  <a:pt x="6285261" y="24098"/>
                </a:lnTo>
                <a:lnTo>
                  <a:pt x="6259103" y="6465"/>
                </a:lnTo>
                <a:lnTo>
                  <a:pt x="6227063" y="0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50998" y="1681734"/>
            <a:ext cx="56654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cœur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du</a:t>
            </a:r>
            <a:r>
              <a:rPr dirty="0" sz="1200" spc="-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système</a:t>
            </a:r>
            <a:r>
              <a:rPr dirty="0" sz="12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d'exploitation</a:t>
            </a:r>
            <a:r>
              <a:rPr dirty="0" sz="1200" spc="-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: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la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partie</a:t>
            </a:r>
            <a:r>
              <a:rPr dirty="0" sz="1200" spc="-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qui</a:t>
            </a:r>
            <a:r>
              <a:rPr dirty="0" sz="1200" spc="-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s'exécute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avec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les</a:t>
            </a:r>
            <a:r>
              <a:rPr dirty="0" sz="120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privilèges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les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plus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élevés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et</a:t>
            </a:r>
            <a:r>
              <a:rPr dirty="0" sz="120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qui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contrôle</a:t>
            </a:r>
            <a:r>
              <a:rPr dirty="0" sz="12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directement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matériel.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1720" y="2641092"/>
            <a:ext cx="6309360" cy="1303020"/>
            <a:chOff x="2331720" y="2641092"/>
            <a:chExt cx="6309360" cy="1303020"/>
          </a:xfrm>
        </p:grpSpPr>
        <p:sp>
          <p:nvSpPr>
            <p:cNvPr id="10" name="object 10"/>
            <p:cNvSpPr/>
            <p:nvPr/>
          </p:nvSpPr>
          <p:spPr>
            <a:xfrm>
              <a:off x="2331720" y="2641092"/>
              <a:ext cx="6309360" cy="1303020"/>
            </a:xfrm>
            <a:custGeom>
              <a:avLst/>
              <a:gdLst/>
              <a:ahLst/>
              <a:cxnLst/>
              <a:rect l="l" t="t" r="r" b="b"/>
              <a:pathLst>
                <a:path w="6309359" h="1303020">
                  <a:moveTo>
                    <a:pt x="6227063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1220723"/>
                  </a:lnTo>
                  <a:lnTo>
                    <a:pt x="6465" y="1252758"/>
                  </a:lnTo>
                  <a:lnTo>
                    <a:pt x="24098" y="1278916"/>
                  </a:lnTo>
                  <a:lnTo>
                    <a:pt x="50256" y="1296553"/>
                  </a:lnTo>
                  <a:lnTo>
                    <a:pt x="82296" y="1303020"/>
                  </a:lnTo>
                  <a:lnTo>
                    <a:pt x="6227063" y="1303020"/>
                  </a:lnTo>
                  <a:lnTo>
                    <a:pt x="6259103" y="1296553"/>
                  </a:lnTo>
                  <a:lnTo>
                    <a:pt x="6285261" y="1278916"/>
                  </a:lnTo>
                  <a:lnTo>
                    <a:pt x="6302894" y="1252758"/>
                  </a:lnTo>
                  <a:lnTo>
                    <a:pt x="6309359" y="1220723"/>
                  </a:lnTo>
                  <a:lnTo>
                    <a:pt x="6309359" y="82295"/>
                  </a:lnTo>
                  <a:lnTo>
                    <a:pt x="6302894" y="50256"/>
                  </a:lnTo>
                  <a:lnTo>
                    <a:pt x="6285261" y="24098"/>
                  </a:lnTo>
                  <a:lnTo>
                    <a:pt x="6259103" y="6465"/>
                  </a:lnTo>
                  <a:lnTo>
                    <a:pt x="6227063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03932" y="2791968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25853" y="6120"/>
                  </a:lnTo>
                  <a:lnTo>
                    <a:pt x="84892" y="23396"/>
                  </a:lnTo>
                  <a:lnTo>
                    <a:pt x="50196" y="50196"/>
                  </a:lnTo>
                  <a:lnTo>
                    <a:pt x="23396" y="84892"/>
                  </a:lnTo>
                  <a:lnTo>
                    <a:pt x="6120" y="125853"/>
                  </a:lnTo>
                  <a:lnTo>
                    <a:pt x="0" y="171450"/>
                  </a:lnTo>
                  <a:lnTo>
                    <a:pt x="6120" y="217046"/>
                  </a:lnTo>
                  <a:lnTo>
                    <a:pt x="23396" y="258007"/>
                  </a:lnTo>
                  <a:lnTo>
                    <a:pt x="50196" y="292703"/>
                  </a:lnTo>
                  <a:lnTo>
                    <a:pt x="84892" y="319503"/>
                  </a:lnTo>
                  <a:lnTo>
                    <a:pt x="125853" y="336779"/>
                  </a:lnTo>
                  <a:lnTo>
                    <a:pt x="171450" y="342900"/>
                  </a:lnTo>
                  <a:lnTo>
                    <a:pt x="217046" y="336779"/>
                  </a:lnTo>
                  <a:lnTo>
                    <a:pt x="258007" y="319503"/>
                  </a:lnTo>
                  <a:lnTo>
                    <a:pt x="292703" y="292703"/>
                  </a:lnTo>
                  <a:lnTo>
                    <a:pt x="319503" y="258007"/>
                  </a:lnTo>
                  <a:lnTo>
                    <a:pt x="336779" y="217046"/>
                  </a:lnTo>
                  <a:lnTo>
                    <a:pt x="342900" y="171450"/>
                  </a:lnTo>
                  <a:lnTo>
                    <a:pt x="336779" y="125853"/>
                  </a:lnTo>
                  <a:lnTo>
                    <a:pt x="319503" y="84892"/>
                  </a:lnTo>
                  <a:lnTo>
                    <a:pt x="292703" y="50196"/>
                  </a:lnTo>
                  <a:lnTo>
                    <a:pt x="258007" y="23396"/>
                  </a:lnTo>
                  <a:lnTo>
                    <a:pt x="217046" y="612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/home/claude/ppt/icons/phon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8" y="2874264"/>
              <a:ext cx="178307" cy="17830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650998" y="2772282"/>
            <a:ext cx="5161280" cy="628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Dans</a:t>
            </a:r>
            <a:r>
              <a:rPr dirty="0" sz="900" spc="3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la</a:t>
            </a:r>
            <a:r>
              <a:rPr dirty="0" sz="900" spc="3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vraie</a:t>
            </a:r>
            <a:r>
              <a:rPr dirty="0" sz="900" spc="4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vie</a:t>
            </a:r>
            <a:r>
              <a:rPr dirty="0" sz="900" spc="5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spc="-50" b="1">
                <a:solidFill>
                  <a:srgbClr val="D5880F"/>
                </a:solidFill>
                <a:latin typeface="Calibri"/>
                <a:cs typeface="Calibri"/>
              </a:rPr>
              <a:t>: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ts val="1315"/>
              </a:lnSpc>
              <a:spcBef>
                <a:spcPts val="1000"/>
              </a:spcBef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C'est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cœur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invisible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votre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téléphone</a:t>
            </a:r>
            <a:r>
              <a:rPr dirty="0" sz="11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vous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ne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voyez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jamais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l'écran,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mais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contrôle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15"/>
              </a:lnSpc>
            </a:pP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absolument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tout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de l'écran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tactile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batterie).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30</a:t>
            </a: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1588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1.3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TERMINOLOGIE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18180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Le</a:t>
            </a:r>
            <a:r>
              <a:rPr dirty="0" sz="2400" spc="-3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processus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303019"/>
            <a:ext cx="1440180" cy="1440180"/>
            <a:chOff x="548640" y="1303019"/>
            <a:chExt cx="1440180" cy="1440180"/>
          </a:xfrm>
        </p:grpSpPr>
        <p:sp>
          <p:nvSpPr>
            <p:cNvPr id="5" name="object 5"/>
            <p:cNvSpPr/>
            <p:nvPr/>
          </p:nvSpPr>
          <p:spPr>
            <a:xfrm>
              <a:off x="548640" y="1303019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90" y="0"/>
                  </a:moveTo>
                  <a:lnTo>
                    <a:pt x="672743" y="1531"/>
                  </a:lnTo>
                  <a:lnTo>
                    <a:pt x="626214" y="6064"/>
                  </a:lnTo>
                  <a:lnTo>
                    <a:pt x="580598" y="13502"/>
                  </a:lnTo>
                  <a:lnTo>
                    <a:pt x="535989" y="23751"/>
                  </a:lnTo>
                  <a:lnTo>
                    <a:pt x="492483" y="36716"/>
                  </a:lnTo>
                  <a:lnTo>
                    <a:pt x="450174" y="52301"/>
                  </a:lnTo>
                  <a:lnTo>
                    <a:pt x="409158" y="70412"/>
                  </a:lnTo>
                  <a:lnTo>
                    <a:pt x="369529" y="90955"/>
                  </a:lnTo>
                  <a:lnTo>
                    <a:pt x="331382" y="113833"/>
                  </a:lnTo>
                  <a:lnTo>
                    <a:pt x="294811" y="138952"/>
                  </a:lnTo>
                  <a:lnTo>
                    <a:pt x="259913" y="166217"/>
                  </a:lnTo>
                  <a:lnTo>
                    <a:pt x="226781" y="195533"/>
                  </a:lnTo>
                  <a:lnTo>
                    <a:pt x="195510" y="226805"/>
                  </a:lnTo>
                  <a:lnTo>
                    <a:pt x="166196" y="259939"/>
                  </a:lnTo>
                  <a:lnTo>
                    <a:pt x="138933" y="294839"/>
                  </a:lnTo>
                  <a:lnTo>
                    <a:pt x="113817" y="331410"/>
                  </a:lnTo>
                  <a:lnTo>
                    <a:pt x="90941" y="369557"/>
                  </a:lnTo>
                  <a:lnTo>
                    <a:pt x="70402" y="409186"/>
                  </a:lnTo>
                  <a:lnTo>
                    <a:pt x="52293" y="450201"/>
                  </a:lnTo>
                  <a:lnTo>
                    <a:pt x="36710" y="492508"/>
                  </a:lnTo>
                  <a:lnTo>
                    <a:pt x="23747" y="536011"/>
                  </a:lnTo>
                  <a:lnTo>
                    <a:pt x="13500" y="580615"/>
                  </a:lnTo>
                  <a:lnTo>
                    <a:pt x="6063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3" y="813952"/>
                  </a:lnTo>
                  <a:lnTo>
                    <a:pt x="13500" y="859564"/>
                  </a:lnTo>
                  <a:lnTo>
                    <a:pt x="23747" y="904168"/>
                  </a:lnTo>
                  <a:lnTo>
                    <a:pt x="36710" y="947671"/>
                  </a:lnTo>
                  <a:lnTo>
                    <a:pt x="52293" y="989978"/>
                  </a:lnTo>
                  <a:lnTo>
                    <a:pt x="70402" y="1030993"/>
                  </a:lnTo>
                  <a:lnTo>
                    <a:pt x="90941" y="1070622"/>
                  </a:lnTo>
                  <a:lnTo>
                    <a:pt x="113817" y="1108769"/>
                  </a:lnTo>
                  <a:lnTo>
                    <a:pt x="138933" y="1145340"/>
                  </a:lnTo>
                  <a:lnTo>
                    <a:pt x="166196" y="1180240"/>
                  </a:lnTo>
                  <a:lnTo>
                    <a:pt x="195510" y="1213374"/>
                  </a:lnTo>
                  <a:lnTo>
                    <a:pt x="226781" y="1244646"/>
                  </a:lnTo>
                  <a:lnTo>
                    <a:pt x="259913" y="1273962"/>
                  </a:lnTo>
                  <a:lnTo>
                    <a:pt x="294811" y="1301227"/>
                  </a:lnTo>
                  <a:lnTo>
                    <a:pt x="331382" y="1326346"/>
                  </a:lnTo>
                  <a:lnTo>
                    <a:pt x="369529" y="1349224"/>
                  </a:lnTo>
                  <a:lnTo>
                    <a:pt x="409158" y="1369767"/>
                  </a:lnTo>
                  <a:lnTo>
                    <a:pt x="450174" y="1387878"/>
                  </a:lnTo>
                  <a:lnTo>
                    <a:pt x="492483" y="1403463"/>
                  </a:lnTo>
                  <a:lnTo>
                    <a:pt x="535989" y="1416428"/>
                  </a:lnTo>
                  <a:lnTo>
                    <a:pt x="580598" y="1426677"/>
                  </a:lnTo>
                  <a:lnTo>
                    <a:pt x="626214" y="1434115"/>
                  </a:lnTo>
                  <a:lnTo>
                    <a:pt x="672743" y="1438648"/>
                  </a:lnTo>
                  <a:lnTo>
                    <a:pt x="720090" y="1440179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59564" y="1426677"/>
                  </a:lnTo>
                  <a:lnTo>
                    <a:pt x="904168" y="1416428"/>
                  </a:lnTo>
                  <a:lnTo>
                    <a:pt x="947671" y="1403463"/>
                  </a:lnTo>
                  <a:lnTo>
                    <a:pt x="989978" y="1387878"/>
                  </a:lnTo>
                  <a:lnTo>
                    <a:pt x="1030993" y="1369767"/>
                  </a:lnTo>
                  <a:lnTo>
                    <a:pt x="1070622" y="1349224"/>
                  </a:lnTo>
                  <a:lnTo>
                    <a:pt x="1108769" y="1326346"/>
                  </a:lnTo>
                  <a:lnTo>
                    <a:pt x="1145340" y="1301227"/>
                  </a:lnTo>
                  <a:lnTo>
                    <a:pt x="1180240" y="1273962"/>
                  </a:lnTo>
                  <a:lnTo>
                    <a:pt x="1213374" y="1244646"/>
                  </a:lnTo>
                  <a:lnTo>
                    <a:pt x="1244646" y="1213374"/>
                  </a:lnTo>
                  <a:lnTo>
                    <a:pt x="1273962" y="1180240"/>
                  </a:lnTo>
                  <a:lnTo>
                    <a:pt x="1301227" y="1145340"/>
                  </a:lnTo>
                  <a:lnTo>
                    <a:pt x="1326346" y="1108769"/>
                  </a:lnTo>
                  <a:lnTo>
                    <a:pt x="1349224" y="1070622"/>
                  </a:lnTo>
                  <a:lnTo>
                    <a:pt x="1369767" y="1030993"/>
                  </a:lnTo>
                  <a:lnTo>
                    <a:pt x="1387878" y="989978"/>
                  </a:lnTo>
                  <a:lnTo>
                    <a:pt x="1403463" y="947671"/>
                  </a:lnTo>
                  <a:lnTo>
                    <a:pt x="1416428" y="904168"/>
                  </a:lnTo>
                  <a:lnTo>
                    <a:pt x="1426677" y="859564"/>
                  </a:lnTo>
                  <a:lnTo>
                    <a:pt x="1434115" y="813952"/>
                  </a:lnTo>
                  <a:lnTo>
                    <a:pt x="1438648" y="767429"/>
                  </a:lnTo>
                  <a:lnTo>
                    <a:pt x="1440180" y="720089"/>
                  </a:lnTo>
                  <a:lnTo>
                    <a:pt x="1438648" y="672750"/>
                  </a:lnTo>
                  <a:lnTo>
                    <a:pt x="1434115" y="626227"/>
                  </a:lnTo>
                  <a:lnTo>
                    <a:pt x="1426677" y="580615"/>
                  </a:lnTo>
                  <a:lnTo>
                    <a:pt x="1416428" y="536011"/>
                  </a:lnTo>
                  <a:lnTo>
                    <a:pt x="1403463" y="492508"/>
                  </a:lnTo>
                  <a:lnTo>
                    <a:pt x="1387878" y="450201"/>
                  </a:lnTo>
                  <a:lnTo>
                    <a:pt x="1369767" y="409186"/>
                  </a:lnTo>
                  <a:lnTo>
                    <a:pt x="1349224" y="369557"/>
                  </a:lnTo>
                  <a:lnTo>
                    <a:pt x="1326346" y="331410"/>
                  </a:lnTo>
                  <a:lnTo>
                    <a:pt x="1301227" y="294839"/>
                  </a:lnTo>
                  <a:lnTo>
                    <a:pt x="1273962" y="259939"/>
                  </a:lnTo>
                  <a:lnTo>
                    <a:pt x="1244646" y="226805"/>
                  </a:lnTo>
                  <a:lnTo>
                    <a:pt x="1213374" y="195533"/>
                  </a:lnTo>
                  <a:lnTo>
                    <a:pt x="1180240" y="166217"/>
                  </a:lnTo>
                  <a:lnTo>
                    <a:pt x="1145340" y="138952"/>
                  </a:lnTo>
                  <a:lnTo>
                    <a:pt x="1108769" y="113833"/>
                  </a:lnTo>
                  <a:lnTo>
                    <a:pt x="1070622" y="90955"/>
                  </a:lnTo>
                  <a:lnTo>
                    <a:pt x="1030993" y="70412"/>
                  </a:lnTo>
                  <a:lnTo>
                    <a:pt x="989978" y="52301"/>
                  </a:lnTo>
                  <a:lnTo>
                    <a:pt x="947671" y="36716"/>
                  </a:lnTo>
                  <a:lnTo>
                    <a:pt x="904168" y="23751"/>
                  </a:lnTo>
                  <a:lnTo>
                    <a:pt x="859564" y="13502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/home/claude/ppt/icons/apps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588" y="1648967"/>
              <a:ext cx="748284" cy="74828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2331720" y="1303019"/>
            <a:ext cx="6309360" cy="1165860"/>
          </a:xfrm>
          <a:custGeom>
            <a:avLst/>
            <a:gdLst/>
            <a:ahLst/>
            <a:cxnLst/>
            <a:rect l="l" t="t" r="r" b="b"/>
            <a:pathLst>
              <a:path w="6309359" h="1165860">
                <a:moveTo>
                  <a:pt x="6227063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5"/>
                </a:lnTo>
                <a:lnTo>
                  <a:pt x="0" y="1083563"/>
                </a:lnTo>
                <a:lnTo>
                  <a:pt x="6465" y="1115603"/>
                </a:lnTo>
                <a:lnTo>
                  <a:pt x="24098" y="1141761"/>
                </a:lnTo>
                <a:lnTo>
                  <a:pt x="50256" y="1159394"/>
                </a:lnTo>
                <a:lnTo>
                  <a:pt x="82296" y="1165859"/>
                </a:lnTo>
                <a:lnTo>
                  <a:pt x="6227063" y="1165859"/>
                </a:lnTo>
                <a:lnTo>
                  <a:pt x="6259103" y="1159394"/>
                </a:lnTo>
                <a:lnTo>
                  <a:pt x="6285261" y="1141761"/>
                </a:lnTo>
                <a:lnTo>
                  <a:pt x="6302894" y="1115603"/>
                </a:lnTo>
                <a:lnTo>
                  <a:pt x="6309359" y="1083563"/>
                </a:lnTo>
                <a:lnTo>
                  <a:pt x="6309359" y="82295"/>
                </a:lnTo>
                <a:lnTo>
                  <a:pt x="6302894" y="50256"/>
                </a:lnTo>
                <a:lnTo>
                  <a:pt x="6285261" y="24098"/>
                </a:lnTo>
                <a:lnTo>
                  <a:pt x="6259103" y="6465"/>
                </a:lnTo>
                <a:lnTo>
                  <a:pt x="6227063" y="0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50998" y="1681734"/>
            <a:ext cx="567944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Une</a:t>
            </a:r>
            <a:r>
              <a:rPr dirty="0" sz="120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instance</a:t>
            </a:r>
            <a:r>
              <a:rPr dirty="0" sz="1200" spc="-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d'un</a:t>
            </a:r>
            <a:r>
              <a:rPr dirty="0" sz="1200" spc="-4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programme</a:t>
            </a:r>
            <a:r>
              <a:rPr dirty="0" sz="1200" spc="-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en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cours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d'exécution,</a:t>
            </a:r>
            <a:r>
              <a:rPr dirty="0" sz="1200" spc="-5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avec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sa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propre</a:t>
            </a:r>
            <a:r>
              <a:rPr dirty="0" sz="1200" spc="-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mémoire</a:t>
            </a:r>
            <a:r>
              <a:rPr dirty="0" sz="120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et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ses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propres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ressources.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1720" y="2641092"/>
            <a:ext cx="6309360" cy="1303020"/>
            <a:chOff x="2331720" y="2641092"/>
            <a:chExt cx="6309360" cy="1303020"/>
          </a:xfrm>
        </p:grpSpPr>
        <p:sp>
          <p:nvSpPr>
            <p:cNvPr id="10" name="object 10"/>
            <p:cNvSpPr/>
            <p:nvPr/>
          </p:nvSpPr>
          <p:spPr>
            <a:xfrm>
              <a:off x="2331720" y="2641092"/>
              <a:ext cx="6309360" cy="1303020"/>
            </a:xfrm>
            <a:custGeom>
              <a:avLst/>
              <a:gdLst/>
              <a:ahLst/>
              <a:cxnLst/>
              <a:rect l="l" t="t" r="r" b="b"/>
              <a:pathLst>
                <a:path w="6309359" h="1303020">
                  <a:moveTo>
                    <a:pt x="6227063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1220723"/>
                  </a:lnTo>
                  <a:lnTo>
                    <a:pt x="6465" y="1252758"/>
                  </a:lnTo>
                  <a:lnTo>
                    <a:pt x="24098" y="1278916"/>
                  </a:lnTo>
                  <a:lnTo>
                    <a:pt x="50256" y="1296553"/>
                  </a:lnTo>
                  <a:lnTo>
                    <a:pt x="82296" y="1303020"/>
                  </a:lnTo>
                  <a:lnTo>
                    <a:pt x="6227063" y="1303020"/>
                  </a:lnTo>
                  <a:lnTo>
                    <a:pt x="6259103" y="1296553"/>
                  </a:lnTo>
                  <a:lnTo>
                    <a:pt x="6285261" y="1278916"/>
                  </a:lnTo>
                  <a:lnTo>
                    <a:pt x="6302894" y="1252758"/>
                  </a:lnTo>
                  <a:lnTo>
                    <a:pt x="6309359" y="1220723"/>
                  </a:lnTo>
                  <a:lnTo>
                    <a:pt x="6309359" y="82295"/>
                  </a:lnTo>
                  <a:lnTo>
                    <a:pt x="6302894" y="50256"/>
                  </a:lnTo>
                  <a:lnTo>
                    <a:pt x="6285261" y="24098"/>
                  </a:lnTo>
                  <a:lnTo>
                    <a:pt x="6259103" y="6465"/>
                  </a:lnTo>
                  <a:lnTo>
                    <a:pt x="6227063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03932" y="2791968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25853" y="6120"/>
                  </a:lnTo>
                  <a:lnTo>
                    <a:pt x="84892" y="23396"/>
                  </a:lnTo>
                  <a:lnTo>
                    <a:pt x="50196" y="50196"/>
                  </a:lnTo>
                  <a:lnTo>
                    <a:pt x="23396" y="84892"/>
                  </a:lnTo>
                  <a:lnTo>
                    <a:pt x="6120" y="125853"/>
                  </a:lnTo>
                  <a:lnTo>
                    <a:pt x="0" y="171450"/>
                  </a:lnTo>
                  <a:lnTo>
                    <a:pt x="6120" y="217046"/>
                  </a:lnTo>
                  <a:lnTo>
                    <a:pt x="23396" y="258007"/>
                  </a:lnTo>
                  <a:lnTo>
                    <a:pt x="50196" y="292703"/>
                  </a:lnTo>
                  <a:lnTo>
                    <a:pt x="84892" y="319503"/>
                  </a:lnTo>
                  <a:lnTo>
                    <a:pt x="125853" y="336779"/>
                  </a:lnTo>
                  <a:lnTo>
                    <a:pt x="171450" y="342900"/>
                  </a:lnTo>
                  <a:lnTo>
                    <a:pt x="217046" y="336779"/>
                  </a:lnTo>
                  <a:lnTo>
                    <a:pt x="258007" y="319503"/>
                  </a:lnTo>
                  <a:lnTo>
                    <a:pt x="292703" y="292703"/>
                  </a:lnTo>
                  <a:lnTo>
                    <a:pt x="319503" y="258007"/>
                  </a:lnTo>
                  <a:lnTo>
                    <a:pt x="336779" y="217046"/>
                  </a:lnTo>
                  <a:lnTo>
                    <a:pt x="342900" y="171450"/>
                  </a:lnTo>
                  <a:lnTo>
                    <a:pt x="336779" y="125853"/>
                  </a:lnTo>
                  <a:lnTo>
                    <a:pt x="319503" y="84892"/>
                  </a:lnTo>
                  <a:lnTo>
                    <a:pt x="292703" y="50196"/>
                  </a:lnTo>
                  <a:lnTo>
                    <a:pt x="258007" y="23396"/>
                  </a:lnTo>
                  <a:lnTo>
                    <a:pt x="217046" y="612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/home/claude/ppt/icons/phon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8" y="2874264"/>
              <a:ext cx="178307" cy="17830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650998" y="2772282"/>
            <a:ext cx="5640705" cy="628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Dans</a:t>
            </a:r>
            <a:r>
              <a:rPr dirty="0" sz="900" spc="3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la</a:t>
            </a:r>
            <a:r>
              <a:rPr dirty="0" sz="900" spc="3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vraie</a:t>
            </a:r>
            <a:r>
              <a:rPr dirty="0" sz="900" spc="4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vie</a:t>
            </a:r>
            <a:r>
              <a:rPr dirty="0" sz="900" spc="5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spc="-50" b="1">
                <a:solidFill>
                  <a:srgbClr val="D5880F"/>
                </a:solidFill>
                <a:latin typeface="Calibri"/>
                <a:cs typeface="Calibri"/>
              </a:rPr>
              <a:t>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ts val="1310"/>
              </a:lnSpc>
              <a:spcBef>
                <a:spcPts val="1055"/>
              </a:spcBef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Quand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vous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ouvrez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Instagram,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l'OS</a:t>
            </a:r>
            <a:r>
              <a:rPr dirty="0" sz="11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démarre un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PROCESSUS.</a:t>
            </a:r>
            <a:r>
              <a:rPr dirty="0" sz="11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vous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ouvrez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aussi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WhatsApp,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c'est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processus,</a:t>
            </a:r>
            <a:r>
              <a:rPr dirty="0" sz="11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totalement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indépendant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du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premier.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31</a:t>
            </a: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1588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1.3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TERMINOLOGIE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3648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Le</a:t>
            </a:r>
            <a:r>
              <a:rPr dirty="0" sz="2400" spc="-6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thread</a:t>
            </a:r>
            <a:r>
              <a:rPr dirty="0" sz="2400" spc="-3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(fil</a:t>
            </a:r>
            <a:r>
              <a:rPr dirty="0" sz="2400" spc="-7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d'exécution)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303019"/>
            <a:ext cx="1440180" cy="1440180"/>
            <a:chOff x="548640" y="1303019"/>
            <a:chExt cx="1440180" cy="1440180"/>
          </a:xfrm>
        </p:grpSpPr>
        <p:sp>
          <p:nvSpPr>
            <p:cNvPr id="5" name="object 5"/>
            <p:cNvSpPr/>
            <p:nvPr/>
          </p:nvSpPr>
          <p:spPr>
            <a:xfrm>
              <a:off x="548640" y="1303019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90" y="0"/>
                  </a:moveTo>
                  <a:lnTo>
                    <a:pt x="672743" y="1531"/>
                  </a:lnTo>
                  <a:lnTo>
                    <a:pt x="626214" y="6064"/>
                  </a:lnTo>
                  <a:lnTo>
                    <a:pt x="580598" y="13502"/>
                  </a:lnTo>
                  <a:lnTo>
                    <a:pt x="535989" y="23751"/>
                  </a:lnTo>
                  <a:lnTo>
                    <a:pt x="492483" y="36716"/>
                  </a:lnTo>
                  <a:lnTo>
                    <a:pt x="450174" y="52301"/>
                  </a:lnTo>
                  <a:lnTo>
                    <a:pt x="409158" y="70412"/>
                  </a:lnTo>
                  <a:lnTo>
                    <a:pt x="369529" y="90955"/>
                  </a:lnTo>
                  <a:lnTo>
                    <a:pt x="331382" y="113833"/>
                  </a:lnTo>
                  <a:lnTo>
                    <a:pt x="294811" y="138952"/>
                  </a:lnTo>
                  <a:lnTo>
                    <a:pt x="259913" y="166217"/>
                  </a:lnTo>
                  <a:lnTo>
                    <a:pt x="226781" y="195533"/>
                  </a:lnTo>
                  <a:lnTo>
                    <a:pt x="195510" y="226805"/>
                  </a:lnTo>
                  <a:lnTo>
                    <a:pt x="166196" y="259939"/>
                  </a:lnTo>
                  <a:lnTo>
                    <a:pt x="138933" y="294839"/>
                  </a:lnTo>
                  <a:lnTo>
                    <a:pt x="113817" y="331410"/>
                  </a:lnTo>
                  <a:lnTo>
                    <a:pt x="90941" y="369557"/>
                  </a:lnTo>
                  <a:lnTo>
                    <a:pt x="70402" y="409186"/>
                  </a:lnTo>
                  <a:lnTo>
                    <a:pt x="52293" y="450201"/>
                  </a:lnTo>
                  <a:lnTo>
                    <a:pt x="36710" y="492508"/>
                  </a:lnTo>
                  <a:lnTo>
                    <a:pt x="23747" y="536011"/>
                  </a:lnTo>
                  <a:lnTo>
                    <a:pt x="13500" y="580615"/>
                  </a:lnTo>
                  <a:lnTo>
                    <a:pt x="6063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3" y="813952"/>
                  </a:lnTo>
                  <a:lnTo>
                    <a:pt x="13500" y="859564"/>
                  </a:lnTo>
                  <a:lnTo>
                    <a:pt x="23747" y="904168"/>
                  </a:lnTo>
                  <a:lnTo>
                    <a:pt x="36710" y="947671"/>
                  </a:lnTo>
                  <a:lnTo>
                    <a:pt x="52293" y="989978"/>
                  </a:lnTo>
                  <a:lnTo>
                    <a:pt x="70402" y="1030993"/>
                  </a:lnTo>
                  <a:lnTo>
                    <a:pt x="90941" y="1070622"/>
                  </a:lnTo>
                  <a:lnTo>
                    <a:pt x="113817" y="1108769"/>
                  </a:lnTo>
                  <a:lnTo>
                    <a:pt x="138933" y="1145340"/>
                  </a:lnTo>
                  <a:lnTo>
                    <a:pt x="166196" y="1180240"/>
                  </a:lnTo>
                  <a:lnTo>
                    <a:pt x="195510" y="1213374"/>
                  </a:lnTo>
                  <a:lnTo>
                    <a:pt x="226781" y="1244646"/>
                  </a:lnTo>
                  <a:lnTo>
                    <a:pt x="259913" y="1273962"/>
                  </a:lnTo>
                  <a:lnTo>
                    <a:pt x="294811" y="1301227"/>
                  </a:lnTo>
                  <a:lnTo>
                    <a:pt x="331382" y="1326346"/>
                  </a:lnTo>
                  <a:lnTo>
                    <a:pt x="369529" y="1349224"/>
                  </a:lnTo>
                  <a:lnTo>
                    <a:pt x="409158" y="1369767"/>
                  </a:lnTo>
                  <a:lnTo>
                    <a:pt x="450174" y="1387878"/>
                  </a:lnTo>
                  <a:lnTo>
                    <a:pt x="492483" y="1403463"/>
                  </a:lnTo>
                  <a:lnTo>
                    <a:pt x="535989" y="1416428"/>
                  </a:lnTo>
                  <a:lnTo>
                    <a:pt x="580598" y="1426677"/>
                  </a:lnTo>
                  <a:lnTo>
                    <a:pt x="626214" y="1434115"/>
                  </a:lnTo>
                  <a:lnTo>
                    <a:pt x="672743" y="1438648"/>
                  </a:lnTo>
                  <a:lnTo>
                    <a:pt x="720090" y="1440179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59564" y="1426677"/>
                  </a:lnTo>
                  <a:lnTo>
                    <a:pt x="904168" y="1416428"/>
                  </a:lnTo>
                  <a:lnTo>
                    <a:pt x="947671" y="1403463"/>
                  </a:lnTo>
                  <a:lnTo>
                    <a:pt x="989978" y="1387878"/>
                  </a:lnTo>
                  <a:lnTo>
                    <a:pt x="1030993" y="1369767"/>
                  </a:lnTo>
                  <a:lnTo>
                    <a:pt x="1070622" y="1349224"/>
                  </a:lnTo>
                  <a:lnTo>
                    <a:pt x="1108769" y="1326346"/>
                  </a:lnTo>
                  <a:lnTo>
                    <a:pt x="1145340" y="1301227"/>
                  </a:lnTo>
                  <a:lnTo>
                    <a:pt x="1180240" y="1273962"/>
                  </a:lnTo>
                  <a:lnTo>
                    <a:pt x="1213374" y="1244646"/>
                  </a:lnTo>
                  <a:lnTo>
                    <a:pt x="1244646" y="1213374"/>
                  </a:lnTo>
                  <a:lnTo>
                    <a:pt x="1273962" y="1180240"/>
                  </a:lnTo>
                  <a:lnTo>
                    <a:pt x="1301227" y="1145340"/>
                  </a:lnTo>
                  <a:lnTo>
                    <a:pt x="1326346" y="1108769"/>
                  </a:lnTo>
                  <a:lnTo>
                    <a:pt x="1349224" y="1070622"/>
                  </a:lnTo>
                  <a:lnTo>
                    <a:pt x="1369767" y="1030993"/>
                  </a:lnTo>
                  <a:lnTo>
                    <a:pt x="1387878" y="989978"/>
                  </a:lnTo>
                  <a:lnTo>
                    <a:pt x="1403463" y="947671"/>
                  </a:lnTo>
                  <a:lnTo>
                    <a:pt x="1416428" y="904168"/>
                  </a:lnTo>
                  <a:lnTo>
                    <a:pt x="1426677" y="859564"/>
                  </a:lnTo>
                  <a:lnTo>
                    <a:pt x="1434115" y="813952"/>
                  </a:lnTo>
                  <a:lnTo>
                    <a:pt x="1438648" y="767429"/>
                  </a:lnTo>
                  <a:lnTo>
                    <a:pt x="1440180" y="720089"/>
                  </a:lnTo>
                  <a:lnTo>
                    <a:pt x="1438648" y="672750"/>
                  </a:lnTo>
                  <a:lnTo>
                    <a:pt x="1434115" y="626227"/>
                  </a:lnTo>
                  <a:lnTo>
                    <a:pt x="1426677" y="580615"/>
                  </a:lnTo>
                  <a:lnTo>
                    <a:pt x="1416428" y="536011"/>
                  </a:lnTo>
                  <a:lnTo>
                    <a:pt x="1403463" y="492508"/>
                  </a:lnTo>
                  <a:lnTo>
                    <a:pt x="1387878" y="450201"/>
                  </a:lnTo>
                  <a:lnTo>
                    <a:pt x="1369767" y="409186"/>
                  </a:lnTo>
                  <a:lnTo>
                    <a:pt x="1349224" y="369557"/>
                  </a:lnTo>
                  <a:lnTo>
                    <a:pt x="1326346" y="331410"/>
                  </a:lnTo>
                  <a:lnTo>
                    <a:pt x="1301227" y="294839"/>
                  </a:lnTo>
                  <a:lnTo>
                    <a:pt x="1273962" y="259939"/>
                  </a:lnTo>
                  <a:lnTo>
                    <a:pt x="1244646" y="226805"/>
                  </a:lnTo>
                  <a:lnTo>
                    <a:pt x="1213374" y="195533"/>
                  </a:lnTo>
                  <a:lnTo>
                    <a:pt x="1180240" y="166217"/>
                  </a:lnTo>
                  <a:lnTo>
                    <a:pt x="1145340" y="138952"/>
                  </a:lnTo>
                  <a:lnTo>
                    <a:pt x="1108769" y="113833"/>
                  </a:lnTo>
                  <a:lnTo>
                    <a:pt x="1070622" y="90955"/>
                  </a:lnTo>
                  <a:lnTo>
                    <a:pt x="1030993" y="70412"/>
                  </a:lnTo>
                  <a:lnTo>
                    <a:pt x="989978" y="52301"/>
                  </a:lnTo>
                  <a:lnTo>
                    <a:pt x="947671" y="36716"/>
                  </a:lnTo>
                  <a:lnTo>
                    <a:pt x="904168" y="23751"/>
                  </a:lnTo>
                  <a:lnTo>
                    <a:pt x="859564" y="13502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/home/claude/ppt/icons/git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588" y="1648967"/>
              <a:ext cx="748284" cy="74828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2331720" y="1303019"/>
            <a:ext cx="6309360" cy="1165860"/>
          </a:xfrm>
          <a:custGeom>
            <a:avLst/>
            <a:gdLst/>
            <a:ahLst/>
            <a:cxnLst/>
            <a:rect l="l" t="t" r="r" b="b"/>
            <a:pathLst>
              <a:path w="6309359" h="1165860">
                <a:moveTo>
                  <a:pt x="6227063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5"/>
                </a:lnTo>
                <a:lnTo>
                  <a:pt x="0" y="1083563"/>
                </a:lnTo>
                <a:lnTo>
                  <a:pt x="6465" y="1115603"/>
                </a:lnTo>
                <a:lnTo>
                  <a:pt x="24098" y="1141761"/>
                </a:lnTo>
                <a:lnTo>
                  <a:pt x="50256" y="1159394"/>
                </a:lnTo>
                <a:lnTo>
                  <a:pt x="82296" y="1165859"/>
                </a:lnTo>
                <a:lnTo>
                  <a:pt x="6227063" y="1165859"/>
                </a:lnTo>
                <a:lnTo>
                  <a:pt x="6259103" y="1159394"/>
                </a:lnTo>
                <a:lnTo>
                  <a:pt x="6285261" y="1141761"/>
                </a:lnTo>
                <a:lnTo>
                  <a:pt x="6302894" y="1115603"/>
                </a:lnTo>
                <a:lnTo>
                  <a:pt x="6309359" y="1083563"/>
                </a:lnTo>
                <a:lnTo>
                  <a:pt x="6309359" y="82295"/>
                </a:lnTo>
                <a:lnTo>
                  <a:pt x="6302894" y="50256"/>
                </a:lnTo>
                <a:lnTo>
                  <a:pt x="6285261" y="24098"/>
                </a:lnTo>
                <a:lnTo>
                  <a:pt x="6259103" y="6465"/>
                </a:lnTo>
                <a:lnTo>
                  <a:pt x="6227063" y="0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50998" y="1681734"/>
            <a:ext cx="53416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Une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unité</a:t>
            </a:r>
            <a:r>
              <a:rPr dirty="0" sz="1200" spc="-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d'exécution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plus</a:t>
            </a:r>
            <a:r>
              <a:rPr dirty="0" sz="1200" spc="-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légère</a:t>
            </a:r>
            <a:r>
              <a:rPr dirty="0" sz="120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qu'un</a:t>
            </a:r>
            <a:r>
              <a:rPr dirty="0" sz="1200" spc="-5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processus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 ;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r>
              <a:rPr dirty="0" sz="1200" spc="-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même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processus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peut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contenir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plusieurs</a:t>
            </a:r>
            <a:r>
              <a:rPr dirty="0" sz="1200" spc="-5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threads.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1720" y="2641092"/>
            <a:ext cx="6309360" cy="1303020"/>
            <a:chOff x="2331720" y="2641092"/>
            <a:chExt cx="6309360" cy="1303020"/>
          </a:xfrm>
        </p:grpSpPr>
        <p:sp>
          <p:nvSpPr>
            <p:cNvPr id="10" name="object 10"/>
            <p:cNvSpPr/>
            <p:nvPr/>
          </p:nvSpPr>
          <p:spPr>
            <a:xfrm>
              <a:off x="2331720" y="2641092"/>
              <a:ext cx="6309360" cy="1303020"/>
            </a:xfrm>
            <a:custGeom>
              <a:avLst/>
              <a:gdLst/>
              <a:ahLst/>
              <a:cxnLst/>
              <a:rect l="l" t="t" r="r" b="b"/>
              <a:pathLst>
                <a:path w="6309359" h="1303020">
                  <a:moveTo>
                    <a:pt x="6227063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1220723"/>
                  </a:lnTo>
                  <a:lnTo>
                    <a:pt x="6465" y="1252758"/>
                  </a:lnTo>
                  <a:lnTo>
                    <a:pt x="24098" y="1278916"/>
                  </a:lnTo>
                  <a:lnTo>
                    <a:pt x="50256" y="1296553"/>
                  </a:lnTo>
                  <a:lnTo>
                    <a:pt x="82296" y="1303020"/>
                  </a:lnTo>
                  <a:lnTo>
                    <a:pt x="6227063" y="1303020"/>
                  </a:lnTo>
                  <a:lnTo>
                    <a:pt x="6259103" y="1296553"/>
                  </a:lnTo>
                  <a:lnTo>
                    <a:pt x="6285261" y="1278916"/>
                  </a:lnTo>
                  <a:lnTo>
                    <a:pt x="6302894" y="1252758"/>
                  </a:lnTo>
                  <a:lnTo>
                    <a:pt x="6309359" y="1220723"/>
                  </a:lnTo>
                  <a:lnTo>
                    <a:pt x="6309359" y="82295"/>
                  </a:lnTo>
                  <a:lnTo>
                    <a:pt x="6302894" y="50256"/>
                  </a:lnTo>
                  <a:lnTo>
                    <a:pt x="6285261" y="24098"/>
                  </a:lnTo>
                  <a:lnTo>
                    <a:pt x="6259103" y="6465"/>
                  </a:lnTo>
                  <a:lnTo>
                    <a:pt x="6227063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03932" y="2791968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25853" y="6120"/>
                  </a:lnTo>
                  <a:lnTo>
                    <a:pt x="84892" y="23396"/>
                  </a:lnTo>
                  <a:lnTo>
                    <a:pt x="50196" y="50196"/>
                  </a:lnTo>
                  <a:lnTo>
                    <a:pt x="23396" y="84892"/>
                  </a:lnTo>
                  <a:lnTo>
                    <a:pt x="6120" y="125853"/>
                  </a:lnTo>
                  <a:lnTo>
                    <a:pt x="0" y="171450"/>
                  </a:lnTo>
                  <a:lnTo>
                    <a:pt x="6120" y="217046"/>
                  </a:lnTo>
                  <a:lnTo>
                    <a:pt x="23396" y="258007"/>
                  </a:lnTo>
                  <a:lnTo>
                    <a:pt x="50196" y="292703"/>
                  </a:lnTo>
                  <a:lnTo>
                    <a:pt x="84892" y="319503"/>
                  </a:lnTo>
                  <a:lnTo>
                    <a:pt x="125853" y="336779"/>
                  </a:lnTo>
                  <a:lnTo>
                    <a:pt x="171450" y="342900"/>
                  </a:lnTo>
                  <a:lnTo>
                    <a:pt x="217046" y="336779"/>
                  </a:lnTo>
                  <a:lnTo>
                    <a:pt x="258007" y="319503"/>
                  </a:lnTo>
                  <a:lnTo>
                    <a:pt x="292703" y="292703"/>
                  </a:lnTo>
                  <a:lnTo>
                    <a:pt x="319503" y="258007"/>
                  </a:lnTo>
                  <a:lnTo>
                    <a:pt x="336779" y="217046"/>
                  </a:lnTo>
                  <a:lnTo>
                    <a:pt x="342900" y="171450"/>
                  </a:lnTo>
                  <a:lnTo>
                    <a:pt x="336779" y="125853"/>
                  </a:lnTo>
                  <a:lnTo>
                    <a:pt x="319503" y="84892"/>
                  </a:lnTo>
                  <a:lnTo>
                    <a:pt x="292703" y="50196"/>
                  </a:lnTo>
                  <a:lnTo>
                    <a:pt x="258007" y="23396"/>
                  </a:lnTo>
                  <a:lnTo>
                    <a:pt x="217046" y="612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/home/claude/ppt/icons/phon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8" y="2874264"/>
              <a:ext cx="178307" cy="17830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650998" y="2772282"/>
            <a:ext cx="5700395" cy="628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Dans</a:t>
            </a:r>
            <a:r>
              <a:rPr dirty="0" sz="900" spc="3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la</a:t>
            </a:r>
            <a:r>
              <a:rPr dirty="0" sz="900" spc="3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vraie</a:t>
            </a:r>
            <a:r>
              <a:rPr dirty="0" sz="900" spc="4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vie</a:t>
            </a:r>
            <a:r>
              <a:rPr dirty="0" sz="900" spc="5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spc="-50" b="1">
                <a:solidFill>
                  <a:srgbClr val="D5880F"/>
                </a:solidFill>
                <a:latin typeface="Calibri"/>
                <a:cs typeface="Calibri"/>
              </a:rPr>
              <a:t>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ts val="1310"/>
              </a:lnSpc>
              <a:spcBef>
                <a:spcPts val="1055"/>
              </a:spcBef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Une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appli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vidéo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sous-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titrée</a:t>
            </a:r>
            <a:r>
              <a:rPr dirty="0" sz="1100" spc="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utilise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souvent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plusieurs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THREADS</a:t>
            </a:r>
            <a:r>
              <a:rPr dirty="0" sz="11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pour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jouer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son,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autre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pour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afficher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texte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troisième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pour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animer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même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temps,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sans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l'un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bloque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l'autre.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32</a:t>
            </a: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1588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1.3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TERMINOLOGIE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2230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 b="1">
                <a:solidFill>
                  <a:srgbClr val="1F385F"/>
                </a:solidFill>
                <a:latin typeface="Cambria"/>
                <a:cs typeface="Cambria"/>
              </a:rPr>
              <a:t>L'appel</a:t>
            </a:r>
            <a:r>
              <a:rPr dirty="0" sz="2400" spc="-9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système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303019"/>
            <a:ext cx="1440180" cy="1440180"/>
            <a:chOff x="548640" y="1303019"/>
            <a:chExt cx="1440180" cy="1440180"/>
          </a:xfrm>
        </p:grpSpPr>
        <p:sp>
          <p:nvSpPr>
            <p:cNvPr id="5" name="object 5"/>
            <p:cNvSpPr/>
            <p:nvPr/>
          </p:nvSpPr>
          <p:spPr>
            <a:xfrm>
              <a:off x="548640" y="1303019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90" y="0"/>
                  </a:moveTo>
                  <a:lnTo>
                    <a:pt x="672743" y="1531"/>
                  </a:lnTo>
                  <a:lnTo>
                    <a:pt x="626214" y="6064"/>
                  </a:lnTo>
                  <a:lnTo>
                    <a:pt x="580598" y="13502"/>
                  </a:lnTo>
                  <a:lnTo>
                    <a:pt x="535989" y="23751"/>
                  </a:lnTo>
                  <a:lnTo>
                    <a:pt x="492483" y="36716"/>
                  </a:lnTo>
                  <a:lnTo>
                    <a:pt x="450174" y="52301"/>
                  </a:lnTo>
                  <a:lnTo>
                    <a:pt x="409158" y="70412"/>
                  </a:lnTo>
                  <a:lnTo>
                    <a:pt x="369529" y="90955"/>
                  </a:lnTo>
                  <a:lnTo>
                    <a:pt x="331382" y="113833"/>
                  </a:lnTo>
                  <a:lnTo>
                    <a:pt x="294811" y="138952"/>
                  </a:lnTo>
                  <a:lnTo>
                    <a:pt x="259913" y="166217"/>
                  </a:lnTo>
                  <a:lnTo>
                    <a:pt x="226781" y="195533"/>
                  </a:lnTo>
                  <a:lnTo>
                    <a:pt x="195510" y="226805"/>
                  </a:lnTo>
                  <a:lnTo>
                    <a:pt x="166196" y="259939"/>
                  </a:lnTo>
                  <a:lnTo>
                    <a:pt x="138933" y="294839"/>
                  </a:lnTo>
                  <a:lnTo>
                    <a:pt x="113817" y="331410"/>
                  </a:lnTo>
                  <a:lnTo>
                    <a:pt x="90941" y="369557"/>
                  </a:lnTo>
                  <a:lnTo>
                    <a:pt x="70402" y="409186"/>
                  </a:lnTo>
                  <a:lnTo>
                    <a:pt x="52293" y="450201"/>
                  </a:lnTo>
                  <a:lnTo>
                    <a:pt x="36710" y="492508"/>
                  </a:lnTo>
                  <a:lnTo>
                    <a:pt x="23747" y="536011"/>
                  </a:lnTo>
                  <a:lnTo>
                    <a:pt x="13500" y="580615"/>
                  </a:lnTo>
                  <a:lnTo>
                    <a:pt x="6063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3" y="813952"/>
                  </a:lnTo>
                  <a:lnTo>
                    <a:pt x="13500" y="859564"/>
                  </a:lnTo>
                  <a:lnTo>
                    <a:pt x="23747" y="904168"/>
                  </a:lnTo>
                  <a:lnTo>
                    <a:pt x="36710" y="947671"/>
                  </a:lnTo>
                  <a:lnTo>
                    <a:pt x="52293" y="989978"/>
                  </a:lnTo>
                  <a:lnTo>
                    <a:pt x="70402" y="1030993"/>
                  </a:lnTo>
                  <a:lnTo>
                    <a:pt x="90941" y="1070622"/>
                  </a:lnTo>
                  <a:lnTo>
                    <a:pt x="113817" y="1108769"/>
                  </a:lnTo>
                  <a:lnTo>
                    <a:pt x="138933" y="1145340"/>
                  </a:lnTo>
                  <a:lnTo>
                    <a:pt x="166196" y="1180240"/>
                  </a:lnTo>
                  <a:lnTo>
                    <a:pt x="195510" y="1213374"/>
                  </a:lnTo>
                  <a:lnTo>
                    <a:pt x="226781" y="1244646"/>
                  </a:lnTo>
                  <a:lnTo>
                    <a:pt x="259913" y="1273962"/>
                  </a:lnTo>
                  <a:lnTo>
                    <a:pt x="294811" y="1301227"/>
                  </a:lnTo>
                  <a:lnTo>
                    <a:pt x="331382" y="1326346"/>
                  </a:lnTo>
                  <a:lnTo>
                    <a:pt x="369529" y="1349224"/>
                  </a:lnTo>
                  <a:lnTo>
                    <a:pt x="409158" y="1369767"/>
                  </a:lnTo>
                  <a:lnTo>
                    <a:pt x="450174" y="1387878"/>
                  </a:lnTo>
                  <a:lnTo>
                    <a:pt x="492483" y="1403463"/>
                  </a:lnTo>
                  <a:lnTo>
                    <a:pt x="535989" y="1416428"/>
                  </a:lnTo>
                  <a:lnTo>
                    <a:pt x="580598" y="1426677"/>
                  </a:lnTo>
                  <a:lnTo>
                    <a:pt x="626214" y="1434115"/>
                  </a:lnTo>
                  <a:lnTo>
                    <a:pt x="672743" y="1438648"/>
                  </a:lnTo>
                  <a:lnTo>
                    <a:pt x="720090" y="1440179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59564" y="1426677"/>
                  </a:lnTo>
                  <a:lnTo>
                    <a:pt x="904168" y="1416428"/>
                  </a:lnTo>
                  <a:lnTo>
                    <a:pt x="947671" y="1403463"/>
                  </a:lnTo>
                  <a:lnTo>
                    <a:pt x="989978" y="1387878"/>
                  </a:lnTo>
                  <a:lnTo>
                    <a:pt x="1030993" y="1369767"/>
                  </a:lnTo>
                  <a:lnTo>
                    <a:pt x="1070622" y="1349224"/>
                  </a:lnTo>
                  <a:lnTo>
                    <a:pt x="1108769" y="1326346"/>
                  </a:lnTo>
                  <a:lnTo>
                    <a:pt x="1145340" y="1301227"/>
                  </a:lnTo>
                  <a:lnTo>
                    <a:pt x="1180240" y="1273962"/>
                  </a:lnTo>
                  <a:lnTo>
                    <a:pt x="1213374" y="1244646"/>
                  </a:lnTo>
                  <a:lnTo>
                    <a:pt x="1244646" y="1213374"/>
                  </a:lnTo>
                  <a:lnTo>
                    <a:pt x="1273962" y="1180240"/>
                  </a:lnTo>
                  <a:lnTo>
                    <a:pt x="1301227" y="1145340"/>
                  </a:lnTo>
                  <a:lnTo>
                    <a:pt x="1326346" y="1108769"/>
                  </a:lnTo>
                  <a:lnTo>
                    <a:pt x="1349224" y="1070622"/>
                  </a:lnTo>
                  <a:lnTo>
                    <a:pt x="1369767" y="1030993"/>
                  </a:lnTo>
                  <a:lnTo>
                    <a:pt x="1387878" y="989978"/>
                  </a:lnTo>
                  <a:lnTo>
                    <a:pt x="1403463" y="947671"/>
                  </a:lnTo>
                  <a:lnTo>
                    <a:pt x="1416428" y="904168"/>
                  </a:lnTo>
                  <a:lnTo>
                    <a:pt x="1426677" y="859564"/>
                  </a:lnTo>
                  <a:lnTo>
                    <a:pt x="1434115" y="813952"/>
                  </a:lnTo>
                  <a:lnTo>
                    <a:pt x="1438648" y="767429"/>
                  </a:lnTo>
                  <a:lnTo>
                    <a:pt x="1440180" y="720089"/>
                  </a:lnTo>
                  <a:lnTo>
                    <a:pt x="1438648" y="672750"/>
                  </a:lnTo>
                  <a:lnTo>
                    <a:pt x="1434115" y="626227"/>
                  </a:lnTo>
                  <a:lnTo>
                    <a:pt x="1426677" y="580615"/>
                  </a:lnTo>
                  <a:lnTo>
                    <a:pt x="1416428" y="536011"/>
                  </a:lnTo>
                  <a:lnTo>
                    <a:pt x="1403463" y="492508"/>
                  </a:lnTo>
                  <a:lnTo>
                    <a:pt x="1387878" y="450201"/>
                  </a:lnTo>
                  <a:lnTo>
                    <a:pt x="1369767" y="409186"/>
                  </a:lnTo>
                  <a:lnTo>
                    <a:pt x="1349224" y="369557"/>
                  </a:lnTo>
                  <a:lnTo>
                    <a:pt x="1326346" y="331410"/>
                  </a:lnTo>
                  <a:lnTo>
                    <a:pt x="1301227" y="294839"/>
                  </a:lnTo>
                  <a:lnTo>
                    <a:pt x="1273962" y="259939"/>
                  </a:lnTo>
                  <a:lnTo>
                    <a:pt x="1244646" y="226805"/>
                  </a:lnTo>
                  <a:lnTo>
                    <a:pt x="1213374" y="195533"/>
                  </a:lnTo>
                  <a:lnTo>
                    <a:pt x="1180240" y="166217"/>
                  </a:lnTo>
                  <a:lnTo>
                    <a:pt x="1145340" y="138952"/>
                  </a:lnTo>
                  <a:lnTo>
                    <a:pt x="1108769" y="113833"/>
                  </a:lnTo>
                  <a:lnTo>
                    <a:pt x="1070622" y="90955"/>
                  </a:lnTo>
                  <a:lnTo>
                    <a:pt x="1030993" y="70412"/>
                  </a:lnTo>
                  <a:lnTo>
                    <a:pt x="989978" y="52301"/>
                  </a:lnTo>
                  <a:lnTo>
                    <a:pt x="947671" y="36716"/>
                  </a:lnTo>
                  <a:lnTo>
                    <a:pt x="904168" y="23751"/>
                  </a:lnTo>
                  <a:lnTo>
                    <a:pt x="859564" y="13502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/home/claude/ppt/icons/door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588" y="1648967"/>
              <a:ext cx="748284" cy="74828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2331720" y="1303019"/>
            <a:ext cx="6309360" cy="1165860"/>
          </a:xfrm>
          <a:custGeom>
            <a:avLst/>
            <a:gdLst/>
            <a:ahLst/>
            <a:cxnLst/>
            <a:rect l="l" t="t" r="r" b="b"/>
            <a:pathLst>
              <a:path w="6309359" h="1165860">
                <a:moveTo>
                  <a:pt x="6227063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5"/>
                </a:lnTo>
                <a:lnTo>
                  <a:pt x="0" y="1083563"/>
                </a:lnTo>
                <a:lnTo>
                  <a:pt x="6465" y="1115603"/>
                </a:lnTo>
                <a:lnTo>
                  <a:pt x="24098" y="1141761"/>
                </a:lnTo>
                <a:lnTo>
                  <a:pt x="50256" y="1159394"/>
                </a:lnTo>
                <a:lnTo>
                  <a:pt x="82296" y="1165859"/>
                </a:lnTo>
                <a:lnTo>
                  <a:pt x="6227063" y="1165859"/>
                </a:lnTo>
                <a:lnTo>
                  <a:pt x="6259103" y="1159394"/>
                </a:lnTo>
                <a:lnTo>
                  <a:pt x="6285261" y="1141761"/>
                </a:lnTo>
                <a:lnTo>
                  <a:pt x="6302894" y="1115603"/>
                </a:lnTo>
                <a:lnTo>
                  <a:pt x="6309359" y="1083563"/>
                </a:lnTo>
                <a:lnTo>
                  <a:pt x="6309359" y="82295"/>
                </a:lnTo>
                <a:lnTo>
                  <a:pt x="6302894" y="50256"/>
                </a:lnTo>
                <a:lnTo>
                  <a:pt x="6285261" y="24098"/>
                </a:lnTo>
                <a:lnTo>
                  <a:pt x="6259103" y="6465"/>
                </a:lnTo>
                <a:lnTo>
                  <a:pt x="6227063" y="0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50998" y="1681734"/>
            <a:ext cx="53530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mécanisme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par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lequel</a:t>
            </a:r>
            <a:r>
              <a:rPr dirty="0" sz="1200" spc="-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une</a:t>
            </a:r>
            <a:r>
              <a:rPr dirty="0" sz="1200" spc="-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application</a:t>
            </a:r>
            <a:r>
              <a:rPr dirty="0" sz="1200" spc="-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demande</a:t>
            </a:r>
            <a:r>
              <a:rPr dirty="0" sz="1200" spc="-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service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au</a:t>
            </a:r>
            <a:r>
              <a:rPr dirty="0" sz="120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noyau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(lire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fichier,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utiliser</a:t>
            </a:r>
            <a:r>
              <a:rPr dirty="0" sz="1200" spc="-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micro…).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1720" y="2641092"/>
            <a:ext cx="6309360" cy="1303020"/>
            <a:chOff x="2331720" y="2641092"/>
            <a:chExt cx="6309360" cy="1303020"/>
          </a:xfrm>
        </p:grpSpPr>
        <p:sp>
          <p:nvSpPr>
            <p:cNvPr id="10" name="object 10"/>
            <p:cNvSpPr/>
            <p:nvPr/>
          </p:nvSpPr>
          <p:spPr>
            <a:xfrm>
              <a:off x="2331720" y="2641092"/>
              <a:ext cx="6309360" cy="1303020"/>
            </a:xfrm>
            <a:custGeom>
              <a:avLst/>
              <a:gdLst/>
              <a:ahLst/>
              <a:cxnLst/>
              <a:rect l="l" t="t" r="r" b="b"/>
              <a:pathLst>
                <a:path w="6309359" h="1303020">
                  <a:moveTo>
                    <a:pt x="6227063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1220723"/>
                  </a:lnTo>
                  <a:lnTo>
                    <a:pt x="6465" y="1252758"/>
                  </a:lnTo>
                  <a:lnTo>
                    <a:pt x="24098" y="1278916"/>
                  </a:lnTo>
                  <a:lnTo>
                    <a:pt x="50256" y="1296553"/>
                  </a:lnTo>
                  <a:lnTo>
                    <a:pt x="82296" y="1303020"/>
                  </a:lnTo>
                  <a:lnTo>
                    <a:pt x="6227063" y="1303020"/>
                  </a:lnTo>
                  <a:lnTo>
                    <a:pt x="6259103" y="1296553"/>
                  </a:lnTo>
                  <a:lnTo>
                    <a:pt x="6285261" y="1278916"/>
                  </a:lnTo>
                  <a:lnTo>
                    <a:pt x="6302894" y="1252758"/>
                  </a:lnTo>
                  <a:lnTo>
                    <a:pt x="6309359" y="1220723"/>
                  </a:lnTo>
                  <a:lnTo>
                    <a:pt x="6309359" y="82295"/>
                  </a:lnTo>
                  <a:lnTo>
                    <a:pt x="6302894" y="50256"/>
                  </a:lnTo>
                  <a:lnTo>
                    <a:pt x="6285261" y="24098"/>
                  </a:lnTo>
                  <a:lnTo>
                    <a:pt x="6259103" y="6465"/>
                  </a:lnTo>
                  <a:lnTo>
                    <a:pt x="6227063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03932" y="2791968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25853" y="6120"/>
                  </a:lnTo>
                  <a:lnTo>
                    <a:pt x="84892" y="23396"/>
                  </a:lnTo>
                  <a:lnTo>
                    <a:pt x="50196" y="50196"/>
                  </a:lnTo>
                  <a:lnTo>
                    <a:pt x="23396" y="84892"/>
                  </a:lnTo>
                  <a:lnTo>
                    <a:pt x="6120" y="125853"/>
                  </a:lnTo>
                  <a:lnTo>
                    <a:pt x="0" y="171450"/>
                  </a:lnTo>
                  <a:lnTo>
                    <a:pt x="6120" y="217046"/>
                  </a:lnTo>
                  <a:lnTo>
                    <a:pt x="23396" y="258007"/>
                  </a:lnTo>
                  <a:lnTo>
                    <a:pt x="50196" y="292703"/>
                  </a:lnTo>
                  <a:lnTo>
                    <a:pt x="84892" y="319503"/>
                  </a:lnTo>
                  <a:lnTo>
                    <a:pt x="125853" y="336779"/>
                  </a:lnTo>
                  <a:lnTo>
                    <a:pt x="171450" y="342900"/>
                  </a:lnTo>
                  <a:lnTo>
                    <a:pt x="217046" y="336779"/>
                  </a:lnTo>
                  <a:lnTo>
                    <a:pt x="258007" y="319503"/>
                  </a:lnTo>
                  <a:lnTo>
                    <a:pt x="292703" y="292703"/>
                  </a:lnTo>
                  <a:lnTo>
                    <a:pt x="319503" y="258007"/>
                  </a:lnTo>
                  <a:lnTo>
                    <a:pt x="336779" y="217046"/>
                  </a:lnTo>
                  <a:lnTo>
                    <a:pt x="342900" y="171450"/>
                  </a:lnTo>
                  <a:lnTo>
                    <a:pt x="336779" y="125853"/>
                  </a:lnTo>
                  <a:lnTo>
                    <a:pt x="319503" y="84892"/>
                  </a:lnTo>
                  <a:lnTo>
                    <a:pt x="292703" y="50196"/>
                  </a:lnTo>
                  <a:lnTo>
                    <a:pt x="258007" y="23396"/>
                  </a:lnTo>
                  <a:lnTo>
                    <a:pt x="217046" y="612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/home/claude/ppt/icons/phon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8" y="2874264"/>
              <a:ext cx="178307" cy="17830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650998" y="2772282"/>
            <a:ext cx="5405755" cy="628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Dans</a:t>
            </a:r>
            <a:r>
              <a:rPr dirty="0" sz="900" spc="3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la</a:t>
            </a:r>
            <a:r>
              <a:rPr dirty="0" sz="900" spc="3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vraie</a:t>
            </a:r>
            <a:r>
              <a:rPr dirty="0" sz="900" spc="4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vie</a:t>
            </a:r>
            <a:r>
              <a:rPr dirty="0" sz="900" spc="5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spc="-50" b="1">
                <a:solidFill>
                  <a:srgbClr val="D5880F"/>
                </a:solidFill>
                <a:latin typeface="Calibri"/>
                <a:cs typeface="Calibri"/>
              </a:rPr>
              <a:t>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ts val="1310"/>
              </a:lnSpc>
              <a:spcBef>
                <a:spcPts val="1055"/>
              </a:spcBef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Quand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une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appli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veut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utiliser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votre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micro,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elle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ne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peut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pas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faire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seule</a:t>
            </a:r>
            <a:r>
              <a:rPr dirty="0" sz="11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elle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doit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«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demander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permission</a:t>
            </a:r>
            <a:r>
              <a:rPr dirty="0" sz="11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»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l'OS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via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APPEL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SYSTÈME.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33</a:t>
            </a: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1588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1.3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TERMINOLOGIE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4335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Mode</a:t>
            </a:r>
            <a:r>
              <a:rPr dirty="0" sz="24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noyau</a:t>
            </a:r>
            <a:r>
              <a:rPr dirty="0" sz="2400" spc="-4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/</a:t>
            </a:r>
            <a:r>
              <a:rPr dirty="0" sz="2400" spc="-4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mode</a:t>
            </a:r>
            <a:r>
              <a:rPr dirty="0" sz="24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utilisateur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303019"/>
            <a:ext cx="1440180" cy="1440180"/>
            <a:chOff x="548640" y="1303019"/>
            <a:chExt cx="1440180" cy="1440180"/>
          </a:xfrm>
        </p:grpSpPr>
        <p:sp>
          <p:nvSpPr>
            <p:cNvPr id="5" name="object 5"/>
            <p:cNvSpPr/>
            <p:nvPr/>
          </p:nvSpPr>
          <p:spPr>
            <a:xfrm>
              <a:off x="548640" y="1303019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90" y="0"/>
                  </a:moveTo>
                  <a:lnTo>
                    <a:pt x="672743" y="1531"/>
                  </a:lnTo>
                  <a:lnTo>
                    <a:pt x="626214" y="6064"/>
                  </a:lnTo>
                  <a:lnTo>
                    <a:pt x="580598" y="13502"/>
                  </a:lnTo>
                  <a:lnTo>
                    <a:pt x="535989" y="23751"/>
                  </a:lnTo>
                  <a:lnTo>
                    <a:pt x="492483" y="36716"/>
                  </a:lnTo>
                  <a:lnTo>
                    <a:pt x="450174" y="52301"/>
                  </a:lnTo>
                  <a:lnTo>
                    <a:pt x="409158" y="70412"/>
                  </a:lnTo>
                  <a:lnTo>
                    <a:pt x="369529" y="90955"/>
                  </a:lnTo>
                  <a:lnTo>
                    <a:pt x="331382" y="113833"/>
                  </a:lnTo>
                  <a:lnTo>
                    <a:pt x="294811" y="138952"/>
                  </a:lnTo>
                  <a:lnTo>
                    <a:pt x="259913" y="166217"/>
                  </a:lnTo>
                  <a:lnTo>
                    <a:pt x="226781" y="195533"/>
                  </a:lnTo>
                  <a:lnTo>
                    <a:pt x="195510" y="226805"/>
                  </a:lnTo>
                  <a:lnTo>
                    <a:pt x="166196" y="259939"/>
                  </a:lnTo>
                  <a:lnTo>
                    <a:pt x="138933" y="294839"/>
                  </a:lnTo>
                  <a:lnTo>
                    <a:pt x="113817" y="331410"/>
                  </a:lnTo>
                  <a:lnTo>
                    <a:pt x="90941" y="369557"/>
                  </a:lnTo>
                  <a:lnTo>
                    <a:pt x="70402" y="409186"/>
                  </a:lnTo>
                  <a:lnTo>
                    <a:pt x="52293" y="450201"/>
                  </a:lnTo>
                  <a:lnTo>
                    <a:pt x="36710" y="492508"/>
                  </a:lnTo>
                  <a:lnTo>
                    <a:pt x="23747" y="536011"/>
                  </a:lnTo>
                  <a:lnTo>
                    <a:pt x="13500" y="580615"/>
                  </a:lnTo>
                  <a:lnTo>
                    <a:pt x="6063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3" y="813952"/>
                  </a:lnTo>
                  <a:lnTo>
                    <a:pt x="13500" y="859564"/>
                  </a:lnTo>
                  <a:lnTo>
                    <a:pt x="23747" y="904168"/>
                  </a:lnTo>
                  <a:lnTo>
                    <a:pt x="36710" y="947671"/>
                  </a:lnTo>
                  <a:lnTo>
                    <a:pt x="52293" y="989978"/>
                  </a:lnTo>
                  <a:lnTo>
                    <a:pt x="70402" y="1030993"/>
                  </a:lnTo>
                  <a:lnTo>
                    <a:pt x="90941" y="1070622"/>
                  </a:lnTo>
                  <a:lnTo>
                    <a:pt x="113817" y="1108769"/>
                  </a:lnTo>
                  <a:lnTo>
                    <a:pt x="138933" y="1145340"/>
                  </a:lnTo>
                  <a:lnTo>
                    <a:pt x="166196" y="1180240"/>
                  </a:lnTo>
                  <a:lnTo>
                    <a:pt x="195510" y="1213374"/>
                  </a:lnTo>
                  <a:lnTo>
                    <a:pt x="226781" y="1244646"/>
                  </a:lnTo>
                  <a:lnTo>
                    <a:pt x="259913" y="1273962"/>
                  </a:lnTo>
                  <a:lnTo>
                    <a:pt x="294811" y="1301227"/>
                  </a:lnTo>
                  <a:lnTo>
                    <a:pt x="331382" y="1326346"/>
                  </a:lnTo>
                  <a:lnTo>
                    <a:pt x="369529" y="1349224"/>
                  </a:lnTo>
                  <a:lnTo>
                    <a:pt x="409158" y="1369767"/>
                  </a:lnTo>
                  <a:lnTo>
                    <a:pt x="450174" y="1387878"/>
                  </a:lnTo>
                  <a:lnTo>
                    <a:pt x="492483" y="1403463"/>
                  </a:lnTo>
                  <a:lnTo>
                    <a:pt x="535989" y="1416428"/>
                  </a:lnTo>
                  <a:lnTo>
                    <a:pt x="580598" y="1426677"/>
                  </a:lnTo>
                  <a:lnTo>
                    <a:pt x="626214" y="1434115"/>
                  </a:lnTo>
                  <a:lnTo>
                    <a:pt x="672743" y="1438648"/>
                  </a:lnTo>
                  <a:lnTo>
                    <a:pt x="720090" y="1440179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59564" y="1426677"/>
                  </a:lnTo>
                  <a:lnTo>
                    <a:pt x="904168" y="1416428"/>
                  </a:lnTo>
                  <a:lnTo>
                    <a:pt x="947671" y="1403463"/>
                  </a:lnTo>
                  <a:lnTo>
                    <a:pt x="989978" y="1387878"/>
                  </a:lnTo>
                  <a:lnTo>
                    <a:pt x="1030993" y="1369767"/>
                  </a:lnTo>
                  <a:lnTo>
                    <a:pt x="1070622" y="1349224"/>
                  </a:lnTo>
                  <a:lnTo>
                    <a:pt x="1108769" y="1326346"/>
                  </a:lnTo>
                  <a:lnTo>
                    <a:pt x="1145340" y="1301227"/>
                  </a:lnTo>
                  <a:lnTo>
                    <a:pt x="1180240" y="1273962"/>
                  </a:lnTo>
                  <a:lnTo>
                    <a:pt x="1213374" y="1244646"/>
                  </a:lnTo>
                  <a:lnTo>
                    <a:pt x="1244646" y="1213374"/>
                  </a:lnTo>
                  <a:lnTo>
                    <a:pt x="1273962" y="1180240"/>
                  </a:lnTo>
                  <a:lnTo>
                    <a:pt x="1301227" y="1145340"/>
                  </a:lnTo>
                  <a:lnTo>
                    <a:pt x="1326346" y="1108769"/>
                  </a:lnTo>
                  <a:lnTo>
                    <a:pt x="1349224" y="1070622"/>
                  </a:lnTo>
                  <a:lnTo>
                    <a:pt x="1369767" y="1030993"/>
                  </a:lnTo>
                  <a:lnTo>
                    <a:pt x="1387878" y="989978"/>
                  </a:lnTo>
                  <a:lnTo>
                    <a:pt x="1403463" y="947671"/>
                  </a:lnTo>
                  <a:lnTo>
                    <a:pt x="1416428" y="904168"/>
                  </a:lnTo>
                  <a:lnTo>
                    <a:pt x="1426677" y="859564"/>
                  </a:lnTo>
                  <a:lnTo>
                    <a:pt x="1434115" y="813952"/>
                  </a:lnTo>
                  <a:lnTo>
                    <a:pt x="1438648" y="767429"/>
                  </a:lnTo>
                  <a:lnTo>
                    <a:pt x="1440180" y="720089"/>
                  </a:lnTo>
                  <a:lnTo>
                    <a:pt x="1438648" y="672750"/>
                  </a:lnTo>
                  <a:lnTo>
                    <a:pt x="1434115" y="626227"/>
                  </a:lnTo>
                  <a:lnTo>
                    <a:pt x="1426677" y="580615"/>
                  </a:lnTo>
                  <a:lnTo>
                    <a:pt x="1416428" y="536011"/>
                  </a:lnTo>
                  <a:lnTo>
                    <a:pt x="1403463" y="492508"/>
                  </a:lnTo>
                  <a:lnTo>
                    <a:pt x="1387878" y="450201"/>
                  </a:lnTo>
                  <a:lnTo>
                    <a:pt x="1369767" y="409186"/>
                  </a:lnTo>
                  <a:lnTo>
                    <a:pt x="1349224" y="369557"/>
                  </a:lnTo>
                  <a:lnTo>
                    <a:pt x="1326346" y="331410"/>
                  </a:lnTo>
                  <a:lnTo>
                    <a:pt x="1301227" y="294839"/>
                  </a:lnTo>
                  <a:lnTo>
                    <a:pt x="1273962" y="259939"/>
                  </a:lnTo>
                  <a:lnTo>
                    <a:pt x="1244646" y="226805"/>
                  </a:lnTo>
                  <a:lnTo>
                    <a:pt x="1213374" y="195533"/>
                  </a:lnTo>
                  <a:lnTo>
                    <a:pt x="1180240" y="166217"/>
                  </a:lnTo>
                  <a:lnTo>
                    <a:pt x="1145340" y="138952"/>
                  </a:lnTo>
                  <a:lnTo>
                    <a:pt x="1108769" y="113833"/>
                  </a:lnTo>
                  <a:lnTo>
                    <a:pt x="1070622" y="90955"/>
                  </a:lnTo>
                  <a:lnTo>
                    <a:pt x="1030993" y="70412"/>
                  </a:lnTo>
                  <a:lnTo>
                    <a:pt x="989978" y="52301"/>
                  </a:lnTo>
                  <a:lnTo>
                    <a:pt x="947671" y="36716"/>
                  </a:lnTo>
                  <a:lnTo>
                    <a:pt x="904168" y="23751"/>
                  </a:lnTo>
                  <a:lnTo>
                    <a:pt x="859564" y="13502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/home/claude/ppt/icons/lock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588" y="1648967"/>
              <a:ext cx="748284" cy="74828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2331720" y="1303019"/>
            <a:ext cx="6309360" cy="1165860"/>
          </a:xfrm>
          <a:custGeom>
            <a:avLst/>
            <a:gdLst/>
            <a:ahLst/>
            <a:cxnLst/>
            <a:rect l="l" t="t" r="r" b="b"/>
            <a:pathLst>
              <a:path w="6309359" h="1165860">
                <a:moveTo>
                  <a:pt x="6227063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5"/>
                </a:lnTo>
                <a:lnTo>
                  <a:pt x="0" y="1083563"/>
                </a:lnTo>
                <a:lnTo>
                  <a:pt x="6465" y="1115603"/>
                </a:lnTo>
                <a:lnTo>
                  <a:pt x="24098" y="1141761"/>
                </a:lnTo>
                <a:lnTo>
                  <a:pt x="50256" y="1159394"/>
                </a:lnTo>
                <a:lnTo>
                  <a:pt x="82296" y="1165859"/>
                </a:lnTo>
                <a:lnTo>
                  <a:pt x="6227063" y="1165859"/>
                </a:lnTo>
                <a:lnTo>
                  <a:pt x="6259103" y="1159394"/>
                </a:lnTo>
                <a:lnTo>
                  <a:pt x="6285261" y="1141761"/>
                </a:lnTo>
                <a:lnTo>
                  <a:pt x="6302894" y="1115603"/>
                </a:lnTo>
                <a:lnTo>
                  <a:pt x="6309359" y="1083563"/>
                </a:lnTo>
                <a:lnTo>
                  <a:pt x="6309359" y="82295"/>
                </a:lnTo>
                <a:lnTo>
                  <a:pt x="6302894" y="50256"/>
                </a:lnTo>
                <a:lnTo>
                  <a:pt x="6285261" y="24098"/>
                </a:lnTo>
                <a:lnTo>
                  <a:pt x="6259103" y="6465"/>
                </a:lnTo>
                <a:lnTo>
                  <a:pt x="6227063" y="0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50998" y="1681734"/>
            <a:ext cx="55048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Deux</a:t>
            </a:r>
            <a:r>
              <a:rPr dirty="0" sz="1200" spc="-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niveaux</a:t>
            </a:r>
            <a:r>
              <a:rPr dirty="0" sz="1200" spc="-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de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privilèges</a:t>
            </a:r>
            <a:r>
              <a:rPr dirty="0" sz="1200" spc="-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du</a:t>
            </a:r>
            <a:r>
              <a:rPr dirty="0" sz="1200" spc="-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processeur</a:t>
            </a:r>
            <a:r>
              <a:rPr dirty="0" sz="120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: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accès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total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en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mode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noyau,</a:t>
            </a:r>
            <a:r>
              <a:rPr dirty="0" sz="1200" spc="-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accès</a:t>
            </a:r>
            <a:r>
              <a:rPr dirty="0" sz="1200" spc="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restreint</a:t>
            </a:r>
            <a:r>
              <a:rPr dirty="0" sz="1200" spc="-5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en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mode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utilisateur.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1720" y="2641092"/>
            <a:ext cx="6309360" cy="1303020"/>
            <a:chOff x="2331720" y="2641092"/>
            <a:chExt cx="6309360" cy="1303020"/>
          </a:xfrm>
        </p:grpSpPr>
        <p:sp>
          <p:nvSpPr>
            <p:cNvPr id="10" name="object 10"/>
            <p:cNvSpPr/>
            <p:nvPr/>
          </p:nvSpPr>
          <p:spPr>
            <a:xfrm>
              <a:off x="2331720" y="2641092"/>
              <a:ext cx="6309360" cy="1303020"/>
            </a:xfrm>
            <a:custGeom>
              <a:avLst/>
              <a:gdLst/>
              <a:ahLst/>
              <a:cxnLst/>
              <a:rect l="l" t="t" r="r" b="b"/>
              <a:pathLst>
                <a:path w="6309359" h="1303020">
                  <a:moveTo>
                    <a:pt x="6227063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1220723"/>
                  </a:lnTo>
                  <a:lnTo>
                    <a:pt x="6465" y="1252758"/>
                  </a:lnTo>
                  <a:lnTo>
                    <a:pt x="24098" y="1278916"/>
                  </a:lnTo>
                  <a:lnTo>
                    <a:pt x="50256" y="1296553"/>
                  </a:lnTo>
                  <a:lnTo>
                    <a:pt x="82296" y="1303020"/>
                  </a:lnTo>
                  <a:lnTo>
                    <a:pt x="6227063" y="1303020"/>
                  </a:lnTo>
                  <a:lnTo>
                    <a:pt x="6259103" y="1296553"/>
                  </a:lnTo>
                  <a:lnTo>
                    <a:pt x="6285261" y="1278916"/>
                  </a:lnTo>
                  <a:lnTo>
                    <a:pt x="6302894" y="1252758"/>
                  </a:lnTo>
                  <a:lnTo>
                    <a:pt x="6309359" y="1220723"/>
                  </a:lnTo>
                  <a:lnTo>
                    <a:pt x="6309359" y="82295"/>
                  </a:lnTo>
                  <a:lnTo>
                    <a:pt x="6302894" y="50256"/>
                  </a:lnTo>
                  <a:lnTo>
                    <a:pt x="6285261" y="24098"/>
                  </a:lnTo>
                  <a:lnTo>
                    <a:pt x="6259103" y="6465"/>
                  </a:lnTo>
                  <a:lnTo>
                    <a:pt x="6227063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03932" y="2791968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25853" y="6120"/>
                  </a:lnTo>
                  <a:lnTo>
                    <a:pt x="84892" y="23396"/>
                  </a:lnTo>
                  <a:lnTo>
                    <a:pt x="50196" y="50196"/>
                  </a:lnTo>
                  <a:lnTo>
                    <a:pt x="23396" y="84892"/>
                  </a:lnTo>
                  <a:lnTo>
                    <a:pt x="6120" y="125853"/>
                  </a:lnTo>
                  <a:lnTo>
                    <a:pt x="0" y="171450"/>
                  </a:lnTo>
                  <a:lnTo>
                    <a:pt x="6120" y="217046"/>
                  </a:lnTo>
                  <a:lnTo>
                    <a:pt x="23396" y="258007"/>
                  </a:lnTo>
                  <a:lnTo>
                    <a:pt x="50196" y="292703"/>
                  </a:lnTo>
                  <a:lnTo>
                    <a:pt x="84892" y="319503"/>
                  </a:lnTo>
                  <a:lnTo>
                    <a:pt x="125853" y="336779"/>
                  </a:lnTo>
                  <a:lnTo>
                    <a:pt x="171450" y="342900"/>
                  </a:lnTo>
                  <a:lnTo>
                    <a:pt x="217046" y="336779"/>
                  </a:lnTo>
                  <a:lnTo>
                    <a:pt x="258007" y="319503"/>
                  </a:lnTo>
                  <a:lnTo>
                    <a:pt x="292703" y="292703"/>
                  </a:lnTo>
                  <a:lnTo>
                    <a:pt x="319503" y="258007"/>
                  </a:lnTo>
                  <a:lnTo>
                    <a:pt x="336779" y="217046"/>
                  </a:lnTo>
                  <a:lnTo>
                    <a:pt x="342900" y="171450"/>
                  </a:lnTo>
                  <a:lnTo>
                    <a:pt x="336779" y="125853"/>
                  </a:lnTo>
                  <a:lnTo>
                    <a:pt x="319503" y="84892"/>
                  </a:lnTo>
                  <a:lnTo>
                    <a:pt x="292703" y="50196"/>
                  </a:lnTo>
                  <a:lnTo>
                    <a:pt x="258007" y="23396"/>
                  </a:lnTo>
                  <a:lnTo>
                    <a:pt x="217046" y="612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/home/claude/ppt/icons/phon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8" y="2874264"/>
              <a:ext cx="178307" cy="17830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650998" y="2772282"/>
            <a:ext cx="5554980" cy="628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Dans</a:t>
            </a:r>
            <a:r>
              <a:rPr dirty="0" sz="900" spc="3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la</a:t>
            </a:r>
            <a:r>
              <a:rPr dirty="0" sz="900" spc="3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vraie</a:t>
            </a:r>
            <a:r>
              <a:rPr dirty="0" sz="900" spc="4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vie</a:t>
            </a:r>
            <a:r>
              <a:rPr dirty="0" sz="900" spc="5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spc="-50" b="1">
                <a:solidFill>
                  <a:srgbClr val="D5880F"/>
                </a:solidFill>
                <a:latin typeface="Calibri"/>
                <a:cs typeface="Calibri"/>
              </a:rPr>
              <a:t>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ts val="1310"/>
              </a:lnSpc>
              <a:spcBef>
                <a:spcPts val="1055"/>
              </a:spcBef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C'est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pour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cela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qu'une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plantée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ne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fait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(presque)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jamais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planter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tout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votre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appareil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elle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est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isolée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utilisateur,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sans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accès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direct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au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matériel.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34</a:t>
            </a: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1588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1.3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TERMINOLOGIE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39503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 b="1">
                <a:solidFill>
                  <a:srgbClr val="1F385F"/>
                </a:solidFill>
                <a:latin typeface="Cambria"/>
                <a:cs typeface="Cambria"/>
              </a:rPr>
              <a:t>L'ordonnanceur</a:t>
            </a:r>
            <a:r>
              <a:rPr dirty="0" sz="2400" spc="-4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(scheduler)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303019"/>
            <a:ext cx="1440180" cy="1440180"/>
            <a:chOff x="548640" y="1303019"/>
            <a:chExt cx="1440180" cy="1440180"/>
          </a:xfrm>
        </p:grpSpPr>
        <p:sp>
          <p:nvSpPr>
            <p:cNvPr id="5" name="object 5"/>
            <p:cNvSpPr/>
            <p:nvPr/>
          </p:nvSpPr>
          <p:spPr>
            <a:xfrm>
              <a:off x="548640" y="1303019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90" y="0"/>
                  </a:moveTo>
                  <a:lnTo>
                    <a:pt x="672743" y="1531"/>
                  </a:lnTo>
                  <a:lnTo>
                    <a:pt x="626214" y="6064"/>
                  </a:lnTo>
                  <a:lnTo>
                    <a:pt x="580598" y="13502"/>
                  </a:lnTo>
                  <a:lnTo>
                    <a:pt x="535989" y="23751"/>
                  </a:lnTo>
                  <a:lnTo>
                    <a:pt x="492483" y="36716"/>
                  </a:lnTo>
                  <a:lnTo>
                    <a:pt x="450174" y="52301"/>
                  </a:lnTo>
                  <a:lnTo>
                    <a:pt x="409158" y="70412"/>
                  </a:lnTo>
                  <a:lnTo>
                    <a:pt x="369529" y="90955"/>
                  </a:lnTo>
                  <a:lnTo>
                    <a:pt x="331382" y="113833"/>
                  </a:lnTo>
                  <a:lnTo>
                    <a:pt x="294811" y="138952"/>
                  </a:lnTo>
                  <a:lnTo>
                    <a:pt x="259913" y="166217"/>
                  </a:lnTo>
                  <a:lnTo>
                    <a:pt x="226781" y="195533"/>
                  </a:lnTo>
                  <a:lnTo>
                    <a:pt x="195510" y="226805"/>
                  </a:lnTo>
                  <a:lnTo>
                    <a:pt x="166196" y="259939"/>
                  </a:lnTo>
                  <a:lnTo>
                    <a:pt x="138933" y="294839"/>
                  </a:lnTo>
                  <a:lnTo>
                    <a:pt x="113817" y="331410"/>
                  </a:lnTo>
                  <a:lnTo>
                    <a:pt x="90941" y="369557"/>
                  </a:lnTo>
                  <a:lnTo>
                    <a:pt x="70402" y="409186"/>
                  </a:lnTo>
                  <a:lnTo>
                    <a:pt x="52293" y="450201"/>
                  </a:lnTo>
                  <a:lnTo>
                    <a:pt x="36710" y="492508"/>
                  </a:lnTo>
                  <a:lnTo>
                    <a:pt x="23747" y="536011"/>
                  </a:lnTo>
                  <a:lnTo>
                    <a:pt x="13500" y="580615"/>
                  </a:lnTo>
                  <a:lnTo>
                    <a:pt x="6063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3" y="813952"/>
                  </a:lnTo>
                  <a:lnTo>
                    <a:pt x="13500" y="859564"/>
                  </a:lnTo>
                  <a:lnTo>
                    <a:pt x="23747" y="904168"/>
                  </a:lnTo>
                  <a:lnTo>
                    <a:pt x="36710" y="947671"/>
                  </a:lnTo>
                  <a:lnTo>
                    <a:pt x="52293" y="989978"/>
                  </a:lnTo>
                  <a:lnTo>
                    <a:pt x="70402" y="1030993"/>
                  </a:lnTo>
                  <a:lnTo>
                    <a:pt x="90941" y="1070622"/>
                  </a:lnTo>
                  <a:lnTo>
                    <a:pt x="113817" y="1108769"/>
                  </a:lnTo>
                  <a:lnTo>
                    <a:pt x="138933" y="1145340"/>
                  </a:lnTo>
                  <a:lnTo>
                    <a:pt x="166196" y="1180240"/>
                  </a:lnTo>
                  <a:lnTo>
                    <a:pt x="195510" y="1213374"/>
                  </a:lnTo>
                  <a:lnTo>
                    <a:pt x="226781" y="1244646"/>
                  </a:lnTo>
                  <a:lnTo>
                    <a:pt x="259913" y="1273962"/>
                  </a:lnTo>
                  <a:lnTo>
                    <a:pt x="294811" y="1301227"/>
                  </a:lnTo>
                  <a:lnTo>
                    <a:pt x="331382" y="1326346"/>
                  </a:lnTo>
                  <a:lnTo>
                    <a:pt x="369529" y="1349224"/>
                  </a:lnTo>
                  <a:lnTo>
                    <a:pt x="409158" y="1369767"/>
                  </a:lnTo>
                  <a:lnTo>
                    <a:pt x="450174" y="1387878"/>
                  </a:lnTo>
                  <a:lnTo>
                    <a:pt x="492483" y="1403463"/>
                  </a:lnTo>
                  <a:lnTo>
                    <a:pt x="535989" y="1416428"/>
                  </a:lnTo>
                  <a:lnTo>
                    <a:pt x="580598" y="1426677"/>
                  </a:lnTo>
                  <a:lnTo>
                    <a:pt x="626214" y="1434115"/>
                  </a:lnTo>
                  <a:lnTo>
                    <a:pt x="672743" y="1438648"/>
                  </a:lnTo>
                  <a:lnTo>
                    <a:pt x="720090" y="1440179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59564" y="1426677"/>
                  </a:lnTo>
                  <a:lnTo>
                    <a:pt x="904168" y="1416428"/>
                  </a:lnTo>
                  <a:lnTo>
                    <a:pt x="947671" y="1403463"/>
                  </a:lnTo>
                  <a:lnTo>
                    <a:pt x="989978" y="1387878"/>
                  </a:lnTo>
                  <a:lnTo>
                    <a:pt x="1030993" y="1369767"/>
                  </a:lnTo>
                  <a:lnTo>
                    <a:pt x="1070622" y="1349224"/>
                  </a:lnTo>
                  <a:lnTo>
                    <a:pt x="1108769" y="1326346"/>
                  </a:lnTo>
                  <a:lnTo>
                    <a:pt x="1145340" y="1301227"/>
                  </a:lnTo>
                  <a:lnTo>
                    <a:pt x="1180240" y="1273962"/>
                  </a:lnTo>
                  <a:lnTo>
                    <a:pt x="1213374" y="1244646"/>
                  </a:lnTo>
                  <a:lnTo>
                    <a:pt x="1244646" y="1213374"/>
                  </a:lnTo>
                  <a:lnTo>
                    <a:pt x="1273962" y="1180240"/>
                  </a:lnTo>
                  <a:lnTo>
                    <a:pt x="1301227" y="1145340"/>
                  </a:lnTo>
                  <a:lnTo>
                    <a:pt x="1326346" y="1108769"/>
                  </a:lnTo>
                  <a:lnTo>
                    <a:pt x="1349224" y="1070622"/>
                  </a:lnTo>
                  <a:lnTo>
                    <a:pt x="1369767" y="1030993"/>
                  </a:lnTo>
                  <a:lnTo>
                    <a:pt x="1387878" y="989978"/>
                  </a:lnTo>
                  <a:lnTo>
                    <a:pt x="1403463" y="947671"/>
                  </a:lnTo>
                  <a:lnTo>
                    <a:pt x="1416428" y="904168"/>
                  </a:lnTo>
                  <a:lnTo>
                    <a:pt x="1426677" y="859564"/>
                  </a:lnTo>
                  <a:lnTo>
                    <a:pt x="1434115" y="813952"/>
                  </a:lnTo>
                  <a:lnTo>
                    <a:pt x="1438648" y="767429"/>
                  </a:lnTo>
                  <a:lnTo>
                    <a:pt x="1440180" y="720089"/>
                  </a:lnTo>
                  <a:lnTo>
                    <a:pt x="1438648" y="672750"/>
                  </a:lnTo>
                  <a:lnTo>
                    <a:pt x="1434115" y="626227"/>
                  </a:lnTo>
                  <a:lnTo>
                    <a:pt x="1426677" y="580615"/>
                  </a:lnTo>
                  <a:lnTo>
                    <a:pt x="1416428" y="536011"/>
                  </a:lnTo>
                  <a:lnTo>
                    <a:pt x="1403463" y="492508"/>
                  </a:lnTo>
                  <a:lnTo>
                    <a:pt x="1387878" y="450201"/>
                  </a:lnTo>
                  <a:lnTo>
                    <a:pt x="1369767" y="409186"/>
                  </a:lnTo>
                  <a:lnTo>
                    <a:pt x="1349224" y="369557"/>
                  </a:lnTo>
                  <a:lnTo>
                    <a:pt x="1326346" y="331410"/>
                  </a:lnTo>
                  <a:lnTo>
                    <a:pt x="1301227" y="294839"/>
                  </a:lnTo>
                  <a:lnTo>
                    <a:pt x="1273962" y="259939"/>
                  </a:lnTo>
                  <a:lnTo>
                    <a:pt x="1244646" y="226805"/>
                  </a:lnTo>
                  <a:lnTo>
                    <a:pt x="1213374" y="195533"/>
                  </a:lnTo>
                  <a:lnTo>
                    <a:pt x="1180240" y="166217"/>
                  </a:lnTo>
                  <a:lnTo>
                    <a:pt x="1145340" y="138952"/>
                  </a:lnTo>
                  <a:lnTo>
                    <a:pt x="1108769" y="113833"/>
                  </a:lnTo>
                  <a:lnTo>
                    <a:pt x="1070622" y="90955"/>
                  </a:lnTo>
                  <a:lnTo>
                    <a:pt x="1030993" y="70412"/>
                  </a:lnTo>
                  <a:lnTo>
                    <a:pt x="989978" y="52301"/>
                  </a:lnTo>
                  <a:lnTo>
                    <a:pt x="947671" y="36716"/>
                  </a:lnTo>
                  <a:lnTo>
                    <a:pt x="904168" y="23751"/>
                  </a:lnTo>
                  <a:lnTo>
                    <a:pt x="859564" y="13502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/home/claude/ppt/icons/hourglass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588" y="1648967"/>
              <a:ext cx="748284" cy="74828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2331720" y="1303019"/>
            <a:ext cx="6309360" cy="1165860"/>
          </a:xfrm>
          <a:custGeom>
            <a:avLst/>
            <a:gdLst/>
            <a:ahLst/>
            <a:cxnLst/>
            <a:rect l="l" t="t" r="r" b="b"/>
            <a:pathLst>
              <a:path w="6309359" h="1165860">
                <a:moveTo>
                  <a:pt x="6227063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5"/>
                </a:lnTo>
                <a:lnTo>
                  <a:pt x="0" y="1083563"/>
                </a:lnTo>
                <a:lnTo>
                  <a:pt x="6465" y="1115603"/>
                </a:lnTo>
                <a:lnTo>
                  <a:pt x="24098" y="1141761"/>
                </a:lnTo>
                <a:lnTo>
                  <a:pt x="50256" y="1159394"/>
                </a:lnTo>
                <a:lnTo>
                  <a:pt x="82296" y="1165859"/>
                </a:lnTo>
                <a:lnTo>
                  <a:pt x="6227063" y="1165859"/>
                </a:lnTo>
                <a:lnTo>
                  <a:pt x="6259103" y="1159394"/>
                </a:lnTo>
                <a:lnTo>
                  <a:pt x="6285261" y="1141761"/>
                </a:lnTo>
                <a:lnTo>
                  <a:pt x="6302894" y="1115603"/>
                </a:lnTo>
                <a:lnTo>
                  <a:pt x="6309359" y="1083563"/>
                </a:lnTo>
                <a:lnTo>
                  <a:pt x="6309359" y="82295"/>
                </a:lnTo>
                <a:lnTo>
                  <a:pt x="6302894" y="50256"/>
                </a:lnTo>
                <a:lnTo>
                  <a:pt x="6285261" y="24098"/>
                </a:lnTo>
                <a:lnTo>
                  <a:pt x="6259103" y="6465"/>
                </a:lnTo>
                <a:lnTo>
                  <a:pt x="6227063" y="0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50998" y="1681734"/>
            <a:ext cx="56927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composant</a:t>
            </a:r>
            <a:r>
              <a:rPr dirty="0" sz="120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du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noyau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qui</a:t>
            </a:r>
            <a:r>
              <a:rPr dirty="0" sz="1200" spc="-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décide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quel</a:t>
            </a:r>
            <a:r>
              <a:rPr dirty="0" sz="1200" spc="-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processus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utilise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processeur,</a:t>
            </a:r>
            <a:r>
              <a:rPr dirty="0" sz="1200" spc="-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et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pendant</a:t>
            </a:r>
            <a:r>
              <a:rPr dirty="0" sz="1200" spc="-5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combien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de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temps.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1720" y="2641092"/>
            <a:ext cx="6309360" cy="1303020"/>
            <a:chOff x="2331720" y="2641092"/>
            <a:chExt cx="6309360" cy="1303020"/>
          </a:xfrm>
        </p:grpSpPr>
        <p:sp>
          <p:nvSpPr>
            <p:cNvPr id="10" name="object 10"/>
            <p:cNvSpPr/>
            <p:nvPr/>
          </p:nvSpPr>
          <p:spPr>
            <a:xfrm>
              <a:off x="2331720" y="2641092"/>
              <a:ext cx="6309360" cy="1303020"/>
            </a:xfrm>
            <a:custGeom>
              <a:avLst/>
              <a:gdLst/>
              <a:ahLst/>
              <a:cxnLst/>
              <a:rect l="l" t="t" r="r" b="b"/>
              <a:pathLst>
                <a:path w="6309359" h="1303020">
                  <a:moveTo>
                    <a:pt x="6227063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1220723"/>
                  </a:lnTo>
                  <a:lnTo>
                    <a:pt x="6465" y="1252758"/>
                  </a:lnTo>
                  <a:lnTo>
                    <a:pt x="24098" y="1278916"/>
                  </a:lnTo>
                  <a:lnTo>
                    <a:pt x="50256" y="1296553"/>
                  </a:lnTo>
                  <a:lnTo>
                    <a:pt x="82296" y="1303020"/>
                  </a:lnTo>
                  <a:lnTo>
                    <a:pt x="6227063" y="1303020"/>
                  </a:lnTo>
                  <a:lnTo>
                    <a:pt x="6259103" y="1296553"/>
                  </a:lnTo>
                  <a:lnTo>
                    <a:pt x="6285261" y="1278916"/>
                  </a:lnTo>
                  <a:lnTo>
                    <a:pt x="6302894" y="1252758"/>
                  </a:lnTo>
                  <a:lnTo>
                    <a:pt x="6309359" y="1220723"/>
                  </a:lnTo>
                  <a:lnTo>
                    <a:pt x="6309359" y="82295"/>
                  </a:lnTo>
                  <a:lnTo>
                    <a:pt x="6302894" y="50256"/>
                  </a:lnTo>
                  <a:lnTo>
                    <a:pt x="6285261" y="24098"/>
                  </a:lnTo>
                  <a:lnTo>
                    <a:pt x="6259103" y="6465"/>
                  </a:lnTo>
                  <a:lnTo>
                    <a:pt x="6227063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03932" y="2791968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25853" y="6120"/>
                  </a:lnTo>
                  <a:lnTo>
                    <a:pt x="84892" y="23396"/>
                  </a:lnTo>
                  <a:lnTo>
                    <a:pt x="50196" y="50196"/>
                  </a:lnTo>
                  <a:lnTo>
                    <a:pt x="23396" y="84892"/>
                  </a:lnTo>
                  <a:lnTo>
                    <a:pt x="6120" y="125853"/>
                  </a:lnTo>
                  <a:lnTo>
                    <a:pt x="0" y="171450"/>
                  </a:lnTo>
                  <a:lnTo>
                    <a:pt x="6120" y="217046"/>
                  </a:lnTo>
                  <a:lnTo>
                    <a:pt x="23396" y="258007"/>
                  </a:lnTo>
                  <a:lnTo>
                    <a:pt x="50196" y="292703"/>
                  </a:lnTo>
                  <a:lnTo>
                    <a:pt x="84892" y="319503"/>
                  </a:lnTo>
                  <a:lnTo>
                    <a:pt x="125853" y="336779"/>
                  </a:lnTo>
                  <a:lnTo>
                    <a:pt x="171450" y="342900"/>
                  </a:lnTo>
                  <a:lnTo>
                    <a:pt x="217046" y="336779"/>
                  </a:lnTo>
                  <a:lnTo>
                    <a:pt x="258007" y="319503"/>
                  </a:lnTo>
                  <a:lnTo>
                    <a:pt x="292703" y="292703"/>
                  </a:lnTo>
                  <a:lnTo>
                    <a:pt x="319503" y="258007"/>
                  </a:lnTo>
                  <a:lnTo>
                    <a:pt x="336779" y="217046"/>
                  </a:lnTo>
                  <a:lnTo>
                    <a:pt x="342900" y="171450"/>
                  </a:lnTo>
                  <a:lnTo>
                    <a:pt x="336779" y="125853"/>
                  </a:lnTo>
                  <a:lnTo>
                    <a:pt x="319503" y="84892"/>
                  </a:lnTo>
                  <a:lnTo>
                    <a:pt x="292703" y="50196"/>
                  </a:lnTo>
                  <a:lnTo>
                    <a:pt x="258007" y="23396"/>
                  </a:lnTo>
                  <a:lnTo>
                    <a:pt x="217046" y="612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/home/claude/ppt/icons/phon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8" y="2874264"/>
              <a:ext cx="178307" cy="17830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650998" y="2772282"/>
            <a:ext cx="5725795" cy="628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Dans</a:t>
            </a:r>
            <a:r>
              <a:rPr dirty="0" sz="900" spc="3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la</a:t>
            </a:r>
            <a:r>
              <a:rPr dirty="0" sz="900" spc="3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vraie</a:t>
            </a:r>
            <a:r>
              <a:rPr dirty="0" sz="900" spc="4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vie</a:t>
            </a:r>
            <a:r>
              <a:rPr dirty="0" sz="900" spc="5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spc="-50" b="1">
                <a:solidFill>
                  <a:srgbClr val="D5880F"/>
                </a:solidFill>
                <a:latin typeface="Calibri"/>
                <a:cs typeface="Calibri"/>
              </a:rPr>
              <a:t>: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ts val="1315"/>
              </a:lnSpc>
              <a:spcBef>
                <a:spcPts val="1000"/>
              </a:spcBef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Votre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ordinateur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téléphone)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 exécute des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dizaines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processus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«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même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temps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»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sur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seulement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15"/>
              </a:lnSpc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quelques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cœurs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c'est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l'ORDONNANCEUR</a:t>
            </a:r>
            <a:r>
              <a:rPr dirty="0" sz="11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qui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décide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qui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passe,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quand.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35</a:t>
            </a: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1588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1.3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TERMINOLOGIE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2416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Le</a:t>
            </a:r>
            <a:r>
              <a:rPr dirty="0" sz="2400" spc="-5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pilote</a:t>
            </a:r>
            <a:r>
              <a:rPr dirty="0" sz="2400" spc="-5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(driver)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303019"/>
            <a:ext cx="1440180" cy="1440180"/>
            <a:chOff x="548640" y="1303019"/>
            <a:chExt cx="1440180" cy="1440180"/>
          </a:xfrm>
        </p:grpSpPr>
        <p:sp>
          <p:nvSpPr>
            <p:cNvPr id="5" name="object 5"/>
            <p:cNvSpPr/>
            <p:nvPr/>
          </p:nvSpPr>
          <p:spPr>
            <a:xfrm>
              <a:off x="548640" y="1303019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90" y="0"/>
                  </a:moveTo>
                  <a:lnTo>
                    <a:pt x="672743" y="1531"/>
                  </a:lnTo>
                  <a:lnTo>
                    <a:pt x="626214" y="6064"/>
                  </a:lnTo>
                  <a:lnTo>
                    <a:pt x="580598" y="13502"/>
                  </a:lnTo>
                  <a:lnTo>
                    <a:pt x="535989" y="23751"/>
                  </a:lnTo>
                  <a:lnTo>
                    <a:pt x="492483" y="36716"/>
                  </a:lnTo>
                  <a:lnTo>
                    <a:pt x="450174" y="52301"/>
                  </a:lnTo>
                  <a:lnTo>
                    <a:pt x="409158" y="70412"/>
                  </a:lnTo>
                  <a:lnTo>
                    <a:pt x="369529" y="90955"/>
                  </a:lnTo>
                  <a:lnTo>
                    <a:pt x="331382" y="113833"/>
                  </a:lnTo>
                  <a:lnTo>
                    <a:pt x="294811" y="138952"/>
                  </a:lnTo>
                  <a:lnTo>
                    <a:pt x="259913" y="166217"/>
                  </a:lnTo>
                  <a:lnTo>
                    <a:pt x="226781" y="195533"/>
                  </a:lnTo>
                  <a:lnTo>
                    <a:pt x="195510" y="226805"/>
                  </a:lnTo>
                  <a:lnTo>
                    <a:pt x="166196" y="259939"/>
                  </a:lnTo>
                  <a:lnTo>
                    <a:pt x="138933" y="294839"/>
                  </a:lnTo>
                  <a:lnTo>
                    <a:pt x="113817" y="331410"/>
                  </a:lnTo>
                  <a:lnTo>
                    <a:pt x="90941" y="369557"/>
                  </a:lnTo>
                  <a:lnTo>
                    <a:pt x="70402" y="409186"/>
                  </a:lnTo>
                  <a:lnTo>
                    <a:pt x="52293" y="450201"/>
                  </a:lnTo>
                  <a:lnTo>
                    <a:pt x="36710" y="492508"/>
                  </a:lnTo>
                  <a:lnTo>
                    <a:pt x="23747" y="536011"/>
                  </a:lnTo>
                  <a:lnTo>
                    <a:pt x="13500" y="580615"/>
                  </a:lnTo>
                  <a:lnTo>
                    <a:pt x="6063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3" y="813952"/>
                  </a:lnTo>
                  <a:lnTo>
                    <a:pt x="13500" y="859564"/>
                  </a:lnTo>
                  <a:lnTo>
                    <a:pt x="23747" y="904168"/>
                  </a:lnTo>
                  <a:lnTo>
                    <a:pt x="36710" y="947671"/>
                  </a:lnTo>
                  <a:lnTo>
                    <a:pt x="52293" y="989978"/>
                  </a:lnTo>
                  <a:lnTo>
                    <a:pt x="70402" y="1030993"/>
                  </a:lnTo>
                  <a:lnTo>
                    <a:pt x="90941" y="1070622"/>
                  </a:lnTo>
                  <a:lnTo>
                    <a:pt x="113817" y="1108769"/>
                  </a:lnTo>
                  <a:lnTo>
                    <a:pt x="138933" y="1145340"/>
                  </a:lnTo>
                  <a:lnTo>
                    <a:pt x="166196" y="1180240"/>
                  </a:lnTo>
                  <a:lnTo>
                    <a:pt x="195510" y="1213374"/>
                  </a:lnTo>
                  <a:lnTo>
                    <a:pt x="226781" y="1244646"/>
                  </a:lnTo>
                  <a:lnTo>
                    <a:pt x="259913" y="1273962"/>
                  </a:lnTo>
                  <a:lnTo>
                    <a:pt x="294811" y="1301227"/>
                  </a:lnTo>
                  <a:lnTo>
                    <a:pt x="331382" y="1326346"/>
                  </a:lnTo>
                  <a:lnTo>
                    <a:pt x="369529" y="1349224"/>
                  </a:lnTo>
                  <a:lnTo>
                    <a:pt x="409158" y="1369767"/>
                  </a:lnTo>
                  <a:lnTo>
                    <a:pt x="450174" y="1387878"/>
                  </a:lnTo>
                  <a:lnTo>
                    <a:pt x="492483" y="1403463"/>
                  </a:lnTo>
                  <a:lnTo>
                    <a:pt x="535989" y="1416428"/>
                  </a:lnTo>
                  <a:lnTo>
                    <a:pt x="580598" y="1426677"/>
                  </a:lnTo>
                  <a:lnTo>
                    <a:pt x="626214" y="1434115"/>
                  </a:lnTo>
                  <a:lnTo>
                    <a:pt x="672743" y="1438648"/>
                  </a:lnTo>
                  <a:lnTo>
                    <a:pt x="720090" y="1440179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59564" y="1426677"/>
                  </a:lnTo>
                  <a:lnTo>
                    <a:pt x="904168" y="1416428"/>
                  </a:lnTo>
                  <a:lnTo>
                    <a:pt x="947671" y="1403463"/>
                  </a:lnTo>
                  <a:lnTo>
                    <a:pt x="989978" y="1387878"/>
                  </a:lnTo>
                  <a:lnTo>
                    <a:pt x="1030993" y="1369767"/>
                  </a:lnTo>
                  <a:lnTo>
                    <a:pt x="1070622" y="1349224"/>
                  </a:lnTo>
                  <a:lnTo>
                    <a:pt x="1108769" y="1326346"/>
                  </a:lnTo>
                  <a:lnTo>
                    <a:pt x="1145340" y="1301227"/>
                  </a:lnTo>
                  <a:lnTo>
                    <a:pt x="1180240" y="1273962"/>
                  </a:lnTo>
                  <a:lnTo>
                    <a:pt x="1213374" y="1244646"/>
                  </a:lnTo>
                  <a:lnTo>
                    <a:pt x="1244646" y="1213374"/>
                  </a:lnTo>
                  <a:lnTo>
                    <a:pt x="1273962" y="1180240"/>
                  </a:lnTo>
                  <a:lnTo>
                    <a:pt x="1301227" y="1145340"/>
                  </a:lnTo>
                  <a:lnTo>
                    <a:pt x="1326346" y="1108769"/>
                  </a:lnTo>
                  <a:lnTo>
                    <a:pt x="1349224" y="1070622"/>
                  </a:lnTo>
                  <a:lnTo>
                    <a:pt x="1369767" y="1030993"/>
                  </a:lnTo>
                  <a:lnTo>
                    <a:pt x="1387878" y="989978"/>
                  </a:lnTo>
                  <a:lnTo>
                    <a:pt x="1403463" y="947671"/>
                  </a:lnTo>
                  <a:lnTo>
                    <a:pt x="1416428" y="904168"/>
                  </a:lnTo>
                  <a:lnTo>
                    <a:pt x="1426677" y="859564"/>
                  </a:lnTo>
                  <a:lnTo>
                    <a:pt x="1434115" y="813952"/>
                  </a:lnTo>
                  <a:lnTo>
                    <a:pt x="1438648" y="767429"/>
                  </a:lnTo>
                  <a:lnTo>
                    <a:pt x="1440180" y="720089"/>
                  </a:lnTo>
                  <a:lnTo>
                    <a:pt x="1438648" y="672750"/>
                  </a:lnTo>
                  <a:lnTo>
                    <a:pt x="1434115" y="626227"/>
                  </a:lnTo>
                  <a:lnTo>
                    <a:pt x="1426677" y="580615"/>
                  </a:lnTo>
                  <a:lnTo>
                    <a:pt x="1416428" y="536011"/>
                  </a:lnTo>
                  <a:lnTo>
                    <a:pt x="1403463" y="492508"/>
                  </a:lnTo>
                  <a:lnTo>
                    <a:pt x="1387878" y="450201"/>
                  </a:lnTo>
                  <a:lnTo>
                    <a:pt x="1369767" y="409186"/>
                  </a:lnTo>
                  <a:lnTo>
                    <a:pt x="1349224" y="369557"/>
                  </a:lnTo>
                  <a:lnTo>
                    <a:pt x="1326346" y="331410"/>
                  </a:lnTo>
                  <a:lnTo>
                    <a:pt x="1301227" y="294839"/>
                  </a:lnTo>
                  <a:lnTo>
                    <a:pt x="1273962" y="259939"/>
                  </a:lnTo>
                  <a:lnTo>
                    <a:pt x="1244646" y="226805"/>
                  </a:lnTo>
                  <a:lnTo>
                    <a:pt x="1213374" y="195533"/>
                  </a:lnTo>
                  <a:lnTo>
                    <a:pt x="1180240" y="166217"/>
                  </a:lnTo>
                  <a:lnTo>
                    <a:pt x="1145340" y="138952"/>
                  </a:lnTo>
                  <a:lnTo>
                    <a:pt x="1108769" y="113833"/>
                  </a:lnTo>
                  <a:lnTo>
                    <a:pt x="1070622" y="90955"/>
                  </a:lnTo>
                  <a:lnTo>
                    <a:pt x="1030993" y="70412"/>
                  </a:lnTo>
                  <a:lnTo>
                    <a:pt x="989978" y="52301"/>
                  </a:lnTo>
                  <a:lnTo>
                    <a:pt x="947671" y="36716"/>
                  </a:lnTo>
                  <a:lnTo>
                    <a:pt x="904168" y="23751"/>
                  </a:lnTo>
                  <a:lnTo>
                    <a:pt x="859564" y="13502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/home/claude/ppt/icons/build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588" y="1648967"/>
              <a:ext cx="748284" cy="74828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2331720" y="1303019"/>
            <a:ext cx="6309360" cy="1165860"/>
          </a:xfrm>
          <a:custGeom>
            <a:avLst/>
            <a:gdLst/>
            <a:ahLst/>
            <a:cxnLst/>
            <a:rect l="l" t="t" r="r" b="b"/>
            <a:pathLst>
              <a:path w="6309359" h="1165860">
                <a:moveTo>
                  <a:pt x="6227063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5"/>
                </a:lnTo>
                <a:lnTo>
                  <a:pt x="0" y="1083563"/>
                </a:lnTo>
                <a:lnTo>
                  <a:pt x="6465" y="1115603"/>
                </a:lnTo>
                <a:lnTo>
                  <a:pt x="24098" y="1141761"/>
                </a:lnTo>
                <a:lnTo>
                  <a:pt x="50256" y="1159394"/>
                </a:lnTo>
                <a:lnTo>
                  <a:pt x="82296" y="1165859"/>
                </a:lnTo>
                <a:lnTo>
                  <a:pt x="6227063" y="1165859"/>
                </a:lnTo>
                <a:lnTo>
                  <a:pt x="6259103" y="1159394"/>
                </a:lnTo>
                <a:lnTo>
                  <a:pt x="6285261" y="1141761"/>
                </a:lnTo>
                <a:lnTo>
                  <a:pt x="6302894" y="1115603"/>
                </a:lnTo>
                <a:lnTo>
                  <a:pt x="6309359" y="1083563"/>
                </a:lnTo>
                <a:lnTo>
                  <a:pt x="6309359" y="82295"/>
                </a:lnTo>
                <a:lnTo>
                  <a:pt x="6302894" y="50256"/>
                </a:lnTo>
                <a:lnTo>
                  <a:pt x="6285261" y="24098"/>
                </a:lnTo>
                <a:lnTo>
                  <a:pt x="6259103" y="6465"/>
                </a:lnTo>
                <a:lnTo>
                  <a:pt x="6227063" y="0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50998" y="1681734"/>
            <a:ext cx="54870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module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logiciel qui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permet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au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noyau</a:t>
            </a:r>
            <a:r>
              <a:rPr dirty="0" sz="1200" spc="-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de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communiquer</a:t>
            </a:r>
            <a:r>
              <a:rPr dirty="0" sz="1200" spc="-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avec</a:t>
            </a:r>
            <a:r>
              <a:rPr dirty="0" sz="1200" spc="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périphérique</a:t>
            </a:r>
            <a:r>
              <a:rPr dirty="0" sz="1200" spc="-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matériel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spécifique.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1720" y="2641092"/>
            <a:ext cx="6309360" cy="1303020"/>
            <a:chOff x="2331720" y="2641092"/>
            <a:chExt cx="6309360" cy="1303020"/>
          </a:xfrm>
        </p:grpSpPr>
        <p:sp>
          <p:nvSpPr>
            <p:cNvPr id="10" name="object 10"/>
            <p:cNvSpPr/>
            <p:nvPr/>
          </p:nvSpPr>
          <p:spPr>
            <a:xfrm>
              <a:off x="2331720" y="2641092"/>
              <a:ext cx="6309360" cy="1303020"/>
            </a:xfrm>
            <a:custGeom>
              <a:avLst/>
              <a:gdLst/>
              <a:ahLst/>
              <a:cxnLst/>
              <a:rect l="l" t="t" r="r" b="b"/>
              <a:pathLst>
                <a:path w="6309359" h="1303020">
                  <a:moveTo>
                    <a:pt x="6227063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1220723"/>
                  </a:lnTo>
                  <a:lnTo>
                    <a:pt x="6465" y="1252758"/>
                  </a:lnTo>
                  <a:lnTo>
                    <a:pt x="24098" y="1278916"/>
                  </a:lnTo>
                  <a:lnTo>
                    <a:pt x="50256" y="1296553"/>
                  </a:lnTo>
                  <a:lnTo>
                    <a:pt x="82296" y="1303020"/>
                  </a:lnTo>
                  <a:lnTo>
                    <a:pt x="6227063" y="1303020"/>
                  </a:lnTo>
                  <a:lnTo>
                    <a:pt x="6259103" y="1296553"/>
                  </a:lnTo>
                  <a:lnTo>
                    <a:pt x="6285261" y="1278916"/>
                  </a:lnTo>
                  <a:lnTo>
                    <a:pt x="6302894" y="1252758"/>
                  </a:lnTo>
                  <a:lnTo>
                    <a:pt x="6309359" y="1220723"/>
                  </a:lnTo>
                  <a:lnTo>
                    <a:pt x="6309359" y="82295"/>
                  </a:lnTo>
                  <a:lnTo>
                    <a:pt x="6302894" y="50256"/>
                  </a:lnTo>
                  <a:lnTo>
                    <a:pt x="6285261" y="24098"/>
                  </a:lnTo>
                  <a:lnTo>
                    <a:pt x="6259103" y="6465"/>
                  </a:lnTo>
                  <a:lnTo>
                    <a:pt x="6227063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03932" y="2791968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25853" y="6120"/>
                  </a:lnTo>
                  <a:lnTo>
                    <a:pt x="84892" y="23396"/>
                  </a:lnTo>
                  <a:lnTo>
                    <a:pt x="50196" y="50196"/>
                  </a:lnTo>
                  <a:lnTo>
                    <a:pt x="23396" y="84892"/>
                  </a:lnTo>
                  <a:lnTo>
                    <a:pt x="6120" y="125853"/>
                  </a:lnTo>
                  <a:lnTo>
                    <a:pt x="0" y="171450"/>
                  </a:lnTo>
                  <a:lnTo>
                    <a:pt x="6120" y="217046"/>
                  </a:lnTo>
                  <a:lnTo>
                    <a:pt x="23396" y="258007"/>
                  </a:lnTo>
                  <a:lnTo>
                    <a:pt x="50196" y="292703"/>
                  </a:lnTo>
                  <a:lnTo>
                    <a:pt x="84892" y="319503"/>
                  </a:lnTo>
                  <a:lnTo>
                    <a:pt x="125853" y="336779"/>
                  </a:lnTo>
                  <a:lnTo>
                    <a:pt x="171450" y="342900"/>
                  </a:lnTo>
                  <a:lnTo>
                    <a:pt x="217046" y="336779"/>
                  </a:lnTo>
                  <a:lnTo>
                    <a:pt x="258007" y="319503"/>
                  </a:lnTo>
                  <a:lnTo>
                    <a:pt x="292703" y="292703"/>
                  </a:lnTo>
                  <a:lnTo>
                    <a:pt x="319503" y="258007"/>
                  </a:lnTo>
                  <a:lnTo>
                    <a:pt x="336779" y="217046"/>
                  </a:lnTo>
                  <a:lnTo>
                    <a:pt x="342900" y="171450"/>
                  </a:lnTo>
                  <a:lnTo>
                    <a:pt x="336779" y="125853"/>
                  </a:lnTo>
                  <a:lnTo>
                    <a:pt x="319503" y="84892"/>
                  </a:lnTo>
                  <a:lnTo>
                    <a:pt x="292703" y="50196"/>
                  </a:lnTo>
                  <a:lnTo>
                    <a:pt x="258007" y="23396"/>
                  </a:lnTo>
                  <a:lnTo>
                    <a:pt x="217046" y="612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/home/claude/ppt/icons/phon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8" y="2874264"/>
              <a:ext cx="178307" cy="17830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650998" y="2772282"/>
            <a:ext cx="5584190" cy="628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Dans</a:t>
            </a:r>
            <a:r>
              <a:rPr dirty="0" sz="900" spc="3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la</a:t>
            </a:r>
            <a:r>
              <a:rPr dirty="0" sz="900" spc="3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vraie</a:t>
            </a:r>
            <a:r>
              <a:rPr dirty="0" sz="900" spc="4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vie</a:t>
            </a:r>
            <a:r>
              <a:rPr dirty="0" sz="900" spc="5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spc="-50" b="1">
                <a:solidFill>
                  <a:srgbClr val="D5880F"/>
                </a:solidFill>
                <a:latin typeface="Calibri"/>
                <a:cs typeface="Calibri"/>
              </a:rPr>
              <a:t>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ts val="1310"/>
              </a:lnSpc>
              <a:spcBef>
                <a:spcPts val="1055"/>
              </a:spcBef>
            </a:pP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Comment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l'OS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parle-t-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vos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écouteurs</a:t>
            </a:r>
            <a:r>
              <a:rPr dirty="0" sz="11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Bluetooth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dirty="0" sz="11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votre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imprimante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Grâce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PILOTE,</a:t>
            </a:r>
            <a:r>
              <a:rPr dirty="0" sz="11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écrit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spécifiquement</a:t>
            </a:r>
            <a:r>
              <a:rPr dirty="0" sz="1100" spc="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pour ce</a:t>
            </a:r>
            <a:r>
              <a:rPr dirty="0" sz="11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périphérique.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36</a:t>
            </a: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1588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1.3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TERMINOLOGIE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1998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1F385F"/>
                </a:solidFill>
                <a:latin typeface="Cambria"/>
                <a:cs typeface="Cambria"/>
              </a:rPr>
              <a:t>L'interruption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303019"/>
            <a:ext cx="1440180" cy="1440180"/>
            <a:chOff x="548640" y="1303019"/>
            <a:chExt cx="1440180" cy="1440180"/>
          </a:xfrm>
        </p:grpSpPr>
        <p:sp>
          <p:nvSpPr>
            <p:cNvPr id="5" name="object 5"/>
            <p:cNvSpPr/>
            <p:nvPr/>
          </p:nvSpPr>
          <p:spPr>
            <a:xfrm>
              <a:off x="548640" y="1303019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90" y="0"/>
                  </a:moveTo>
                  <a:lnTo>
                    <a:pt x="672743" y="1531"/>
                  </a:lnTo>
                  <a:lnTo>
                    <a:pt x="626214" y="6064"/>
                  </a:lnTo>
                  <a:lnTo>
                    <a:pt x="580598" y="13502"/>
                  </a:lnTo>
                  <a:lnTo>
                    <a:pt x="535989" y="23751"/>
                  </a:lnTo>
                  <a:lnTo>
                    <a:pt x="492483" y="36716"/>
                  </a:lnTo>
                  <a:lnTo>
                    <a:pt x="450174" y="52301"/>
                  </a:lnTo>
                  <a:lnTo>
                    <a:pt x="409158" y="70412"/>
                  </a:lnTo>
                  <a:lnTo>
                    <a:pt x="369529" y="90955"/>
                  </a:lnTo>
                  <a:lnTo>
                    <a:pt x="331382" y="113833"/>
                  </a:lnTo>
                  <a:lnTo>
                    <a:pt x="294811" y="138952"/>
                  </a:lnTo>
                  <a:lnTo>
                    <a:pt x="259913" y="166217"/>
                  </a:lnTo>
                  <a:lnTo>
                    <a:pt x="226781" y="195533"/>
                  </a:lnTo>
                  <a:lnTo>
                    <a:pt x="195510" y="226805"/>
                  </a:lnTo>
                  <a:lnTo>
                    <a:pt x="166196" y="259939"/>
                  </a:lnTo>
                  <a:lnTo>
                    <a:pt x="138933" y="294839"/>
                  </a:lnTo>
                  <a:lnTo>
                    <a:pt x="113817" y="331410"/>
                  </a:lnTo>
                  <a:lnTo>
                    <a:pt x="90941" y="369557"/>
                  </a:lnTo>
                  <a:lnTo>
                    <a:pt x="70402" y="409186"/>
                  </a:lnTo>
                  <a:lnTo>
                    <a:pt x="52293" y="450201"/>
                  </a:lnTo>
                  <a:lnTo>
                    <a:pt x="36710" y="492508"/>
                  </a:lnTo>
                  <a:lnTo>
                    <a:pt x="23747" y="536011"/>
                  </a:lnTo>
                  <a:lnTo>
                    <a:pt x="13500" y="580615"/>
                  </a:lnTo>
                  <a:lnTo>
                    <a:pt x="6063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3" y="813952"/>
                  </a:lnTo>
                  <a:lnTo>
                    <a:pt x="13500" y="859564"/>
                  </a:lnTo>
                  <a:lnTo>
                    <a:pt x="23747" y="904168"/>
                  </a:lnTo>
                  <a:lnTo>
                    <a:pt x="36710" y="947671"/>
                  </a:lnTo>
                  <a:lnTo>
                    <a:pt x="52293" y="989978"/>
                  </a:lnTo>
                  <a:lnTo>
                    <a:pt x="70402" y="1030993"/>
                  </a:lnTo>
                  <a:lnTo>
                    <a:pt x="90941" y="1070622"/>
                  </a:lnTo>
                  <a:lnTo>
                    <a:pt x="113817" y="1108769"/>
                  </a:lnTo>
                  <a:lnTo>
                    <a:pt x="138933" y="1145340"/>
                  </a:lnTo>
                  <a:lnTo>
                    <a:pt x="166196" y="1180240"/>
                  </a:lnTo>
                  <a:lnTo>
                    <a:pt x="195510" y="1213374"/>
                  </a:lnTo>
                  <a:lnTo>
                    <a:pt x="226781" y="1244646"/>
                  </a:lnTo>
                  <a:lnTo>
                    <a:pt x="259913" y="1273962"/>
                  </a:lnTo>
                  <a:lnTo>
                    <a:pt x="294811" y="1301227"/>
                  </a:lnTo>
                  <a:lnTo>
                    <a:pt x="331382" y="1326346"/>
                  </a:lnTo>
                  <a:lnTo>
                    <a:pt x="369529" y="1349224"/>
                  </a:lnTo>
                  <a:lnTo>
                    <a:pt x="409158" y="1369767"/>
                  </a:lnTo>
                  <a:lnTo>
                    <a:pt x="450174" y="1387878"/>
                  </a:lnTo>
                  <a:lnTo>
                    <a:pt x="492483" y="1403463"/>
                  </a:lnTo>
                  <a:lnTo>
                    <a:pt x="535989" y="1416428"/>
                  </a:lnTo>
                  <a:lnTo>
                    <a:pt x="580598" y="1426677"/>
                  </a:lnTo>
                  <a:lnTo>
                    <a:pt x="626214" y="1434115"/>
                  </a:lnTo>
                  <a:lnTo>
                    <a:pt x="672743" y="1438648"/>
                  </a:lnTo>
                  <a:lnTo>
                    <a:pt x="720090" y="1440179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59564" y="1426677"/>
                  </a:lnTo>
                  <a:lnTo>
                    <a:pt x="904168" y="1416428"/>
                  </a:lnTo>
                  <a:lnTo>
                    <a:pt x="947671" y="1403463"/>
                  </a:lnTo>
                  <a:lnTo>
                    <a:pt x="989978" y="1387878"/>
                  </a:lnTo>
                  <a:lnTo>
                    <a:pt x="1030993" y="1369767"/>
                  </a:lnTo>
                  <a:lnTo>
                    <a:pt x="1070622" y="1349224"/>
                  </a:lnTo>
                  <a:lnTo>
                    <a:pt x="1108769" y="1326346"/>
                  </a:lnTo>
                  <a:lnTo>
                    <a:pt x="1145340" y="1301227"/>
                  </a:lnTo>
                  <a:lnTo>
                    <a:pt x="1180240" y="1273962"/>
                  </a:lnTo>
                  <a:lnTo>
                    <a:pt x="1213374" y="1244646"/>
                  </a:lnTo>
                  <a:lnTo>
                    <a:pt x="1244646" y="1213374"/>
                  </a:lnTo>
                  <a:lnTo>
                    <a:pt x="1273962" y="1180240"/>
                  </a:lnTo>
                  <a:lnTo>
                    <a:pt x="1301227" y="1145340"/>
                  </a:lnTo>
                  <a:lnTo>
                    <a:pt x="1326346" y="1108769"/>
                  </a:lnTo>
                  <a:lnTo>
                    <a:pt x="1349224" y="1070622"/>
                  </a:lnTo>
                  <a:lnTo>
                    <a:pt x="1369767" y="1030993"/>
                  </a:lnTo>
                  <a:lnTo>
                    <a:pt x="1387878" y="989978"/>
                  </a:lnTo>
                  <a:lnTo>
                    <a:pt x="1403463" y="947671"/>
                  </a:lnTo>
                  <a:lnTo>
                    <a:pt x="1416428" y="904168"/>
                  </a:lnTo>
                  <a:lnTo>
                    <a:pt x="1426677" y="859564"/>
                  </a:lnTo>
                  <a:lnTo>
                    <a:pt x="1434115" y="813952"/>
                  </a:lnTo>
                  <a:lnTo>
                    <a:pt x="1438648" y="767429"/>
                  </a:lnTo>
                  <a:lnTo>
                    <a:pt x="1440180" y="720089"/>
                  </a:lnTo>
                  <a:lnTo>
                    <a:pt x="1438648" y="672750"/>
                  </a:lnTo>
                  <a:lnTo>
                    <a:pt x="1434115" y="626227"/>
                  </a:lnTo>
                  <a:lnTo>
                    <a:pt x="1426677" y="580615"/>
                  </a:lnTo>
                  <a:lnTo>
                    <a:pt x="1416428" y="536011"/>
                  </a:lnTo>
                  <a:lnTo>
                    <a:pt x="1403463" y="492508"/>
                  </a:lnTo>
                  <a:lnTo>
                    <a:pt x="1387878" y="450201"/>
                  </a:lnTo>
                  <a:lnTo>
                    <a:pt x="1369767" y="409186"/>
                  </a:lnTo>
                  <a:lnTo>
                    <a:pt x="1349224" y="369557"/>
                  </a:lnTo>
                  <a:lnTo>
                    <a:pt x="1326346" y="331410"/>
                  </a:lnTo>
                  <a:lnTo>
                    <a:pt x="1301227" y="294839"/>
                  </a:lnTo>
                  <a:lnTo>
                    <a:pt x="1273962" y="259939"/>
                  </a:lnTo>
                  <a:lnTo>
                    <a:pt x="1244646" y="226805"/>
                  </a:lnTo>
                  <a:lnTo>
                    <a:pt x="1213374" y="195533"/>
                  </a:lnTo>
                  <a:lnTo>
                    <a:pt x="1180240" y="166217"/>
                  </a:lnTo>
                  <a:lnTo>
                    <a:pt x="1145340" y="138952"/>
                  </a:lnTo>
                  <a:lnTo>
                    <a:pt x="1108769" y="113833"/>
                  </a:lnTo>
                  <a:lnTo>
                    <a:pt x="1070622" y="90955"/>
                  </a:lnTo>
                  <a:lnTo>
                    <a:pt x="1030993" y="70412"/>
                  </a:lnTo>
                  <a:lnTo>
                    <a:pt x="989978" y="52301"/>
                  </a:lnTo>
                  <a:lnTo>
                    <a:pt x="947671" y="36716"/>
                  </a:lnTo>
                  <a:lnTo>
                    <a:pt x="904168" y="23751"/>
                  </a:lnTo>
                  <a:lnTo>
                    <a:pt x="859564" y="13502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/home/claude/ppt/icons/bell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588" y="1648967"/>
              <a:ext cx="748284" cy="74828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2331720" y="1303019"/>
            <a:ext cx="6309360" cy="1165860"/>
          </a:xfrm>
          <a:custGeom>
            <a:avLst/>
            <a:gdLst/>
            <a:ahLst/>
            <a:cxnLst/>
            <a:rect l="l" t="t" r="r" b="b"/>
            <a:pathLst>
              <a:path w="6309359" h="1165860">
                <a:moveTo>
                  <a:pt x="6227063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5"/>
                </a:lnTo>
                <a:lnTo>
                  <a:pt x="0" y="1083563"/>
                </a:lnTo>
                <a:lnTo>
                  <a:pt x="6465" y="1115603"/>
                </a:lnTo>
                <a:lnTo>
                  <a:pt x="24098" y="1141761"/>
                </a:lnTo>
                <a:lnTo>
                  <a:pt x="50256" y="1159394"/>
                </a:lnTo>
                <a:lnTo>
                  <a:pt x="82296" y="1165859"/>
                </a:lnTo>
                <a:lnTo>
                  <a:pt x="6227063" y="1165859"/>
                </a:lnTo>
                <a:lnTo>
                  <a:pt x="6259103" y="1159394"/>
                </a:lnTo>
                <a:lnTo>
                  <a:pt x="6285261" y="1141761"/>
                </a:lnTo>
                <a:lnTo>
                  <a:pt x="6302894" y="1115603"/>
                </a:lnTo>
                <a:lnTo>
                  <a:pt x="6309359" y="1083563"/>
                </a:lnTo>
                <a:lnTo>
                  <a:pt x="6309359" y="82295"/>
                </a:lnTo>
                <a:lnTo>
                  <a:pt x="6302894" y="50256"/>
                </a:lnTo>
                <a:lnTo>
                  <a:pt x="6285261" y="24098"/>
                </a:lnTo>
                <a:lnTo>
                  <a:pt x="6259103" y="6465"/>
                </a:lnTo>
                <a:lnTo>
                  <a:pt x="6227063" y="0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50998" y="1681734"/>
            <a:ext cx="537908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r>
              <a:rPr dirty="0" sz="120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signal</a:t>
            </a:r>
            <a:r>
              <a:rPr dirty="0" sz="120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qui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suspend</a:t>
            </a:r>
            <a:r>
              <a:rPr dirty="0" sz="1200" spc="-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momentanément</a:t>
            </a:r>
            <a:r>
              <a:rPr dirty="0" sz="1200" spc="-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l'exécution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en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cours pour</a:t>
            </a:r>
            <a:r>
              <a:rPr dirty="0" sz="1200" spc="-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traiter</a:t>
            </a:r>
            <a:r>
              <a:rPr dirty="0" sz="1200" spc="-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en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2233"/>
                </a:solidFill>
                <a:latin typeface="Calibri"/>
                <a:cs typeface="Calibri"/>
              </a:rPr>
              <a:t>priorité</a:t>
            </a:r>
            <a:r>
              <a:rPr dirty="0" sz="1200" spc="-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événement</a:t>
            </a:r>
            <a:r>
              <a:rPr dirty="0" sz="12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2233"/>
                </a:solidFill>
                <a:latin typeface="Calibri"/>
                <a:cs typeface="Calibri"/>
              </a:rPr>
              <a:t>externe.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1720" y="2641092"/>
            <a:ext cx="6309360" cy="1303020"/>
            <a:chOff x="2331720" y="2641092"/>
            <a:chExt cx="6309360" cy="1303020"/>
          </a:xfrm>
        </p:grpSpPr>
        <p:sp>
          <p:nvSpPr>
            <p:cNvPr id="10" name="object 10"/>
            <p:cNvSpPr/>
            <p:nvPr/>
          </p:nvSpPr>
          <p:spPr>
            <a:xfrm>
              <a:off x="2331720" y="2641092"/>
              <a:ext cx="6309360" cy="1303020"/>
            </a:xfrm>
            <a:custGeom>
              <a:avLst/>
              <a:gdLst/>
              <a:ahLst/>
              <a:cxnLst/>
              <a:rect l="l" t="t" r="r" b="b"/>
              <a:pathLst>
                <a:path w="6309359" h="1303020">
                  <a:moveTo>
                    <a:pt x="6227063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1220723"/>
                  </a:lnTo>
                  <a:lnTo>
                    <a:pt x="6465" y="1252758"/>
                  </a:lnTo>
                  <a:lnTo>
                    <a:pt x="24098" y="1278916"/>
                  </a:lnTo>
                  <a:lnTo>
                    <a:pt x="50256" y="1296553"/>
                  </a:lnTo>
                  <a:lnTo>
                    <a:pt x="82296" y="1303020"/>
                  </a:lnTo>
                  <a:lnTo>
                    <a:pt x="6227063" y="1303020"/>
                  </a:lnTo>
                  <a:lnTo>
                    <a:pt x="6259103" y="1296553"/>
                  </a:lnTo>
                  <a:lnTo>
                    <a:pt x="6285261" y="1278916"/>
                  </a:lnTo>
                  <a:lnTo>
                    <a:pt x="6302894" y="1252758"/>
                  </a:lnTo>
                  <a:lnTo>
                    <a:pt x="6309359" y="1220723"/>
                  </a:lnTo>
                  <a:lnTo>
                    <a:pt x="6309359" y="82295"/>
                  </a:lnTo>
                  <a:lnTo>
                    <a:pt x="6302894" y="50256"/>
                  </a:lnTo>
                  <a:lnTo>
                    <a:pt x="6285261" y="24098"/>
                  </a:lnTo>
                  <a:lnTo>
                    <a:pt x="6259103" y="6465"/>
                  </a:lnTo>
                  <a:lnTo>
                    <a:pt x="6227063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03932" y="2791968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25853" y="6120"/>
                  </a:lnTo>
                  <a:lnTo>
                    <a:pt x="84892" y="23396"/>
                  </a:lnTo>
                  <a:lnTo>
                    <a:pt x="50196" y="50196"/>
                  </a:lnTo>
                  <a:lnTo>
                    <a:pt x="23396" y="84892"/>
                  </a:lnTo>
                  <a:lnTo>
                    <a:pt x="6120" y="125853"/>
                  </a:lnTo>
                  <a:lnTo>
                    <a:pt x="0" y="171450"/>
                  </a:lnTo>
                  <a:lnTo>
                    <a:pt x="6120" y="217046"/>
                  </a:lnTo>
                  <a:lnTo>
                    <a:pt x="23396" y="258007"/>
                  </a:lnTo>
                  <a:lnTo>
                    <a:pt x="50196" y="292703"/>
                  </a:lnTo>
                  <a:lnTo>
                    <a:pt x="84892" y="319503"/>
                  </a:lnTo>
                  <a:lnTo>
                    <a:pt x="125853" y="336779"/>
                  </a:lnTo>
                  <a:lnTo>
                    <a:pt x="171450" y="342900"/>
                  </a:lnTo>
                  <a:lnTo>
                    <a:pt x="217046" y="336779"/>
                  </a:lnTo>
                  <a:lnTo>
                    <a:pt x="258007" y="319503"/>
                  </a:lnTo>
                  <a:lnTo>
                    <a:pt x="292703" y="292703"/>
                  </a:lnTo>
                  <a:lnTo>
                    <a:pt x="319503" y="258007"/>
                  </a:lnTo>
                  <a:lnTo>
                    <a:pt x="336779" y="217046"/>
                  </a:lnTo>
                  <a:lnTo>
                    <a:pt x="342900" y="171450"/>
                  </a:lnTo>
                  <a:lnTo>
                    <a:pt x="336779" y="125853"/>
                  </a:lnTo>
                  <a:lnTo>
                    <a:pt x="319503" y="84892"/>
                  </a:lnTo>
                  <a:lnTo>
                    <a:pt x="292703" y="50196"/>
                  </a:lnTo>
                  <a:lnTo>
                    <a:pt x="258007" y="23396"/>
                  </a:lnTo>
                  <a:lnTo>
                    <a:pt x="217046" y="612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/home/claude/ppt/icons/phon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8" y="2874264"/>
              <a:ext cx="178307" cy="17830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650998" y="2772282"/>
            <a:ext cx="4888230" cy="628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Dans</a:t>
            </a:r>
            <a:r>
              <a:rPr dirty="0" sz="900" spc="3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la</a:t>
            </a:r>
            <a:r>
              <a:rPr dirty="0" sz="900" spc="3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vraie</a:t>
            </a:r>
            <a:r>
              <a:rPr dirty="0" sz="900" spc="4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D5880F"/>
                </a:solidFill>
                <a:latin typeface="Calibri"/>
                <a:cs typeface="Calibri"/>
              </a:rPr>
              <a:t>vie</a:t>
            </a:r>
            <a:r>
              <a:rPr dirty="0" sz="900" spc="5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00" spc="-50" b="1">
                <a:solidFill>
                  <a:srgbClr val="D5880F"/>
                </a:solidFill>
                <a:latin typeface="Calibri"/>
                <a:cs typeface="Calibri"/>
              </a:rPr>
              <a:t>: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ts val="1315"/>
              </a:lnSpc>
              <a:spcBef>
                <a:spcPts val="1000"/>
              </a:spcBef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Vous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recevez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appel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pendant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une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jeu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d’check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processeur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INTERROMPT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15"/>
              </a:lnSpc>
            </a:pP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immédiatement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jeu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pour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afficher</a:t>
            </a:r>
            <a:r>
              <a:rPr dirty="0" sz="11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l'appel</a:t>
            </a:r>
            <a:r>
              <a:rPr dirty="0" sz="11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entrant,</a:t>
            </a:r>
            <a:r>
              <a:rPr dirty="0" sz="11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puis</a:t>
            </a:r>
            <a:r>
              <a:rPr dirty="0" sz="11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reprend</a:t>
            </a:r>
            <a:r>
              <a:rPr dirty="0" sz="1100" spc="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où</a:t>
            </a:r>
            <a:r>
              <a:rPr dirty="0" sz="11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11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était.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37</a:t>
            </a: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1588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1.3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D5880F"/>
                </a:solidFill>
                <a:latin typeface="Calibri"/>
                <a:cs typeface="Calibri"/>
              </a:rPr>
              <a:t>TERMINOLOGIE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4191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Récapitulatif</a:t>
            </a:r>
            <a:r>
              <a:rPr dirty="0" sz="2400" spc="-4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en</a:t>
            </a:r>
            <a:r>
              <a:rPr dirty="0" sz="2400" spc="-7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un</a:t>
            </a:r>
            <a:r>
              <a:rPr dirty="0" sz="24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coup</a:t>
            </a:r>
            <a:r>
              <a:rPr dirty="0" sz="2400" spc="-6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d'œil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1395" y="1194816"/>
            <a:ext cx="1967864" cy="1485900"/>
            <a:chOff x="501395" y="1194816"/>
            <a:chExt cx="1967864" cy="1485900"/>
          </a:xfrm>
        </p:grpSpPr>
        <p:sp>
          <p:nvSpPr>
            <p:cNvPr id="5" name="object 5"/>
            <p:cNvSpPr/>
            <p:nvPr/>
          </p:nvSpPr>
          <p:spPr>
            <a:xfrm>
              <a:off x="507491" y="1200912"/>
              <a:ext cx="1955800" cy="1473835"/>
            </a:xfrm>
            <a:custGeom>
              <a:avLst/>
              <a:gdLst/>
              <a:ahLst/>
              <a:cxnLst/>
              <a:rect l="l" t="t" r="r" b="b"/>
              <a:pathLst>
                <a:path w="1955800" h="1473835">
                  <a:moveTo>
                    <a:pt x="0" y="68579"/>
                  </a:moveTo>
                  <a:lnTo>
                    <a:pt x="5385" y="41898"/>
                  </a:lnTo>
                  <a:lnTo>
                    <a:pt x="20073" y="20097"/>
                  </a:lnTo>
                  <a:lnTo>
                    <a:pt x="41860" y="5393"/>
                  </a:lnTo>
                  <a:lnTo>
                    <a:pt x="68541" y="0"/>
                  </a:lnTo>
                  <a:lnTo>
                    <a:pt x="1886712" y="0"/>
                  </a:lnTo>
                  <a:lnTo>
                    <a:pt x="1913393" y="5393"/>
                  </a:lnTo>
                  <a:lnTo>
                    <a:pt x="1935194" y="20097"/>
                  </a:lnTo>
                  <a:lnTo>
                    <a:pt x="1949898" y="41898"/>
                  </a:lnTo>
                  <a:lnTo>
                    <a:pt x="1955291" y="68579"/>
                  </a:lnTo>
                  <a:lnTo>
                    <a:pt x="1955291" y="1405127"/>
                  </a:lnTo>
                  <a:lnTo>
                    <a:pt x="1949898" y="1431809"/>
                  </a:lnTo>
                  <a:lnTo>
                    <a:pt x="1935194" y="1453610"/>
                  </a:lnTo>
                  <a:lnTo>
                    <a:pt x="1913393" y="1468314"/>
                  </a:lnTo>
                  <a:lnTo>
                    <a:pt x="1886712" y="1473708"/>
                  </a:lnTo>
                  <a:lnTo>
                    <a:pt x="68541" y="1473708"/>
                  </a:lnTo>
                  <a:lnTo>
                    <a:pt x="41860" y="1468314"/>
                  </a:lnTo>
                  <a:lnTo>
                    <a:pt x="20073" y="1453610"/>
                  </a:lnTo>
                  <a:lnTo>
                    <a:pt x="5385" y="1431809"/>
                  </a:lnTo>
                  <a:lnTo>
                    <a:pt x="0" y="1405127"/>
                  </a:lnTo>
                  <a:lnTo>
                    <a:pt x="0" y="6857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237487" y="1351788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/home/claude/ppt/icons/layers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6359" y="1469136"/>
              <a:ext cx="256031" cy="25755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00099" y="1960626"/>
            <a:ext cx="3702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 b="1">
                <a:solidFill>
                  <a:srgbClr val="1A2233"/>
                </a:solidFill>
                <a:latin typeface="Calibri"/>
                <a:cs typeface="Calibri"/>
              </a:rPr>
              <a:t>Noyau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2329" y="2320239"/>
            <a:ext cx="845185" cy="146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6B7180"/>
                </a:solidFill>
                <a:latin typeface="Calibri"/>
                <a:cs typeface="Calibri"/>
              </a:rPr>
              <a:t>Le</a:t>
            </a:r>
            <a:r>
              <a:rPr dirty="0" sz="800" spc="-3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180"/>
                </a:solidFill>
                <a:latin typeface="Calibri"/>
                <a:cs typeface="Calibri"/>
              </a:rPr>
              <a:t>cœur</a:t>
            </a:r>
            <a:r>
              <a:rPr dirty="0" sz="800" spc="-3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180"/>
                </a:solidFill>
                <a:latin typeface="Calibri"/>
                <a:cs typeface="Calibri"/>
              </a:rPr>
              <a:t>du</a:t>
            </a:r>
            <a:r>
              <a:rPr dirty="0" sz="800" spc="-3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système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58795" y="1194816"/>
            <a:ext cx="1967864" cy="1485900"/>
            <a:chOff x="2558795" y="1194816"/>
            <a:chExt cx="1967864" cy="1485900"/>
          </a:xfrm>
        </p:grpSpPr>
        <p:sp>
          <p:nvSpPr>
            <p:cNvPr id="11" name="object 11"/>
            <p:cNvSpPr/>
            <p:nvPr/>
          </p:nvSpPr>
          <p:spPr>
            <a:xfrm>
              <a:off x="2564891" y="1200912"/>
              <a:ext cx="1955800" cy="1473835"/>
            </a:xfrm>
            <a:custGeom>
              <a:avLst/>
              <a:gdLst/>
              <a:ahLst/>
              <a:cxnLst/>
              <a:rect l="l" t="t" r="r" b="b"/>
              <a:pathLst>
                <a:path w="1955800" h="1473835">
                  <a:moveTo>
                    <a:pt x="0" y="68579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80" y="0"/>
                  </a:lnTo>
                  <a:lnTo>
                    <a:pt x="1886711" y="0"/>
                  </a:lnTo>
                  <a:lnTo>
                    <a:pt x="1913393" y="5393"/>
                  </a:lnTo>
                  <a:lnTo>
                    <a:pt x="1935194" y="20097"/>
                  </a:lnTo>
                  <a:lnTo>
                    <a:pt x="1949898" y="41898"/>
                  </a:lnTo>
                  <a:lnTo>
                    <a:pt x="1955292" y="68579"/>
                  </a:lnTo>
                  <a:lnTo>
                    <a:pt x="1955292" y="1405127"/>
                  </a:lnTo>
                  <a:lnTo>
                    <a:pt x="1949898" y="1431809"/>
                  </a:lnTo>
                  <a:lnTo>
                    <a:pt x="1935194" y="1453610"/>
                  </a:lnTo>
                  <a:lnTo>
                    <a:pt x="1913393" y="1468314"/>
                  </a:lnTo>
                  <a:lnTo>
                    <a:pt x="1886711" y="1473708"/>
                  </a:lnTo>
                  <a:lnTo>
                    <a:pt x="68580" y="1473708"/>
                  </a:lnTo>
                  <a:lnTo>
                    <a:pt x="41898" y="1468314"/>
                  </a:lnTo>
                  <a:lnTo>
                    <a:pt x="20097" y="1453610"/>
                  </a:lnTo>
                  <a:lnTo>
                    <a:pt x="5393" y="1431809"/>
                  </a:lnTo>
                  <a:lnTo>
                    <a:pt x="0" y="1405127"/>
                  </a:lnTo>
                  <a:lnTo>
                    <a:pt x="0" y="6857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94887" y="1351788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/home/claude/ppt/icons/apps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3759" y="1469136"/>
              <a:ext cx="256032" cy="25755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267836" y="1960626"/>
            <a:ext cx="5499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 b="1">
                <a:solidFill>
                  <a:srgbClr val="1A2233"/>
                </a:solidFill>
                <a:latin typeface="Calibri"/>
                <a:cs typeface="Calibri"/>
              </a:rPr>
              <a:t>Processus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03601" y="2320239"/>
            <a:ext cx="1275715" cy="146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Une</a:t>
            </a:r>
            <a:r>
              <a:rPr dirty="0" sz="8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appli</a:t>
            </a:r>
            <a:r>
              <a:rPr dirty="0" sz="800" spc="-3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en</a:t>
            </a:r>
            <a:r>
              <a:rPr dirty="0" sz="8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cours</a:t>
            </a:r>
            <a:r>
              <a:rPr dirty="0" sz="8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d'exécution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16196" y="1194816"/>
            <a:ext cx="1967864" cy="1485900"/>
            <a:chOff x="4616196" y="1194816"/>
            <a:chExt cx="1967864" cy="1485900"/>
          </a:xfrm>
        </p:grpSpPr>
        <p:sp>
          <p:nvSpPr>
            <p:cNvPr id="17" name="object 17"/>
            <p:cNvSpPr/>
            <p:nvPr/>
          </p:nvSpPr>
          <p:spPr>
            <a:xfrm>
              <a:off x="4622292" y="1200912"/>
              <a:ext cx="1955800" cy="1473835"/>
            </a:xfrm>
            <a:custGeom>
              <a:avLst/>
              <a:gdLst/>
              <a:ahLst/>
              <a:cxnLst/>
              <a:rect l="l" t="t" r="r" b="b"/>
              <a:pathLst>
                <a:path w="1955800" h="1473835">
                  <a:moveTo>
                    <a:pt x="0" y="68579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80" y="0"/>
                  </a:lnTo>
                  <a:lnTo>
                    <a:pt x="1886712" y="0"/>
                  </a:lnTo>
                  <a:lnTo>
                    <a:pt x="1913393" y="5393"/>
                  </a:lnTo>
                  <a:lnTo>
                    <a:pt x="1935194" y="20097"/>
                  </a:lnTo>
                  <a:lnTo>
                    <a:pt x="1949898" y="41898"/>
                  </a:lnTo>
                  <a:lnTo>
                    <a:pt x="1955291" y="68579"/>
                  </a:lnTo>
                  <a:lnTo>
                    <a:pt x="1955291" y="1405127"/>
                  </a:lnTo>
                  <a:lnTo>
                    <a:pt x="1949898" y="1431809"/>
                  </a:lnTo>
                  <a:lnTo>
                    <a:pt x="1935194" y="1453610"/>
                  </a:lnTo>
                  <a:lnTo>
                    <a:pt x="1913393" y="1468314"/>
                  </a:lnTo>
                  <a:lnTo>
                    <a:pt x="1886712" y="1473708"/>
                  </a:lnTo>
                  <a:lnTo>
                    <a:pt x="68580" y="1473708"/>
                  </a:lnTo>
                  <a:lnTo>
                    <a:pt x="41898" y="1468314"/>
                  </a:lnTo>
                  <a:lnTo>
                    <a:pt x="20097" y="1453610"/>
                  </a:lnTo>
                  <a:lnTo>
                    <a:pt x="5393" y="1431809"/>
                  </a:lnTo>
                  <a:lnTo>
                    <a:pt x="0" y="1405127"/>
                  </a:lnTo>
                  <a:lnTo>
                    <a:pt x="0" y="6857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352288" y="1351788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/home/claude/ppt/icons/git_FFFFFF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1160" y="1469136"/>
              <a:ext cx="256032" cy="25755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400547" y="1960626"/>
            <a:ext cx="3994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 b="1">
                <a:solidFill>
                  <a:srgbClr val="1A2233"/>
                </a:solidFill>
                <a:latin typeface="Calibri"/>
                <a:cs typeface="Calibri"/>
              </a:rPr>
              <a:t>Thread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11090" y="2320239"/>
            <a:ext cx="1376045" cy="146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Une</a:t>
            </a:r>
            <a:r>
              <a:rPr dirty="0" sz="8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tâche</a:t>
            </a:r>
            <a:r>
              <a:rPr dirty="0" sz="800" spc="-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180"/>
                </a:solidFill>
                <a:latin typeface="Calibri"/>
                <a:cs typeface="Calibri"/>
              </a:rPr>
              <a:t>au</a:t>
            </a:r>
            <a:r>
              <a:rPr dirty="0" sz="80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6B7180"/>
                </a:solidFill>
                <a:latin typeface="Calibri"/>
                <a:cs typeface="Calibri"/>
              </a:rPr>
              <a:t>sein</a:t>
            </a:r>
            <a:r>
              <a:rPr dirty="0" sz="8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d'un</a:t>
            </a:r>
            <a:r>
              <a:rPr dirty="0" sz="800" spc="-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processus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673595" y="1194816"/>
            <a:ext cx="1967864" cy="1485900"/>
            <a:chOff x="6673595" y="1194816"/>
            <a:chExt cx="1967864" cy="1485900"/>
          </a:xfrm>
        </p:grpSpPr>
        <p:sp>
          <p:nvSpPr>
            <p:cNvPr id="23" name="object 23"/>
            <p:cNvSpPr/>
            <p:nvPr/>
          </p:nvSpPr>
          <p:spPr>
            <a:xfrm>
              <a:off x="6679691" y="1200912"/>
              <a:ext cx="1955800" cy="1473835"/>
            </a:xfrm>
            <a:custGeom>
              <a:avLst/>
              <a:gdLst/>
              <a:ahLst/>
              <a:cxnLst/>
              <a:rect l="l" t="t" r="r" b="b"/>
              <a:pathLst>
                <a:path w="1955800" h="1473835">
                  <a:moveTo>
                    <a:pt x="0" y="68579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79" y="0"/>
                  </a:lnTo>
                  <a:lnTo>
                    <a:pt x="1886711" y="0"/>
                  </a:lnTo>
                  <a:lnTo>
                    <a:pt x="1913393" y="5393"/>
                  </a:lnTo>
                  <a:lnTo>
                    <a:pt x="1935194" y="20097"/>
                  </a:lnTo>
                  <a:lnTo>
                    <a:pt x="1949898" y="41898"/>
                  </a:lnTo>
                  <a:lnTo>
                    <a:pt x="1955291" y="68579"/>
                  </a:lnTo>
                  <a:lnTo>
                    <a:pt x="1955291" y="1405127"/>
                  </a:lnTo>
                  <a:lnTo>
                    <a:pt x="1949898" y="1431809"/>
                  </a:lnTo>
                  <a:lnTo>
                    <a:pt x="1935194" y="1453610"/>
                  </a:lnTo>
                  <a:lnTo>
                    <a:pt x="1913393" y="1468314"/>
                  </a:lnTo>
                  <a:lnTo>
                    <a:pt x="1886711" y="1473708"/>
                  </a:lnTo>
                  <a:lnTo>
                    <a:pt x="68579" y="1473708"/>
                  </a:lnTo>
                  <a:lnTo>
                    <a:pt x="41898" y="1468314"/>
                  </a:lnTo>
                  <a:lnTo>
                    <a:pt x="20097" y="1453610"/>
                  </a:lnTo>
                  <a:lnTo>
                    <a:pt x="5393" y="1431809"/>
                  </a:lnTo>
                  <a:lnTo>
                    <a:pt x="0" y="1405127"/>
                  </a:lnTo>
                  <a:lnTo>
                    <a:pt x="0" y="6857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409687" y="1351788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/home/claude/ppt/icons/door_FFFFFF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8559" y="1469136"/>
              <a:ext cx="256031" cy="25755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255509" y="1960626"/>
            <a:ext cx="8058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solidFill>
                  <a:srgbClr val="1A2233"/>
                </a:solidFill>
                <a:latin typeface="Calibri"/>
                <a:cs typeface="Calibri"/>
              </a:rPr>
              <a:t>Appel </a:t>
            </a:r>
            <a:r>
              <a:rPr dirty="0" sz="1000" spc="-10" b="1">
                <a:solidFill>
                  <a:srgbClr val="1A2233"/>
                </a:solidFill>
                <a:latin typeface="Calibri"/>
                <a:cs typeface="Calibri"/>
              </a:rPr>
              <a:t>système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09206" y="2320239"/>
            <a:ext cx="1096645" cy="146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Demande</a:t>
            </a:r>
            <a:r>
              <a:rPr dirty="0" sz="800" spc="-4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180"/>
                </a:solidFill>
                <a:latin typeface="Calibri"/>
                <a:cs typeface="Calibri"/>
              </a:rPr>
              <a:t>de</a:t>
            </a:r>
            <a:r>
              <a:rPr dirty="0" sz="8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service</a:t>
            </a:r>
            <a:r>
              <a:rPr dirty="0" sz="800" spc="-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180"/>
                </a:solidFill>
                <a:latin typeface="Calibri"/>
                <a:cs typeface="Calibri"/>
              </a:rPr>
              <a:t>à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6B7180"/>
                </a:solidFill>
                <a:latin typeface="Calibri"/>
                <a:cs typeface="Calibri"/>
              </a:rPr>
              <a:t>l'OS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01395" y="2840735"/>
            <a:ext cx="1967864" cy="1485900"/>
            <a:chOff x="501395" y="2840735"/>
            <a:chExt cx="1967864" cy="1485900"/>
          </a:xfrm>
        </p:grpSpPr>
        <p:sp>
          <p:nvSpPr>
            <p:cNvPr id="29" name="object 29"/>
            <p:cNvSpPr/>
            <p:nvPr/>
          </p:nvSpPr>
          <p:spPr>
            <a:xfrm>
              <a:off x="507491" y="2846831"/>
              <a:ext cx="1955800" cy="1473835"/>
            </a:xfrm>
            <a:custGeom>
              <a:avLst/>
              <a:gdLst/>
              <a:ahLst/>
              <a:cxnLst/>
              <a:rect l="l" t="t" r="r" b="b"/>
              <a:pathLst>
                <a:path w="1955800" h="1473835">
                  <a:moveTo>
                    <a:pt x="0" y="68580"/>
                  </a:moveTo>
                  <a:lnTo>
                    <a:pt x="5385" y="41898"/>
                  </a:lnTo>
                  <a:lnTo>
                    <a:pt x="20073" y="20097"/>
                  </a:lnTo>
                  <a:lnTo>
                    <a:pt x="41860" y="5393"/>
                  </a:lnTo>
                  <a:lnTo>
                    <a:pt x="68541" y="0"/>
                  </a:lnTo>
                  <a:lnTo>
                    <a:pt x="1886712" y="0"/>
                  </a:lnTo>
                  <a:lnTo>
                    <a:pt x="1913393" y="5393"/>
                  </a:lnTo>
                  <a:lnTo>
                    <a:pt x="1935194" y="20097"/>
                  </a:lnTo>
                  <a:lnTo>
                    <a:pt x="1949898" y="41898"/>
                  </a:lnTo>
                  <a:lnTo>
                    <a:pt x="1955291" y="68580"/>
                  </a:lnTo>
                  <a:lnTo>
                    <a:pt x="1955291" y="1405166"/>
                  </a:lnTo>
                  <a:lnTo>
                    <a:pt x="1949898" y="1431847"/>
                  </a:lnTo>
                  <a:lnTo>
                    <a:pt x="1935194" y="1453634"/>
                  </a:lnTo>
                  <a:lnTo>
                    <a:pt x="1913393" y="1468322"/>
                  </a:lnTo>
                  <a:lnTo>
                    <a:pt x="1886712" y="1473708"/>
                  </a:lnTo>
                  <a:lnTo>
                    <a:pt x="68541" y="1473708"/>
                  </a:lnTo>
                  <a:lnTo>
                    <a:pt x="41860" y="1468322"/>
                  </a:lnTo>
                  <a:lnTo>
                    <a:pt x="20073" y="1453634"/>
                  </a:lnTo>
                  <a:lnTo>
                    <a:pt x="5385" y="1431847"/>
                  </a:lnTo>
                  <a:lnTo>
                    <a:pt x="0" y="1405166"/>
                  </a:lnTo>
                  <a:lnTo>
                    <a:pt x="0" y="68580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237487" y="2997707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/home/claude/ppt/icons/lock_FFFFFF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6359" y="3115055"/>
              <a:ext cx="256031" cy="25755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35253" y="3606495"/>
            <a:ext cx="129857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b="1">
                <a:solidFill>
                  <a:srgbClr val="1A2233"/>
                </a:solidFill>
                <a:latin typeface="Calibri"/>
                <a:cs typeface="Calibri"/>
              </a:rPr>
              <a:t>Mode</a:t>
            </a:r>
            <a:r>
              <a:rPr dirty="0" sz="1000" spc="10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2233"/>
                </a:solidFill>
                <a:latin typeface="Calibri"/>
                <a:cs typeface="Calibri"/>
              </a:rPr>
              <a:t>noyau/utilisateur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62329" y="3967073"/>
            <a:ext cx="84518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Niveaux</a:t>
            </a:r>
            <a:r>
              <a:rPr dirty="0" sz="800" spc="-4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de</a:t>
            </a:r>
            <a:r>
              <a:rPr dirty="0" sz="8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privilège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558795" y="2840735"/>
            <a:ext cx="1967864" cy="1485900"/>
            <a:chOff x="2558795" y="2840735"/>
            <a:chExt cx="1967864" cy="1485900"/>
          </a:xfrm>
        </p:grpSpPr>
        <p:sp>
          <p:nvSpPr>
            <p:cNvPr id="35" name="object 35"/>
            <p:cNvSpPr/>
            <p:nvPr/>
          </p:nvSpPr>
          <p:spPr>
            <a:xfrm>
              <a:off x="2564891" y="2846831"/>
              <a:ext cx="1955800" cy="1473835"/>
            </a:xfrm>
            <a:custGeom>
              <a:avLst/>
              <a:gdLst/>
              <a:ahLst/>
              <a:cxnLst/>
              <a:rect l="l" t="t" r="r" b="b"/>
              <a:pathLst>
                <a:path w="1955800" h="1473835">
                  <a:moveTo>
                    <a:pt x="0" y="68580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80" y="0"/>
                  </a:lnTo>
                  <a:lnTo>
                    <a:pt x="1886711" y="0"/>
                  </a:lnTo>
                  <a:lnTo>
                    <a:pt x="1913393" y="5393"/>
                  </a:lnTo>
                  <a:lnTo>
                    <a:pt x="1935194" y="20097"/>
                  </a:lnTo>
                  <a:lnTo>
                    <a:pt x="1949898" y="41898"/>
                  </a:lnTo>
                  <a:lnTo>
                    <a:pt x="1955292" y="68580"/>
                  </a:lnTo>
                  <a:lnTo>
                    <a:pt x="1955292" y="1405166"/>
                  </a:lnTo>
                  <a:lnTo>
                    <a:pt x="1949898" y="1431847"/>
                  </a:lnTo>
                  <a:lnTo>
                    <a:pt x="1935194" y="1453634"/>
                  </a:lnTo>
                  <a:lnTo>
                    <a:pt x="1913393" y="1468322"/>
                  </a:lnTo>
                  <a:lnTo>
                    <a:pt x="1886711" y="1473708"/>
                  </a:lnTo>
                  <a:lnTo>
                    <a:pt x="68580" y="1473708"/>
                  </a:lnTo>
                  <a:lnTo>
                    <a:pt x="41898" y="1468322"/>
                  </a:lnTo>
                  <a:lnTo>
                    <a:pt x="20097" y="1453634"/>
                  </a:lnTo>
                  <a:lnTo>
                    <a:pt x="5393" y="1431847"/>
                  </a:lnTo>
                  <a:lnTo>
                    <a:pt x="0" y="1405166"/>
                  </a:lnTo>
                  <a:lnTo>
                    <a:pt x="0" y="68580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94887" y="2997707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/home/claude/ppt/icons/hourglass_FFFFFF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3759" y="3115055"/>
              <a:ext cx="256032" cy="25755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3144392" y="3606495"/>
            <a:ext cx="79565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10" b="1">
                <a:solidFill>
                  <a:srgbClr val="1A2233"/>
                </a:solidFill>
                <a:latin typeface="Calibri"/>
                <a:cs typeface="Calibri"/>
              </a:rPr>
              <a:t>Ordonnanceur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76752" y="3967073"/>
            <a:ext cx="112903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Qui</a:t>
            </a:r>
            <a:r>
              <a:rPr dirty="0" sz="800" spc="-3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utilise</a:t>
            </a:r>
            <a:r>
              <a:rPr dirty="0" sz="800" spc="-3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180"/>
                </a:solidFill>
                <a:latin typeface="Calibri"/>
                <a:cs typeface="Calibri"/>
              </a:rPr>
              <a:t>le</a:t>
            </a:r>
            <a:r>
              <a:rPr dirty="0" sz="800" spc="-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180"/>
                </a:solidFill>
                <a:latin typeface="Calibri"/>
                <a:cs typeface="Calibri"/>
              </a:rPr>
              <a:t>CPU,</a:t>
            </a:r>
            <a:r>
              <a:rPr dirty="0" sz="8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180"/>
                </a:solidFill>
                <a:latin typeface="Calibri"/>
                <a:cs typeface="Calibri"/>
              </a:rPr>
              <a:t>et</a:t>
            </a:r>
            <a:r>
              <a:rPr dirty="0" sz="8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quand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616196" y="2840735"/>
            <a:ext cx="1967864" cy="1485900"/>
            <a:chOff x="4616196" y="2840735"/>
            <a:chExt cx="1967864" cy="1485900"/>
          </a:xfrm>
        </p:grpSpPr>
        <p:sp>
          <p:nvSpPr>
            <p:cNvPr id="41" name="object 41"/>
            <p:cNvSpPr/>
            <p:nvPr/>
          </p:nvSpPr>
          <p:spPr>
            <a:xfrm>
              <a:off x="4622292" y="2846831"/>
              <a:ext cx="1955800" cy="1473835"/>
            </a:xfrm>
            <a:custGeom>
              <a:avLst/>
              <a:gdLst/>
              <a:ahLst/>
              <a:cxnLst/>
              <a:rect l="l" t="t" r="r" b="b"/>
              <a:pathLst>
                <a:path w="1955800" h="1473835">
                  <a:moveTo>
                    <a:pt x="0" y="68580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80" y="0"/>
                  </a:lnTo>
                  <a:lnTo>
                    <a:pt x="1886712" y="0"/>
                  </a:lnTo>
                  <a:lnTo>
                    <a:pt x="1913393" y="5393"/>
                  </a:lnTo>
                  <a:lnTo>
                    <a:pt x="1935194" y="20097"/>
                  </a:lnTo>
                  <a:lnTo>
                    <a:pt x="1949898" y="41898"/>
                  </a:lnTo>
                  <a:lnTo>
                    <a:pt x="1955291" y="68580"/>
                  </a:lnTo>
                  <a:lnTo>
                    <a:pt x="1955291" y="1405166"/>
                  </a:lnTo>
                  <a:lnTo>
                    <a:pt x="1949898" y="1431847"/>
                  </a:lnTo>
                  <a:lnTo>
                    <a:pt x="1935194" y="1453634"/>
                  </a:lnTo>
                  <a:lnTo>
                    <a:pt x="1913393" y="1468322"/>
                  </a:lnTo>
                  <a:lnTo>
                    <a:pt x="1886712" y="1473708"/>
                  </a:lnTo>
                  <a:lnTo>
                    <a:pt x="68580" y="1473708"/>
                  </a:lnTo>
                  <a:lnTo>
                    <a:pt x="41898" y="1468322"/>
                  </a:lnTo>
                  <a:lnTo>
                    <a:pt x="20097" y="1453634"/>
                  </a:lnTo>
                  <a:lnTo>
                    <a:pt x="5393" y="1431847"/>
                  </a:lnTo>
                  <a:lnTo>
                    <a:pt x="0" y="1405166"/>
                  </a:lnTo>
                  <a:lnTo>
                    <a:pt x="0" y="68580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352288" y="2997707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/home/claude/ppt/icons/build_FFFFFF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71160" y="3115055"/>
              <a:ext cx="256032" cy="257556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5432552" y="3606495"/>
            <a:ext cx="33528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10" b="1">
                <a:solidFill>
                  <a:srgbClr val="1A2233"/>
                </a:solidFill>
                <a:latin typeface="Calibri"/>
                <a:cs typeface="Calibri"/>
              </a:rPr>
              <a:t>Pilote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79085" y="3967073"/>
            <a:ext cx="144081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>
                <a:solidFill>
                  <a:srgbClr val="6B7180"/>
                </a:solidFill>
                <a:latin typeface="Calibri"/>
                <a:cs typeface="Calibri"/>
              </a:rPr>
              <a:t>Le</a:t>
            </a:r>
            <a:r>
              <a:rPr dirty="0" sz="800" spc="-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traducteur</a:t>
            </a:r>
            <a:r>
              <a:rPr dirty="0" sz="800" spc="-4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vers</a:t>
            </a:r>
            <a:r>
              <a:rPr dirty="0" sz="8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un</a:t>
            </a:r>
            <a:r>
              <a:rPr dirty="0" sz="8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périphérique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673595" y="2840735"/>
            <a:ext cx="1967864" cy="1485900"/>
            <a:chOff x="6673595" y="2840735"/>
            <a:chExt cx="1967864" cy="1485900"/>
          </a:xfrm>
        </p:grpSpPr>
        <p:sp>
          <p:nvSpPr>
            <p:cNvPr id="47" name="object 47"/>
            <p:cNvSpPr/>
            <p:nvPr/>
          </p:nvSpPr>
          <p:spPr>
            <a:xfrm>
              <a:off x="6679691" y="2846831"/>
              <a:ext cx="1955800" cy="1473835"/>
            </a:xfrm>
            <a:custGeom>
              <a:avLst/>
              <a:gdLst/>
              <a:ahLst/>
              <a:cxnLst/>
              <a:rect l="l" t="t" r="r" b="b"/>
              <a:pathLst>
                <a:path w="1955800" h="1473835">
                  <a:moveTo>
                    <a:pt x="0" y="68580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79" y="0"/>
                  </a:lnTo>
                  <a:lnTo>
                    <a:pt x="1886711" y="0"/>
                  </a:lnTo>
                  <a:lnTo>
                    <a:pt x="1913393" y="5393"/>
                  </a:lnTo>
                  <a:lnTo>
                    <a:pt x="1935194" y="20097"/>
                  </a:lnTo>
                  <a:lnTo>
                    <a:pt x="1949898" y="41898"/>
                  </a:lnTo>
                  <a:lnTo>
                    <a:pt x="1955291" y="68580"/>
                  </a:lnTo>
                  <a:lnTo>
                    <a:pt x="1955291" y="1405166"/>
                  </a:lnTo>
                  <a:lnTo>
                    <a:pt x="1949898" y="1431847"/>
                  </a:lnTo>
                  <a:lnTo>
                    <a:pt x="1935194" y="1453634"/>
                  </a:lnTo>
                  <a:lnTo>
                    <a:pt x="1913393" y="1468322"/>
                  </a:lnTo>
                  <a:lnTo>
                    <a:pt x="1886711" y="1473708"/>
                  </a:lnTo>
                  <a:lnTo>
                    <a:pt x="68579" y="1473708"/>
                  </a:lnTo>
                  <a:lnTo>
                    <a:pt x="41898" y="1468322"/>
                  </a:lnTo>
                  <a:lnTo>
                    <a:pt x="20097" y="1453634"/>
                  </a:lnTo>
                  <a:lnTo>
                    <a:pt x="5393" y="1431847"/>
                  </a:lnTo>
                  <a:lnTo>
                    <a:pt x="0" y="1405166"/>
                  </a:lnTo>
                  <a:lnTo>
                    <a:pt x="0" y="68580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409687" y="2997707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/home/claude/ppt/icons/bell_FFFFFF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28559" y="3115055"/>
              <a:ext cx="256031" cy="257556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7319518" y="3606495"/>
            <a:ext cx="67818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10" b="1">
                <a:solidFill>
                  <a:srgbClr val="1A2233"/>
                </a:solidFill>
                <a:latin typeface="Calibri"/>
                <a:cs typeface="Calibri"/>
              </a:rPr>
              <a:t>Interruption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097014" y="3967073"/>
            <a:ext cx="112141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Signal</a:t>
            </a:r>
            <a:r>
              <a:rPr dirty="0" sz="8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d'urgence</a:t>
            </a:r>
            <a:r>
              <a:rPr dirty="0" sz="800" spc="-4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180"/>
                </a:solidFill>
                <a:latin typeface="Calibri"/>
                <a:cs typeface="Calibri"/>
              </a:rPr>
              <a:t>prioritaire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390900" y="9144"/>
            <a:ext cx="5105400" cy="273050"/>
          </a:xfrm>
          <a:custGeom>
            <a:avLst/>
            <a:gdLst/>
            <a:ahLst/>
            <a:cxnLst/>
            <a:rect l="l" t="t" r="r" b="b"/>
            <a:pathLst>
              <a:path w="5105400" h="273050">
                <a:moveTo>
                  <a:pt x="5105400" y="0"/>
                </a:moveTo>
                <a:lnTo>
                  <a:pt x="0" y="0"/>
                </a:lnTo>
                <a:lnTo>
                  <a:pt x="0" y="272796"/>
                </a:lnTo>
                <a:lnTo>
                  <a:pt x="5105400" y="272796"/>
                </a:lnTo>
                <a:lnTo>
                  <a:pt x="5105400" y="0"/>
                </a:lnTo>
                <a:close/>
              </a:path>
            </a:pathLst>
          </a:custGeom>
          <a:solidFill>
            <a:srgbClr val="FF45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3469894" y="8636"/>
            <a:ext cx="4675505" cy="2393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912108" y="301752"/>
            <a:ext cx="4998720" cy="273050"/>
          </a:xfrm>
          <a:custGeom>
            <a:avLst/>
            <a:gdLst/>
            <a:ahLst/>
            <a:cxnLst/>
            <a:rect l="l" t="t" r="r" b="b"/>
            <a:pathLst>
              <a:path w="4998720" h="273050">
                <a:moveTo>
                  <a:pt x="4998720" y="0"/>
                </a:moveTo>
                <a:lnTo>
                  <a:pt x="0" y="0"/>
                </a:lnTo>
                <a:lnTo>
                  <a:pt x="0" y="272796"/>
                </a:lnTo>
                <a:lnTo>
                  <a:pt x="4998720" y="272796"/>
                </a:lnTo>
                <a:lnTo>
                  <a:pt x="4998720" y="0"/>
                </a:lnTo>
                <a:close/>
              </a:path>
            </a:pathLst>
          </a:custGeom>
          <a:solidFill>
            <a:srgbClr val="F49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991483" y="296418"/>
            <a:ext cx="28568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0" y="0"/>
            <a:ext cx="2560320" cy="2880360"/>
          </a:xfrm>
          <a:custGeom>
            <a:avLst/>
            <a:gdLst/>
            <a:ahLst/>
            <a:cxnLst/>
            <a:rect l="l" t="t" r="r" b="b"/>
            <a:pathLst>
              <a:path w="2560320" h="2880360">
                <a:moveTo>
                  <a:pt x="2560320" y="0"/>
                </a:moveTo>
                <a:lnTo>
                  <a:pt x="171208" y="0"/>
                </a:lnTo>
                <a:lnTo>
                  <a:pt x="170718" y="1089"/>
                </a:lnTo>
                <a:lnTo>
                  <a:pt x="152871" y="43285"/>
                </a:lnTo>
                <a:lnTo>
                  <a:pt x="135942" y="85954"/>
                </a:lnTo>
                <a:lnTo>
                  <a:pt x="119943" y="129084"/>
                </a:lnTo>
                <a:lnTo>
                  <a:pt x="104887" y="172663"/>
                </a:lnTo>
                <a:lnTo>
                  <a:pt x="90786" y="216678"/>
                </a:lnTo>
                <a:lnTo>
                  <a:pt x="77653" y="261117"/>
                </a:lnTo>
                <a:lnTo>
                  <a:pt x="65499" y="305967"/>
                </a:lnTo>
                <a:lnTo>
                  <a:pt x="54337" y="351217"/>
                </a:lnTo>
                <a:lnTo>
                  <a:pt x="44180" y="396854"/>
                </a:lnTo>
                <a:lnTo>
                  <a:pt x="35039" y="442865"/>
                </a:lnTo>
                <a:lnTo>
                  <a:pt x="26927" y="489239"/>
                </a:lnTo>
                <a:lnTo>
                  <a:pt x="19857" y="535962"/>
                </a:lnTo>
                <a:lnTo>
                  <a:pt x="13841" y="583024"/>
                </a:lnTo>
                <a:lnTo>
                  <a:pt x="8891" y="630410"/>
                </a:lnTo>
                <a:lnTo>
                  <a:pt x="5020" y="678109"/>
                </a:lnTo>
                <a:lnTo>
                  <a:pt x="2239" y="726108"/>
                </a:lnTo>
                <a:lnTo>
                  <a:pt x="561" y="774396"/>
                </a:lnTo>
                <a:lnTo>
                  <a:pt x="0" y="822960"/>
                </a:lnTo>
                <a:lnTo>
                  <a:pt x="561" y="871523"/>
                </a:lnTo>
                <a:lnTo>
                  <a:pt x="2239" y="919811"/>
                </a:lnTo>
                <a:lnTo>
                  <a:pt x="5020" y="967810"/>
                </a:lnTo>
                <a:lnTo>
                  <a:pt x="8891" y="1015509"/>
                </a:lnTo>
                <a:lnTo>
                  <a:pt x="13841" y="1062895"/>
                </a:lnTo>
                <a:lnTo>
                  <a:pt x="19857" y="1109957"/>
                </a:lnTo>
                <a:lnTo>
                  <a:pt x="26927" y="1156680"/>
                </a:lnTo>
                <a:lnTo>
                  <a:pt x="35039" y="1203054"/>
                </a:lnTo>
                <a:lnTo>
                  <a:pt x="44180" y="1249065"/>
                </a:lnTo>
                <a:lnTo>
                  <a:pt x="54337" y="1294702"/>
                </a:lnTo>
                <a:lnTo>
                  <a:pt x="65499" y="1339952"/>
                </a:lnTo>
                <a:lnTo>
                  <a:pt x="77653" y="1384802"/>
                </a:lnTo>
                <a:lnTo>
                  <a:pt x="90786" y="1429241"/>
                </a:lnTo>
                <a:lnTo>
                  <a:pt x="104887" y="1473256"/>
                </a:lnTo>
                <a:lnTo>
                  <a:pt x="119943" y="1516835"/>
                </a:lnTo>
                <a:lnTo>
                  <a:pt x="135942" y="1559965"/>
                </a:lnTo>
                <a:lnTo>
                  <a:pt x="152871" y="1602634"/>
                </a:lnTo>
                <a:lnTo>
                  <a:pt x="170718" y="1644830"/>
                </a:lnTo>
                <a:lnTo>
                  <a:pt x="189470" y="1686539"/>
                </a:lnTo>
                <a:lnTo>
                  <a:pt x="209116" y="1727751"/>
                </a:lnTo>
                <a:lnTo>
                  <a:pt x="229643" y="1768453"/>
                </a:lnTo>
                <a:lnTo>
                  <a:pt x="251038" y="1808631"/>
                </a:lnTo>
                <a:lnTo>
                  <a:pt x="273290" y="1848275"/>
                </a:lnTo>
                <a:lnTo>
                  <a:pt x="296385" y="1887370"/>
                </a:lnTo>
                <a:lnTo>
                  <a:pt x="320312" y="1925907"/>
                </a:lnTo>
                <a:lnTo>
                  <a:pt x="345058" y="1963871"/>
                </a:lnTo>
                <a:lnTo>
                  <a:pt x="370611" y="2001250"/>
                </a:lnTo>
                <a:lnTo>
                  <a:pt x="396959" y="2038033"/>
                </a:lnTo>
                <a:lnTo>
                  <a:pt x="424088" y="2074206"/>
                </a:lnTo>
                <a:lnTo>
                  <a:pt x="451988" y="2109758"/>
                </a:lnTo>
                <a:lnTo>
                  <a:pt x="480644" y="2144675"/>
                </a:lnTo>
                <a:lnTo>
                  <a:pt x="510046" y="2178947"/>
                </a:lnTo>
                <a:lnTo>
                  <a:pt x="540181" y="2212560"/>
                </a:lnTo>
                <a:lnTo>
                  <a:pt x="571036" y="2245502"/>
                </a:lnTo>
                <a:lnTo>
                  <a:pt x="602599" y="2277760"/>
                </a:lnTo>
                <a:lnTo>
                  <a:pt x="634857" y="2309323"/>
                </a:lnTo>
                <a:lnTo>
                  <a:pt x="667799" y="2340178"/>
                </a:lnTo>
                <a:lnTo>
                  <a:pt x="701412" y="2370313"/>
                </a:lnTo>
                <a:lnTo>
                  <a:pt x="735684" y="2399715"/>
                </a:lnTo>
                <a:lnTo>
                  <a:pt x="770601" y="2428371"/>
                </a:lnTo>
                <a:lnTo>
                  <a:pt x="806153" y="2456271"/>
                </a:lnTo>
                <a:lnTo>
                  <a:pt x="842326" y="2483400"/>
                </a:lnTo>
                <a:lnTo>
                  <a:pt x="879109" y="2509748"/>
                </a:lnTo>
                <a:lnTo>
                  <a:pt x="916488" y="2535301"/>
                </a:lnTo>
                <a:lnTo>
                  <a:pt x="954452" y="2560047"/>
                </a:lnTo>
                <a:lnTo>
                  <a:pt x="992989" y="2583974"/>
                </a:lnTo>
                <a:lnTo>
                  <a:pt x="1032084" y="2607069"/>
                </a:lnTo>
                <a:lnTo>
                  <a:pt x="1071728" y="2629321"/>
                </a:lnTo>
                <a:lnTo>
                  <a:pt x="1111906" y="2650716"/>
                </a:lnTo>
                <a:lnTo>
                  <a:pt x="1152608" y="2671243"/>
                </a:lnTo>
                <a:lnTo>
                  <a:pt x="1193820" y="2690889"/>
                </a:lnTo>
                <a:lnTo>
                  <a:pt x="1235529" y="2709641"/>
                </a:lnTo>
                <a:lnTo>
                  <a:pt x="1277725" y="2727488"/>
                </a:lnTo>
                <a:lnTo>
                  <a:pt x="1320394" y="2744417"/>
                </a:lnTo>
                <a:lnTo>
                  <a:pt x="1363524" y="2760416"/>
                </a:lnTo>
                <a:lnTo>
                  <a:pt x="1407103" y="2775472"/>
                </a:lnTo>
                <a:lnTo>
                  <a:pt x="1451118" y="2789573"/>
                </a:lnTo>
                <a:lnTo>
                  <a:pt x="1495557" y="2802706"/>
                </a:lnTo>
                <a:lnTo>
                  <a:pt x="1540407" y="2814860"/>
                </a:lnTo>
                <a:lnTo>
                  <a:pt x="1585657" y="2826022"/>
                </a:lnTo>
                <a:lnTo>
                  <a:pt x="1631294" y="2836179"/>
                </a:lnTo>
                <a:lnTo>
                  <a:pt x="1677305" y="2845320"/>
                </a:lnTo>
                <a:lnTo>
                  <a:pt x="1723679" y="2853432"/>
                </a:lnTo>
                <a:lnTo>
                  <a:pt x="1770402" y="2860502"/>
                </a:lnTo>
                <a:lnTo>
                  <a:pt x="1817464" y="2866518"/>
                </a:lnTo>
                <a:lnTo>
                  <a:pt x="1864850" y="2871468"/>
                </a:lnTo>
                <a:lnTo>
                  <a:pt x="1912549" y="2875339"/>
                </a:lnTo>
                <a:lnTo>
                  <a:pt x="1960548" y="2878120"/>
                </a:lnTo>
                <a:lnTo>
                  <a:pt x="2008836" y="2879798"/>
                </a:lnTo>
                <a:lnTo>
                  <a:pt x="2057400" y="2880360"/>
                </a:lnTo>
                <a:lnTo>
                  <a:pt x="2105963" y="2879798"/>
                </a:lnTo>
                <a:lnTo>
                  <a:pt x="2154251" y="2878120"/>
                </a:lnTo>
                <a:lnTo>
                  <a:pt x="2202250" y="2875339"/>
                </a:lnTo>
                <a:lnTo>
                  <a:pt x="2249949" y="2871468"/>
                </a:lnTo>
                <a:lnTo>
                  <a:pt x="2297335" y="2866518"/>
                </a:lnTo>
                <a:lnTo>
                  <a:pt x="2344397" y="2860502"/>
                </a:lnTo>
                <a:lnTo>
                  <a:pt x="2391120" y="2853432"/>
                </a:lnTo>
                <a:lnTo>
                  <a:pt x="2437494" y="2845320"/>
                </a:lnTo>
                <a:lnTo>
                  <a:pt x="2483505" y="2836179"/>
                </a:lnTo>
                <a:lnTo>
                  <a:pt x="2529142" y="2826022"/>
                </a:lnTo>
                <a:lnTo>
                  <a:pt x="2560320" y="2818331"/>
                </a:lnTo>
                <a:lnTo>
                  <a:pt x="2560320" y="0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0861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342900" y="0"/>
                </a:moveTo>
                <a:lnTo>
                  <a:pt x="294910" y="658"/>
                </a:lnTo>
                <a:lnTo>
                  <a:pt x="247247" y="2623"/>
                </a:lnTo>
                <a:lnTo>
                  <a:pt x="199927" y="5876"/>
                </a:lnTo>
                <a:lnTo>
                  <a:pt x="152968" y="10401"/>
                </a:lnTo>
                <a:lnTo>
                  <a:pt x="106386" y="16180"/>
                </a:lnTo>
                <a:lnTo>
                  <a:pt x="60200" y="23196"/>
                </a:lnTo>
                <a:lnTo>
                  <a:pt x="14425" y="31432"/>
                </a:lnTo>
                <a:lnTo>
                  <a:pt x="0" y="34434"/>
                </a:lnTo>
                <a:lnTo>
                  <a:pt x="0" y="2057400"/>
                </a:lnTo>
                <a:lnTo>
                  <a:pt x="2022965" y="2057400"/>
                </a:lnTo>
                <a:lnTo>
                  <a:pt x="2025967" y="2042974"/>
                </a:lnTo>
                <a:lnTo>
                  <a:pt x="2034203" y="1997199"/>
                </a:lnTo>
                <a:lnTo>
                  <a:pt x="2041219" y="1951013"/>
                </a:lnTo>
                <a:lnTo>
                  <a:pt x="2046998" y="1904431"/>
                </a:lnTo>
                <a:lnTo>
                  <a:pt x="2051523" y="1857472"/>
                </a:lnTo>
                <a:lnTo>
                  <a:pt x="2054776" y="1810152"/>
                </a:lnTo>
                <a:lnTo>
                  <a:pt x="2056741" y="1762489"/>
                </a:lnTo>
                <a:lnTo>
                  <a:pt x="2057400" y="1714500"/>
                </a:lnTo>
                <a:lnTo>
                  <a:pt x="2056741" y="1666509"/>
                </a:lnTo>
                <a:lnTo>
                  <a:pt x="2054776" y="1618844"/>
                </a:lnTo>
                <a:lnTo>
                  <a:pt x="2051523" y="1571524"/>
                </a:lnTo>
                <a:lnTo>
                  <a:pt x="2046998" y="1524563"/>
                </a:lnTo>
                <a:lnTo>
                  <a:pt x="2041219" y="1477981"/>
                </a:lnTo>
                <a:lnTo>
                  <a:pt x="2034203" y="1431793"/>
                </a:lnTo>
                <a:lnTo>
                  <a:pt x="2025967" y="1386018"/>
                </a:lnTo>
                <a:lnTo>
                  <a:pt x="2016528" y="1340672"/>
                </a:lnTo>
                <a:lnTo>
                  <a:pt x="2005904" y="1295773"/>
                </a:lnTo>
                <a:lnTo>
                  <a:pt x="1994111" y="1251338"/>
                </a:lnTo>
                <a:lnTo>
                  <a:pt x="1981167" y="1207383"/>
                </a:lnTo>
                <a:lnTo>
                  <a:pt x="1967090" y="1163927"/>
                </a:lnTo>
                <a:lnTo>
                  <a:pt x="1951895" y="1120986"/>
                </a:lnTo>
                <a:lnTo>
                  <a:pt x="1935600" y="1078577"/>
                </a:lnTo>
                <a:lnTo>
                  <a:pt x="1918224" y="1036718"/>
                </a:lnTo>
                <a:lnTo>
                  <a:pt x="1899782" y="995426"/>
                </a:lnTo>
                <a:lnTo>
                  <a:pt x="1880291" y="954718"/>
                </a:lnTo>
                <a:lnTo>
                  <a:pt x="1859770" y="914611"/>
                </a:lnTo>
                <a:lnTo>
                  <a:pt x="1838236" y="875123"/>
                </a:lnTo>
                <a:lnTo>
                  <a:pt x="1815704" y="836271"/>
                </a:lnTo>
                <a:lnTo>
                  <a:pt x="1792194" y="798071"/>
                </a:lnTo>
                <a:lnTo>
                  <a:pt x="1767721" y="760541"/>
                </a:lnTo>
                <a:lnTo>
                  <a:pt x="1742303" y="723698"/>
                </a:lnTo>
                <a:lnTo>
                  <a:pt x="1715958" y="687560"/>
                </a:lnTo>
                <a:lnTo>
                  <a:pt x="1688702" y="652143"/>
                </a:lnTo>
                <a:lnTo>
                  <a:pt x="1660552" y="617465"/>
                </a:lnTo>
                <a:lnTo>
                  <a:pt x="1631526" y="583543"/>
                </a:lnTo>
                <a:lnTo>
                  <a:pt x="1601642" y="550394"/>
                </a:lnTo>
                <a:lnTo>
                  <a:pt x="1570915" y="518035"/>
                </a:lnTo>
                <a:lnTo>
                  <a:pt x="1539364" y="486484"/>
                </a:lnTo>
                <a:lnTo>
                  <a:pt x="1507005" y="455757"/>
                </a:lnTo>
                <a:lnTo>
                  <a:pt x="1473856" y="425873"/>
                </a:lnTo>
                <a:lnTo>
                  <a:pt x="1439934" y="396847"/>
                </a:lnTo>
                <a:lnTo>
                  <a:pt x="1405256" y="368697"/>
                </a:lnTo>
                <a:lnTo>
                  <a:pt x="1369839" y="341441"/>
                </a:lnTo>
                <a:lnTo>
                  <a:pt x="1333701" y="315096"/>
                </a:lnTo>
                <a:lnTo>
                  <a:pt x="1296858" y="289678"/>
                </a:lnTo>
                <a:lnTo>
                  <a:pt x="1259328" y="265205"/>
                </a:lnTo>
                <a:lnTo>
                  <a:pt x="1221128" y="241695"/>
                </a:lnTo>
                <a:lnTo>
                  <a:pt x="1182276" y="219163"/>
                </a:lnTo>
                <a:lnTo>
                  <a:pt x="1142788" y="197629"/>
                </a:lnTo>
                <a:lnTo>
                  <a:pt x="1102681" y="177108"/>
                </a:lnTo>
                <a:lnTo>
                  <a:pt x="1061973" y="157617"/>
                </a:lnTo>
                <a:lnTo>
                  <a:pt x="1020681" y="139175"/>
                </a:lnTo>
                <a:lnTo>
                  <a:pt x="978822" y="121799"/>
                </a:lnTo>
                <a:lnTo>
                  <a:pt x="936413" y="105504"/>
                </a:lnTo>
                <a:lnTo>
                  <a:pt x="893472" y="90309"/>
                </a:lnTo>
                <a:lnTo>
                  <a:pt x="850016" y="76232"/>
                </a:lnTo>
                <a:lnTo>
                  <a:pt x="806061" y="63288"/>
                </a:lnTo>
                <a:lnTo>
                  <a:pt x="761626" y="51495"/>
                </a:lnTo>
                <a:lnTo>
                  <a:pt x="716727" y="40871"/>
                </a:lnTo>
                <a:lnTo>
                  <a:pt x="671381" y="31432"/>
                </a:lnTo>
                <a:lnTo>
                  <a:pt x="625606" y="23196"/>
                </a:lnTo>
                <a:lnTo>
                  <a:pt x="579418" y="16180"/>
                </a:lnTo>
                <a:lnTo>
                  <a:pt x="532836" y="10401"/>
                </a:lnTo>
                <a:lnTo>
                  <a:pt x="485875" y="5876"/>
                </a:lnTo>
                <a:lnTo>
                  <a:pt x="438555" y="2623"/>
                </a:lnTo>
                <a:lnTo>
                  <a:pt x="390890" y="658"/>
                </a:lnTo>
                <a:lnTo>
                  <a:pt x="342900" y="0"/>
                </a:lnTo>
                <a:close/>
              </a:path>
            </a:pathLst>
          </a:custGeom>
          <a:solidFill>
            <a:srgbClr val="D5880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95959" y="1550619"/>
            <a:ext cx="1240790" cy="105600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750" spc="-25">
                <a:solidFill>
                  <a:srgbClr val="4471C4"/>
                </a:solidFill>
              </a:rPr>
              <a:t>1.4</a:t>
            </a:r>
            <a:endParaRPr sz="6750"/>
          </a:p>
        </p:txBody>
      </p:sp>
      <p:sp>
        <p:nvSpPr>
          <p:cNvPr id="5" name="object 5"/>
          <p:cNvSpPr txBox="1"/>
          <p:nvPr/>
        </p:nvSpPr>
        <p:spPr>
          <a:xfrm>
            <a:off x="730402" y="2725623"/>
            <a:ext cx="6446520" cy="8807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b="1">
                <a:solidFill>
                  <a:srgbClr val="FF4500"/>
                </a:solidFill>
                <a:latin typeface="Cambria"/>
                <a:cs typeface="Cambria"/>
              </a:rPr>
              <a:t>Bref</a:t>
            </a:r>
            <a:r>
              <a:rPr dirty="0" sz="2550" spc="-110" b="1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 b="1">
                <a:solidFill>
                  <a:srgbClr val="FF4500"/>
                </a:solidFill>
                <a:latin typeface="Cambria"/>
                <a:cs typeface="Cambria"/>
              </a:rPr>
              <a:t>historique</a:t>
            </a:r>
            <a:r>
              <a:rPr dirty="0" sz="2550" spc="-65" b="1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 b="1">
                <a:solidFill>
                  <a:srgbClr val="FF4500"/>
                </a:solidFill>
                <a:latin typeface="Cambria"/>
                <a:cs typeface="Cambria"/>
              </a:rPr>
              <a:t>des</a:t>
            </a:r>
            <a:r>
              <a:rPr dirty="0" sz="2550" spc="-100" b="1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 spc="-10" b="1">
                <a:solidFill>
                  <a:srgbClr val="FF4500"/>
                </a:solidFill>
                <a:latin typeface="Cambria"/>
                <a:cs typeface="Cambria"/>
              </a:rPr>
              <a:t>systèmes</a:t>
            </a:r>
            <a:r>
              <a:rPr dirty="0" sz="2550" spc="-75" b="1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 spc="-10" b="1">
                <a:solidFill>
                  <a:srgbClr val="FF4500"/>
                </a:solidFill>
                <a:latin typeface="Cambria"/>
                <a:cs typeface="Cambria"/>
              </a:rPr>
              <a:t>d'exploitation</a:t>
            </a:r>
            <a:endParaRPr sz="2550">
              <a:latin typeface="Cambria"/>
              <a:cs typeface="Cambria"/>
            </a:endParaRPr>
          </a:p>
          <a:p>
            <a:pPr marL="46355">
              <a:lnSpc>
                <a:spcPct val="100000"/>
              </a:lnSpc>
              <a:spcBef>
                <a:spcPts val="1995"/>
              </a:spcBef>
            </a:pP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De</a:t>
            </a:r>
            <a:r>
              <a:rPr dirty="0" sz="1400" spc="-3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l'absence</a:t>
            </a:r>
            <a:r>
              <a:rPr dirty="0" sz="1400" spc="-3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totale</a:t>
            </a:r>
            <a:r>
              <a:rPr dirty="0" sz="1400" spc="-5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d'OS</a:t>
            </a:r>
            <a:r>
              <a:rPr dirty="0" sz="1400" spc="-3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aux</a:t>
            </a:r>
            <a:r>
              <a:rPr dirty="0" sz="1400" spc="-4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objets</a:t>
            </a:r>
            <a:r>
              <a:rPr dirty="0" sz="1400" spc="-4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connectés</a:t>
            </a:r>
            <a:r>
              <a:rPr dirty="0" sz="1400" spc="-50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spc="-10" b="1" i="1">
                <a:solidFill>
                  <a:srgbClr val="333E50"/>
                </a:solidFill>
                <a:latin typeface="Calibri"/>
                <a:cs typeface="Calibri"/>
              </a:rPr>
              <a:t>d'aujourd'hui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79375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1.4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D5880F"/>
                </a:solidFill>
                <a:latin typeface="Calibri"/>
                <a:cs typeface="Calibri"/>
              </a:rPr>
              <a:t>HISTOIRE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5021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Une</a:t>
            </a:r>
            <a:r>
              <a:rPr dirty="0" sz="2400" spc="-4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évolution</a:t>
            </a:r>
            <a:r>
              <a:rPr dirty="0" sz="2400" spc="-5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en</a:t>
            </a:r>
            <a:r>
              <a:rPr dirty="0" sz="2400" spc="-4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six</a:t>
            </a:r>
            <a:r>
              <a:rPr dirty="0" sz="24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grandes</a:t>
            </a:r>
            <a:r>
              <a:rPr dirty="0" sz="2400" spc="-4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étapes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7981" y="2741676"/>
            <a:ext cx="7886700" cy="143510"/>
            <a:chOff x="617981" y="2741676"/>
            <a:chExt cx="7886700" cy="143510"/>
          </a:xfrm>
        </p:grpSpPr>
        <p:sp>
          <p:nvSpPr>
            <p:cNvPr id="5" name="object 5"/>
            <p:cNvSpPr/>
            <p:nvPr/>
          </p:nvSpPr>
          <p:spPr>
            <a:xfrm>
              <a:off x="617981" y="2812542"/>
              <a:ext cx="7886700" cy="0"/>
            </a:xfrm>
            <a:custGeom>
              <a:avLst/>
              <a:gdLst/>
              <a:ahLst/>
              <a:cxnLst/>
              <a:rect l="l" t="t" r="r" b="b"/>
              <a:pathLst>
                <a:path w="7886700" h="0">
                  <a:moveTo>
                    <a:pt x="0" y="0"/>
                  </a:moveTo>
                  <a:lnTo>
                    <a:pt x="7886700" y="0"/>
                  </a:lnTo>
                </a:path>
              </a:pathLst>
            </a:custGeom>
            <a:ln w="32004">
              <a:solidFill>
                <a:srgbClr val="C8D2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3959" y="2741676"/>
              <a:ext cx="143256" cy="1432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7648" y="2741676"/>
              <a:ext cx="143256" cy="1432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2859" y="2741676"/>
              <a:ext cx="143255" cy="1432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6547" y="2741676"/>
              <a:ext cx="143255" cy="1432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1760" y="2741676"/>
              <a:ext cx="143255" cy="1432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5448" y="2741676"/>
              <a:ext cx="143255" cy="143256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96468" y="1537716"/>
            <a:ext cx="1155700" cy="1041400"/>
            <a:chOff x="696468" y="1537716"/>
            <a:chExt cx="1155700" cy="1041400"/>
          </a:xfrm>
        </p:grpSpPr>
        <p:sp>
          <p:nvSpPr>
            <p:cNvPr id="13" name="object 13"/>
            <p:cNvSpPr/>
            <p:nvPr/>
          </p:nvSpPr>
          <p:spPr>
            <a:xfrm>
              <a:off x="702564" y="154381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1074420" y="0"/>
                  </a:moveTo>
                  <a:lnTo>
                    <a:pt x="68579" y="0"/>
                  </a:lnTo>
                  <a:lnTo>
                    <a:pt x="41887" y="5393"/>
                  </a:lnTo>
                  <a:lnTo>
                    <a:pt x="20088" y="20097"/>
                  </a:lnTo>
                  <a:lnTo>
                    <a:pt x="5389" y="41898"/>
                  </a:lnTo>
                  <a:lnTo>
                    <a:pt x="0" y="68579"/>
                  </a:lnTo>
                  <a:lnTo>
                    <a:pt x="0" y="960119"/>
                  </a:lnTo>
                  <a:lnTo>
                    <a:pt x="5389" y="986801"/>
                  </a:lnTo>
                  <a:lnTo>
                    <a:pt x="20088" y="1008602"/>
                  </a:lnTo>
                  <a:lnTo>
                    <a:pt x="41887" y="1023306"/>
                  </a:lnTo>
                  <a:lnTo>
                    <a:pt x="68579" y="1028700"/>
                  </a:lnTo>
                  <a:lnTo>
                    <a:pt x="1074420" y="1028700"/>
                  </a:lnTo>
                  <a:lnTo>
                    <a:pt x="1101101" y="1023306"/>
                  </a:lnTo>
                  <a:lnTo>
                    <a:pt x="1122902" y="1008602"/>
                  </a:lnTo>
                  <a:lnTo>
                    <a:pt x="1137606" y="986801"/>
                  </a:lnTo>
                  <a:lnTo>
                    <a:pt x="1143000" y="960119"/>
                  </a:lnTo>
                  <a:lnTo>
                    <a:pt x="1143000" y="68579"/>
                  </a:lnTo>
                  <a:lnTo>
                    <a:pt x="1137606" y="41898"/>
                  </a:lnTo>
                  <a:lnTo>
                    <a:pt x="1122902" y="20097"/>
                  </a:lnTo>
                  <a:lnTo>
                    <a:pt x="1101101" y="5393"/>
                  </a:lnTo>
                  <a:lnTo>
                    <a:pt x="107442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02564" y="154381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0" y="68579"/>
                  </a:moveTo>
                  <a:lnTo>
                    <a:pt x="5389" y="41898"/>
                  </a:lnTo>
                  <a:lnTo>
                    <a:pt x="20088" y="20097"/>
                  </a:lnTo>
                  <a:lnTo>
                    <a:pt x="41887" y="5393"/>
                  </a:lnTo>
                  <a:lnTo>
                    <a:pt x="68579" y="0"/>
                  </a:lnTo>
                  <a:lnTo>
                    <a:pt x="1074420" y="0"/>
                  </a:lnTo>
                  <a:lnTo>
                    <a:pt x="1101101" y="5393"/>
                  </a:lnTo>
                  <a:lnTo>
                    <a:pt x="1122902" y="20097"/>
                  </a:lnTo>
                  <a:lnTo>
                    <a:pt x="1137606" y="41898"/>
                  </a:lnTo>
                  <a:lnTo>
                    <a:pt x="1143000" y="68579"/>
                  </a:lnTo>
                  <a:lnTo>
                    <a:pt x="1143000" y="960119"/>
                  </a:lnTo>
                  <a:lnTo>
                    <a:pt x="1137606" y="986801"/>
                  </a:lnTo>
                  <a:lnTo>
                    <a:pt x="1122902" y="1008602"/>
                  </a:lnTo>
                  <a:lnTo>
                    <a:pt x="1101101" y="1023306"/>
                  </a:lnTo>
                  <a:lnTo>
                    <a:pt x="1074420" y="1028700"/>
                  </a:lnTo>
                  <a:lnTo>
                    <a:pt x="68579" y="1028700"/>
                  </a:lnTo>
                  <a:lnTo>
                    <a:pt x="41887" y="1023306"/>
                  </a:lnTo>
                  <a:lnTo>
                    <a:pt x="20088" y="1008602"/>
                  </a:lnTo>
                  <a:lnTo>
                    <a:pt x="5389" y="986801"/>
                  </a:lnTo>
                  <a:lnTo>
                    <a:pt x="0" y="960119"/>
                  </a:lnTo>
                  <a:lnTo>
                    <a:pt x="0" y="6857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82040" y="164592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3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3" y="384047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7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3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/home/claude/ppt/icons/close_FFFFFF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5004" y="1737360"/>
              <a:ext cx="199644" cy="20116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033983" y="2098294"/>
            <a:ext cx="48133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1F385F"/>
                </a:solidFill>
                <a:latin typeface="Calibri"/>
                <a:cs typeface="Calibri"/>
              </a:rPr>
              <a:t>1940-</a:t>
            </a:r>
            <a:r>
              <a:rPr dirty="0" sz="800" spc="-20" b="1">
                <a:solidFill>
                  <a:srgbClr val="1F385F"/>
                </a:solidFill>
                <a:latin typeface="Calibri"/>
                <a:cs typeface="Calibri"/>
              </a:rPr>
              <a:t>1950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72692" y="2338832"/>
            <a:ext cx="40322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solidFill>
                  <a:srgbClr val="1A2233"/>
                </a:solidFill>
                <a:latin typeface="Calibri"/>
                <a:cs typeface="Calibri"/>
              </a:rPr>
              <a:t>Aucun</a:t>
            </a:r>
            <a:r>
              <a:rPr dirty="0" sz="750" spc="-25">
                <a:solidFill>
                  <a:srgbClr val="1A2233"/>
                </a:solidFill>
                <a:latin typeface="Calibri"/>
                <a:cs typeface="Calibri"/>
              </a:rPr>
              <a:t> OS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11679" y="3046476"/>
            <a:ext cx="1155700" cy="1041400"/>
            <a:chOff x="2011679" y="3046476"/>
            <a:chExt cx="1155700" cy="1041400"/>
          </a:xfrm>
        </p:grpSpPr>
        <p:sp>
          <p:nvSpPr>
            <p:cNvPr id="20" name="object 20"/>
            <p:cNvSpPr/>
            <p:nvPr/>
          </p:nvSpPr>
          <p:spPr>
            <a:xfrm>
              <a:off x="2017775" y="305257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1074420" y="0"/>
                  </a:moveTo>
                  <a:lnTo>
                    <a:pt x="68580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79"/>
                  </a:lnTo>
                  <a:lnTo>
                    <a:pt x="0" y="960119"/>
                  </a:lnTo>
                  <a:lnTo>
                    <a:pt x="5393" y="986812"/>
                  </a:lnTo>
                  <a:lnTo>
                    <a:pt x="20097" y="1008611"/>
                  </a:lnTo>
                  <a:lnTo>
                    <a:pt x="41898" y="1023310"/>
                  </a:lnTo>
                  <a:lnTo>
                    <a:pt x="68580" y="1028699"/>
                  </a:lnTo>
                  <a:lnTo>
                    <a:pt x="1074420" y="1028699"/>
                  </a:lnTo>
                  <a:lnTo>
                    <a:pt x="1101101" y="1023310"/>
                  </a:lnTo>
                  <a:lnTo>
                    <a:pt x="1122902" y="1008611"/>
                  </a:lnTo>
                  <a:lnTo>
                    <a:pt x="1137606" y="986812"/>
                  </a:lnTo>
                  <a:lnTo>
                    <a:pt x="1143000" y="960119"/>
                  </a:lnTo>
                  <a:lnTo>
                    <a:pt x="1143000" y="68579"/>
                  </a:lnTo>
                  <a:lnTo>
                    <a:pt x="1137606" y="41898"/>
                  </a:lnTo>
                  <a:lnTo>
                    <a:pt x="1122902" y="20097"/>
                  </a:lnTo>
                  <a:lnTo>
                    <a:pt x="1101101" y="5393"/>
                  </a:lnTo>
                  <a:lnTo>
                    <a:pt x="107442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17775" y="305257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0" y="68579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80" y="0"/>
                  </a:lnTo>
                  <a:lnTo>
                    <a:pt x="1074420" y="0"/>
                  </a:lnTo>
                  <a:lnTo>
                    <a:pt x="1101101" y="5393"/>
                  </a:lnTo>
                  <a:lnTo>
                    <a:pt x="1122902" y="20097"/>
                  </a:lnTo>
                  <a:lnTo>
                    <a:pt x="1137606" y="41898"/>
                  </a:lnTo>
                  <a:lnTo>
                    <a:pt x="1143000" y="68579"/>
                  </a:lnTo>
                  <a:lnTo>
                    <a:pt x="1143000" y="960119"/>
                  </a:lnTo>
                  <a:lnTo>
                    <a:pt x="1137606" y="986812"/>
                  </a:lnTo>
                  <a:lnTo>
                    <a:pt x="1122902" y="1008611"/>
                  </a:lnTo>
                  <a:lnTo>
                    <a:pt x="1101101" y="1023310"/>
                  </a:lnTo>
                  <a:lnTo>
                    <a:pt x="1074420" y="1028699"/>
                  </a:lnTo>
                  <a:lnTo>
                    <a:pt x="68580" y="1028699"/>
                  </a:lnTo>
                  <a:lnTo>
                    <a:pt x="41898" y="1023310"/>
                  </a:lnTo>
                  <a:lnTo>
                    <a:pt x="20097" y="1008611"/>
                  </a:lnTo>
                  <a:lnTo>
                    <a:pt x="5393" y="986812"/>
                  </a:lnTo>
                  <a:lnTo>
                    <a:pt x="0" y="960119"/>
                  </a:lnTo>
                  <a:lnTo>
                    <a:pt x="0" y="6857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397251" y="315468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4" y="384047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/home/claude/ppt/icons/list_FFFFFF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88691" y="3246120"/>
              <a:ext cx="199644" cy="20116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348610" y="3607434"/>
            <a:ext cx="48133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4471C4"/>
                </a:solidFill>
                <a:latin typeface="Calibri"/>
                <a:cs typeface="Calibri"/>
              </a:rPr>
              <a:t>1950-</a:t>
            </a:r>
            <a:r>
              <a:rPr dirty="0" sz="800" spc="-20" b="1">
                <a:solidFill>
                  <a:srgbClr val="4471C4"/>
                </a:solidFill>
                <a:latin typeface="Calibri"/>
                <a:cs typeface="Calibri"/>
              </a:rPr>
              <a:t>1960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01417" y="3847896"/>
            <a:ext cx="77470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solidFill>
                  <a:srgbClr val="1A2233"/>
                </a:solidFill>
                <a:latin typeface="Calibri"/>
                <a:cs typeface="Calibri"/>
              </a:rPr>
              <a:t>Traitement</a:t>
            </a:r>
            <a:r>
              <a:rPr dirty="0" sz="75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1A2233"/>
                </a:solidFill>
                <a:latin typeface="Calibri"/>
                <a:cs typeface="Calibri"/>
              </a:rPr>
              <a:t>par</a:t>
            </a:r>
            <a:r>
              <a:rPr dirty="0" sz="750" spc="-20">
                <a:solidFill>
                  <a:srgbClr val="1A2233"/>
                </a:solidFill>
                <a:latin typeface="Calibri"/>
                <a:cs typeface="Calibri"/>
              </a:rPr>
              <a:t> lots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325367" y="1537716"/>
            <a:ext cx="1155700" cy="1041400"/>
            <a:chOff x="3325367" y="1537716"/>
            <a:chExt cx="1155700" cy="1041400"/>
          </a:xfrm>
        </p:grpSpPr>
        <p:sp>
          <p:nvSpPr>
            <p:cNvPr id="27" name="object 27"/>
            <p:cNvSpPr/>
            <p:nvPr/>
          </p:nvSpPr>
          <p:spPr>
            <a:xfrm>
              <a:off x="3331463" y="154381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1074420" y="0"/>
                  </a:moveTo>
                  <a:lnTo>
                    <a:pt x="68580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79"/>
                  </a:lnTo>
                  <a:lnTo>
                    <a:pt x="0" y="960119"/>
                  </a:lnTo>
                  <a:lnTo>
                    <a:pt x="5393" y="986801"/>
                  </a:lnTo>
                  <a:lnTo>
                    <a:pt x="20097" y="1008602"/>
                  </a:lnTo>
                  <a:lnTo>
                    <a:pt x="41898" y="1023306"/>
                  </a:lnTo>
                  <a:lnTo>
                    <a:pt x="68580" y="1028700"/>
                  </a:lnTo>
                  <a:lnTo>
                    <a:pt x="1074420" y="1028700"/>
                  </a:lnTo>
                  <a:lnTo>
                    <a:pt x="1101101" y="1023306"/>
                  </a:lnTo>
                  <a:lnTo>
                    <a:pt x="1122902" y="1008602"/>
                  </a:lnTo>
                  <a:lnTo>
                    <a:pt x="1137606" y="986801"/>
                  </a:lnTo>
                  <a:lnTo>
                    <a:pt x="1143000" y="960119"/>
                  </a:lnTo>
                  <a:lnTo>
                    <a:pt x="1143000" y="68579"/>
                  </a:lnTo>
                  <a:lnTo>
                    <a:pt x="1137606" y="41898"/>
                  </a:lnTo>
                  <a:lnTo>
                    <a:pt x="1122902" y="20097"/>
                  </a:lnTo>
                  <a:lnTo>
                    <a:pt x="1101101" y="5393"/>
                  </a:lnTo>
                  <a:lnTo>
                    <a:pt x="107442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331463" y="154381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0" y="68579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80" y="0"/>
                  </a:lnTo>
                  <a:lnTo>
                    <a:pt x="1074420" y="0"/>
                  </a:lnTo>
                  <a:lnTo>
                    <a:pt x="1101101" y="5393"/>
                  </a:lnTo>
                  <a:lnTo>
                    <a:pt x="1122902" y="20097"/>
                  </a:lnTo>
                  <a:lnTo>
                    <a:pt x="1137606" y="41898"/>
                  </a:lnTo>
                  <a:lnTo>
                    <a:pt x="1143000" y="68579"/>
                  </a:lnTo>
                  <a:lnTo>
                    <a:pt x="1143000" y="960119"/>
                  </a:lnTo>
                  <a:lnTo>
                    <a:pt x="1137606" y="986801"/>
                  </a:lnTo>
                  <a:lnTo>
                    <a:pt x="1122902" y="1008602"/>
                  </a:lnTo>
                  <a:lnTo>
                    <a:pt x="1101101" y="1023306"/>
                  </a:lnTo>
                  <a:lnTo>
                    <a:pt x="1074420" y="1028700"/>
                  </a:lnTo>
                  <a:lnTo>
                    <a:pt x="68580" y="1028700"/>
                  </a:lnTo>
                  <a:lnTo>
                    <a:pt x="41898" y="1023306"/>
                  </a:lnTo>
                  <a:lnTo>
                    <a:pt x="20097" y="1008602"/>
                  </a:lnTo>
                  <a:lnTo>
                    <a:pt x="5393" y="986801"/>
                  </a:lnTo>
                  <a:lnTo>
                    <a:pt x="0" y="960119"/>
                  </a:lnTo>
                  <a:lnTo>
                    <a:pt x="0" y="6857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710939" y="164592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4" y="384047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/home/claude/ppt/icons/people_FFFFFF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03903" y="1737360"/>
              <a:ext cx="199644" cy="20116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663188" y="2098294"/>
            <a:ext cx="48133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D5880F"/>
                </a:solidFill>
                <a:latin typeface="Calibri"/>
                <a:cs typeface="Calibri"/>
              </a:rPr>
              <a:t>1960-</a:t>
            </a:r>
            <a:r>
              <a:rPr dirty="0" sz="800" spc="-20" b="1">
                <a:solidFill>
                  <a:srgbClr val="D5880F"/>
                </a:solidFill>
                <a:latin typeface="Calibri"/>
                <a:cs typeface="Calibri"/>
              </a:rPr>
              <a:t>1970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80942" y="2338832"/>
            <a:ext cx="84455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10">
                <a:solidFill>
                  <a:srgbClr val="1A2233"/>
                </a:solidFill>
                <a:latin typeface="Calibri"/>
                <a:cs typeface="Calibri"/>
              </a:rPr>
              <a:t>Multiprogrammation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40579" y="3046476"/>
            <a:ext cx="1155700" cy="1041400"/>
            <a:chOff x="4640579" y="3046476"/>
            <a:chExt cx="1155700" cy="1041400"/>
          </a:xfrm>
        </p:grpSpPr>
        <p:sp>
          <p:nvSpPr>
            <p:cNvPr id="34" name="object 34"/>
            <p:cNvSpPr/>
            <p:nvPr/>
          </p:nvSpPr>
          <p:spPr>
            <a:xfrm>
              <a:off x="4646675" y="305257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1074420" y="0"/>
                  </a:moveTo>
                  <a:lnTo>
                    <a:pt x="68579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79"/>
                  </a:lnTo>
                  <a:lnTo>
                    <a:pt x="0" y="960119"/>
                  </a:lnTo>
                  <a:lnTo>
                    <a:pt x="5393" y="986812"/>
                  </a:lnTo>
                  <a:lnTo>
                    <a:pt x="20097" y="1008611"/>
                  </a:lnTo>
                  <a:lnTo>
                    <a:pt x="41898" y="1023310"/>
                  </a:lnTo>
                  <a:lnTo>
                    <a:pt x="68579" y="1028699"/>
                  </a:lnTo>
                  <a:lnTo>
                    <a:pt x="1074420" y="1028699"/>
                  </a:lnTo>
                  <a:lnTo>
                    <a:pt x="1101101" y="1023310"/>
                  </a:lnTo>
                  <a:lnTo>
                    <a:pt x="1122902" y="1008611"/>
                  </a:lnTo>
                  <a:lnTo>
                    <a:pt x="1137606" y="986812"/>
                  </a:lnTo>
                  <a:lnTo>
                    <a:pt x="1143000" y="960119"/>
                  </a:lnTo>
                  <a:lnTo>
                    <a:pt x="1143000" y="68579"/>
                  </a:lnTo>
                  <a:lnTo>
                    <a:pt x="1137606" y="41898"/>
                  </a:lnTo>
                  <a:lnTo>
                    <a:pt x="1122902" y="20097"/>
                  </a:lnTo>
                  <a:lnTo>
                    <a:pt x="1101101" y="5393"/>
                  </a:lnTo>
                  <a:lnTo>
                    <a:pt x="107442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646675" y="305257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0" y="68579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79" y="0"/>
                  </a:lnTo>
                  <a:lnTo>
                    <a:pt x="1074420" y="0"/>
                  </a:lnTo>
                  <a:lnTo>
                    <a:pt x="1101101" y="5393"/>
                  </a:lnTo>
                  <a:lnTo>
                    <a:pt x="1122902" y="20097"/>
                  </a:lnTo>
                  <a:lnTo>
                    <a:pt x="1137606" y="41898"/>
                  </a:lnTo>
                  <a:lnTo>
                    <a:pt x="1143000" y="68579"/>
                  </a:lnTo>
                  <a:lnTo>
                    <a:pt x="1143000" y="960119"/>
                  </a:lnTo>
                  <a:lnTo>
                    <a:pt x="1137606" y="986812"/>
                  </a:lnTo>
                  <a:lnTo>
                    <a:pt x="1122902" y="1008611"/>
                  </a:lnTo>
                  <a:lnTo>
                    <a:pt x="1101101" y="1023310"/>
                  </a:lnTo>
                  <a:lnTo>
                    <a:pt x="1074420" y="1028699"/>
                  </a:lnTo>
                  <a:lnTo>
                    <a:pt x="68579" y="1028699"/>
                  </a:lnTo>
                  <a:lnTo>
                    <a:pt x="41898" y="1023310"/>
                  </a:lnTo>
                  <a:lnTo>
                    <a:pt x="20097" y="1008611"/>
                  </a:lnTo>
                  <a:lnTo>
                    <a:pt x="5393" y="986812"/>
                  </a:lnTo>
                  <a:lnTo>
                    <a:pt x="0" y="960119"/>
                  </a:lnTo>
                  <a:lnTo>
                    <a:pt x="0" y="6857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026151" y="315468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4" y="384047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/home/claude/ppt/icons/laptop_FFFFFF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7591" y="3246120"/>
              <a:ext cx="199644" cy="201168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978146" y="3607434"/>
            <a:ext cx="48133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1F385F"/>
                </a:solidFill>
                <a:latin typeface="Calibri"/>
                <a:cs typeface="Calibri"/>
              </a:rPr>
              <a:t>1980-</a:t>
            </a:r>
            <a:r>
              <a:rPr dirty="0" sz="800" spc="-20" b="1">
                <a:solidFill>
                  <a:srgbClr val="1F385F"/>
                </a:solidFill>
                <a:latin typeface="Calibri"/>
                <a:cs typeface="Calibri"/>
              </a:rPr>
              <a:t>1990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26838" y="3847896"/>
            <a:ext cx="58166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solidFill>
                  <a:srgbClr val="1A2233"/>
                </a:solidFill>
                <a:latin typeface="Calibri"/>
                <a:cs typeface="Calibri"/>
              </a:rPr>
              <a:t>OS</a:t>
            </a:r>
            <a:r>
              <a:rPr dirty="0" sz="75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1A2233"/>
                </a:solidFill>
                <a:latin typeface="Calibri"/>
                <a:cs typeface="Calibri"/>
              </a:rPr>
              <a:t>personnels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54267" y="1537716"/>
            <a:ext cx="1155700" cy="1041400"/>
            <a:chOff x="5954267" y="1537716"/>
            <a:chExt cx="1155700" cy="1041400"/>
          </a:xfrm>
        </p:grpSpPr>
        <p:sp>
          <p:nvSpPr>
            <p:cNvPr id="41" name="object 41"/>
            <p:cNvSpPr/>
            <p:nvPr/>
          </p:nvSpPr>
          <p:spPr>
            <a:xfrm>
              <a:off x="5960363" y="154381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1074419" y="0"/>
                  </a:moveTo>
                  <a:lnTo>
                    <a:pt x="68580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79"/>
                  </a:lnTo>
                  <a:lnTo>
                    <a:pt x="0" y="960119"/>
                  </a:lnTo>
                  <a:lnTo>
                    <a:pt x="5393" y="986801"/>
                  </a:lnTo>
                  <a:lnTo>
                    <a:pt x="20097" y="1008602"/>
                  </a:lnTo>
                  <a:lnTo>
                    <a:pt x="41898" y="1023306"/>
                  </a:lnTo>
                  <a:lnTo>
                    <a:pt x="68580" y="1028700"/>
                  </a:lnTo>
                  <a:lnTo>
                    <a:pt x="1074419" y="1028700"/>
                  </a:lnTo>
                  <a:lnTo>
                    <a:pt x="1101101" y="1023306"/>
                  </a:lnTo>
                  <a:lnTo>
                    <a:pt x="1122902" y="1008602"/>
                  </a:lnTo>
                  <a:lnTo>
                    <a:pt x="1137606" y="986801"/>
                  </a:lnTo>
                  <a:lnTo>
                    <a:pt x="1143000" y="960119"/>
                  </a:lnTo>
                  <a:lnTo>
                    <a:pt x="1143000" y="68579"/>
                  </a:lnTo>
                  <a:lnTo>
                    <a:pt x="1137606" y="41898"/>
                  </a:lnTo>
                  <a:lnTo>
                    <a:pt x="1122902" y="20097"/>
                  </a:lnTo>
                  <a:lnTo>
                    <a:pt x="1101101" y="5393"/>
                  </a:lnTo>
                  <a:lnTo>
                    <a:pt x="1074419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960363" y="154381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0" y="68579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80" y="0"/>
                  </a:lnTo>
                  <a:lnTo>
                    <a:pt x="1074419" y="0"/>
                  </a:lnTo>
                  <a:lnTo>
                    <a:pt x="1101101" y="5393"/>
                  </a:lnTo>
                  <a:lnTo>
                    <a:pt x="1122902" y="20097"/>
                  </a:lnTo>
                  <a:lnTo>
                    <a:pt x="1137606" y="41898"/>
                  </a:lnTo>
                  <a:lnTo>
                    <a:pt x="1143000" y="68579"/>
                  </a:lnTo>
                  <a:lnTo>
                    <a:pt x="1143000" y="960119"/>
                  </a:lnTo>
                  <a:lnTo>
                    <a:pt x="1137606" y="986801"/>
                  </a:lnTo>
                  <a:lnTo>
                    <a:pt x="1122902" y="1008602"/>
                  </a:lnTo>
                  <a:lnTo>
                    <a:pt x="1101101" y="1023306"/>
                  </a:lnTo>
                  <a:lnTo>
                    <a:pt x="1074419" y="1028700"/>
                  </a:lnTo>
                  <a:lnTo>
                    <a:pt x="68580" y="1028700"/>
                  </a:lnTo>
                  <a:lnTo>
                    <a:pt x="41898" y="1023306"/>
                  </a:lnTo>
                  <a:lnTo>
                    <a:pt x="20097" y="1008602"/>
                  </a:lnTo>
                  <a:lnTo>
                    <a:pt x="5393" y="986801"/>
                  </a:lnTo>
                  <a:lnTo>
                    <a:pt x="0" y="960119"/>
                  </a:lnTo>
                  <a:lnTo>
                    <a:pt x="0" y="6857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339839" y="164592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4" y="384047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/home/claude/ppt/icons/settings_FFFFFF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2803" y="1737360"/>
              <a:ext cx="199644" cy="201167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6292722" y="2098294"/>
            <a:ext cx="48133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4471C4"/>
                </a:solidFill>
                <a:latin typeface="Calibri"/>
                <a:cs typeface="Calibri"/>
              </a:rPr>
              <a:t>1990-</a:t>
            </a:r>
            <a:r>
              <a:rPr dirty="0" sz="800" spc="-20" b="1">
                <a:solidFill>
                  <a:srgbClr val="4471C4"/>
                </a:solidFill>
                <a:latin typeface="Calibri"/>
                <a:cs typeface="Calibri"/>
              </a:rPr>
              <a:t>2000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58305" y="2338832"/>
            <a:ext cx="54800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solidFill>
                  <a:srgbClr val="1A2233"/>
                </a:solidFill>
                <a:latin typeface="Calibri"/>
                <a:cs typeface="Calibri"/>
              </a:rPr>
              <a:t>OS</a:t>
            </a:r>
            <a:r>
              <a:rPr dirty="0" sz="750" spc="-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1A2233"/>
                </a:solidFill>
                <a:latin typeface="Calibri"/>
                <a:cs typeface="Calibri"/>
              </a:rPr>
              <a:t>modernes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269480" y="3046476"/>
            <a:ext cx="1155700" cy="1041400"/>
            <a:chOff x="7269480" y="3046476"/>
            <a:chExt cx="1155700" cy="1041400"/>
          </a:xfrm>
        </p:grpSpPr>
        <p:sp>
          <p:nvSpPr>
            <p:cNvPr id="48" name="object 48"/>
            <p:cNvSpPr/>
            <p:nvPr/>
          </p:nvSpPr>
          <p:spPr>
            <a:xfrm>
              <a:off x="7275576" y="305257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1074420" y="0"/>
                  </a:moveTo>
                  <a:lnTo>
                    <a:pt x="68579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79"/>
                  </a:lnTo>
                  <a:lnTo>
                    <a:pt x="0" y="960119"/>
                  </a:lnTo>
                  <a:lnTo>
                    <a:pt x="5393" y="986812"/>
                  </a:lnTo>
                  <a:lnTo>
                    <a:pt x="20097" y="1008611"/>
                  </a:lnTo>
                  <a:lnTo>
                    <a:pt x="41898" y="1023310"/>
                  </a:lnTo>
                  <a:lnTo>
                    <a:pt x="68579" y="1028699"/>
                  </a:lnTo>
                  <a:lnTo>
                    <a:pt x="1074420" y="1028699"/>
                  </a:lnTo>
                  <a:lnTo>
                    <a:pt x="1101101" y="1023310"/>
                  </a:lnTo>
                  <a:lnTo>
                    <a:pt x="1122902" y="1008611"/>
                  </a:lnTo>
                  <a:lnTo>
                    <a:pt x="1137606" y="986812"/>
                  </a:lnTo>
                  <a:lnTo>
                    <a:pt x="1143000" y="960119"/>
                  </a:lnTo>
                  <a:lnTo>
                    <a:pt x="1143000" y="68579"/>
                  </a:lnTo>
                  <a:lnTo>
                    <a:pt x="1137606" y="41898"/>
                  </a:lnTo>
                  <a:lnTo>
                    <a:pt x="1122902" y="20097"/>
                  </a:lnTo>
                  <a:lnTo>
                    <a:pt x="1101101" y="5393"/>
                  </a:lnTo>
                  <a:lnTo>
                    <a:pt x="107442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275576" y="3052572"/>
              <a:ext cx="1143000" cy="1028700"/>
            </a:xfrm>
            <a:custGeom>
              <a:avLst/>
              <a:gdLst/>
              <a:ahLst/>
              <a:cxnLst/>
              <a:rect l="l" t="t" r="r" b="b"/>
              <a:pathLst>
                <a:path w="1143000" h="1028700">
                  <a:moveTo>
                    <a:pt x="0" y="68579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79" y="0"/>
                  </a:lnTo>
                  <a:lnTo>
                    <a:pt x="1074420" y="0"/>
                  </a:lnTo>
                  <a:lnTo>
                    <a:pt x="1101101" y="5393"/>
                  </a:lnTo>
                  <a:lnTo>
                    <a:pt x="1122902" y="20097"/>
                  </a:lnTo>
                  <a:lnTo>
                    <a:pt x="1137606" y="41898"/>
                  </a:lnTo>
                  <a:lnTo>
                    <a:pt x="1143000" y="68579"/>
                  </a:lnTo>
                  <a:lnTo>
                    <a:pt x="1143000" y="960119"/>
                  </a:lnTo>
                  <a:lnTo>
                    <a:pt x="1137606" y="986812"/>
                  </a:lnTo>
                  <a:lnTo>
                    <a:pt x="1122902" y="1008611"/>
                  </a:lnTo>
                  <a:lnTo>
                    <a:pt x="1101101" y="1023310"/>
                  </a:lnTo>
                  <a:lnTo>
                    <a:pt x="1074420" y="1028699"/>
                  </a:lnTo>
                  <a:lnTo>
                    <a:pt x="68579" y="1028699"/>
                  </a:lnTo>
                  <a:lnTo>
                    <a:pt x="41898" y="1023310"/>
                  </a:lnTo>
                  <a:lnTo>
                    <a:pt x="20097" y="1008611"/>
                  </a:lnTo>
                  <a:lnTo>
                    <a:pt x="5393" y="986812"/>
                  </a:lnTo>
                  <a:lnTo>
                    <a:pt x="0" y="960119"/>
                  </a:lnTo>
                  <a:lnTo>
                    <a:pt x="0" y="68579"/>
                  </a:lnTo>
                  <a:close/>
                </a:path>
              </a:pathLst>
            </a:custGeom>
            <a:ln w="12192">
              <a:solidFill>
                <a:srgbClr val="DCE2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655052" y="315468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4" y="384047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/home/claude/ppt/icons/phone_FFFFFF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46492" y="3246120"/>
              <a:ext cx="199644" cy="201168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7469251" y="3544703"/>
            <a:ext cx="756920" cy="50165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800" b="1">
                <a:solidFill>
                  <a:srgbClr val="D5880F"/>
                </a:solidFill>
                <a:latin typeface="Calibri"/>
                <a:cs typeface="Calibri"/>
              </a:rPr>
              <a:t>2000-</a:t>
            </a:r>
            <a:r>
              <a:rPr dirty="0" sz="800" spc="-20" b="1">
                <a:solidFill>
                  <a:srgbClr val="D5880F"/>
                </a:solidFill>
                <a:latin typeface="Calibri"/>
                <a:cs typeface="Calibri"/>
              </a:rPr>
              <a:t>auj.</a:t>
            </a:r>
            <a:endParaRPr sz="8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464"/>
              </a:spcBef>
            </a:pPr>
            <a:r>
              <a:rPr dirty="0" sz="750">
                <a:solidFill>
                  <a:srgbClr val="1A2233"/>
                </a:solidFill>
                <a:latin typeface="Calibri"/>
                <a:cs typeface="Calibri"/>
              </a:rPr>
              <a:t>Mobile,</a:t>
            </a:r>
            <a:r>
              <a:rPr dirty="0" sz="750" spc="-1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1A2233"/>
                </a:solidFill>
                <a:latin typeface="Calibri"/>
                <a:cs typeface="Calibri"/>
              </a:rPr>
              <a:t>IoT,</a:t>
            </a:r>
            <a:r>
              <a:rPr dirty="0" sz="750" spc="-2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1A2233"/>
                </a:solidFill>
                <a:latin typeface="Calibri"/>
                <a:cs typeface="Calibri"/>
              </a:rPr>
              <a:t>temps</a:t>
            </a:r>
            <a:r>
              <a:rPr dirty="0" sz="750" spc="50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1A2233"/>
                </a:solidFill>
                <a:latin typeface="Calibri"/>
                <a:cs typeface="Calibri"/>
              </a:rPr>
              <a:t>réel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40</a:t>
            </a: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251333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1.4</a:t>
            </a:r>
            <a:r>
              <a:rPr dirty="0" sz="950" spc="17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D5880F"/>
                </a:solidFill>
                <a:latin typeface="Calibri"/>
                <a:cs typeface="Calibri"/>
              </a:rPr>
              <a:t>HISTOIRE</a:t>
            </a:r>
            <a:r>
              <a:rPr dirty="0" sz="950" spc="21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D5880F"/>
                </a:solidFill>
                <a:latin typeface="Calibri"/>
                <a:cs typeface="Calibri"/>
              </a:rPr>
              <a:t>—</a:t>
            </a:r>
            <a:r>
              <a:rPr dirty="0" sz="950" spc="16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D5880F"/>
                </a:solidFill>
                <a:latin typeface="Calibri"/>
                <a:cs typeface="Calibri"/>
              </a:rPr>
              <a:t>ZOOM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SUR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D5880F"/>
                </a:solidFill>
                <a:latin typeface="Calibri"/>
                <a:cs typeface="Calibri"/>
              </a:rPr>
              <a:t>AUJOURD'HUI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53930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Et</a:t>
            </a:r>
            <a:r>
              <a:rPr dirty="0" sz="2400" spc="-7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maintenant</a:t>
            </a:r>
            <a:r>
              <a:rPr dirty="0" sz="2400" spc="-5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:</a:t>
            </a:r>
            <a:r>
              <a:rPr dirty="0" sz="24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mobile,</a:t>
            </a:r>
            <a:r>
              <a:rPr dirty="0" sz="2400" spc="-5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65" b="1">
                <a:solidFill>
                  <a:srgbClr val="1F385F"/>
                </a:solidFill>
                <a:latin typeface="Cambria"/>
                <a:cs typeface="Cambria"/>
              </a:rPr>
              <a:t>IoT,</a:t>
            </a:r>
            <a:r>
              <a:rPr dirty="0" sz="2400" spc="-6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temps</a:t>
            </a:r>
            <a:r>
              <a:rPr dirty="0" sz="2400" spc="-4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20" b="1">
                <a:solidFill>
                  <a:srgbClr val="1F385F"/>
                </a:solidFill>
                <a:latin typeface="Cambria"/>
                <a:cs typeface="Cambria"/>
              </a:rPr>
              <a:t>réel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8816" y="1333475"/>
            <a:ext cx="2658745" cy="2590165"/>
            <a:chOff x="528816" y="1333475"/>
            <a:chExt cx="2658745" cy="25901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816" y="1333475"/>
              <a:ext cx="2658641" cy="25900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2835" y="1371599"/>
              <a:ext cx="2537460" cy="2468880"/>
            </a:xfrm>
            <a:custGeom>
              <a:avLst/>
              <a:gdLst/>
              <a:ahLst/>
              <a:cxnLst/>
              <a:rect l="l" t="t" r="r" b="b"/>
              <a:pathLst>
                <a:path w="2537460" h="2468879">
                  <a:moveTo>
                    <a:pt x="2434590" y="0"/>
                  </a:moveTo>
                  <a:lnTo>
                    <a:pt x="102882" y="0"/>
                  </a:lnTo>
                  <a:lnTo>
                    <a:pt x="62836" y="8090"/>
                  </a:lnTo>
                  <a:lnTo>
                    <a:pt x="30133" y="30146"/>
                  </a:lnTo>
                  <a:lnTo>
                    <a:pt x="8085" y="62847"/>
                  </a:lnTo>
                  <a:lnTo>
                    <a:pt x="0" y="102870"/>
                  </a:lnTo>
                  <a:lnTo>
                    <a:pt x="0" y="2366010"/>
                  </a:lnTo>
                  <a:lnTo>
                    <a:pt x="8085" y="2406032"/>
                  </a:lnTo>
                  <a:lnTo>
                    <a:pt x="30133" y="2438733"/>
                  </a:lnTo>
                  <a:lnTo>
                    <a:pt x="62836" y="2460789"/>
                  </a:lnTo>
                  <a:lnTo>
                    <a:pt x="102882" y="2468880"/>
                  </a:lnTo>
                  <a:lnTo>
                    <a:pt x="2434590" y="2468880"/>
                  </a:lnTo>
                  <a:lnTo>
                    <a:pt x="2474612" y="2460789"/>
                  </a:lnTo>
                  <a:lnTo>
                    <a:pt x="2507313" y="2438733"/>
                  </a:lnTo>
                  <a:lnTo>
                    <a:pt x="2529369" y="2406032"/>
                  </a:lnTo>
                  <a:lnTo>
                    <a:pt x="2537460" y="2366010"/>
                  </a:lnTo>
                  <a:lnTo>
                    <a:pt x="2537460" y="102870"/>
                  </a:lnTo>
                  <a:lnTo>
                    <a:pt x="2529369" y="62847"/>
                  </a:lnTo>
                  <a:lnTo>
                    <a:pt x="2507313" y="30146"/>
                  </a:lnTo>
                  <a:lnTo>
                    <a:pt x="2474612" y="8090"/>
                  </a:lnTo>
                  <a:lnTo>
                    <a:pt x="24345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84376" y="1645919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80">
                  <a:moveTo>
                    <a:pt x="377190" y="0"/>
                  </a:moveTo>
                  <a:lnTo>
                    <a:pt x="329883" y="2939"/>
                  </a:lnTo>
                  <a:lnTo>
                    <a:pt x="284327" y="11521"/>
                  </a:lnTo>
                  <a:lnTo>
                    <a:pt x="240878" y="25393"/>
                  </a:lnTo>
                  <a:lnTo>
                    <a:pt x="199887" y="44200"/>
                  </a:lnTo>
                  <a:lnTo>
                    <a:pt x="161709" y="67589"/>
                  </a:lnTo>
                  <a:lnTo>
                    <a:pt x="126697" y="95206"/>
                  </a:lnTo>
                  <a:lnTo>
                    <a:pt x="95206" y="126697"/>
                  </a:lnTo>
                  <a:lnTo>
                    <a:pt x="67589" y="161709"/>
                  </a:lnTo>
                  <a:lnTo>
                    <a:pt x="44200" y="199887"/>
                  </a:lnTo>
                  <a:lnTo>
                    <a:pt x="25393" y="240878"/>
                  </a:lnTo>
                  <a:lnTo>
                    <a:pt x="11521" y="284327"/>
                  </a:lnTo>
                  <a:lnTo>
                    <a:pt x="2939" y="329883"/>
                  </a:lnTo>
                  <a:lnTo>
                    <a:pt x="0" y="377189"/>
                  </a:lnTo>
                  <a:lnTo>
                    <a:pt x="2939" y="424496"/>
                  </a:lnTo>
                  <a:lnTo>
                    <a:pt x="11521" y="470052"/>
                  </a:lnTo>
                  <a:lnTo>
                    <a:pt x="25393" y="513501"/>
                  </a:lnTo>
                  <a:lnTo>
                    <a:pt x="44200" y="554492"/>
                  </a:lnTo>
                  <a:lnTo>
                    <a:pt x="67589" y="592670"/>
                  </a:lnTo>
                  <a:lnTo>
                    <a:pt x="95206" y="627682"/>
                  </a:lnTo>
                  <a:lnTo>
                    <a:pt x="126697" y="659173"/>
                  </a:lnTo>
                  <a:lnTo>
                    <a:pt x="161709" y="686790"/>
                  </a:lnTo>
                  <a:lnTo>
                    <a:pt x="199887" y="710179"/>
                  </a:lnTo>
                  <a:lnTo>
                    <a:pt x="240878" y="728986"/>
                  </a:lnTo>
                  <a:lnTo>
                    <a:pt x="284327" y="742858"/>
                  </a:lnTo>
                  <a:lnTo>
                    <a:pt x="329883" y="751440"/>
                  </a:lnTo>
                  <a:lnTo>
                    <a:pt x="377190" y="754379"/>
                  </a:lnTo>
                  <a:lnTo>
                    <a:pt x="424496" y="751440"/>
                  </a:lnTo>
                  <a:lnTo>
                    <a:pt x="470052" y="742858"/>
                  </a:lnTo>
                  <a:lnTo>
                    <a:pt x="513501" y="728986"/>
                  </a:lnTo>
                  <a:lnTo>
                    <a:pt x="554492" y="710179"/>
                  </a:lnTo>
                  <a:lnTo>
                    <a:pt x="592670" y="686790"/>
                  </a:lnTo>
                  <a:lnTo>
                    <a:pt x="627682" y="659173"/>
                  </a:lnTo>
                  <a:lnTo>
                    <a:pt x="659173" y="627682"/>
                  </a:lnTo>
                  <a:lnTo>
                    <a:pt x="686790" y="592670"/>
                  </a:lnTo>
                  <a:lnTo>
                    <a:pt x="710179" y="554492"/>
                  </a:lnTo>
                  <a:lnTo>
                    <a:pt x="728986" y="513501"/>
                  </a:lnTo>
                  <a:lnTo>
                    <a:pt x="742858" y="470052"/>
                  </a:lnTo>
                  <a:lnTo>
                    <a:pt x="751440" y="424496"/>
                  </a:lnTo>
                  <a:lnTo>
                    <a:pt x="754380" y="377189"/>
                  </a:lnTo>
                  <a:lnTo>
                    <a:pt x="751440" y="329883"/>
                  </a:lnTo>
                  <a:lnTo>
                    <a:pt x="742858" y="284327"/>
                  </a:lnTo>
                  <a:lnTo>
                    <a:pt x="728986" y="240878"/>
                  </a:lnTo>
                  <a:lnTo>
                    <a:pt x="710179" y="199887"/>
                  </a:lnTo>
                  <a:lnTo>
                    <a:pt x="686790" y="161709"/>
                  </a:lnTo>
                  <a:lnTo>
                    <a:pt x="659173" y="126697"/>
                  </a:lnTo>
                  <a:lnTo>
                    <a:pt x="627682" y="95206"/>
                  </a:lnTo>
                  <a:lnTo>
                    <a:pt x="592670" y="67589"/>
                  </a:lnTo>
                  <a:lnTo>
                    <a:pt x="554492" y="44200"/>
                  </a:lnTo>
                  <a:lnTo>
                    <a:pt x="513501" y="25393"/>
                  </a:lnTo>
                  <a:lnTo>
                    <a:pt x="470052" y="11521"/>
                  </a:lnTo>
                  <a:lnTo>
                    <a:pt x="424496" y="2939"/>
                  </a:lnTo>
                  <a:lnTo>
                    <a:pt x="377190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/home/claude/ppt/icons/phon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5731" y="1827275"/>
              <a:ext cx="391668" cy="39166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40561" y="2633598"/>
            <a:ext cx="84328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10" b="1">
                <a:solidFill>
                  <a:srgbClr val="1A2233"/>
                </a:solidFill>
                <a:latin typeface="Calibri"/>
                <a:cs typeface="Calibri"/>
              </a:rPr>
              <a:t>Smartphones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8697" y="3203829"/>
            <a:ext cx="18072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1334" marR="5080" indent="-50927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Android,</a:t>
            </a:r>
            <a:r>
              <a:rPr dirty="0" sz="900" spc="-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iOS</a:t>
            </a:r>
            <a:r>
              <a:rPr dirty="0" sz="9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:</a:t>
            </a:r>
            <a:r>
              <a:rPr dirty="0" sz="900" spc="-4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des</a:t>
            </a:r>
            <a:r>
              <a:rPr dirty="0" sz="900" spc="-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milliards</a:t>
            </a:r>
            <a:r>
              <a:rPr dirty="0" sz="90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d'appareils</a:t>
            </a:r>
            <a:r>
              <a:rPr dirty="0" sz="900" spc="50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dans</a:t>
            </a:r>
            <a:r>
              <a:rPr dirty="0" sz="9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nos</a:t>
            </a:r>
            <a:r>
              <a:rPr dirty="0" sz="9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poches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38488" y="1333475"/>
            <a:ext cx="2658745" cy="2590165"/>
            <a:chOff x="3238488" y="1333475"/>
            <a:chExt cx="2658745" cy="259016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488" y="1333475"/>
              <a:ext cx="2658641" cy="259006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02508" y="1371599"/>
              <a:ext cx="2537460" cy="2468880"/>
            </a:xfrm>
            <a:custGeom>
              <a:avLst/>
              <a:gdLst/>
              <a:ahLst/>
              <a:cxnLst/>
              <a:rect l="l" t="t" r="r" b="b"/>
              <a:pathLst>
                <a:path w="2537460" h="2468879">
                  <a:moveTo>
                    <a:pt x="2434590" y="0"/>
                  </a:moveTo>
                  <a:lnTo>
                    <a:pt x="102869" y="0"/>
                  </a:lnTo>
                  <a:lnTo>
                    <a:pt x="62847" y="8090"/>
                  </a:lnTo>
                  <a:lnTo>
                    <a:pt x="30146" y="30146"/>
                  </a:lnTo>
                  <a:lnTo>
                    <a:pt x="8090" y="62847"/>
                  </a:lnTo>
                  <a:lnTo>
                    <a:pt x="0" y="102870"/>
                  </a:lnTo>
                  <a:lnTo>
                    <a:pt x="0" y="2366010"/>
                  </a:lnTo>
                  <a:lnTo>
                    <a:pt x="8090" y="2406032"/>
                  </a:lnTo>
                  <a:lnTo>
                    <a:pt x="30146" y="2438733"/>
                  </a:lnTo>
                  <a:lnTo>
                    <a:pt x="62847" y="2460789"/>
                  </a:lnTo>
                  <a:lnTo>
                    <a:pt x="102869" y="2468880"/>
                  </a:lnTo>
                  <a:lnTo>
                    <a:pt x="2434590" y="2468880"/>
                  </a:lnTo>
                  <a:lnTo>
                    <a:pt x="2474612" y="2460789"/>
                  </a:lnTo>
                  <a:lnTo>
                    <a:pt x="2507313" y="2438733"/>
                  </a:lnTo>
                  <a:lnTo>
                    <a:pt x="2529369" y="2406032"/>
                  </a:lnTo>
                  <a:lnTo>
                    <a:pt x="2537459" y="2366010"/>
                  </a:lnTo>
                  <a:lnTo>
                    <a:pt x="2537459" y="102870"/>
                  </a:lnTo>
                  <a:lnTo>
                    <a:pt x="2529369" y="62847"/>
                  </a:lnTo>
                  <a:lnTo>
                    <a:pt x="2507313" y="30146"/>
                  </a:lnTo>
                  <a:lnTo>
                    <a:pt x="2474612" y="8090"/>
                  </a:lnTo>
                  <a:lnTo>
                    <a:pt x="24345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94048" y="1645919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80">
                  <a:moveTo>
                    <a:pt x="377189" y="0"/>
                  </a:moveTo>
                  <a:lnTo>
                    <a:pt x="329883" y="2939"/>
                  </a:lnTo>
                  <a:lnTo>
                    <a:pt x="284327" y="11521"/>
                  </a:lnTo>
                  <a:lnTo>
                    <a:pt x="240878" y="25393"/>
                  </a:lnTo>
                  <a:lnTo>
                    <a:pt x="199887" y="44200"/>
                  </a:lnTo>
                  <a:lnTo>
                    <a:pt x="161709" y="67589"/>
                  </a:lnTo>
                  <a:lnTo>
                    <a:pt x="126697" y="95206"/>
                  </a:lnTo>
                  <a:lnTo>
                    <a:pt x="95206" y="126697"/>
                  </a:lnTo>
                  <a:lnTo>
                    <a:pt x="67589" y="161709"/>
                  </a:lnTo>
                  <a:lnTo>
                    <a:pt x="44200" y="199887"/>
                  </a:lnTo>
                  <a:lnTo>
                    <a:pt x="25393" y="240878"/>
                  </a:lnTo>
                  <a:lnTo>
                    <a:pt x="11521" y="284327"/>
                  </a:lnTo>
                  <a:lnTo>
                    <a:pt x="2939" y="329883"/>
                  </a:lnTo>
                  <a:lnTo>
                    <a:pt x="0" y="377189"/>
                  </a:lnTo>
                  <a:lnTo>
                    <a:pt x="2939" y="424496"/>
                  </a:lnTo>
                  <a:lnTo>
                    <a:pt x="11521" y="470052"/>
                  </a:lnTo>
                  <a:lnTo>
                    <a:pt x="25393" y="513501"/>
                  </a:lnTo>
                  <a:lnTo>
                    <a:pt x="44200" y="554492"/>
                  </a:lnTo>
                  <a:lnTo>
                    <a:pt x="67589" y="592670"/>
                  </a:lnTo>
                  <a:lnTo>
                    <a:pt x="95206" y="627682"/>
                  </a:lnTo>
                  <a:lnTo>
                    <a:pt x="126697" y="659173"/>
                  </a:lnTo>
                  <a:lnTo>
                    <a:pt x="161709" y="686790"/>
                  </a:lnTo>
                  <a:lnTo>
                    <a:pt x="199887" y="710179"/>
                  </a:lnTo>
                  <a:lnTo>
                    <a:pt x="240878" y="728986"/>
                  </a:lnTo>
                  <a:lnTo>
                    <a:pt x="284327" y="742858"/>
                  </a:lnTo>
                  <a:lnTo>
                    <a:pt x="329883" y="751440"/>
                  </a:lnTo>
                  <a:lnTo>
                    <a:pt x="377189" y="754379"/>
                  </a:lnTo>
                  <a:lnTo>
                    <a:pt x="424496" y="751440"/>
                  </a:lnTo>
                  <a:lnTo>
                    <a:pt x="470052" y="742858"/>
                  </a:lnTo>
                  <a:lnTo>
                    <a:pt x="513501" y="728986"/>
                  </a:lnTo>
                  <a:lnTo>
                    <a:pt x="554492" y="710179"/>
                  </a:lnTo>
                  <a:lnTo>
                    <a:pt x="592670" y="686790"/>
                  </a:lnTo>
                  <a:lnTo>
                    <a:pt x="627682" y="659173"/>
                  </a:lnTo>
                  <a:lnTo>
                    <a:pt x="659173" y="627682"/>
                  </a:lnTo>
                  <a:lnTo>
                    <a:pt x="686790" y="592670"/>
                  </a:lnTo>
                  <a:lnTo>
                    <a:pt x="710179" y="554492"/>
                  </a:lnTo>
                  <a:lnTo>
                    <a:pt x="728986" y="513501"/>
                  </a:lnTo>
                  <a:lnTo>
                    <a:pt x="742858" y="470052"/>
                  </a:lnTo>
                  <a:lnTo>
                    <a:pt x="751440" y="424496"/>
                  </a:lnTo>
                  <a:lnTo>
                    <a:pt x="754379" y="377189"/>
                  </a:lnTo>
                  <a:lnTo>
                    <a:pt x="751440" y="329883"/>
                  </a:lnTo>
                  <a:lnTo>
                    <a:pt x="742858" y="284327"/>
                  </a:lnTo>
                  <a:lnTo>
                    <a:pt x="728986" y="240878"/>
                  </a:lnTo>
                  <a:lnTo>
                    <a:pt x="710179" y="199887"/>
                  </a:lnTo>
                  <a:lnTo>
                    <a:pt x="686790" y="161709"/>
                  </a:lnTo>
                  <a:lnTo>
                    <a:pt x="659173" y="126697"/>
                  </a:lnTo>
                  <a:lnTo>
                    <a:pt x="627682" y="95206"/>
                  </a:lnTo>
                  <a:lnTo>
                    <a:pt x="592670" y="67589"/>
                  </a:lnTo>
                  <a:lnTo>
                    <a:pt x="554492" y="44200"/>
                  </a:lnTo>
                  <a:lnTo>
                    <a:pt x="513501" y="25393"/>
                  </a:lnTo>
                  <a:lnTo>
                    <a:pt x="470052" y="11521"/>
                  </a:lnTo>
                  <a:lnTo>
                    <a:pt x="424496" y="2939"/>
                  </a:lnTo>
                  <a:lnTo>
                    <a:pt x="3771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/home/claude/ppt/icons/network_FFFFFF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5404" y="1827275"/>
              <a:ext cx="391667" cy="39166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872610" y="2633598"/>
            <a:ext cx="139827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solidFill>
                  <a:srgbClr val="1A2233"/>
                </a:solidFill>
                <a:latin typeface="Calibri"/>
                <a:cs typeface="Calibri"/>
              </a:rPr>
              <a:t>Objets</a:t>
            </a:r>
            <a:r>
              <a:rPr dirty="0" sz="1150" spc="2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A2233"/>
                </a:solidFill>
                <a:latin typeface="Calibri"/>
                <a:cs typeface="Calibri"/>
              </a:rPr>
              <a:t>connectés</a:t>
            </a:r>
            <a:r>
              <a:rPr dirty="0" sz="1150" spc="4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1A2233"/>
                </a:solidFill>
                <a:latin typeface="Calibri"/>
                <a:cs typeface="Calibri"/>
              </a:rPr>
              <a:t>(IoT)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7053" y="3203829"/>
            <a:ext cx="1927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Montres,</a:t>
            </a:r>
            <a:r>
              <a:rPr dirty="0" sz="900" spc="-4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capteurs,</a:t>
            </a:r>
            <a:r>
              <a:rPr dirty="0" sz="900" spc="-4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appareils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domestiques…</a:t>
            </a:r>
            <a:r>
              <a:rPr dirty="0" sz="900" spc="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de</a:t>
            </a:r>
            <a:r>
              <a:rPr dirty="0" sz="900" spc="-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plus</a:t>
            </a:r>
            <a:r>
              <a:rPr dirty="0" sz="900" spc="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en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plus</a:t>
            </a:r>
            <a:r>
              <a:rPr dirty="0" sz="90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nombreux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46636" y="1333475"/>
            <a:ext cx="2658745" cy="2590165"/>
            <a:chOff x="5946636" y="1333475"/>
            <a:chExt cx="2658745" cy="259016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6636" y="1333475"/>
              <a:ext cx="2658641" cy="259006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10655" y="1371599"/>
              <a:ext cx="2537460" cy="2468880"/>
            </a:xfrm>
            <a:custGeom>
              <a:avLst/>
              <a:gdLst/>
              <a:ahLst/>
              <a:cxnLst/>
              <a:rect l="l" t="t" r="r" b="b"/>
              <a:pathLst>
                <a:path w="2537459" h="2468879">
                  <a:moveTo>
                    <a:pt x="2434590" y="0"/>
                  </a:moveTo>
                  <a:lnTo>
                    <a:pt x="102870" y="0"/>
                  </a:lnTo>
                  <a:lnTo>
                    <a:pt x="62847" y="8090"/>
                  </a:lnTo>
                  <a:lnTo>
                    <a:pt x="30146" y="30146"/>
                  </a:lnTo>
                  <a:lnTo>
                    <a:pt x="8090" y="62847"/>
                  </a:lnTo>
                  <a:lnTo>
                    <a:pt x="0" y="102870"/>
                  </a:lnTo>
                  <a:lnTo>
                    <a:pt x="0" y="2366010"/>
                  </a:lnTo>
                  <a:lnTo>
                    <a:pt x="8090" y="2406032"/>
                  </a:lnTo>
                  <a:lnTo>
                    <a:pt x="30146" y="2438733"/>
                  </a:lnTo>
                  <a:lnTo>
                    <a:pt x="62847" y="2460789"/>
                  </a:lnTo>
                  <a:lnTo>
                    <a:pt x="102870" y="2468880"/>
                  </a:lnTo>
                  <a:lnTo>
                    <a:pt x="2434590" y="2468880"/>
                  </a:lnTo>
                  <a:lnTo>
                    <a:pt x="2474612" y="2460789"/>
                  </a:lnTo>
                  <a:lnTo>
                    <a:pt x="2507313" y="2438733"/>
                  </a:lnTo>
                  <a:lnTo>
                    <a:pt x="2529369" y="2406032"/>
                  </a:lnTo>
                  <a:lnTo>
                    <a:pt x="2537460" y="2366010"/>
                  </a:lnTo>
                  <a:lnTo>
                    <a:pt x="2537460" y="102870"/>
                  </a:lnTo>
                  <a:lnTo>
                    <a:pt x="2529369" y="62847"/>
                  </a:lnTo>
                  <a:lnTo>
                    <a:pt x="2507313" y="30146"/>
                  </a:lnTo>
                  <a:lnTo>
                    <a:pt x="2474612" y="8090"/>
                  </a:lnTo>
                  <a:lnTo>
                    <a:pt x="24345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902195" y="1645919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80">
                  <a:moveTo>
                    <a:pt x="377189" y="0"/>
                  </a:moveTo>
                  <a:lnTo>
                    <a:pt x="329883" y="2939"/>
                  </a:lnTo>
                  <a:lnTo>
                    <a:pt x="284327" y="11521"/>
                  </a:lnTo>
                  <a:lnTo>
                    <a:pt x="240878" y="25393"/>
                  </a:lnTo>
                  <a:lnTo>
                    <a:pt x="199887" y="44200"/>
                  </a:lnTo>
                  <a:lnTo>
                    <a:pt x="161709" y="67589"/>
                  </a:lnTo>
                  <a:lnTo>
                    <a:pt x="126697" y="95206"/>
                  </a:lnTo>
                  <a:lnTo>
                    <a:pt x="95206" y="126697"/>
                  </a:lnTo>
                  <a:lnTo>
                    <a:pt x="67589" y="161709"/>
                  </a:lnTo>
                  <a:lnTo>
                    <a:pt x="44200" y="199887"/>
                  </a:lnTo>
                  <a:lnTo>
                    <a:pt x="25393" y="240878"/>
                  </a:lnTo>
                  <a:lnTo>
                    <a:pt x="11521" y="284327"/>
                  </a:lnTo>
                  <a:lnTo>
                    <a:pt x="2939" y="329883"/>
                  </a:lnTo>
                  <a:lnTo>
                    <a:pt x="0" y="377189"/>
                  </a:lnTo>
                  <a:lnTo>
                    <a:pt x="2939" y="424496"/>
                  </a:lnTo>
                  <a:lnTo>
                    <a:pt x="11521" y="470052"/>
                  </a:lnTo>
                  <a:lnTo>
                    <a:pt x="25393" y="513501"/>
                  </a:lnTo>
                  <a:lnTo>
                    <a:pt x="44200" y="554492"/>
                  </a:lnTo>
                  <a:lnTo>
                    <a:pt x="67589" y="592670"/>
                  </a:lnTo>
                  <a:lnTo>
                    <a:pt x="95206" y="627682"/>
                  </a:lnTo>
                  <a:lnTo>
                    <a:pt x="126697" y="659173"/>
                  </a:lnTo>
                  <a:lnTo>
                    <a:pt x="161709" y="686790"/>
                  </a:lnTo>
                  <a:lnTo>
                    <a:pt x="199887" y="710179"/>
                  </a:lnTo>
                  <a:lnTo>
                    <a:pt x="240878" y="728986"/>
                  </a:lnTo>
                  <a:lnTo>
                    <a:pt x="284327" y="742858"/>
                  </a:lnTo>
                  <a:lnTo>
                    <a:pt x="329883" y="751440"/>
                  </a:lnTo>
                  <a:lnTo>
                    <a:pt x="377189" y="754379"/>
                  </a:lnTo>
                  <a:lnTo>
                    <a:pt x="424496" y="751440"/>
                  </a:lnTo>
                  <a:lnTo>
                    <a:pt x="470052" y="742858"/>
                  </a:lnTo>
                  <a:lnTo>
                    <a:pt x="513501" y="728986"/>
                  </a:lnTo>
                  <a:lnTo>
                    <a:pt x="554492" y="710179"/>
                  </a:lnTo>
                  <a:lnTo>
                    <a:pt x="592670" y="686790"/>
                  </a:lnTo>
                  <a:lnTo>
                    <a:pt x="627682" y="659173"/>
                  </a:lnTo>
                  <a:lnTo>
                    <a:pt x="659173" y="627682"/>
                  </a:lnTo>
                  <a:lnTo>
                    <a:pt x="686790" y="592670"/>
                  </a:lnTo>
                  <a:lnTo>
                    <a:pt x="710179" y="554492"/>
                  </a:lnTo>
                  <a:lnTo>
                    <a:pt x="728986" y="513501"/>
                  </a:lnTo>
                  <a:lnTo>
                    <a:pt x="742858" y="470052"/>
                  </a:lnTo>
                  <a:lnTo>
                    <a:pt x="751440" y="424496"/>
                  </a:lnTo>
                  <a:lnTo>
                    <a:pt x="754379" y="377189"/>
                  </a:lnTo>
                  <a:lnTo>
                    <a:pt x="751440" y="329883"/>
                  </a:lnTo>
                  <a:lnTo>
                    <a:pt x="742858" y="284327"/>
                  </a:lnTo>
                  <a:lnTo>
                    <a:pt x="728986" y="240878"/>
                  </a:lnTo>
                  <a:lnTo>
                    <a:pt x="710179" y="199887"/>
                  </a:lnTo>
                  <a:lnTo>
                    <a:pt x="686790" y="161709"/>
                  </a:lnTo>
                  <a:lnTo>
                    <a:pt x="659173" y="126697"/>
                  </a:lnTo>
                  <a:lnTo>
                    <a:pt x="627682" y="95206"/>
                  </a:lnTo>
                  <a:lnTo>
                    <a:pt x="592670" y="67589"/>
                  </a:lnTo>
                  <a:lnTo>
                    <a:pt x="554492" y="44200"/>
                  </a:lnTo>
                  <a:lnTo>
                    <a:pt x="513501" y="25393"/>
                  </a:lnTo>
                  <a:lnTo>
                    <a:pt x="470052" y="11521"/>
                  </a:lnTo>
                  <a:lnTo>
                    <a:pt x="424496" y="2939"/>
                  </a:lnTo>
                  <a:lnTo>
                    <a:pt x="377189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/home/claude/ppt/icons/flash_FFFFFF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3551" y="1827275"/>
              <a:ext cx="391668" cy="39166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635242" y="2633598"/>
            <a:ext cx="129095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solidFill>
                  <a:srgbClr val="1A2233"/>
                </a:solidFill>
                <a:latin typeface="Calibri"/>
                <a:cs typeface="Calibri"/>
              </a:rPr>
              <a:t>Systèmes</a:t>
            </a:r>
            <a:r>
              <a:rPr dirty="0" sz="1150" spc="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1A2233"/>
                </a:solidFill>
                <a:latin typeface="Calibri"/>
                <a:cs typeface="Calibri"/>
              </a:rPr>
              <a:t>temps</a:t>
            </a:r>
            <a:r>
              <a:rPr dirty="0" sz="1150" spc="25" b="1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1150" spc="-20" b="1">
                <a:solidFill>
                  <a:srgbClr val="1A2233"/>
                </a:solidFill>
                <a:latin typeface="Calibri"/>
                <a:cs typeface="Calibri"/>
              </a:rPr>
              <a:t>réel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05/10/2026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Pr.</a:t>
            </a:r>
            <a:r>
              <a:rPr dirty="0" spc="-15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HAJAMI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Systèmes</a:t>
            </a:r>
            <a:r>
              <a:rPr dirty="0" spc="-20"/>
              <a:t> </a:t>
            </a:r>
            <a:r>
              <a:rPr dirty="0" spc="-10"/>
              <a:t>d'Exploitation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-10"/>
              <a:t> </a:t>
            </a:r>
            <a:r>
              <a:rPr dirty="0"/>
              <a:t>Chapitre</a:t>
            </a:r>
            <a:r>
              <a:rPr dirty="0" spc="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15"/>
              <a:t> </a:t>
            </a:r>
            <a:r>
              <a:rPr dirty="0" spc="-10"/>
              <a:t>Introduction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r>
              <a:rPr dirty="0" spc="-25"/>
              <a:t>41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442964" y="3203829"/>
            <a:ext cx="1674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Des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OS</a:t>
            </a:r>
            <a:r>
              <a:rPr dirty="0" sz="900" spc="-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spécialisés,</a:t>
            </a:r>
            <a:r>
              <a:rPr dirty="0" sz="900" spc="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garantissant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6B7180"/>
                </a:solidFill>
                <a:latin typeface="Calibri"/>
                <a:cs typeface="Calibri"/>
              </a:rPr>
              <a:t>des</a:t>
            </a:r>
            <a:r>
              <a:rPr dirty="0" sz="900" spc="50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réactions</a:t>
            </a:r>
            <a:r>
              <a:rPr dirty="0" sz="9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ultra-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rapides</a:t>
            </a:r>
            <a:r>
              <a:rPr dirty="0" sz="90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180"/>
                </a:solidFill>
                <a:latin typeface="Calibri"/>
                <a:cs typeface="Calibri"/>
              </a:rPr>
              <a:t>et</a:t>
            </a:r>
            <a:r>
              <a:rPr dirty="0" sz="9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180"/>
                </a:solidFill>
                <a:latin typeface="Calibri"/>
                <a:cs typeface="Calibri"/>
              </a:rPr>
              <a:t>fiables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32914" y="4179519"/>
            <a:ext cx="565340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 i="1">
                <a:solidFill>
                  <a:srgbClr val="1F385F"/>
                </a:solidFill>
                <a:latin typeface="Calibri"/>
                <a:cs typeface="Calibri"/>
              </a:rPr>
              <a:t>C'est</a:t>
            </a:r>
            <a:r>
              <a:rPr dirty="0" sz="1100" spc="25" b="1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1F385F"/>
                </a:solidFill>
                <a:latin typeface="Calibri"/>
                <a:cs typeface="Calibri"/>
              </a:rPr>
              <a:t>précisément dans</a:t>
            </a:r>
            <a:r>
              <a:rPr dirty="0" sz="1100" spc="20" b="1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1F385F"/>
                </a:solidFill>
                <a:latin typeface="Calibri"/>
                <a:cs typeface="Calibri"/>
              </a:rPr>
              <a:t>ce</a:t>
            </a:r>
            <a:r>
              <a:rPr dirty="0" sz="1100" spc="50" b="1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1F385F"/>
                </a:solidFill>
                <a:latin typeface="Calibri"/>
                <a:cs typeface="Calibri"/>
              </a:rPr>
              <a:t>contexte,</a:t>
            </a:r>
            <a:r>
              <a:rPr dirty="0" sz="1100" spc="5" b="1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1F385F"/>
                </a:solidFill>
                <a:latin typeface="Calibri"/>
                <a:cs typeface="Calibri"/>
              </a:rPr>
              <a:t>où</a:t>
            </a:r>
            <a:r>
              <a:rPr dirty="0" sz="1100" spc="30" b="1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1F385F"/>
                </a:solidFill>
                <a:latin typeface="Calibri"/>
                <a:cs typeface="Calibri"/>
              </a:rPr>
              <a:t>les</a:t>
            </a:r>
            <a:r>
              <a:rPr dirty="0" sz="1100" spc="35" b="1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1F385F"/>
                </a:solidFill>
                <a:latin typeface="Calibri"/>
                <a:cs typeface="Calibri"/>
              </a:rPr>
              <a:t>objets</a:t>
            </a:r>
            <a:r>
              <a:rPr dirty="0" sz="1100" spc="10" b="1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1F385F"/>
                </a:solidFill>
                <a:latin typeface="Calibri"/>
                <a:cs typeface="Calibri"/>
              </a:rPr>
              <a:t>connectés</a:t>
            </a:r>
            <a:r>
              <a:rPr dirty="0" sz="1100" spc="-10" b="1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1F385F"/>
                </a:solidFill>
                <a:latin typeface="Calibri"/>
                <a:cs typeface="Calibri"/>
              </a:rPr>
              <a:t>se</a:t>
            </a:r>
            <a:r>
              <a:rPr dirty="0" sz="1100" spc="35" b="1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1F385F"/>
                </a:solidFill>
                <a:latin typeface="Calibri"/>
                <a:cs typeface="Calibri"/>
              </a:rPr>
              <a:t>multiplient, que</a:t>
            </a:r>
            <a:r>
              <a:rPr dirty="0" sz="1100" spc="35" b="1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1F385F"/>
                </a:solidFill>
                <a:latin typeface="Calibri"/>
                <a:cs typeface="Calibri"/>
              </a:rPr>
              <a:t>s'inscrit ce</a:t>
            </a:r>
            <a:r>
              <a:rPr dirty="0" sz="1100" spc="40" b="1" i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1F385F"/>
                </a:solidFill>
                <a:latin typeface="Calibri"/>
                <a:cs typeface="Calibri"/>
              </a:rPr>
              <a:t>cours.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0" y="0"/>
            <a:ext cx="2560320" cy="2880360"/>
          </a:xfrm>
          <a:custGeom>
            <a:avLst/>
            <a:gdLst/>
            <a:ahLst/>
            <a:cxnLst/>
            <a:rect l="l" t="t" r="r" b="b"/>
            <a:pathLst>
              <a:path w="2560320" h="2880360">
                <a:moveTo>
                  <a:pt x="2560320" y="0"/>
                </a:moveTo>
                <a:lnTo>
                  <a:pt x="171208" y="0"/>
                </a:lnTo>
                <a:lnTo>
                  <a:pt x="170718" y="1089"/>
                </a:lnTo>
                <a:lnTo>
                  <a:pt x="152871" y="43285"/>
                </a:lnTo>
                <a:lnTo>
                  <a:pt x="135942" y="85954"/>
                </a:lnTo>
                <a:lnTo>
                  <a:pt x="119943" y="129084"/>
                </a:lnTo>
                <a:lnTo>
                  <a:pt x="104887" y="172663"/>
                </a:lnTo>
                <a:lnTo>
                  <a:pt x="90786" y="216678"/>
                </a:lnTo>
                <a:lnTo>
                  <a:pt x="77653" y="261117"/>
                </a:lnTo>
                <a:lnTo>
                  <a:pt x="65499" y="305967"/>
                </a:lnTo>
                <a:lnTo>
                  <a:pt x="54337" y="351217"/>
                </a:lnTo>
                <a:lnTo>
                  <a:pt x="44180" y="396854"/>
                </a:lnTo>
                <a:lnTo>
                  <a:pt x="35039" y="442865"/>
                </a:lnTo>
                <a:lnTo>
                  <a:pt x="26927" y="489239"/>
                </a:lnTo>
                <a:lnTo>
                  <a:pt x="19857" y="535962"/>
                </a:lnTo>
                <a:lnTo>
                  <a:pt x="13841" y="583024"/>
                </a:lnTo>
                <a:lnTo>
                  <a:pt x="8891" y="630410"/>
                </a:lnTo>
                <a:lnTo>
                  <a:pt x="5020" y="678109"/>
                </a:lnTo>
                <a:lnTo>
                  <a:pt x="2239" y="726108"/>
                </a:lnTo>
                <a:lnTo>
                  <a:pt x="561" y="774396"/>
                </a:lnTo>
                <a:lnTo>
                  <a:pt x="0" y="822960"/>
                </a:lnTo>
                <a:lnTo>
                  <a:pt x="561" y="871523"/>
                </a:lnTo>
                <a:lnTo>
                  <a:pt x="2239" y="919811"/>
                </a:lnTo>
                <a:lnTo>
                  <a:pt x="5020" y="967810"/>
                </a:lnTo>
                <a:lnTo>
                  <a:pt x="8891" y="1015509"/>
                </a:lnTo>
                <a:lnTo>
                  <a:pt x="13841" y="1062895"/>
                </a:lnTo>
                <a:lnTo>
                  <a:pt x="19857" y="1109957"/>
                </a:lnTo>
                <a:lnTo>
                  <a:pt x="26927" y="1156680"/>
                </a:lnTo>
                <a:lnTo>
                  <a:pt x="35039" y="1203054"/>
                </a:lnTo>
                <a:lnTo>
                  <a:pt x="44180" y="1249065"/>
                </a:lnTo>
                <a:lnTo>
                  <a:pt x="54337" y="1294702"/>
                </a:lnTo>
                <a:lnTo>
                  <a:pt x="65499" y="1339952"/>
                </a:lnTo>
                <a:lnTo>
                  <a:pt x="77653" y="1384802"/>
                </a:lnTo>
                <a:lnTo>
                  <a:pt x="90786" y="1429241"/>
                </a:lnTo>
                <a:lnTo>
                  <a:pt x="104887" y="1473256"/>
                </a:lnTo>
                <a:lnTo>
                  <a:pt x="119943" y="1516835"/>
                </a:lnTo>
                <a:lnTo>
                  <a:pt x="135942" y="1559965"/>
                </a:lnTo>
                <a:lnTo>
                  <a:pt x="152871" y="1602634"/>
                </a:lnTo>
                <a:lnTo>
                  <a:pt x="170718" y="1644830"/>
                </a:lnTo>
                <a:lnTo>
                  <a:pt x="189470" y="1686539"/>
                </a:lnTo>
                <a:lnTo>
                  <a:pt x="209116" y="1727751"/>
                </a:lnTo>
                <a:lnTo>
                  <a:pt x="229643" y="1768453"/>
                </a:lnTo>
                <a:lnTo>
                  <a:pt x="251038" y="1808631"/>
                </a:lnTo>
                <a:lnTo>
                  <a:pt x="273290" y="1848275"/>
                </a:lnTo>
                <a:lnTo>
                  <a:pt x="296385" y="1887370"/>
                </a:lnTo>
                <a:lnTo>
                  <a:pt x="320312" y="1925907"/>
                </a:lnTo>
                <a:lnTo>
                  <a:pt x="345058" y="1963871"/>
                </a:lnTo>
                <a:lnTo>
                  <a:pt x="370611" y="2001250"/>
                </a:lnTo>
                <a:lnTo>
                  <a:pt x="396959" y="2038033"/>
                </a:lnTo>
                <a:lnTo>
                  <a:pt x="424088" y="2074206"/>
                </a:lnTo>
                <a:lnTo>
                  <a:pt x="451988" y="2109758"/>
                </a:lnTo>
                <a:lnTo>
                  <a:pt x="480644" y="2144675"/>
                </a:lnTo>
                <a:lnTo>
                  <a:pt x="510046" y="2178947"/>
                </a:lnTo>
                <a:lnTo>
                  <a:pt x="540181" y="2212560"/>
                </a:lnTo>
                <a:lnTo>
                  <a:pt x="571036" y="2245502"/>
                </a:lnTo>
                <a:lnTo>
                  <a:pt x="602599" y="2277760"/>
                </a:lnTo>
                <a:lnTo>
                  <a:pt x="634857" y="2309323"/>
                </a:lnTo>
                <a:lnTo>
                  <a:pt x="667799" y="2340178"/>
                </a:lnTo>
                <a:lnTo>
                  <a:pt x="701412" y="2370313"/>
                </a:lnTo>
                <a:lnTo>
                  <a:pt x="735684" y="2399715"/>
                </a:lnTo>
                <a:lnTo>
                  <a:pt x="770601" y="2428371"/>
                </a:lnTo>
                <a:lnTo>
                  <a:pt x="806153" y="2456271"/>
                </a:lnTo>
                <a:lnTo>
                  <a:pt x="842326" y="2483400"/>
                </a:lnTo>
                <a:lnTo>
                  <a:pt x="879109" y="2509748"/>
                </a:lnTo>
                <a:lnTo>
                  <a:pt x="916488" y="2535301"/>
                </a:lnTo>
                <a:lnTo>
                  <a:pt x="954452" y="2560047"/>
                </a:lnTo>
                <a:lnTo>
                  <a:pt x="992989" y="2583974"/>
                </a:lnTo>
                <a:lnTo>
                  <a:pt x="1032084" y="2607069"/>
                </a:lnTo>
                <a:lnTo>
                  <a:pt x="1071728" y="2629321"/>
                </a:lnTo>
                <a:lnTo>
                  <a:pt x="1111906" y="2650716"/>
                </a:lnTo>
                <a:lnTo>
                  <a:pt x="1152608" y="2671243"/>
                </a:lnTo>
                <a:lnTo>
                  <a:pt x="1193820" y="2690889"/>
                </a:lnTo>
                <a:lnTo>
                  <a:pt x="1235529" y="2709641"/>
                </a:lnTo>
                <a:lnTo>
                  <a:pt x="1277725" y="2727488"/>
                </a:lnTo>
                <a:lnTo>
                  <a:pt x="1320394" y="2744417"/>
                </a:lnTo>
                <a:lnTo>
                  <a:pt x="1363524" y="2760416"/>
                </a:lnTo>
                <a:lnTo>
                  <a:pt x="1407103" y="2775472"/>
                </a:lnTo>
                <a:lnTo>
                  <a:pt x="1451118" y="2789573"/>
                </a:lnTo>
                <a:lnTo>
                  <a:pt x="1495557" y="2802706"/>
                </a:lnTo>
                <a:lnTo>
                  <a:pt x="1540407" y="2814860"/>
                </a:lnTo>
                <a:lnTo>
                  <a:pt x="1585657" y="2826022"/>
                </a:lnTo>
                <a:lnTo>
                  <a:pt x="1631294" y="2836179"/>
                </a:lnTo>
                <a:lnTo>
                  <a:pt x="1677305" y="2845320"/>
                </a:lnTo>
                <a:lnTo>
                  <a:pt x="1723679" y="2853432"/>
                </a:lnTo>
                <a:lnTo>
                  <a:pt x="1770402" y="2860502"/>
                </a:lnTo>
                <a:lnTo>
                  <a:pt x="1817464" y="2866518"/>
                </a:lnTo>
                <a:lnTo>
                  <a:pt x="1864850" y="2871468"/>
                </a:lnTo>
                <a:lnTo>
                  <a:pt x="1912549" y="2875339"/>
                </a:lnTo>
                <a:lnTo>
                  <a:pt x="1960548" y="2878120"/>
                </a:lnTo>
                <a:lnTo>
                  <a:pt x="2008836" y="2879798"/>
                </a:lnTo>
                <a:lnTo>
                  <a:pt x="2057400" y="2880360"/>
                </a:lnTo>
                <a:lnTo>
                  <a:pt x="2105963" y="2879798"/>
                </a:lnTo>
                <a:lnTo>
                  <a:pt x="2154251" y="2878120"/>
                </a:lnTo>
                <a:lnTo>
                  <a:pt x="2202250" y="2875339"/>
                </a:lnTo>
                <a:lnTo>
                  <a:pt x="2249949" y="2871468"/>
                </a:lnTo>
                <a:lnTo>
                  <a:pt x="2297335" y="2866518"/>
                </a:lnTo>
                <a:lnTo>
                  <a:pt x="2344397" y="2860502"/>
                </a:lnTo>
                <a:lnTo>
                  <a:pt x="2391120" y="2853432"/>
                </a:lnTo>
                <a:lnTo>
                  <a:pt x="2437494" y="2845320"/>
                </a:lnTo>
                <a:lnTo>
                  <a:pt x="2483505" y="2836179"/>
                </a:lnTo>
                <a:lnTo>
                  <a:pt x="2529142" y="2826022"/>
                </a:lnTo>
                <a:lnTo>
                  <a:pt x="2560320" y="2818331"/>
                </a:lnTo>
                <a:lnTo>
                  <a:pt x="2560320" y="0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0861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342900" y="0"/>
                </a:moveTo>
                <a:lnTo>
                  <a:pt x="294910" y="658"/>
                </a:lnTo>
                <a:lnTo>
                  <a:pt x="247247" y="2623"/>
                </a:lnTo>
                <a:lnTo>
                  <a:pt x="199927" y="5876"/>
                </a:lnTo>
                <a:lnTo>
                  <a:pt x="152968" y="10401"/>
                </a:lnTo>
                <a:lnTo>
                  <a:pt x="106386" y="16180"/>
                </a:lnTo>
                <a:lnTo>
                  <a:pt x="60200" y="23196"/>
                </a:lnTo>
                <a:lnTo>
                  <a:pt x="14425" y="31432"/>
                </a:lnTo>
                <a:lnTo>
                  <a:pt x="0" y="34434"/>
                </a:lnTo>
                <a:lnTo>
                  <a:pt x="0" y="2057400"/>
                </a:lnTo>
                <a:lnTo>
                  <a:pt x="2022965" y="2057400"/>
                </a:lnTo>
                <a:lnTo>
                  <a:pt x="2025967" y="2042974"/>
                </a:lnTo>
                <a:lnTo>
                  <a:pt x="2034203" y="1997199"/>
                </a:lnTo>
                <a:lnTo>
                  <a:pt x="2041219" y="1951013"/>
                </a:lnTo>
                <a:lnTo>
                  <a:pt x="2046998" y="1904431"/>
                </a:lnTo>
                <a:lnTo>
                  <a:pt x="2051523" y="1857472"/>
                </a:lnTo>
                <a:lnTo>
                  <a:pt x="2054776" y="1810152"/>
                </a:lnTo>
                <a:lnTo>
                  <a:pt x="2056741" y="1762489"/>
                </a:lnTo>
                <a:lnTo>
                  <a:pt x="2057400" y="1714500"/>
                </a:lnTo>
                <a:lnTo>
                  <a:pt x="2056741" y="1666509"/>
                </a:lnTo>
                <a:lnTo>
                  <a:pt x="2054776" y="1618844"/>
                </a:lnTo>
                <a:lnTo>
                  <a:pt x="2051523" y="1571524"/>
                </a:lnTo>
                <a:lnTo>
                  <a:pt x="2046998" y="1524563"/>
                </a:lnTo>
                <a:lnTo>
                  <a:pt x="2041219" y="1477981"/>
                </a:lnTo>
                <a:lnTo>
                  <a:pt x="2034203" y="1431793"/>
                </a:lnTo>
                <a:lnTo>
                  <a:pt x="2025967" y="1386018"/>
                </a:lnTo>
                <a:lnTo>
                  <a:pt x="2016528" y="1340672"/>
                </a:lnTo>
                <a:lnTo>
                  <a:pt x="2005904" y="1295773"/>
                </a:lnTo>
                <a:lnTo>
                  <a:pt x="1994111" y="1251338"/>
                </a:lnTo>
                <a:lnTo>
                  <a:pt x="1981167" y="1207383"/>
                </a:lnTo>
                <a:lnTo>
                  <a:pt x="1967090" y="1163927"/>
                </a:lnTo>
                <a:lnTo>
                  <a:pt x="1951895" y="1120986"/>
                </a:lnTo>
                <a:lnTo>
                  <a:pt x="1935600" y="1078577"/>
                </a:lnTo>
                <a:lnTo>
                  <a:pt x="1918224" y="1036718"/>
                </a:lnTo>
                <a:lnTo>
                  <a:pt x="1899782" y="995426"/>
                </a:lnTo>
                <a:lnTo>
                  <a:pt x="1880291" y="954718"/>
                </a:lnTo>
                <a:lnTo>
                  <a:pt x="1859770" y="914611"/>
                </a:lnTo>
                <a:lnTo>
                  <a:pt x="1838236" y="875123"/>
                </a:lnTo>
                <a:lnTo>
                  <a:pt x="1815704" y="836271"/>
                </a:lnTo>
                <a:lnTo>
                  <a:pt x="1792194" y="798071"/>
                </a:lnTo>
                <a:lnTo>
                  <a:pt x="1767721" y="760541"/>
                </a:lnTo>
                <a:lnTo>
                  <a:pt x="1742303" y="723698"/>
                </a:lnTo>
                <a:lnTo>
                  <a:pt x="1715958" y="687560"/>
                </a:lnTo>
                <a:lnTo>
                  <a:pt x="1688702" y="652143"/>
                </a:lnTo>
                <a:lnTo>
                  <a:pt x="1660552" y="617465"/>
                </a:lnTo>
                <a:lnTo>
                  <a:pt x="1631526" y="583543"/>
                </a:lnTo>
                <a:lnTo>
                  <a:pt x="1601642" y="550394"/>
                </a:lnTo>
                <a:lnTo>
                  <a:pt x="1570915" y="518035"/>
                </a:lnTo>
                <a:lnTo>
                  <a:pt x="1539364" y="486484"/>
                </a:lnTo>
                <a:lnTo>
                  <a:pt x="1507005" y="455757"/>
                </a:lnTo>
                <a:lnTo>
                  <a:pt x="1473856" y="425873"/>
                </a:lnTo>
                <a:lnTo>
                  <a:pt x="1439934" y="396847"/>
                </a:lnTo>
                <a:lnTo>
                  <a:pt x="1405256" y="368697"/>
                </a:lnTo>
                <a:lnTo>
                  <a:pt x="1369839" y="341441"/>
                </a:lnTo>
                <a:lnTo>
                  <a:pt x="1333701" y="315096"/>
                </a:lnTo>
                <a:lnTo>
                  <a:pt x="1296858" y="289678"/>
                </a:lnTo>
                <a:lnTo>
                  <a:pt x="1259328" y="265205"/>
                </a:lnTo>
                <a:lnTo>
                  <a:pt x="1221128" y="241695"/>
                </a:lnTo>
                <a:lnTo>
                  <a:pt x="1182276" y="219163"/>
                </a:lnTo>
                <a:lnTo>
                  <a:pt x="1142788" y="197629"/>
                </a:lnTo>
                <a:lnTo>
                  <a:pt x="1102681" y="177108"/>
                </a:lnTo>
                <a:lnTo>
                  <a:pt x="1061973" y="157617"/>
                </a:lnTo>
                <a:lnTo>
                  <a:pt x="1020681" y="139175"/>
                </a:lnTo>
                <a:lnTo>
                  <a:pt x="978822" y="121799"/>
                </a:lnTo>
                <a:lnTo>
                  <a:pt x="936413" y="105504"/>
                </a:lnTo>
                <a:lnTo>
                  <a:pt x="893472" y="90309"/>
                </a:lnTo>
                <a:lnTo>
                  <a:pt x="850016" y="76232"/>
                </a:lnTo>
                <a:lnTo>
                  <a:pt x="806061" y="63288"/>
                </a:lnTo>
                <a:lnTo>
                  <a:pt x="761626" y="51495"/>
                </a:lnTo>
                <a:lnTo>
                  <a:pt x="716727" y="40871"/>
                </a:lnTo>
                <a:lnTo>
                  <a:pt x="671381" y="31432"/>
                </a:lnTo>
                <a:lnTo>
                  <a:pt x="625606" y="23196"/>
                </a:lnTo>
                <a:lnTo>
                  <a:pt x="579418" y="16180"/>
                </a:lnTo>
                <a:lnTo>
                  <a:pt x="532836" y="10401"/>
                </a:lnTo>
                <a:lnTo>
                  <a:pt x="485875" y="5876"/>
                </a:lnTo>
                <a:lnTo>
                  <a:pt x="438555" y="2623"/>
                </a:lnTo>
                <a:lnTo>
                  <a:pt x="390890" y="658"/>
                </a:lnTo>
                <a:lnTo>
                  <a:pt x="342900" y="0"/>
                </a:lnTo>
                <a:close/>
              </a:path>
            </a:pathLst>
          </a:custGeom>
          <a:solidFill>
            <a:srgbClr val="D5880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95959" y="1550619"/>
            <a:ext cx="1240790" cy="105600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750" spc="-25">
                <a:solidFill>
                  <a:srgbClr val="4471C4"/>
                </a:solidFill>
              </a:rPr>
              <a:t>1.5</a:t>
            </a:r>
            <a:endParaRPr sz="6750"/>
          </a:p>
        </p:txBody>
      </p:sp>
      <p:sp>
        <p:nvSpPr>
          <p:cNvPr id="5" name="object 5"/>
          <p:cNvSpPr txBox="1"/>
          <p:nvPr/>
        </p:nvSpPr>
        <p:spPr>
          <a:xfrm>
            <a:off x="730402" y="2725623"/>
            <a:ext cx="5072380" cy="8807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spc="-10" b="1">
                <a:solidFill>
                  <a:srgbClr val="FF4500"/>
                </a:solidFill>
                <a:latin typeface="Cambria"/>
                <a:cs typeface="Cambria"/>
              </a:rPr>
              <a:t>Architecture</a:t>
            </a:r>
            <a:r>
              <a:rPr dirty="0" sz="2550" spc="-70" b="1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 b="1">
                <a:solidFill>
                  <a:srgbClr val="FF4500"/>
                </a:solidFill>
                <a:latin typeface="Cambria"/>
                <a:cs typeface="Cambria"/>
              </a:rPr>
              <a:t>générale</a:t>
            </a:r>
            <a:r>
              <a:rPr dirty="0" sz="2550" spc="-100" b="1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 b="1">
                <a:solidFill>
                  <a:srgbClr val="FF4500"/>
                </a:solidFill>
                <a:latin typeface="Cambria"/>
                <a:cs typeface="Cambria"/>
              </a:rPr>
              <a:t>d'un</a:t>
            </a:r>
            <a:r>
              <a:rPr dirty="0" sz="2550" spc="-110" b="1">
                <a:solidFill>
                  <a:srgbClr val="FF4500"/>
                </a:solidFill>
                <a:latin typeface="Cambria"/>
                <a:cs typeface="Cambria"/>
              </a:rPr>
              <a:t> </a:t>
            </a:r>
            <a:r>
              <a:rPr dirty="0" sz="2550" spc="-25" b="1">
                <a:solidFill>
                  <a:srgbClr val="FF4500"/>
                </a:solidFill>
                <a:latin typeface="Cambria"/>
                <a:cs typeface="Cambria"/>
              </a:rPr>
              <a:t>OS</a:t>
            </a:r>
            <a:endParaRPr sz="2550">
              <a:latin typeface="Cambria"/>
              <a:cs typeface="Cambria"/>
            </a:endParaRPr>
          </a:p>
          <a:p>
            <a:pPr marL="46355">
              <a:lnSpc>
                <a:spcPct val="100000"/>
              </a:lnSpc>
              <a:spcBef>
                <a:spcPts val="1995"/>
              </a:spcBef>
            </a:pP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Comment</a:t>
            </a:r>
            <a:r>
              <a:rPr dirty="0" sz="1400" spc="-1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un </a:t>
            </a:r>
            <a:r>
              <a:rPr dirty="0" sz="1400" spc="-10" b="1" i="1">
                <a:solidFill>
                  <a:srgbClr val="333E50"/>
                </a:solidFill>
                <a:latin typeface="Calibri"/>
                <a:cs typeface="Calibri"/>
              </a:rPr>
              <a:t>système d'exploitation</a:t>
            </a:r>
            <a:r>
              <a:rPr dirty="0" sz="1400" spc="-3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spc="-25" b="1" i="1">
                <a:solidFill>
                  <a:srgbClr val="333E50"/>
                </a:solidFill>
                <a:latin typeface="Calibri"/>
                <a:cs typeface="Calibri"/>
              </a:rPr>
              <a:t>est-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il</a:t>
            </a:r>
            <a:r>
              <a:rPr dirty="0" sz="1400" spc="1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spc="-10" b="1" i="1">
                <a:solidFill>
                  <a:srgbClr val="333E50"/>
                </a:solidFill>
                <a:latin typeface="Calibri"/>
                <a:cs typeface="Calibri"/>
              </a:rPr>
              <a:t>construit</a:t>
            </a:r>
            <a:r>
              <a:rPr dirty="0" sz="1400" spc="-2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«</a:t>
            </a:r>
            <a:r>
              <a:rPr dirty="0" sz="1400" spc="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à</a:t>
            </a:r>
            <a:r>
              <a:rPr dirty="0" sz="1400" spc="-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spc="-10" b="1" i="1">
                <a:solidFill>
                  <a:srgbClr val="333E50"/>
                </a:solidFill>
                <a:latin typeface="Calibri"/>
                <a:cs typeface="Calibri"/>
              </a:rPr>
              <a:t>l'intérieur </a:t>
            </a:r>
            <a:r>
              <a:rPr dirty="0" sz="1400" b="1" i="1">
                <a:solidFill>
                  <a:srgbClr val="333E50"/>
                </a:solidFill>
                <a:latin typeface="Calibri"/>
                <a:cs typeface="Calibri"/>
              </a:rPr>
              <a:t>»</a:t>
            </a:r>
            <a:r>
              <a:rPr dirty="0" sz="1400" spc="5" b="1" i="1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dirty="0" sz="1400" spc="-50" b="1" i="1">
                <a:solidFill>
                  <a:srgbClr val="333E50"/>
                </a:solidFill>
                <a:latin typeface="Calibri"/>
                <a:cs typeface="Calibri"/>
              </a:rPr>
              <a:t>?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4824476"/>
            <a:ext cx="5162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888888"/>
                </a:solidFill>
                <a:latin typeface="Calibri"/>
                <a:cs typeface="Calibri"/>
              </a:rPr>
              <a:t>05/10/2026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72714" y="4824476"/>
            <a:ext cx="279971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888888"/>
                </a:solidFill>
                <a:latin typeface="Calibri"/>
                <a:cs typeface="Calibri"/>
              </a:rPr>
              <a:t>Pr.</a:t>
            </a:r>
            <a:r>
              <a:rPr dirty="0" sz="8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88888"/>
                </a:solidFill>
                <a:latin typeface="Calibri"/>
                <a:cs typeface="Calibri"/>
              </a:rPr>
              <a:t>A.</a:t>
            </a:r>
            <a:r>
              <a:rPr dirty="0" sz="800" spc="-2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88888"/>
                </a:solidFill>
                <a:latin typeface="Calibri"/>
                <a:cs typeface="Calibri"/>
              </a:rPr>
              <a:t>HAJAMI</a:t>
            </a:r>
            <a:r>
              <a:rPr dirty="0" sz="800" spc="-2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dirty="0" sz="800" spc="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88888"/>
                </a:solidFill>
                <a:latin typeface="Calibri"/>
                <a:cs typeface="Calibri"/>
              </a:rPr>
              <a:t>Systèmes</a:t>
            </a:r>
            <a:r>
              <a:rPr dirty="0" sz="800" spc="-2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888888"/>
                </a:solidFill>
                <a:latin typeface="Calibri"/>
                <a:cs typeface="Calibri"/>
              </a:rPr>
              <a:t>d'Exploitation</a:t>
            </a:r>
            <a:r>
              <a:rPr dirty="0" sz="800" spc="2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88888"/>
                </a:solidFill>
                <a:latin typeface="Calibri"/>
                <a:cs typeface="Calibri"/>
              </a:rPr>
              <a:t>—</a:t>
            </a:r>
            <a:r>
              <a:rPr dirty="0" sz="800" spc="-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88888"/>
                </a:solidFill>
                <a:latin typeface="Calibri"/>
                <a:cs typeface="Calibri"/>
              </a:rPr>
              <a:t>Chapitre</a:t>
            </a:r>
            <a:r>
              <a:rPr dirty="0" sz="800" spc="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dirty="0" sz="8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88888"/>
                </a:solidFill>
                <a:latin typeface="Calibri"/>
                <a:cs typeface="Calibri"/>
              </a:rPr>
              <a:t>:</a:t>
            </a:r>
            <a:r>
              <a:rPr dirty="0" sz="8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888888"/>
                </a:solidFill>
                <a:latin typeface="Calibri"/>
                <a:cs typeface="Calibri"/>
              </a:rPr>
              <a:t>Introduction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7451" y="4824476"/>
            <a:ext cx="12953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888888"/>
                </a:solidFill>
                <a:latin typeface="Calibri"/>
                <a:cs typeface="Calibri"/>
              </a:rPr>
              <a:t>43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219" y="299415"/>
            <a:ext cx="11328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1.5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D5880F"/>
                </a:solidFill>
                <a:latin typeface="Calibri"/>
                <a:cs typeface="Calibri"/>
              </a:rPr>
              <a:t>ARCHITECTURE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219" y="556005"/>
            <a:ext cx="5384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Structure</a:t>
            </a:r>
            <a:r>
              <a:rPr dirty="0" sz="2400" spc="-2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en</a:t>
            </a:r>
            <a:r>
              <a:rPr dirty="0" sz="2400" spc="-6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couches</a:t>
            </a:r>
            <a:r>
              <a:rPr dirty="0" sz="2400" spc="-6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d’un</a:t>
            </a:r>
            <a:r>
              <a:rPr dirty="0" sz="24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SE</a:t>
            </a:r>
            <a:r>
              <a:rPr dirty="0" sz="2400" spc="-6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moderne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8927" y="1143000"/>
            <a:ext cx="6179820" cy="352348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125595" y="2684526"/>
            <a:ext cx="4908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alibri"/>
                <a:cs typeface="Calibri"/>
              </a:rPr>
              <a:t>Noyau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5926" y="1619757"/>
            <a:ext cx="1278255" cy="86804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alibri"/>
                <a:cs typeface="Calibri"/>
              </a:rPr>
              <a:t>Gestion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fichiers</a:t>
            </a:r>
            <a:endParaRPr sz="1400">
              <a:latin typeface="Calibri"/>
              <a:cs typeface="Calibri"/>
            </a:endParaRPr>
          </a:p>
          <a:p>
            <a:pPr marL="12700" marR="5080" indent="151765">
              <a:lnSpc>
                <a:spcPct val="134300"/>
              </a:lnSpc>
              <a:spcBef>
                <a:spcPts val="434"/>
              </a:spcBef>
            </a:pPr>
            <a:r>
              <a:rPr dirty="0" sz="1400" spc="-10">
                <a:latin typeface="Calibri"/>
                <a:cs typeface="Calibri"/>
              </a:rPr>
              <a:t>Gestion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E/S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Gestion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mémoire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62421" y="2626614"/>
            <a:ext cx="13627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(Pilotes)</a:t>
            </a:r>
            <a:r>
              <a:rPr dirty="0" sz="1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Gestionnaire</a:t>
            </a:r>
            <a:endParaRPr sz="12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périphériques,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299415"/>
            <a:ext cx="11328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0" b="1">
                <a:solidFill>
                  <a:srgbClr val="D5880F"/>
                </a:solidFill>
                <a:latin typeface="Calibri"/>
                <a:cs typeface="Calibri"/>
              </a:rPr>
              <a:t>1.5</a:t>
            </a:r>
            <a:r>
              <a:rPr dirty="0" sz="950" spc="17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D5880F"/>
                </a:solidFill>
                <a:latin typeface="Calibri"/>
                <a:cs typeface="Calibri"/>
              </a:rPr>
              <a:t>ARCHITECTURE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556005"/>
            <a:ext cx="5019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Trois</a:t>
            </a:r>
            <a:r>
              <a:rPr dirty="0" sz="2400" spc="-5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façons</a:t>
            </a:r>
            <a:r>
              <a:rPr dirty="0" sz="2400" spc="-6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de</a:t>
            </a:r>
            <a:r>
              <a:rPr dirty="0" sz="24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construire</a:t>
            </a:r>
            <a:r>
              <a:rPr dirty="0" sz="2400" spc="-50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1F385F"/>
                </a:solidFill>
                <a:latin typeface="Cambria"/>
                <a:cs typeface="Cambria"/>
              </a:rPr>
              <a:t>un</a:t>
            </a:r>
            <a:r>
              <a:rPr dirty="0" sz="2400" spc="-55" b="1">
                <a:solidFill>
                  <a:srgbClr val="1F385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F385F"/>
                </a:solidFill>
                <a:latin typeface="Cambria"/>
                <a:cs typeface="Cambria"/>
              </a:rPr>
              <a:t>noyau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2544" y="1303019"/>
            <a:ext cx="2571115" cy="2811780"/>
            <a:chOff x="542544" y="1303019"/>
            <a:chExt cx="2571115" cy="2811780"/>
          </a:xfrm>
        </p:grpSpPr>
        <p:sp>
          <p:nvSpPr>
            <p:cNvPr id="5" name="object 5"/>
            <p:cNvSpPr/>
            <p:nvPr/>
          </p:nvSpPr>
          <p:spPr>
            <a:xfrm>
              <a:off x="542544" y="1303019"/>
              <a:ext cx="2571115" cy="2811780"/>
            </a:xfrm>
            <a:custGeom>
              <a:avLst/>
              <a:gdLst/>
              <a:ahLst/>
              <a:cxnLst/>
              <a:rect l="l" t="t" r="r" b="b"/>
              <a:pathLst>
                <a:path w="2571115" h="2811779">
                  <a:moveTo>
                    <a:pt x="2468118" y="0"/>
                  </a:moveTo>
                  <a:lnTo>
                    <a:pt x="102844" y="0"/>
                  </a:lnTo>
                  <a:lnTo>
                    <a:pt x="62809" y="8090"/>
                  </a:lnTo>
                  <a:lnTo>
                    <a:pt x="30119" y="30146"/>
                  </a:lnTo>
                  <a:lnTo>
                    <a:pt x="8080" y="62847"/>
                  </a:lnTo>
                  <a:lnTo>
                    <a:pt x="0" y="102869"/>
                  </a:lnTo>
                  <a:lnTo>
                    <a:pt x="0" y="2708935"/>
                  </a:lnTo>
                  <a:lnTo>
                    <a:pt x="8080" y="2748970"/>
                  </a:lnTo>
                  <a:lnTo>
                    <a:pt x="30119" y="2781660"/>
                  </a:lnTo>
                  <a:lnTo>
                    <a:pt x="62809" y="2803699"/>
                  </a:lnTo>
                  <a:lnTo>
                    <a:pt x="102844" y="2811779"/>
                  </a:lnTo>
                  <a:lnTo>
                    <a:pt x="2468118" y="2811779"/>
                  </a:lnTo>
                  <a:lnTo>
                    <a:pt x="2508140" y="2803699"/>
                  </a:lnTo>
                  <a:lnTo>
                    <a:pt x="2540841" y="2781660"/>
                  </a:lnTo>
                  <a:lnTo>
                    <a:pt x="2562897" y="2748970"/>
                  </a:lnTo>
                  <a:lnTo>
                    <a:pt x="2570988" y="2708935"/>
                  </a:lnTo>
                  <a:lnTo>
                    <a:pt x="2570988" y="102869"/>
                  </a:lnTo>
                  <a:lnTo>
                    <a:pt x="2562897" y="62847"/>
                  </a:lnTo>
                  <a:lnTo>
                    <a:pt x="2540841" y="30146"/>
                  </a:lnTo>
                  <a:lnTo>
                    <a:pt x="2508140" y="8090"/>
                  </a:lnTo>
                  <a:lnTo>
                    <a:pt x="2468118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2544" y="1303019"/>
              <a:ext cx="2571115" cy="1371600"/>
            </a:xfrm>
            <a:custGeom>
              <a:avLst/>
              <a:gdLst/>
              <a:ahLst/>
              <a:cxnLst/>
              <a:rect l="l" t="t" r="r" b="b"/>
              <a:pathLst>
                <a:path w="2571115" h="1371600">
                  <a:moveTo>
                    <a:pt x="1594104" y="1062990"/>
                  </a:moveTo>
                  <a:lnTo>
                    <a:pt x="1590751" y="1017397"/>
                  </a:lnTo>
                  <a:lnTo>
                    <a:pt x="1581035" y="973874"/>
                  </a:lnTo>
                  <a:lnTo>
                    <a:pt x="1565414" y="932891"/>
                  </a:lnTo>
                  <a:lnTo>
                    <a:pt x="1544370" y="894956"/>
                  </a:lnTo>
                  <a:lnTo>
                    <a:pt x="1518399" y="860526"/>
                  </a:lnTo>
                  <a:lnTo>
                    <a:pt x="1487957" y="830084"/>
                  </a:lnTo>
                  <a:lnTo>
                    <a:pt x="1453527" y="804113"/>
                  </a:lnTo>
                  <a:lnTo>
                    <a:pt x="1415592" y="783069"/>
                  </a:lnTo>
                  <a:lnTo>
                    <a:pt x="1374609" y="767448"/>
                  </a:lnTo>
                  <a:lnTo>
                    <a:pt x="1331087" y="757732"/>
                  </a:lnTo>
                  <a:lnTo>
                    <a:pt x="1285494" y="754380"/>
                  </a:lnTo>
                  <a:lnTo>
                    <a:pt x="1239888" y="757732"/>
                  </a:lnTo>
                  <a:lnTo>
                    <a:pt x="1196365" y="767448"/>
                  </a:lnTo>
                  <a:lnTo>
                    <a:pt x="1155382" y="783069"/>
                  </a:lnTo>
                  <a:lnTo>
                    <a:pt x="1117447" y="804113"/>
                  </a:lnTo>
                  <a:lnTo>
                    <a:pt x="1083017" y="830084"/>
                  </a:lnTo>
                  <a:lnTo>
                    <a:pt x="1052576" y="860526"/>
                  </a:lnTo>
                  <a:lnTo>
                    <a:pt x="1026604" y="894956"/>
                  </a:lnTo>
                  <a:lnTo>
                    <a:pt x="1005560" y="932891"/>
                  </a:lnTo>
                  <a:lnTo>
                    <a:pt x="989939" y="973874"/>
                  </a:lnTo>
                  <a:lnTo>
                    <a:pt x="980224" y="1017397"/>
                  </a:lnTo>
                  <a:lnTo>
                    <a:pt x="976884" y="1062990"/>
                  </a:lnTo>
                  <a:lnTo>
                    <a:pt x="980224" y="1108595"/>
                  </a:lnTo>
                  <a:lnTo>
                    <a:pt x="989939" y="1152118"/>
                  </a:lnTo>
                  <a:lnTo>
                    <a:pt x="1005560" y="1193101"/>
                  </a:lnTo>
                  <a:lnTo>
                    <a:pt x="1026604" y="1231036"/>
                  </a:lnTo>
                  <a:lnTo>
                    <a:pt x="1052576" y="1265466"/>
                  </a:lnTo>
                  <a:lnTo>
                    <a:pt x="1083017" y="1295908"/>
                  </a:lnTo>
                  <a:lnTo>
                    <a:pt x="1117447" y="1321879"/>
                  </a:lnTo>
                  <a:lnTo>
                    <a:pt x="1155382" y="1342923"/>
                  </a:lnTo>
                  <a:lnTo>
                    <a:pt x="1196365" y="1358544"/>
                  </a:lnTo>
                  <a:lnTo>
                    <a:pt x="1239888" y="1368259"/>
                  </a:lnTo>
                  <a:lnTo>
                    <a:pt x="1285494" y="1371600"/>
                  </a:lnTo>
                  <a:lnTo>
                    <a:pt x="1331087" y="1368259"/>
                  </a:lnTo>
                  <a:lnTo>
                    <a:pt x="1374609" y="1358544"/>
                  </a:lnTo>
                  <a:lnTo>
                    <a:pt x="1415592" y="1342923"/>
                  </a:lnTo>
                  <a:lnTo>
                    <a:pt x="1453527" y="1321879"/>
                  </a:lnTo>
                  <a:lnTo>
                    <a:pt x="1487957" y="1295908"/>
                  </a:lnTo>
                  <a:lnTo>
                    <a:pt x="1518399" y="1265466"/>
                  </a:lnTo>
                  <a:lnTo>
                    <a:pt x="1544370" y="1231036"/>
                  </a:lnTo>
                  <a:lnTo>
                    <a:pt x="1565414" y="1193101"/>
                  </a:lnTo>
                  <a:lnTo>
                    <a:pt x="1581035" y="1152118"/>
                  </a:lnTo>
                  <a:lnTo>
                    <a:pt x="1590751" y="1108595"/>
                  </a:lnTo>
                  <a:lnTo>
                    <a:pt x="1594104" y="1062990"/>
                  </a:lnTo>
                  <a:close/>
                </a:path>
                <a:path w="2571115" h="1371600">
                  <a:moveTo>
                    <a:pt x="2570988" y="102870"/>
                  </a:moveTo>
                  <a:lnTo>
                    <a:pt x="2562885" y="62852"/>
                  </a:lnTo>
                  <a:lnTo>
                    <a:pt x="2540838" y="30149"/>
                  </a:lnTo>
                  <a:lnTo>
                    <a:pt x="2508135" y="8102"/>
                  </a:lnTo>
                  <a:lnTo>
                    <a:pt x="2468118" y="0"/>
                  </a:lnTo>
                  <a:lnTo>
                    <a:pt x="102870" y="0"/>
                  </a:lnTo>
                  <a:lnTo>
                    <a:pt x="62826" y="8102"/>
                  </a:lnTo>
                  <a:lnTo>
                    <a:pt x="30124" y="30149"/>
                  </a:lnTo>
                  <a:lnTo>
                    <a:pt x="8077" y="62852"/>
                  </a:lnTo>
                  <a:lnTo>
                    <a:pt x="0" y="102870"/>
                  </a:lnTo>
                  <a:lnTo>
                    <a:pt x="0" y="309372"/>
                  </a:lnTo>
                  <a:lnTo>
                    <a:pt x="0" y="514362"/>
                  </a:lnTo>
                  <a:lnTo>
                    <a:pt x="0" y="617220"/>
                  </a:lnTo>
                  <a:lnTo>
                    <a:pt x="102870" y="617220"/>
                  </a:lnTo>
                  <a:lnTo>
                    <a:pt x="2468118" y="617220"/>
                  </a:lnTo>
                  <a:lnTo>
                    <a:pt x="2570988" y="617220"/>
                  </a:lnTo>
                  <a:lnTo>
                    <a:pt x="2570988" y="514362"/>
                  </a:lnTo>
                  <a:lnTo>
                    <a:pt x="2570988" y="309372"/>
                  </a:lnTo>
                  <a:lnTo>
                    <a:pt x="2570988" y="10287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/home/claude/ppt/icons/cube_FFFFFF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7255" y="2205227"/>
              <a:ext cx="321563" cy="3215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55852" y="1491183"/>
            <a:ext cx="94488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Monolithique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3788" y="3077667"/>
            <a:ext cx="1967230" cy="312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Tous</a:t>
            </a:r>
            <a:r>
              <a:rPr dirty="0" sz="900" spc="7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les</a:t>
            </a:r>
            <a:r>
              <a:rPr dirty="0" sz="900" spc="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services</a:t>
            </a:r>
            <a:r>
              <a:rPr dirty="0" sz="900" spc="4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regroupés</a:t>
            </a:r>
            <a:r>
              <a:rPr dirty="0" sz="900" spc="3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dans</a:t>
            </a:r>
            <a:r>
              <a:rPr dirty="0" sz="900" spc="5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r>
              <a:rPr dirty="0" sz="900" spc="5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2233"/>
                </a:solidFill>
                <a:latin typeface="Calibri"/>
                <a:cs typeface="Calibri"/>
              </a:rPr>
              <a:t>seul</a:t>
            </a:r>
            <a:endParaRPr sz="9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grand</a:t>
            </a:r>
            <a:r>
              <a:rPr dirty="0" sz="900" spc="6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2233"/>
                </a:solidFill>
                <a:latin typeface="Calibri"/>
                <a:cs typeface="Calibri"/>
              </a:rPr>
              <a:t>bloc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77824" y="3695700"/>
            <a:ext cx="1900555" cy="303530"/>
            <a:chOff x="877824" y="3695700"/>
            <a:chExt cx="1900555" cy="303530"/>
          </a:xfrm>
        </p:grpSpPr>
        <p:sp>
          <p:nvSpPr>
            <p:cNvPr id="11" name="object 11"/>
            <p:cNvSpPr/>
            <p:nvPr/>
          </p:nvSpPr>
          <p:spPr>
            <a:xfrm>
              <a:off x="885444" y="3703320"/>
              <a:ext cx="1885314" cy="288290"/>
            </a:xfrm>
            <a:custGeom>
              <a:avLst/>
              <a:gdLst/>
              <a:ahLst/>
              <a:cxnLst/>
              <a:rect l="l" t="t" r="r" b="b"/>
              <a:pathLst>
                <a:path w="1885314" h="288289">
                  <a:moveTo>
                    <a:pt x="1830324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233171"/>
                  </a:lnTo>
                  <a:lnTo>
                    <a:pt x="4311" y="254528"/>
                  </a:lnTo>
                  <a:lnTo>
                    <a:pt x="16068" y="271967"/>
                  </a:lnTo>
                  <a:lnTo>
                    <a:pt x="33507" y="283724"/>
                  </a:lnTo>
                  <a:lnTo>
                    <a:pt x="54864" y="288035"/>
                  </a:lnTo>
                  <a:lnTo>
                    <a:pt x="1830324" y="288035"/>
                  </a:lnTo>
                  <a:lnTo>
                    <a:pt x="1851701" y="283724"/>
                  </a:lnTo>
                  <a:lnTo>
                    <a:pt x="1869138" y="271967"/>
                  </a:lnTo>
                  <a:lnTo>
                    <a:pt x="1880883" y="254528"/>
                  </a:lnTo>
                  <a:lnTo>
                    <a:pt x="1885188" y="233171"/>
                  </a:lnTo>
                  <a:lnTo>
                    <a:pt x="1885188" y="54863"/>
                  </a:lnTo>
                  <a:lnTo>
                    <a:pt x="1880883" y="33486"/>
                  </a:lnTo>
                  <a:lnTo>
                    <a:pt x="1869138" y="16049"/>
                  </a:lnTo>
                  <a:lnTo>
                    <a:pt x="1851701" y="4304"/>
                  </a:lnTo>
                  <a:lnTo>
                    <a:pt x="1830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85444" y="3703320"/>
              <a:ext cx="1885314" cy="288290"/>
            </a:xfrm>
            <a:custGeom>
              <a:avLst/>
              <a:gdLst/>
              <a:ahLst/>
              <a:cxnLst/>
              <a:rect l="l" t="t" r="r" b="b"/>
              <a:pathLst>
                <a:path w="1885314" h="28828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830324" y="0"/>
                  </a:lnTo>
                  <a:lnTo>
                    <a:pt x="1851701" y="4304"/>
                  </a:lnTo>
                  <a:lnTo>
                    <a:pt x="1869138" y="16049"/>
                  </a:lnTo>
                  <a:lnTo>
                    <a:pt x="1880883" y="33486"/>
                  </a:lnTo>
                  <a:lnTo>
                    <a:pt x="1885188" y="54863"/>
                  </a:lnTo>
                  <a:lnTo>
                    <a:pt x="1885188" y="233171"/>
                  </a:lnTo>
                  <a:lnTo>
                    <a:pt x="1880883" y="254528"/>
                  </a:lnTo>
                  <a:lnTo>
                    <a:pt x="1869138" y="271967"/>
                  </a:lnTo>
                  <a:lnTo>
                    <a:pt x="1851701" y="283724"/>
                  </a:lnTo>
                  <a:lnTo>
                    <a:pt x="1830324" y="288035"/>
                  </a:lnTo>
                  <a:lnTo>
                    <a:pt x="54864" y="288035"/>
                  </a:lnTo>
                  <a:lnTo>
                    <a:pt x="33507" y="283724"/>
                  </a:lnTo>
                  <a:lnTo>
                    <a:pt x="16068" y="271967"/>
                  </a:lnTo>
                  <a:lnTo>
                    <a:pt x="4311" y="254528"/>
                  </a:lnTo>
                  <a:lnTo>
                    <a:pt x="0" y="233171"/>
                  </a:lnTo>
                  <a:lnTo>
                    <a:pt x="0" y="54863"/>
                  </a:lnTo>
                  <a:close/>
                </a:path>
              </a:pathLst>
            </a:custGeom>
            <a:ln w="15240">
              <a:solidFill>
                <a:srgbClr val="1F38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586230" y="3762552"/>
            <a:ext cx="482600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b="1">
                <a:solidFill>
                  <a:srgbClr val="1F385F"/>
                </a:solidFill>
                <a:latin typeface="Calibri"/>
                <a:cs typeface="Calibri"/>
              </a:rPr>
              <a:t>Ex.</a:t>
            </a:r>
            <a:r>
              <a:rPr dirty="0" sz="850" spc="10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850" b="1">
                <a:solidFill>
                  <a:srgbClr val="1F385F"/>
                </a:solidFill>
                <a:latin typeface="Calibri"/>
                <a:cs typeface="Calibri"/>
              </a:rPr>
              <a:t>:</a:t>
            </a:r>
            <a:r>
              <a:rPr dirty="0" sz="850" spc="15" b="1">
                <a:solidFill>
                  <a:srgbClr val="1F385F"/>
                </a:solidFill>
                <a:latin typeface="Calibri"/>
                <a:cs typeface="Calibri"/>
              </a:rPr>
              <a:t> </a:t>
            </a:r>
            <a:r>
              <a:rPr dirty="0" sz="850" spc="-10" b="1">
                <a:solidFill>
                  <a:srgbClr val="1F385F"/>
                </a:solidFill>
                <a:latin typeface="Calibri"/>
                <a:cs typeface="Calibri"/>
              </a:rPr>
              <a:t>Linux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85744" y="1303019"/>
            <a:ext cx="2571115" cy="2811780"/>
            <a:chOff x="3285744" y="1303019"/>
            <a:chExt cx="2571115" cy="2811780"/>
          </a:xfrm>
        </p:grpSpPr>
        <p:sp>
          <p:nvSpPr>
            <p:cNvPr id="15" name="object 15"/>
            <p:cNvSpPr/>
            <p:nvPr/>
          </p:nvSpPr>
          <p:spPr>
            <a:xfrm>
              <a:off x="3285744" y="1303019"/>
              <a:ext cx="2571115" cy="2811780"/>
            </a:xfrm>
            <a:custGeom>
              <a:avLst/>
              <a:gdLst/>
              <a:ahLst/>
              <a:cxnLst/>
              <a:rect l="l" t="t" r="r" b="b"/>
              <a:pathLst>
                <a:path w="2571115" h="2811779">
                  <a:moveTo>
                    <a:pt x="2468117" y="0"/>
                  </a:moveTo>
                  <a:lnTo>
                    <a:pt x="102869" y="0"/>
                  </a:lnTo>
                  <a:lnTo>
                    <a:pt x="62847" y="8090"/>
                  </a:lnTo>
                  <a:lnTo>
                    <a:pt x="30146" y="30146"/>
                  </a:lnTo>
                  <a:lnTo>
                    <a:pt x="8090" y="62847"/>
                  </a:lnTo>
                  <a:lnTo>
                    <a:pt x="0" y="102869"/>
                  </a:lnTo>
                  <a:lnTo>
                    <a:pt x="0" y="2708935"/>
                  </a:lnTo>
                  <a:lnTo>
                    <a:pt x="8090" y="2748970"/>
                  </a:lnTo>
                  <a:lnTo>
                    <a:pt x="30146" y="2781660"/>
                  </a:lnTo>
                  <a:lnTo>
                    <a:pt x="62847" y="2803699"/>
                  </a:lnTo>
                  <a:lnTo>
                    <a:pt x="102869" y="2811779"/>
                  </a:lnTo>
                  <a:lnTo>
                    <a:pt x="2468117" y="2811779"/>
                  </a:lnTo>
                  <a:lnTo>
                    <a:pt x="2508140" y="2803699"/>
                  </a:lnTo>
                  <a:lnTo>
                    <a:pt x="2540841" y="2781660"/>
                  </a:lnTo>
                  <a:lnTo>
                    <a:pt x="2562897" y="2748970"/>
                  </a:lnTo>
                  <a:lnTo>
                    <a:pt x="2570988" y="2708935"/>
                  </a:lnTo>
                  <a:lnTo>
                    <a:pt x="2570988" y="102869"/>
                  </a:lnTo>
                  <a:lnTo>
                    <a:pt x="2562897" y="62847"/>
                  </a:lnTo>
                  <a:lnTo>
                    <a:pt x="2540841" y="30146"/>
                  </a:lnTo>
                  <a:lnTo>
                    <a:pt x="2508140" y="8090"/>
                  </a:lnTo>
                  <a:lnTo>
                    <a:pt x="2468117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285744" y="1303019"/>
              <a:ext cx="2571115" cy="1371600"/>
            </a:xfrm>
            <a:custGeom>
              <a:avLst/>
              <a:gdLst/>
              <a:ahLst/>
              <a:cxnLst/>
              <a:rect l="l" t="t" r="r" b="b"/>
              <a:pathLst>
                <a:path w="2571115" h="1371600">
                  <a:moveTo>
                    <a:pt x="1594104" y="1062990"/>
                  </a:moveTo>
                  <a:lnTo>
                    <a:pt x="1590751" y="1017397"/>
                  </a:lnTo>
                  <a:lnTo>
                    <a:pt x="1581035" y="973874"/>
                  </a:lnTo>
                  <a:lnTo>
                    <a:pt x="1565414" y="932891"/>
                  </a:lnTo>
                  <a:lnTo>
                    <a:pt x="1544370" y="894956"/>
                  </a:lnTo>
                  <a:lnTo>
                    <a:pt x="1518399" y="860526"/>
                  </a:lnTo>
                  <a:lnTo>
                    <a:pt x="1487957" y="830084"/>
                  </a:lnTo>
                  <a:lnTo>
                    <a:pt x="1453527" y="804113"/>
                  </a:lnTo>
                  <a:lnTo>
                    <a:pt x="1415592" y="783069"/>
                  </a:lnTo>
                  <a:lnTo>
                    <a:pt x="1374609" y="767448"/>
                  </a:lnTo>
                  <a:lnTo>
                    <a:pt x="1331087" y="757732"/>
                  </a:lnTo>
                  <a:lnTo>
                    <a:pt x="1285494" y="754380"/>
                  </a:lnTo>
                  <a:lnTo>
                    <a:pt x="1239888" y="757732"/>
                  </a:lnTo>
                  <a:lnTo>
                    <a:pt x="1196365" y="767448"/>
                  </a:lnTo>
                  <a:lnTo>
                    <a:pt x="1155382" y="783069"/>
                  </a:lnTo>
                  <a:lnTo>
                    <a:pt x="1117447" y="804113"/>
                  </a:lnTo>
                  <a:lnTo>
                    <a:pt x="1083017" y="830084"/>
                  </a:lnTo>
                  <a:lnTo>
                    <a:pt x="1052576" y="860526"/>
                  </a:lnTo>
                  <a:lnTo>
                    <a:pt x="1026604" y="894956"/>
                  </a:lnTo>
                  <a:lnTo>
                    <a:pt x="1005560" y="932891"/>
                  </a:lnTo>
                  <a:lnTo>
                    <a:pt x="989939" y="973874"/>
                  </a:lnTo>
                  <a:lnTo>
                    <a:pt x="980224" y="1017397"/>
                  </a:lnTo>
                  <a:lnTo>
                    <a:pt x="976884" y="1062990"/>
                  </a:lnTo>
                  <a:lnTo>
                    <a:pt x="980224" y="1108595"/>
                  </a:lnTo>
                  <a:lnTo>
                    <a:pt x="989939" y="1152118"/>
                  </a:lnTo>
                  <a:lnTo>
                    <a:pt x="1005560" y="1193101"/>
                  </a:lnTo>
                  <a:lnTo>
                    <a:pt x="1026604" y="1231036"/>
                  </a:lnTo>
                  <a:lnTo>
                    <a:pt x="1052576" y="1265466"/>
                  </a:lnTo>
                  <a:lnTo>
                    <a:pt x="1083017" y="1295908"/>
                  </a:lnTo>
                  <a:lnTo>
                    <a:pt x="1117447" y="1321879"/>
                  </a:lnTo>
                  <a:lnTo>
                    <a:pt x="1155382" y="1342923"/>
                  </a:lnTo>
                  <a:lnTo>
                    <a:pt x="1196365" y="1358544"/>
                  </a:lnTo>
                  <a:lnTo>
                    <a:pt x="1239888" y="1368259"/>
                  </a:lnTo>
                  <a:lnTo>
                    <a:pt x="1285494" y="1371600"/>
                  </a:lnTo>
                  <a:lnTo>
                    <a:pt x="1331087" y="1368259"/>
                  </a:lnTo>
                  <a:lnTo>
                    <a:pt x="1374609" y="1358544"/>
                  </a:lnTo>
                  <a:lnTo>
                    <a:pt x="1415592" y="1342923"/>
                  </a:lnTo>
                  <a:lnTo>
                    <a:pt x="1453527" y="1321879"/>
                  </a:lnTo>
                  <a:lnTo>
                    <a:pt x="1487957" y="1295908"/>
                  </a:lnTo>
                  <a:lnTo>
                    <a:pt x="1518399" y="1265466"/>
                  </a:lnTo>
                  <a:lnTo>
                    <a:pt x="1544370" y="1231036"/>
                  </a:lnTo>
                  <a:lnTo>
                    <a:pt x="1565414" y="1193101"/>
                  </a:lnTo>
                  <a:lnTo>
                    <a:pt x="1581035" y="1152118"/>
                  </a:lnTo>
                  <a:lnTo>
                    <a:pt x="1590751" y="1108595"/>
                  </a:lnTo>
                  <a:lnTo>
                    <a:pt x="1594104" y="1062990"/>
                  </a:lnTo>
                  <a:close/>
                </a:path>
                <a:path w="2571115" h="1371600">
                  <a:moveTo>
                    <a:pt x="2570988" y="102870"/>
                  </a:moveTo>
                  <a:lnTo>
                    <a:pt x="2562885" y="62852"/>
                  </a:lnTo>
                  <a:lnTo>
                    <a:pt x="2540838" y="30149"/>
                  </a:lnTo>
                  <a:lnTo>
                    <a:pt x="2508135" y="8102"/>
                  </a:lnTo>
                  <a:lnTo>
                    <a:pt x="2468118" y="0"/>
                  </a:lnTo>
                  <a:lnTo>
                    <a:pt x="102870" y="0"/>
                  </a:lnTo>
                  <a:lnTo>
                    <a:pt x="62839" y="8102"/>
                  </a:lnTo>
                  <a:lnTo>
                    <a:pt x="30137" y="30149"/>
                  </a:lnTo>
                  <a:lnTo>
                    <a:pt x="8089" y="62852"/>
                  </a:lnTo>
                  <a:lnTo>
                    <a:pt x="0" y="102870"/>
                  </a:lnTo>
                  <a:lnTo>
                    <a:pt x="0" y="309372"/>
                  </a:lnTo>
                  <a:lnTo>
                    <a:pt x="0" y="514362"/>
                  </a:lnTo>
                  <a:lnTo>
                    <a:pt x="0" y="617220"/>
                  </a:lnTo>
                  <a:lnTo>
                    <a:pt x="102870" y="617220"/>
                  </a:lnTo>
                  <a:lnTo>
                    <a:pt x="2468118" y="617220"/>
                  </a:lnTo>
                  <a:lnTo>
                    <a:pt x="2570988" y="617220"/>
                  </a:lnTo>
                  <a:lnTo>
                    <a:pt x="2570988" y="514362"/>
                  </a:lnTo>
                  <a:lnTo>
                    <a:pt x="2570988" y="309372"/>
                  </a:lnTo>
                  <a:lnTo>
                    <a:pt x="2570988" y="10287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/home/claude/ppt/icons/grid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0455" y="2205227"/>
              <a:ext cx="321563" cy="32156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153027" y="1491183"/>
            <a:ext cx="83693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Microkernel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76573" y="3077667"/>
            <a:ext cx="1989455" cy="312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Un</a:t>
            </a:r>
            <a:r>
              <a:rPr dirty="0" sz="900" spc="3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noyau</a:t>
            </a:r>
            <a:r>
              <a:rPr dirty="0" sz="900" spc="6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minimal</a:t>
            </a:r>
            <a:r>
              <a:rPr dirty="0" sz="900" spc="5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;</a:t>
            </a:r>
            <a:r>
              <a:rPr dirty="0" sz="900" spc="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les</a:t>
            </a:r>
            <a:r>
              <a:rPr dirty="0" sz="900" spc="4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services</a:t>
            </a:r>
            <a:r>
              <a:rPr dirty="0" sz="900" spc="1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2233"/>
                </a:solidFill>
                <a:latin typeface="Calibri"/>
                <a:cs typeface="Calibri"/>
              </a:rPr>
              <a:t>tournent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à</a:t>
            </a:r>
            <a:r>
              <a:rPr dirty="0" sz="900" spc="2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2233"/>
                </a:solidFill>
                <a:latin typeface="Calibri"/>
                <a:cs typeface="Calibri"/>
              </a:rPr>
              <a:t>part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21023" y="3695700"/>
            <a:ext cx="1900555" cy="303530"/>
            <a:chOff x="3621023" y="3695700"/>
            <a:chExt cx="1900555" cy="303530"/>
          </a:xfrm>
        </p:grpSpPr>
        <p:sp>
          <p:nvSpPr>
            <p:cNvPr id="21" name="object 21"/>
            <p:cNvSpPr/>
            <p:nvPr/>
          </p:nvSpPr>
          <p:spPr>
            <a:xfrm>
              <a:off x="3628643" y="3703320"/>
              <a:ext cx="1885314" cy="288290"/>
            </a:xfrm>
            <a:custGeom>
              <a:avLst/>
              <a:gdLst/>
              <a:ahLst/>
              <a:cxnLst/>
              <a:rect l="l" t="t" r="r" b="b"/>
              <a:pathLst>
                <a:path w="1885314" h="288289">
                  <a:moveTo>
                    <a:pt x="1830323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233171"/>
                  </a:lnTo>
                  <a:lnTo>
                    <a:pt x="4304" y="254528"/>
                  </a:lnTo>
                  <a:lnTo>
                    <a:pt x="16049" y="271967"/>
                  </a:lnTo>
                  <a:lnTo>
                    <a:pt x="33486" y="283724"/>
                  </a:lnTo>
                  <a:lnTo>
                    <a:pt x="54863" y="288035"/>
                  </a:lnTo>
                  <a:lnTo>
                    <a:pt x="1830323" y="288035"/>
                  </a:lnTo>
                  <a:lnTo>
                    <a:pt x="1851701" y="283724"/>
                  </a:lnTo>
                  <a:lnTo>
                    <a:pt x="1869138" y="271967"/>
                  </a:lnTo>
                  <a:lnTo>
                    <a:pt x="1880883" y="254528"/>
                  </a:lnTo>
                  <a:lnTo>
                    <a:pt x="1885188" y="233171"/>
                  </a:lnTo>
                  <a:lnTo>
                    <a:pt x="1885188" y="54863"/>
                  </a:lnTo>
                  <a:lnTo>
                    <a:pt x="1880883" y="33486"/>
                  </a:lnTo>
                  <a:lnTo>
                    <a:pt x="1869138" y="16049"/>
                  </a:lnTo>
                  <a:lnTo>
                    <a:pt x="1851701" y="4304"/>
                  </a:lnTo>
                  <a:lnTo>
                    <a:pt x="18303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28643" y="3703320"/>
              <a:ext cx="1885314" cy="288290"/>
            </a:xfrm>
            <a:custGeom>
              <a:avLst/>
              <a:gdLst/>
              <a:ahLst/>
              <a:cxnLst/>
              <a:rect l="l" t="t" r="r" b="b"/>
              <a:pathLst>
                <a:path w="1885314" h="28828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830323" y="0"/>
                  </a:lnTo>
                  <a:lnTo>
                    <a:pt x="1851701" y="4304"/>
                  </a:lnTo>
                  <a:lnTo>
                    <a:pt x="1869138" y="16049"/>
                  </a:lnTo>
                  <a:lnTo>
                    <a:pt x="1880883" y="33486"/>
                  </a:lnTo>
                  <a:lnTo>
                    <a:pt x="1885188" y="54863"/>
                  </a:lnTo>
                  <a:lnTo>
                    <a:pt x="1885188" y="233171"/>
                  </a:lnTo>
                  <a:lnTo>
                    <a:pt x="1880883" y="254528"/>
                  </a:lnTo>
                  <a:lnTo>
                    <a:pt x="1869138" y="271967"/>
                  </a:lnTo>
                  <a:lnTo>
                    <a:pt x="1851701" y="283724"/>
                  </a:lnTo>
                  <a:lnTo>
                    <a:pt x="1830323" y="288035"/>
                  </a:lnTo>
                  <a:lnTo>
                    <a:pt x="54863" y="288035"/>
                  </a:lnTo>
                  <a:lnTo>
                    <a:pt x="33486" y="283724"/>
                  </a:lnTo>
                  <a:lnTo>
                    <a:pt x="16049" y="271967"/>
                  </a:lnTo>
                  <a:lnTo>
                    <a:pt x="4304" y="254528"/>
                  </a:lnTo>
                  <a:lnTo>
                    <a:pt x="0" y="233171"/>
                  </a:lnTo>
                  <a:lnTo>
                    <a:pt x="0" y="54863"/>
                  </a:lnTo>
                  <a:close/>
                </a:path>
              </a:pathLst>
            </a:custGeom>
            <a:ln w="1524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348098" y="3762552"/>
            <a:ext cx="447040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b="1">
                <a:solidFill>
                  <a:srgbClr val="4471C4"/>
                </a:solidFill>
                <a:latin typeface="Calibri"/>
                <a:cs typeface="Calibri"/>
              </a:rPr>
              <a:t>Ex.</a:t>
            </a:r>
            <a:r>
              <a:rPr dirty="0" sz="850" spc="10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850" b="1">
                <a:solidFill>
                  <a:srgbClr val="4471C4"/>
                </a:solidFill>
                <a:latin typeface="Calibri"/>
                <a:cs typeface="Calibri"/>
              </a:rPr>
              <a:t>:</a:t>
            </a:r>
            <a:r>
              <a:rPr dirty="0" sz="850" spc="15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850" spc="-25" b="1">
                <a:solidFill>
                  <a:srgbClr val="4471C4"/>
                </a:solidFill>
                <a:latin typeface="Calibri"/>
                <a:cs typeface="Calibri"/>
              </a:rPr>
              <a:t>QNX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28944" y="1303019"/>
            <a:ext cx="2571115" cy="2811780"/>
            <a:chOff x="6028944" y="1303019"/>
            <a:chExt cx="2571115" cy="2811780"/>
          </a:xfrm>
        </p:grpSpPr>
        <p:sp>
          <p:nvSpPr>
            <p:cNvPr id="25" name="object 25"/>
            <p:cNvSpPr/>
            <p:nvPr/>
          </p:nvSpPr>
          <p:spPr>
            <a:xfrm>
              <a:off x="6028944" y="1303019"/>
              <a:ext cx="2571115" cy="2811780"/>
            </a:xfrm>
            <a:custGeom>
              <a:avLst/>
              <a:gdLst/>
              <a:ahLst/>
              <a:cxnLst/>
              <a:rect l="l" t="t" r="r" b="b"/>
              <a:pathLst>
                <a:path w="2571115" h="2811779">
                  <a:moveTo>
                    <a:pt x="2468117" y="0"/>
                  </a:moveTo>
                  <a:lnTo>
                    <a:pt x="102869" y="0"/>
                  </a:lnTo>
                  <a:lnTo>
                    <a:pt x="62847" y="8090"/>
                  </a:lnTo>
                  <a:lnTo>
                    <a:pt x="30146" y="30146"/>
                  </a:lnTo>
                  <a:lnTo>
                    <a:pt x="8090" y="62847"/>
                  </a:lnTo>
                  <a:lnTo>
                    <a:pt x="0" y="102869"/>
                  </a:lnTo>
                  <a:lnTo>
                    <a:pt x="0" y="2708935"/>
                  </a:lnTo>
                  <a:lnTo>
                    <a:pt x="8090" y="2748970"/>
                  </a:lnTo>
                  <a:lnTo>
                    <a:pt x="30146" y="2781660"/>
                  </a:lnTo>
                  <a:lnTo>
                    <a:pt x="62847" y="2803699"/>
                  </a:lnTo>
                  <a:lnTo>
                    <a:pt x="102869" y="2811779"/>
                  </a:lnTo>
                  <a:lnTo>
                    <a:pt x="2468117" y="2811779"/>
                  </a:lnTo>
                  <a:lnTo>
                    <a:pt x="2508140" y="2803699"/>
                  </a:lnTo>
                  <a:lnTo>
                    <a:pt x="2540841" y="2781660"/>
                  </a:lnTo>
                  <a:lnTo>
                    <a:pt x="2562897" y="2748970"/>
                  </a:lnTo>
                  <a:lnTo>
                    <a:pt x="2570987" y="2708935"/>
                  </a:lnTo>
                  <a:lnTo>
                    <a:pt x="2570987" y="102869"/>
                  </a:lnTo>
                  <a:lnTo>
                    <a:pt x="2562897" y="62847"/>
                  </a:lnTo>
                  <a:lnTo>
                    <a:pt x="2540841" y="30146"/>
                  </a:lnTo>
                  <a:lnTo>
                    <a:pt x="2508140" y="8090"/>
                  </a:lnTo>
                  <a:lnTo>
                    <a:pt x="2468117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028944" y="1303019"/>
              <a:ext cx="2571115" cy="1371600"/>
            </a:xfrm>
            <a:custGeom>
              <a:avLst/>
              <a:gdLst/>
              <a:ahLst/>
              <a:cxnLst/>
              <a:rect l="l" t="t" r="r" b="b"/>
              <a:pathLst>
                <a:path w="2571115" h="1371600">
                  <a:moveTo>
                    <a:pt x="1594104" y="1062990"/>
                  </a:moveTo>
                  <a:lnTo>
                    <a:pt x="1590751" y="1017397"/>
                  </a:lnTo>
                  <a:lnTo>
                    <a:pt x="1581035" y="973874"/>
                  </a:lnTo>
                  <a:lnTo>
                    <a:pt x="1565414" y="932891"/>
                  </a:lnTo>
                  <a:lnTo>
                    <a:pt x="1544370" y="894956"/>
                  </a:lnTo>
                  <a:lnTo>
                    <a:pt x="1518399" y="860526"/>
                  </a:lnTo>
                  <a:lnTo>
                    <a:pt x="1487957" y="830084"/>
                  </a:lnTo>
                  <a:lnTo>
                    <a:pt x="1453527" y="804113"/>
                  </a:lnTo>
                  <a:lnTo>
                    <a:pt x="1415592" y="783069"/>
                  </a:lnTo>
                  <a:lnTo>
                    <a:pt x="1374609" y="767448"/>
                  </a:lnTo>
                  <a:lnTo>
                    <a:pt x="1331087" y="757732"/>
                  </a:lnTo>
                  <a:lnTo>
                    <a:pt x="1285494" y="754380"/>
                  </a:lnTo>
                  <a:lnTo>
                    <a:pt x="1239888" y="757732"/>
                  </a:lnTo>
                  <a:lnTo>
                    <a:pt x="1196365" y="767448"/>
                  </a:lnTo>
                  <a:lnTo>
                    <a:pt x="1155382" y="783069"/>
                  </a:lnTo>
                  <a:lnTo>
                    <a:pt x="1117447" y="804113"/>
                  </a:lnTo>
                  <a:lnTo>
                    <a:pt x="1083017" y="830084"/>
                  </a:lnTo>
                  <a:lnTo>
                    <a:pt x="1052576" y="860526"/>
                  </a:lnTo>
                  <a:lnTo>
                    <a:pt x="1026604" y="894956"/>
                  </a:lnTo>
                  <a:lnTo>
                    <a:pt x="1005560" y="932891"/>
                  </a:lnTo>
                  <a:lnTo>
                    <a:pt x="989939" y="973874"/>
                  </a:lnTo>
                  <a:lnTo>
                    <a:pt x="980224" y="1017397"/>
                  </a:lnTo>
                  <a:lnTo>
                    <a:pt x="976884" y="1062990"/>
                  </a:lnTo>
                  <a:lnTo>
                    <a:pt x="980224" y="1108595"/>
                  </a:lnTo>
                  <a:lnTo>
                    <a:pt x="989939" y="1152118"/>
                  </a:lnTo>
                  <a:lnTo>
                    <a:pt x="1005560" y="1193101"/>
                  </a:lnTo>
                  <a:lnTo>
                    <a:pt x="1026604" y="1231036"/>
                  </a:lnTo>
                  <a:lnTo>
                    <a:pt x="1052576" y="1265466"/>
                  </a:lnTo>
                  <a:lnTo>
                    <a:pt x="1083017" y="1295908"/>
                  </a:lnTo>
                  <a:lnTo>
                    <a:pt x="1117447" y="1321879"/>
                  </a:lnTo>
                  <a:lnTo>
                    <a:pt x="1155382" y="1342923"/>
                  </a:lnTo>
                  <a:lnTo>
                    <a:pt x="1196365" y="1358544"/>
                  </a:lnTo>
                  <a:lnTo>
                    <a:pt x="1239888" y="1368259"/>
                  </a:lnTo>
                  <a:lnTo>
                    <a:pt x="1285494" y="1371600"/>
                  </a:lnTo>
                  <a:lnTo>
                    <a:pt x="1331087" y="1368259"/>
                  </a:lnTo>
                  <a:lnTo>
                    <a:pt x="1374609" y="1358544"/>
                  </a:lnTo>
                  <a:lnTo>
                    <a:pt x="1415592" y="1342923"/>
                  </a:lnTo>
                  <a:lnTo>
                    <a:pt x="1453527" y="1321879"/>
                  </a:lnTo>
                  <a:lnTo>
                    <a:pt x="1487957" y="1295908"/>
                  </a:lnTo>
                  <a:lnTo>
                    <a:pt x="1518399" y="1265466"/>
                  </a:lnTo>
                  <a:lnTo>
                    <a:pt x="1544370" y="1231036"/>
                  </a:lnTo>
                  <a:lnTo>
                    <a:pt x="1565414" y="1193101"/>
                  </a:lnTo>
                  <a:lnTo>
                    <a:pt x="1581035" y="1152118"/>
                  </a:lnTo>
                  <a:lnTo>
                    <a:pt x="1590751" y="1108595"/>
                  </a:lnTo>
                  <a:lnTo>
                    <a:pt x="1594104" y="1062990"/>
                  </a:lnTo>
                  <a:close/>
                </a:path>
                <a:path w="2571115" h="1371600">
                  <a:moveTo>
                    <a:pt x="2570988" y="102870"/>
                  </a:moveTo>
                  <a:lnTo>
                    <a:pt x="2562885" y="62852"/>
                  </a:lnTo>
                  <a:lnTo>
                    <a:pt x="2540838" y="30149"/>
                  </a:lnTo>
                  <a:lnTo>
                    <a:pt x="2508135" y="8102"/>
                  </a:lnTo>
                  <a:lnTo>
                    <a:pt x="2468118" y="0"/>
                  </a:lnTo>
                  <a:lnTo>
                    <a:pt x="102870" y="0"/>
                  </a:lnTo>
                  <a:lnTo>
                    <a:pt x="62839" y="8102"/>
                  </a:lnTo>
                  <a:lnTo>
                    <a:pt x="30137" y="30149"/>
                  </a:lnTo>
                  <a:lnTo>
                    <a:pt x="8089" y="62852"/>
                  </a:lnTo>
                  <a:lnTo>
                    <a:pt x="0" y="102870"/>
                  </a:lnTo>
                  <a:lnTo>
                    <a:pt x="0" y="309372"/>
                  </a:lnTo>
                  <a:lnTo>
                    <a:pt x="0" y="514362"/>
                  </a:lnTo>
                  <a:lnTo>
                    <a:pt x="0" y="617220"/>
                  </a:lnTo>
                  <a:lnTo>
                    <a:pt x="102870" y="617220"/>
                  </a:lnTo>
                  <a:lnTo>
                    <a:pt x="2468118" y="617220"/>
                  </a:lnTo>
                  <a:lnTo>
                    <a:pt x="2570988" y="617220"/>
                  </a:lnTo>
                  <a:lnTo>
                    <a:pt x="2570988" y="514362"/>
                  </a:lnTo>
                  <a:lnTo>
                    <a:pt x="2570988" y="309372"/>
                  </a:lnTo>
                  <a:lnTo>
                    <a:pt x="2570988" y="10287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/home/claude/ppt/icons/layers_FFFFFF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3655" y="2205227"/>
              <a:ext cx="321564" cy="32156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036689" y="1491183"/>
            <a:ext cx="55626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Hybride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21577" y="3077667"/>
            <a:ext cx="1587500" cy="312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Le</a:t>
            </a:r>
            <a:r>
              <a:rPr dirty="0" sz="900" spc="75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meilleur</a:t>
            </a:r>
            <a:r>
              <a:rPr dirty="0" sz="900" spc="4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compromis</a:t>
            </a:r>
            <a:r>
              <a:rPr dirty="0" sz="900" spc="10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2233"/>
                </a:solidFill>
                <a:latin typeface="Calibri"/>
                <a:cs typeface="Calibri"/>
              </a:rPr>
              <a:t>des</a:t>
            </a:r>
            <a:r>
              <a:rPr dirty="0" sz="900" spc="50">
                <a:solidFill>
                  <a:srgbClr val="1A2233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2233"/>
                </a:solidFill>
                <a:latin typeface="Calibri"/>
                <a:cs typeface="Calibri"/>
              </a:rPr>
              <a:t>deux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900" spc="-10">
                <a:solidFill>
                  <a:srgbClr val="1A2233"/>
                </a:solidFill>
                <a:latin typeface="Calibri"/>
                <a:cs typeface="Calibri"/>
              </a:rPr>
              <a:t>approches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64223" y="3695700"/>
            <a:ext cx="1900555" cy="303530"/>
            <a:chOff x="6364223" y="3695700"/>
            <a:chExt cx="1900555" cy="303530"/>
          </a:xfrm>
        </p:grpSpPr>
        <p:sp>
          <p:nvSpPr>
            <p:cNvPr id="31" name="object 31"/>
            <p:cNvSpPr/>
            <p:nvPr/>
          </p:nvSpPr>
          <p:spPr>
            <a:xfrm>
              <a:off x="6371843" y="3703320"/>
              <a:ext cx="1885314" cy="288290"/>
            </a:xfrm>
            <a:custGeom>
              <a:avLst/>
              <a:gdLst/>
              <a:ahLst/>
              <a:cxnLst/>
              <a:rect l="l" t="t" r="r" b="b"/>
              <a:pathLst>
                <a:path w="1885315" h="288289">
                  <a:moveTo>
                    <a:pt x="1830324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233171"/>
                  </a:lnTo>
                  <a:lnTo>
                    <a:pt x="4304" y="254528"/>
                  </a:lnTo>
                  <a:lnTo>
                    <a:pt x="16049" y="271967"/>
                  </a:lnTo>
                  <a:lnTo>
                    <a:pt x="33486" y="283724"/>
                  </a:lnTo>
                  <a:lnTo>
                    <a:pt x="54863" y="288035"/>
                  </a:lnTo>
                  <a:lnTo>
                    <a:pt x="1830324" y="288035"/>
                  </a:lnTo>
                  <a:lnTo>
                    <a:pt x="1851701" y="283724"/>
                  </a:lnTo>
                  <a:lnTo>
                    <a:pt x="1869138" y="271967"/>
                  </a:lnTo>
                  <a:lnTo>
                    <a:pt x="1880883" y="254528"/>
                  </a:lnTo>
                  <a:lnTo>
                    <a:pt x="1885187" y="233171"/>
                  </a:lnTo>
                  <a:lnTo>
                    <a:pt x="1885187" y="54863"/>
                  </a:lnTo>
                  <a:lnTo>
                    <a:pt x="1880883" y="33486"/>
                  </a:lnTo>
                  <a:lnTo>
                    <a:pt x="1869138" y="16049"/>
                  </a:lnTo>
                  <a:lnTo>
                    <a:pt x="1851701" y="4304"/>
                  </a:lnTo>
                  <a:lnTo>
                    <a:pt x="1830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371843" y="3703320"/>
              <a:ext cx="1885314" cy="288290"/>
            </a:xfrm>
            <a:custGeom>
              <a:avLst/>
              <a:gdLst/>
              <a:ahLst/>
              <a:cxnLst/>
              <a:rect l="l" t="t" r="r" b="b"/>
              <a:pathLst>
                <a:path w="1885315" h="28828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830324" y="0"/>
                  </a:lnTo>
                  <a:lnTo>
                    <a:pt x="1851701" y="4304"/>
                  </a:lnTo>
                  <a:lnTo>
                    <a:pt x="1869138" y="16049"/>
                  </a:lnTo>
                  <a:lnTo>
                    <a:pt x="1880883" y="33486"/>
                  </a:lnTo>
                  <a:lnTo>
                    <a:pt x="1885187" y="54863"/>
                  </a:lnTo>
                  <a:lnTo>
                    <a:pt x="1885187" y="233171"/>
                  </a:lnTo>
                  <a:lnTo>
                    <a:pt x="1880883" y="254528"/>
                  </a:lnTo>
                  <a:lnTo>
                    <a:pt x="1869138" y="271967"/>
                  </a:lnTo>
                  <a:lnTo>
                    <a:pt x="1851701" y="283724"/>
                  </a:lnTo>
                  <a:lnTo>
                    <a:pt x="1830324" y="288035"/>
                  </a:lnTo>
                  <a:lnTo>
                    <a:pt x="54863" y="288035"/>
                  </a:lnTo>
                  <a:lnTo>
                    <a:pt x="33486" y="283724"/>
                  </a:lnTo>
                  <a:lnTo>
                    <a:pt x="16049" y="271967"/>
                  </a:lnTo>
                  <a:lnTo>
                    <a:pt x="4304" y="254528"/>
                  </a:lnTo>
                  <a:lnTo>
                    <a:pt x="0" y="233171"/>
                  </a:lnTo>
                  <a:lnTo>
                    <a:pt x="0" y="54863"/>
                  </a:lnTo>
                  <a:close/>
                </a:path>
              </a:pathLst>
            </a:custGeom>
            <a:ln w="15240">
              <a:solidFill>
                <a:srgbClr val="D588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6795896" y="3762552"/>
            <a:ext cx="1038225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b="1">
                <a:solidFill>
                  <a:srgbClr val="D5880F"/>
                </a:solidFill>
                <a:latin typeface="Calibri"/>
                <a:cs typeface="Calibri"/>
              </a:rPr>
              <a:t>Ex.</a:t>
            </a:r>
            <a:r>
              <a:rPr dirty="0" sz="850" spc="1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850" b="1">
                <a:solidFill>
                  <a:srgbClr val="D5880F"/>
                </a:solidFill>
                <a:latin typeface="Calibri"/>
                <a:cs typeface="Calibri"/>
              </a:rPr>
              <a:t>:</a:t>
            </a:r>
            <a:r>
              <a:rPr dirty="0" sz="850" spc="30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850" b="1">
                <a:solidFill>
                  <a:srgbClr val="D5880F"/>
                </a:solidFill>
                <a:latin typeface="Calibri"/>
                <a:cs typeface="Calibri"/>
              </a:rPr>
              <a:t>Windows,</a:t>
            </a:r>
            <a:r>
              <a:rPr dirty="0" sz="850" spc="-15" b="1">
                <a:solidFill>
                  <a:srgbClr val="D5880F"/>
                </a:solidFill>
                <a:latin typeface="Calibri"/>
                <a:cs typeface="Calibri"/>
              </a:rPr>
              <a:t> </a:t>
            </a:r>
            <a:r>
              <a:rPr dirty="0" sz="850" spc="-20" b="1">
                <a:solidFill>
                  <a:srgbClr val="D5880F"/>
                </a:solidFill>
                <a:latin typeface="Calibri"/>
                <a:cs typeface="Calibri"/>
              </a:rPr>
              <a:t>macOS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3390900" y="9144"/>
            <a:ext cx="5105400" cy="292735"/>
          </a:xfrm>
          <a:prstGeom prst="rect"/>
          <a:solidFill>
            <a:srgbClr val="FF4500"/>
          </a:solidFill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</a:t>
            </a:r>
            <a:endParaRPr sz="1400">
              <a:latin typeface="Calibri Light"/>
              <a:cs typeface="Calibri Ligh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12108" y="301752"/>
            <a:ext cx="4998720" cy="273050"/>
          </a:xfrm>
          <a:prstGeom prst="rect">
            <a:avLst/>
          </a:prstGeom>
          <a:solidFill>
            <a:srgbClr val="F49E1F"/>
          </a:solidFill>
        </p:spPr>
        <p:txBody>
          <a:bodyPr wrap="square" lIns="0" tIns="7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"/>
              </a:spcBef>
            </a:pP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928" y="1096565"/>
            <a:ext cx="7890271" cy="393620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85216" y="897636"/>
            <a:ext cx="8059420" cy="15240"/>
          </a:xfrm>
          <a:custGeom>
            <a:avLst/>
            <a:gdLst/>
            <a:ahLst/>
            <a:cxnLst/>
            <a:rect l="l" t="t" r="r" b="b"/>
            <a:pathLst>
              <a:path w="8059420" h="15240">
                <a:moveTo>
                  <a:pt x="8058911" y="0"/>
                </a:moveTo>
                <a:lnTo>
                  <a:pt x="0" y="0"/>
                </a:lnTo>
                <a:lnTo>
                  <a:pt x="0" y="15239"/>
                </a:lnTo>
                <a:lnTo>
                  <a:pt x="8058911" y="15239"/>
                </a:lnTo>
                <a:lnTo>
                  <a:pt x="8058911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16354" y="541782"/>
            <a:ext cx="466026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Trois</a:t>
            </a:r>
            <a:r>
              <a:rPr dirty="0" sz="2100" spc="-5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architectures,</a:t>
            </a:r>
            <a:r>
              <a:rPr dirty="0" sz="2100" spc="-7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1A1A1A"/>
                </a:solidFill>
                <a:latin typeface="Arial"/>
                <a:cs typeface="Arial"/>
              </a:rPr>
              <a:t>trois</a:t>
            </a:r>
            <a:r>
              <a:rPr dirty="0" sz="2100" spc="-5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1A1A1A"/>
                </a:solidFill>
                <a:latin typeface="Arial"/>
                <a:cs typeface="Arial"/>
              </a:rPr>
              <a:t>compromis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125" y="922378"/>
            <a:ext cx="2192655" cy="115125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2250" spc="-25" b="1">
                <a:solidFill>
                  <a:srgbClr val="FF4500"/>
                </a:solidFill>
                <a:latin typeface="Arial"/>
                <a:cs typeface="Arial"/>
              </a:rPr>
              <a:t>01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 spc="-10" b="1">
                <a:solidFill>
                  <a:srgbClr val="1A1A1A"/>
                </a:solidFill>
                <a:latin typeface="Arial"/>
                <a:cs typeface="Arial"/>
              </a:rPr>
              <a:t>Monolithique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8200"/>
              </a:lnSpc>
              <a:spcBef>
                <a:spcPts val="550"/>
              </a:spcBef>
            </a:pP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Beaucoup</a:t>
            </a:r>
            <a:r>
              <a:rPr dirty="0" sz="850" spc="-3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de</a:t>
            </a:r>
            <a:r>
              <a:rPr dirty="0" sz="850" spc="6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services</a:t>
            </a:r>
            <a:r>
              <a:rPr dirty="0" sz="850" spc="5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rés</a:t>
            </a:r>
            <a:r>
              <a:rPr dirty="0" sz="850" spc="-15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ident</a:t>
            </a:r>
            <a:r>
              <a:rPr dirty="0" sz="850" spc="-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dans</a:t>
            </a:r>
            <a:r>
              <a:rPr dirty="0" sz="850" spc="12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le</a:t>
            </a:r>
            <a:r>
              <a:rPr dirty="0" sz="850" spc="4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spc="-20" b="0">
                <a:solidFill>
                  <a:srgbClr val="333333"/>
                </a:solidFill>
                <a:latin typeface="Malgun Gothic Semilight"/>
                <a:cs typeface="Malgun Gothic Semilight"/>
              </a:rPr>
              <a:t>noyau </a:t>
            </a:r>
            <a:r>
              <a:rPr dirty="0" sz="85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privilégié.</a:t>
            </a:r>
            <a:endParaRPr sz="850">
              <a:latin typeface="Malgun Gothic Semilight"/>
              <a:cs typeface="Malgun Gothic Semi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216" y="2435351"/>
            <a:ext cx="2487295" cy="300355"/>
          </a:xfrm>
          <a:prstGeom prst="rect">
            <a:avLst/>
          </a:prstGeom>
          <a:ln w="18287">
            <a:solidFill>
              <a:srgbClr val="1A1A1A"/>
            </a:solidFill>
          </a:ln>
        </p:spPr>
        <p:txBody>
          <a:bodyPr wrap="square" lIns="0" tIns="90170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710"/>
              </a:spcBef>
            </a:pPr>
            <a:r>
              <a:rPr dirty="0" sz="700" spc="-10" b="0">
                <a:solidFill>
                  <a:srgbClr val="1A1A1A"/>
                </a:solidFill>
                <a:latin typeface="Malgun Gothic Semilight"/>
                <a:cs typeface="Malgun Gothic Semilight"/>
              </a:rPr>
              <a:t>APPLICATIONS</a:t>
            </a:r>
            <a:endParaRPr sz="700">
              <a:latin typeface="Malgun Gothic Semilight"/>
              <a:cs typeface="Malgun Gothic Semi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5216" y="2793492"/>
            <a:ext cx="2487295" cy="300355"/>
          </a:xfrm>
          <a:prstGeom prst="rect">
            <a:avLst/>
          </a:prstGeom>
          <a:solidFill>
            <a:srgbClr val="FFE8DF"/>
          </a:solidFill>
          <a:ln w="18287">
            <a:solidFill>
              <a:srgbClr val="1A1A1A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700"/>
              </a:spcBef>
            </a:pPr>
            <a:r>
              <a:rPr dirty="0" sz="700" b="0">
                <a:solidFill>
                  <a:srgbClr val="1A1A1A"/>
                </a:solidFill>
                <a:latin typeface="Malgun Gothic Semilight"/>
                <a:cs typeface="Malgun Gothic Semilight"/>
              </a:rPr>
              <a:t>S</a:t>
            </a:r>
            <a:r>
              <a:rPr dirty="0" sz="700" spc="-4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b="0">
                <a:solidFill>
                  <a:srgbClr val="1A1A1A"/>
                </a:solidFill>
                <a:latin typeface="Malgun Gothic Semilight"/>
                <a:cs typeface="Malgun Gothic Semilight"/>
              </a:rPr>
              <a:t>ERVICES</a:t>
            </a:r>
            <a:r>
              <a:rPr dirty="0" sz="700" spc="315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-25" b="0">
                <a:solidFill>
                  <a:srgbClr val="1A1A1A"/>
                </a:solidFill>
                <a:latin typeface="Malgun Gothic Semilight"/>
                <a:cs typeface="Malgun Gothic Semilight"/>
              </a:rPr>
              <a:t>OS</a:t>
            </a:r>
            <a:endParaRPr sz="700">
              <a:latin typeface="Malgun Gothic Semilight"/>
              <a:cs typeface="Malgun Gothic Semi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216" y="3150107"/>
            <a:ext cx="2487295" cy="300355"/>
          </a:xfrm>
          <a:prstGeom prst="rect">
            <a:avLst/>
          </a:prstGeom>
          <a:solidFill>
            <a:srgbClr val="FF4500"/>
          </a:solidFill>
          <a:ln w="18287">
            <a:solidFill>
              <a:srgbClr val="1A1A1A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705"/>
              </a:spcBef>
            </a:pPr>
            <a:r>
              <a:rPr dirty="0" sz="700" b="0">
                <a:solidFill>
                  <a:srgbClr val="FFFFFF"/>
                </a:solidFill>
                <a:latin typeface="Malgun Gothic Semilight"/>
                <a:cs typeface="Malgun Gothic Semilight"/>
              </a:rPr>
              <a:t>NOYAU</a:t>
            </a:r>
            <a:r>
              <a:rPr dirty="0" sz="700" spc="5" b="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b="0">
                <a:solidFill>
                  <a:srgbClr val="FFFFFF"/>
                </a:solidFill>
                <a:latin typeface="Malgun Gothic Semilight"/>
                <a:cs typeface="Malgun Gothic Semilight"/>
              </a:rPr>
              <a:t>+</a:t>
            </a:r>
            <a:r>
              <a:rPr dirty="0" sz="700" spc="25" b="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b="0">
                <a:solidFill>
                  <a:srgbClr val="FFFFFF"/>
                </a:solidFill>
                <a:latin typeface="Malgun Gothic Semilight"/>
                <a:cs typeface="Malgun Gothic Semilight"/>
              </a:rPr>
              <a:t>PIL</a:t>
            </a:r>
            <a:r>
              <a:rPr dirty="0" sz="700" spc="-125" b="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-20" b="0">
                <a:solidFill>
                  <a:srgbClr val="FFFFFF"/>
                </a:solidFill>
                <a:latin typeface="Malgun Gothic Semilight"/>
                <a:cs typeface="Malgun Gothic Semilight"/>
              </a:rPr>
              <a:t>OTES</a:t>
            </a:r>
            <a:endParaRPr sz="700">
              <a:latin typeface="Malgun Gothic Semilight"/>
              <a:cs typeface="Malgun Gothic Semi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3125" y="3792923"/>
            <a:ext cx="2430780" cy="7810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750" spc="-10" b="1">
                <a:solidFill>
                  <a:srgbClr val="1A1A1A"/>
                </a:solidFill>
                <a:latin typeface="Arial"/>
                <a:cs typeface="Arial"/>
              </a:rPr>
              <a:t>Atout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Échanges</a:t>
            </a:r>
            <a:r>
              <a:rPr dirty="0" sz="800" spc="13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rapides</a:t>
            </a:r>
            <a:r>
              <a:rPr dirty="0" sz="800" spc="9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entre</a:t>
            </a:r>
            <a:r>
              <a:rPr dirty="0" sz="800" spc="3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composants.</a:t>
            </a:r>
            <a:endParaRPr sz="8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750" spc="-10" b="1">
                <a:solidFill>
                  <a:srgbClr val="1A1A1A"/>
                </a:solidFill>
                <a:latin typeface="Arial"/>
                <a:cs typeface="Arial"/>
              </a:rPr>
              <a:t>Limite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Une</a:t>
            </a:r>
            <a:r>
              <a:rPr dirty="0" sz="800" spc="-2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erreur</a:t>
            </a:r>
            <a:r>
              <a:rPr dirty="0" sz="800" spc="-1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noyau peut</a:t>
            </a:r>
            <a:r>
              <a:rPr dirty="0" sz="800" spc="-3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affecter</a:t>
            </a:r>
            <a:r>
              <a:rPr dirty="0" sz="800" spc="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largement</a:t>
            </a: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le</a:t>
            </a:r>
            <a:r>
              <a:rPr dirty="0" sz="800" spc="-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système.</a:t>
            </a:r>
            <a:endParaRPr sz="800">
              <a:latin typeface="Malgun Gothic Semilight"/>
              <a:cs typeface="Malgun Gothic Semi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5509" y="922378"/>
            <a:ext cx="2193290" cy="115125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2250" spc="-25" b="1">
                <a:solidFill>
                  <a:srgbClr val="FF4500"/>
                </a:solidFill>
                <a:latin typeface="Arial"/>
                <a:cs typeface="Arial"/>
              </a:rPr>
              <a:t>02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 spc="-10" b="1">
                <a:solidFill>
                  <a:srgbClr val="1A1A1A"/>
                </a:solidFill>
                <a:latin typeface="Arial"/>
                <a:cs typeface="Arial"/>
              </a:rPr>
              <a:t>Microkernel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8200"/>
              </a:lnSpc>
              <a:spcBef>
                <a:spcPts val="550"/>
              </a:spcBef>
            </a:pP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Le</a:t>
            </a:r>
            <a:r>
              <a:rPr dirty="0" sz="850" spc="4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noyau</a:t>
            </a:r>
            <a:r>
              <a:rPr dirty="0" sz="850" spc="3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conserve</a:t>
            </a:r>
            <a:r>
              <a:rPr dirty="0" sz="850" spc="1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un</a:t>
            </a:r>
            <a:r>
              <a:rPr dirty="0" sz="850" spc="2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minimum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 ;</a:t>
            </a:r>
            <a:r>
              <a:rPr dirty="0" sz="850" spc="6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les</a:t>
            </a:r>
            <a:r>
              <a:rPr dirty="0" sz="850" spc="9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services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sont</a:t>
            </a:r>
            <a:r>
              <a:rPr dirty="0" sz="850" spc="-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is</a:t>
            </a:r>
            <a:r>
              <a:rPr dirty="0" sz="850" spc="-15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olés</a:t>
            </a:r>
            <a:r>
              <a:rPr dirty="0" sz="850" spc="-14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spc="-50" b="0">
                <a:solidFill>
                  <a:srgbClr val="333333"/>
                </a:solidFill>
                <a:latin typeface="Malgun Gothic Semilight"/>
                <a:cs typeface="Malgun Gothic Semilight"/>
              </a:rPr>
              <a:t>.</a:t>
            </a:r>
            <a:endParaRPr sz="850">
              <a:latin typeface="Malgun Gothic Semilight"/>
              <a:cs typeface="Malgun Gothic Semi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57955" y="2435351"/>
            <a:ext cx="2299970" cy="300355"/>
          </a:xfrm>
          <a:prstGeom prst="rect">
            <a:avLst/>
          </a:prstGeom>
          <a:ln w="18288">
            <a:solidFill>
              <a:srgbClr val="1A1A1A"/>
            </a:solidFill>
          </a:ln>
        </p:spPr>
        <p:txBody>
          <a:bodyPr wrap="square" lIns="0" tIns="90170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710"/>
              </a:spcBef>
            </a:pPr>
            <a:r>
              <a:rPr dirty="0" sz="700" spc="-10" b="0">
                <a:solidFill>
                  <a:srgbClr val="1A1A1A"/>
                </a:solidFill>
                <a:latin typeface="Malgun Gothic Semilight"/>
                <a:cs typeface="Malgun Gothic Semilight"/>
              </a:rPr>
              <a:t>APPLICATIONS</a:t>
            </a:r>
            <a:endParaRPr sz="700">
              <a:latin typeface="Malgun Gothic Semilight"/>
              <a:cs typeface="Malgun Gothic Semi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57955" y="2793492"/>
            <a:ext cx="2299970" cy="300355"/>
          </a:xfrm>
          <a:prstGeom prst="rect">
            <a:avLst/>
          </a:prstGeom>
          <a:solidFill>
            <a:srgbClr val="FFE8DF"/>
          </a:solidFill>
          <a:ln w="18288">
            <a:solidFill>
              <a:srgbClr val="1A1A1A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700"/>
              </a:spcBef>
            </a:pPr>
            <a:r>
              <a:rPr dirty="0" sz="700" b="0">
                <a:solidFill>
                  <a:srgbClr val="1A1A1A"/>
                </a:solidFill>
                <a:latin typeface="Malgun Gothic Semilight"/>
                <a:cs typeface="Malgun Gothic Semilight"/>
              </a:rPr>
              <a:t>S</a:t>
            </a:r>
            <a:r>
              <a:rPr dirty="0" sz="700" spc="-6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10" b="0">
                <a:solidFill>
                  <a:srgbClr val="1A1A1A"/>
                </a:solidFill>
                <a:latin typeface="Malgun Gothic Semilight"/>
                <a:cs typeface="Malgun Gothic Semilight"/>
              </a:rPr>
              <a:t>ERVICES</a:t>
            </a:r>
            <a:r>
              <a:rPr dirty="0" sz="700" spc="26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10" b="0">
                <a:solidFill>
                  <a:srgbClr val="1A1A1A"/>
                </a:solidFill>
                <a:latin typeface="Malgun Gothic Semilight"/>
                <a:cs typeface="Malgun Gothic Semilight"/>
              </a:rPr>
              <a:t>EN</a:t>
            </a:r>
            <a:r>
              <a:rPr dirty="0" sz="700" spc="11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10" b="0">
                <a:solidFill>
                  <a:srgbClr val="1A1A1A"/>
                </a:solidFill>
                <a:latin typeface="Malgun Gothic Semilight"/>
                <a:cs typeface="Malgun Gothic Semilight"/>
              </a:rPr>
              <a:t>ES</a:t>
            </a:r>
            <a:r>
              <a:rPr dirty="0" sz="700" spc="-7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10" b="0">
                <a:solidFill>
                  <a:srgbClr val="1A1A1A"/>
                </a:solidFill>
                <a:latin typeface="Malgun Gothic Semilight"/>
                <a:cs typeface="Malgun Gothic Semilight"/>
              </a:rPr>
              <a:t>PACE</a:t>
            </a:r>
            <a:r>
              <a:rPr dirty="0" sz="700" spc="16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10" b="0">
                <a:solidFill>
                  <a:srgbClr val="1A1A1A"/>
                </a:solidFill>
                <a:latin typeface="Malgun Gothic Semilight"/>
                <a:cs typeface="Malgun Gothic Semilight"/>
              </a:rPr>
              <a:t>UTILIS</a:t>
            </a:r>
            <a:r>
              <a:rPr dirty="0" sz="700" spc="-7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-20" b="0">
                <a:solidFill>
                  <a:srgbClr val="1A1A1A"/>
                </a:solidFill>
                <a:latin typeface="Malgun Gothic Semilight"/>
                <a:cs typeface="Malgun Gothic Semilight"/>
              </a:rPr>
              <a:t>ATEUR</a:t>
            </a:r>
            <a:endParaRPr sz="700">
              <a:latin typeface="Malgun Gothic Semilight"/>
              <a:cs typeface="Malgun Gothic Semi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57955" y="3150107"/>
            <a:ext cx="2299970" cy="300355"/>
          </a:xfrm>
          <a:prstGeom prst="rect">
            <a:avLst/>
          </a:prstGeom>
          <a:solidFill>
            <a:srgbClr val="FF4500"/>
          </a:solidFill>
          <a:ln w="18288">
            <a:solidFill>
              <a:srgbClr val="1A1A1A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705"/>
              </a:spcBef>
            </a:pPr>
            <a:r>
              <a:rPr dirty="0" sz="700" spc="-10" b="0">
                <a:solidFill>
                  <a:srgbClr val="FFFFFF"/>
                </a:solidFill>
                <a:latin typeface="Malgun Gothic Semilight"/>
                <a:cs typeface="Malgun Gothic Semilight"/>
              </a:rPr>
              <a:t>MICROK</a:t>
            </a:r>
            <a:r>
              <a:rPr dirty="0" sz="700" spc="-70" b="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b="0">
                <a:solidFill>
                  <a:srgbClr val="FFFFFF"/>
                </a:solidFill>
                <a:latin typeface="Malgun Gothic Semilight"/>
                <a:cs typeface="Malgun Gothic Semilight"/>
              </a:rPr>
              <a:t>ER</a:t>
            </a:r>
            <a:r>
              <a:rPr dirty="0" sz="700" spc="-110" b="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-20" b="0">
                <a:solidFill>
                  <a:srgbClr val="FFFFFF"/>
                </a:solidFill>
                <a:latin typeface="Malgun Gothic Semilight"/>
                <a:cs typeface="Malgun Gothic Semilight"/>
              </a:rPr>
              <a:t>NE</a:t>
            </a:r>
            <a:r>
              <a:rPr dirty="0" sz="700" spc="-90" b="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-50" b="0">
                <a:solidFill>
                  <a:srgbClr val="FFFFFF"/>
                </a:solidFill>
                <a:latin typeface="Malgun Gothic Semilight"/>
                <a:cs typeface="Malgun Gothic Semilight"/>
              </a:rPr>
              <a:t>L</a:t>
            </a:r>
            <a:endParaRPr sz="700">
              <a:latin typeface="Malgun Gothic Semilight"/>
              <a:cs typeface="Malgun Gothic Semi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45509" y="3648735"/>
            <a:ext cx="2103120" cy="37846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750" spc="-10" b="1">
                <a:solidFill>
                  <a:srgbClr val="1A1A1A"/>
                </a:solidFill>
                <a:latin typeface="Arial"/>
                <a:cs typeface="Arial"/>
              </a:rPr>
              <a:t>Atout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Isolation,</a:t>
            </a:r>
            <a:r>
              <a:rPr dirty="0" sz="800" spc="4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modularité</a:t>
            </a:r>
            <a:r>
              <a:rPr dirty="0" sz="800" spc="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et maintenance</a:t>
            </a:r>
            <a:r>
              <a:rPr dirty="0" sz="800" spc="6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facilitées.</a:t>
            </a:r>
            <a:endParaRPr sz="800">
              <a:latin typeface="Malgun Gothic Semilight"/>
              <a:cs typeface="Malgun Gothic Semi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45509" y="4194954"/>
            <a:ext cx="2110105" cy="37909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750" spc="-10" b="1">
                <a:solidFill>
                  <a:srgbClr val="1A1A1A"/>
                </a:solidFill>
                <a:latin typeface="Arial"/>
                <a:cs typeface="Arial"/>
              </a:rPr>
              <a:t>Limite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Communications</a:t>
            </a:r>
            <a:r>
              <a:rPr dirty="0" sz="800" spc="2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interservices</a:t>
            </a:r>
            <a:r>
              <a:rPr dirty="0" sz="800" spc="11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plus</a:t>
            </a:r>
            <a:r>
              <a:rPr dirty="0" sz="800" spc="6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complexes.</a:t>
            </a:r>
            <a:endParaRPr sz="800">
              <a:latin typeface="Malgun Gothic Semilight"/>
              <a:cs typeface="Malgun Gothic Semi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32067" y="922378"/>
            <a:ext cx="2323465" cy="115125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2250" spc="-25" b="1">
                <a:solidFill>
                  <a:srgbClr val="FF4500"/>
                </a:solidFill>
                <a:latin typeface="Arial"/>
                <a:cs typeface="Arial"/>
              </a:rPr>
              <a:t>03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 spc="-10" b="1">
                <a:solidFill>
                  <a:srgbClr val="1A1A1A"/>
                </a:solidFill>
                <a:latin typeface="Arial"/>
                <a:cs typeface="Arial"/>
              </a:rPr>
              <a:t>Hybride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8200"/>
              </a:lnSpc>
              <a:spcBef>
                <a:spcPts val="550"/>
              </a:spcBef>
            </a:pP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Le</a:t>
            </a:r>
            <a:r>
              <a:rPr dirty="0" sz="850" spc="5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système</a:t>
            </a:r>
            <a:r>
              <a:rPr dirty="0" sz="850" spc="4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combine</a:t>
            </a:r>
            <a:r>
              <a:rPr dirty="0" sz="850" spc="5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noyau</a:t>
            </a:r>
            <a:r>
              <a:rPr dirty="0" sz="850" spc="3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riche</a:t>
            </a:r>
            <a:r>
              <a:rPr dirty="0" sz="850" spc="1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b="0">
                <a:solidFill>
                  <a:srgbClr val="333333"/>
                </a:solidFill>
                <a:latin typeface="Malgun Gothic Semilight"/>
                <a:cs typeface="Malgun Gothic Semilight"/>
              </a:rPr>
              <a:t>et</a:t>
            </a:r>
            <a:r>
              <a:rPr dirty="0" sz="850" spc="-1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composants modulaires</a:t>
            </a:r>
            <a:r>
              <a:rPr dirty="0" sz="850" spc="-13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50" spc="-50" b="0">
                <a:solidFill>
                  <a:srgbClr val="333333"/>
                </a:solidFill>
                <a:latin typeface="Malgun Gothic Semilight"/>
                <a:cs typeface="Malgun Gothic Semilight"/>
              </a:rPr>
              <a:t>.</a:t>
            </a:r>
            <a:endParaRPr sz="850">
              <a:latin typeface="Malgun Gothic Semilight"/>
              <a:cs typeface="Malgun Gothic Semi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43244" y="2435351"/>
            <a:ext cx="2315210" cy="300355"/>
          </a:xfrm>
          <a:prstGeom prst="rect">
            <a:avLst/>
          </a:prstGeom>
          <a:ln w="18288">
            <a:solidFill>
              <a:srgbClr val="1A1A1A"/>
            </a:solidFill>
          </a:ln>
        </p:spPr>
        <p:txBody>
          <a:bodyPr wrap="square" lIns="0" tIns="9017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710"/>
              </a:spcBef>
            </a:pPr>
            <a:r>
              <a:rPr dirty="0" sz="700" spc="-10" b="0">
                <a:solidFill>
                  <a:srgbClr val="1A1A1A"/>
                </a:solidFill>
                <a:latin typeface="Malgun Gothic Semilight"/>
                <a:cs typeface="Malgun Gothic Semilight"/>
              </a:rPr>
              <a:t>APPLICATIONS</a:t>
            </a:r>
            <a:endParaRPr sz="700">
              <a:latin typeface="Malgun Gothic Semilight"/>
              <a:cs typeface="Malgun Gothic Semi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43244" y="2793492"/>
            <a:ext cx="2315210" cy="300355"/>
          </a:xfrm>
          <a:prstGeom prst="rect">
            <a:avLst/>
          </a:prstGeom>
          <a:solidFill>
            <a:srgbClr val="FFE8DF"/>
          </a:solidFill>
          <a:ln w="18288">
            <a:solidFill>
              <a:srgbClr val="1A1A1A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700"/>
              </a:spcBef>
            </a:pPr>
            <a:r>
              <a:rPr dirty="0" sz="700" b="0">
                <a:solidFill>
                  <a:srgbClr val="1A1A1A"/>
                </a:solidFill>
                <a:latin typeface="Malgun Gothic Semilight"/>
                <a:cs typeface="Malgun Gothic Semilight"/>
              </a:rPr>
              <a:t>S</a:t>
            </a:r>
            <a:r>
              <a:rPr dirty="0" sz="700" spc="-7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b="0">
                <a:solidFill>
                  <a:srgbClr val="1A1A1A"/>
                </a:solidFill>
                <a:latin typeface="Malgun Gothic Semilight"/>
                <a:cs typeface="Malgun Gothic Semilight"/>
              </a:rPr>
              <a:t>OUS-SYS</a:t>
            </a:r>
            <a:r>
              <a:rPr dirty="0" sz="700" spc="-70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b="0">
                <a:solidFill>
                  <a:srgbClr val="1A1A1A"/>
                </a:solidFill>
                <a:latin typeface="Malgun Gothic Semilight"/>
                <a:cs typeface="Malgun Gothic Semilight"/>
              </a:rPr>
              <a:t>TÈMES</a:t>
            </a:r>
            <a:r>
              <a:rPr dirty="0" sz="700" spc="254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b="0">
                <a:solidFill>
                  <a:srgbClr val="1A1A1A"/>
                </a:solidFill>
                <a:latin typeface="Malgun Gothic Semilight"/>
                <a:cs typeface="Malgun Gothic Semilight"/>
              </a:rPr>
              <a:t>/</a:t>
            </a:r>
            <a:r>
              <a:rPr dirty="0" sz="700" spc="65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b="0">
                <a:solidFill>
                  <a:srgbClr val="1A1A1A"/>
                </a:solidFill>
                <a:latin typeface="Malgun Gothic Semilight"/>
                <a:cs typeface="Malgun Gothic Semilight"/>
              </a:rPr>
              <a:t>S</a:t>
            </a:r>
            <a:r>
              <a:rPr dirty="0" sz="700" spc="-55" b="0">
                <a:solidFill>
                  <a:srgbClr val="1A1A1A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-10" b="0">
                <a:solidFill>
                  <a:srgbClr val="1A1A1A"/>
                </a:solidFill>
                <a:latin typeface="Malgun Gothic Semilight"/>
                <a:cs typeface="Malgun Gothic Semilight"/>
              </a:rPr>
              <a:t>ERVICES</a:t>
            </a:r>
            <a:endParaRPr sz="700">
              <a:latin typeface="Malgun Gothic Semilight"/>
              <a:cs typeface="Malgun Gothic Semi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43244" y="3150107"/>
            <a:ext cx="2315210" cy="300355"/>
          </a:xfrm>
          <a:prstGeom prst="rect">
            <a:avLst/>
          </a:prstGeom>
          <a:solidFill>
            <a:srgbClr val="FF4500"/>
          </a:solidFill>
          <a:ln w="18288">
            <a:solidFill>
              <a:srgbClr val="1A1A1A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705"/>
              </a:spcBef>
            </a:pPr>
            <a:r>
              <a:rPr dirty="0" sz="700" b="0">
                <a:solidFill>
                  <a:srgbClr val="FFFFFF"/>
                </a:solidFill>
                <a:latin typeface="Malgun Gothic Semilight"/>
                <a:cs typeface="Malgun Gothic Semilight"/>
              </a:rPr>
              <a:t>NOYAU</a:t>
            </a:r>
            <a:r>
              <a:rPr dirty="0" sz="700" spc="-10" b="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b="0">
                <a:solidFill>
                  <a:srgbClr val="FFFFFF"/>
                </a:solidFill>
                <a:latin typeface="Malgun Gothic Semilight"/>
                <a:cs typeface="Malgun Gothic Semilight"/>
              </a:rPr>
              <a:t>+</a:t>
            </a:r>
            <a:r>
              <a:rPr dirty="0" sz="700" spc="5" b="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700" spc="-10" b="0">
                <a:solidFill>
                  <a:srgbClr val="FFFFFF"/>
                </a:solidFill>
                <a:latin typeface="Malgun Gothic Semilight"/>
                <a:cs typeface="Malgun Gothic Semilight"/>
              </a:rPr>
              <a:t>MODULES</a:t>
            </a:r>
            <a:endParaRPr sz="700">
              <a:latin typeface="Malgun Gothic Semilight"/>
              <a:cs typeface="Malgun Gothic Semi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32067" y="3648735"/>
            <a:ext cx="1952625" cy="37846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750" spc="-10" b="1">
                <a:solidFill>
                  <a:srgbClr val="1A1A1A"/>
                </a:solidFill>
                <a:latin typeface="Arial"/>
                <a:cs typeface="Arial"/>
              </a:rPr>
              <a:t>Atout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Compromis</a:t>
            </a:r>
            <a:r>
              <a:rPr dirty="0" sz="800" spc="-2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entre</a:t>
            </a:r>
            <a:r>
              <a:rPr dirty="0" sz="800" spc="-2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performance</a:t>
            </a: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et</a:t>
            </a:r>
            <a:r>
              <a:rPr dirty="0" sz="800" spc="-4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flexibilité.</a:t>
            </a:r>
            <a:endParaRPr sz="800">
              <a:latin typeface="Malgun Gothic Semilight"/>
              <a:cs typeface="Malgun Gothic Semi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32067" y="4194954"/>
            <a:ext cx="1669414" cy="37909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750" spc="-10" b="1">
                <a:solidFill>
                  <a:srgbClr val="1A1A1A"/>
                </a:solidFill>
                <a:latin typeface="Arial"/>
                <a:cs typeface="Arial"/>
              </a:rPr>
              <a:t>Limite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Architecture</a:t>
            </a:r>
            <a:r>
              <a:rPr dirty="0" sz="800" spc="-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plus</a:t>
            </a:r>
            <a:r>
              <a:rPr dirty="0" sz="800" spc="85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difficile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 à</a:t>
            </a:r>
            <a:r>
              <a:rPr dirty="0" sz="800" spc="1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b="0">
                <a:solidFill>
                  <a:srgbClr val="333333"/>
                </a:solidFill>
                <a:latin typeface="Malgun Gothic Semilight"/>
                <a:cs typeface="Malgun Gothic Semilight"/>
              </a:rPr>
              <a:t>rais</a:t>
            </a:r>
            <a:r>
              <a:rPr dirty="0" sz="800" spc="-150" b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dirty="0" sz="800" spc="-10" b="0">
                <a:solidFill>
                  <a:srgbClr val="333333"/>
                </a:solidFill>
                <a:latin typeface="Malgun Gothic Semilight"/>
                <a:cs typeface="Malgun Gothic Semilight"/>
              </a:rPr>
              <a:t>onner.</a:t>
            </a:r>
            <a:endParaRPr sz="800">
              <a:latin typeface="Malgun Gothic Semilight"/>
              <a:cs typeface="Malgun Gothic Semiligh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90900" y="9144"/>
            <a:ext cx="5520055" cy="565785"/>
            <a:chOff x="3390900" y="9144"/>
            <a:chExt cx="5520055" cy="565785"/>
          </a:xfrm>
        </p:grpSpPr>
        <p:sp>
          <p:nvSpPr>
            <p:cNvPr id="23" name="object 23"/>
            <p:cNvSpPr/>
            <p:nvPr/>
          </p:nvSpPr>
          <p:spPr>
            <a:xfrm>
              <a:off x="3390900" y="9144"/>
              <a:ext cx="5105400" cy="273050"/>
            </a:xfrm>
            <a:custGeom>
              <a:avLst/>
              <a:gdLst/>
              <a:ahLst/>
              <a:cxnLst/>
              <a:rect l="l" t="t" r="r" b="b"/>
              <a:pathLst>
                <a:path w="5105400" h="273050">
                  <a:moveTo>
                    <a:pt x="5105400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5105400" y="272796"/>
                  </a:lnTo>
                  <a:lnTo>
                    <a:pt x="5105400" y="0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912108" y="301752"/>
              <a:ext cx="4998720" cy="273050"/>
            </a:xfrm>
            <a:custGeom>
              <a:avLst/>
              <a:gdLst/>
              <a:ahLst/>
              <a:cxnLst/>
              <a:rect l="l" t="t" r="r" b="b"/>
              <a:pathLst>
                <a:path w="4998720" h="273050">
                  <a:moveTo>
                    <a:pt x="4998720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4998720" y="272796"/>
                  </a:lnTo>
                  <a:lnTo>
                    <a:pt x="4998720" y="0"/>
                  </a:lnTo>
                  <a:close/>
                </a:path>
              </a:pathLst>
            </a:custGeom>
            <a:solidFill>
              <a:srgbClr val="F49E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469894" y="-65176"/>
            <a:ext cx="4675505" cy="601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34035" marR="5080" indent="-521970">
              <a:lnSpc>
                <a:spcPct val="134900"/>
              </a:lnSpc>
              <a:spcBef>
                <a:spcPts val="95"/>
              </a:spcBef>
            </a:pP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Partie</a:t>
            </a:r>
            <a:r>
              <a:rPr dirty="0" sz="14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dirty="0" sz="14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—</a:t>
            </a:r>
            <a:r>
              <a:rPr dirty="0" sz="14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Fondamentaux</a:t>
            </a:r>
            <a:r>
              <a:rPr dirty="0" sz="14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des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(généralités)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Introduction</a:t>
            </a:r>
            <a:r>
              <a:rPr dirty="0" sz="14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aux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25" b="0">
                <a:solidFill>
                  <a:srgbClr val="FFFFFF"/>
                </a:solidFill>
                <a:latin typeface="Calibri Light"/>
                <a:cs typeface="Calibri Light"/>
              </a:rPr>
              <a:t>systèmes</a:t>
            </a:r>
            <a:r>
              <a:rPr dirty="0" sz="14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400" spc="-10" b="0">
                <a:solidFill>
                  <a:srgbClr val="FFFFFF"/>
                </a:solidFill>
                <a:latin typeface="Calibri Light"/>
                <a:cs typeface="Calibri Light"/>
              </a:rPr>
              <a:t>d'exploitation</a:t>
            </a:r>
            <a:endParaRPr sz="1400">
              <a:latin typeface="Calibri Light"/>
              <a:cs typeface="Calibri Ligh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519427" y="963167"/>
            <a:ext cx="617220" cy="617220"/>
            <a:chOff x="1519427" y="963167"/>
            <a:chExt cx="617220" cy="617220"/>
          </a:xfrm>
        </p:grpSpPr>
        <p:sp>
          <p:nvSpPr>
            <p:cNvPr id="27" name="object 27"/>
            <p:cNvSpPr/>
            <p:nvPr/>
          </p:nvSpPr>
          <p:spPr>
            <a:xfrm>
              <a:off x="1519427" y="963167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19" h="617219">
                  <a:moveTo>
                    <a:pt x="308609" y="0"/>
                  </a:moveTo>
                  <a:lnTo>
                    <a:pt x="263007" y="3346"/>
                  </a:lnTo>
                  <a:lnTo>
                    <a:pt x="219481" y="13066"/>
                  </a:lnTo>
                  <a:lnTo>
                    <a:pt x="178510" y="28684"/>
                  </a:lnTo>
                  <a:lnTo>
                    <a:pt x="140571" y="49720"/>
                  </a:lnTo>
                  <a:lnTo>
                    <a:pt x="106141" y="75699"/>
                  </a:lnTo>
                  <a:lnTo>
                    <a:pt x="75699" y="106141"/>
                  </a:lnTo>
                  <a:lnTo>
                    <a:pt x="49720" y="140571"/>
                  </a:lnTo>
                  <a:lnTo>
                    <a:pt x="28684" y="178510"/>
                  </a:lnTo>
                  <a:lnTo>
                    <a:pt x="13066" y="219481"/>
                  </a:lnTo>
                  <a:lnTo>
                    <a:pt x="3346" y="263007"/>
                  </a:lnTo>
                  <a:lnTo>
                    <a:pt x="0" y="308610"/>
                  </a:lnTo>
                  <a:lnTo>
                    <a:pt x="3346" y="354212"/>
                  </a:lnTo>
                  <a:lnTo>
                    <a:pt x="13066" y="397738"/>
                  </a:lnTo>
                  <a:lnTo>
                    <a:pt x="28684" y="438709"/>
                  </a:lnTo>
                  <a:lnTo>
                    <a:pt x="49720" y="476648"/>
                  </a:lnTo>
                  <a:lnTo>
                    <a:pt x="75699" y="511078"/>
                  </a:lnTo>
                  <a:lnTo>
                    <a:pt x="106141" y="541520"/>
                  </a:lnTo>
                  <a:lnTo>
                    <a:pt x="140571" y="567499"/>
                  </a:lnTo>
                  <a:lnTo>
                    <a:pt x="178510" y="588535"/>
                  </a:lnTo>
                  <a:lnTo>
                    <a:pt x="219481" y="604153"/>
                  </a:lnTo>
                  <a:lnTo>
                    <a:pt x="263007" y="613873"/>
                  </a:lnTo>
                  <a:lnTo>
                    <a:pt x="308609" y="617220"/>
                  </a:lnTo>
                  <a:lnTo>
                    <a:pt x="354212" y="613873"/>
                  </a:lnTo>
                  <a:lnTo>
                    <a:pt x="397738" y="604153"/>
                  </a:lnTo>
                  <a:lnTo>
                    <a:pt x="438709" y="588535"/>
                  </a:lnTo>
                  <a:lnTo>
                    <a:pt x="476648" y="567499"/>
                  </a:lnTo>
                  <a:lnTo>
                    <a:pt x="511078" y="541520"/>
                  </a:lnTo>
                  <a:lnTo>
                    <a:pt x="541520" y="511078"/>
                  </a:lnTo>
                  <a:lnTo>
                    <a:pt x="567499" y="476648"/>
                  </a:lnTo>
                  <a:lnTo>
                    <a:pt x="588535" y="438709"/>
                  </a:lnTo>
                  <a:lnTo>
                    <a:pt x="604153" y="397738"/>
                  </a:lnTo>
                  <a:lnTo>
                    <a:pt x="613873" y="354212"/>
                  </a:lnTo>
                  <a:lnTo>
                    <a:pt x="617220" y="308610"/>
                  </a:lnTo>
                  <a:lnTo>
                    <a:pt x="613873" y="263007"/>
                  </a:lnTo>
                  <a:lnTo>
                    <a:pt x="604153" y="219481"/>
                  </a:lnTo>
                  <a:lnTo>
                    <a:pt x="588535" y="178510"/>
                  </a:lnTo>
                  <a:lnTo>
                    <a:pt x="567499" y="140571"/>
                  </a:lnTo>
                  <a:lnTo>
                    <a:pt x="541520" y="106141"/>
                  </a:lnTo>
                  <a:lnTo>
                    <a:pt x="511078" y="75699"/>
                  </a:lnTo>
                  <a:lnTo>
                    <a:pt x="476648" y="49720"/>
                  </a:lnTo>
                  <a:lnTo>
                    <a:pt x="438709" y="28684"/>
                  </a:lnTo>
                  <a:lnTo>
                    <a:pt x="397738" y="13066"/>
                  </a:lnTo>
                  <a:lnTo>
                    <a:pt x="354212" y="3346"/>
                  </a:lnTo>
                  <a:lnTo>
                    <a:pt x="308609" y="0"/>
                  </a:lnTo>
                  <a:close/>
                </a:path>
              </a:pathLst>
            </a:custGeom>
            <a:solidFill>
              <a:srgbClr val="1F38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/home/claude/ppt/icons/cube_FFFFF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7255" y="1110995"/>
              <a:ext cx="321563" cy="321563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4352544" y="969263"/>
            <a:ext cx="617220" cy="617220"/>
            <a:chOff x="4352544" y="969263"/>
            <a:chExt cx="617220" cy="617220"/>
          </a:xfrm>
        </p:grpSpPr>
        <p:sp>
          <p:nvSpPr>
            <p:cNvPr id="30" name="object 30"/>
            <p:cNvSpPr/>
            <p:nvPr/>
          </p:nvSpPr>
          <p:spPr>
            <a:xfrm>
              <a:off x="4352544" y="969263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20" h="617219">
                  <a:moveTo>
                    <a:pt x="308609" y="0"/>
                  </a:moveTo>
                  <a:lnTo>
                    <a:pt x="263007" y="3346"/>
                  </a:lnTo>
                  <a:lnTo>
                    <a:pt x="219481" y="13066"/>
                  </a:lnTo>
                  <a:lnTo>
                    <a:pt x="178510" y="28684"/>
                  </a:lnTo>
                  <a:lnTo>
                    <a:pt x="140571" y="49720"/>
                  </a:lnTo>
                  <a:lnTo>
                    <a:pt x="106141" y="75699"/>
                  </a:lnTo>
                  <a:lnTo>
                    <a:pt x="75699" y="106141"/>
                  </a:lnTo>
                  <a:lnTo>
                    <a:pt x="49720" y="140571"/>
                  </a:lnTo>
                  <a:lnTo>
                    <a:pt x="28684" y="178510"/>
                  </a:lnTo>
                  <a:lnTo>
                    <a:pt x="13066" y="219481"/>
                  </a:lnTo>
                  <a:lnTo>
                    <a:pt x="3346" y="263007"/>
                  </a:lnTo>
                  <a:lnTo>
                    <a:pt x="0" y="308610"/>
                  </a:lnTo>
                  <a:lnTo>
                    <a:pt x="3346" y="354212"/>
                  </a:lnTo>
                  <a:lnTo>
                    <a:pt x="13066" y="397738"/>
                  </a:lnTo>
                  <a:lnTo>
                    <a:pt x="28684" y="438709"/>
                  </a:lnTo>
                  <a:lnTo>
                    <a:pt x="49720" y="476648"/>
                  </a:lnTo>
                  <a:lnTo>
                    <a:pt x="75699" y="511078"/>
                  </a:lnTo>
                  <a:lnTo>
                    <a:pt x="106141" y="541520"/>
                  </a:lnTo>
                  <a:lnTo>
                    <a:pt x="140571" y="567499"/>
                  </a:lnTo>
                  <a:lnTo>
                    <a:pt x="178510" y="588535"/>
                  </a:lnTo>
                  <a:lnTo>
                    <a:pt x="219481" y="604153"/>
                  </a:lnTo>
                  <a:lnTo>
                    <a:pt x="263007" y="613873"/>
                  </a:lnTo>
                  <a:lnTo>
                    <a:pt x="308609" y="617220"/>
                  </a:lnTo>
                  <a:lnTo>
                    <a:pt x="354212" y="613873"/>
                  </a:lnTo>
                  <a:lnTo>
                    <a:pt x="397738" y="604153"/>
                  </a:lnTo>
                  <a:lnTo>
                    <a:pt x="438709" y="588535"/>
                  </a:lnTo>
                  <a:lnTo>
                    <a:pt x="476648" y="567499"/>
                  </a:lnTo>
                  <a:lnTo>
                    <a:pt x="511078" y="541520"/>
                  </a:lnTo>
                  <a:lnTo>
                    <a:pt x="541520" y="511078"/>
                  </a:lnTo>
                  <a:lnTo>
                    <a:pt x="567499" y="476648"/>
                  </a:lnTo>
                  <a:lnTo>
                    <a:pt x="588535" y="438709"/>
                  </a:lnTo>
                  <a:lnTo>
                    <a:pt x="604153" y="397738"/>
                  </a:lnTo>
                  <a:lnTo>
                    <a:pt x="613873" y="354212"/>
                  </a:lnTo>
                  <a:lnTo>
                    <a:pt x="617219" y="308610"/>
                  </a:lnTo>
                  <a:lnTo>
                    <a:pt x="613873" y="263007"/>
                  </a:lnTo>
                  <a:lnTo>
                    <a:pt x="604153" y="219481"/>
                  </a:lnTo>
                  <a:lnTo>
                    <a:pt x="588535" y="178510"/>
                  </a:lnTo>
                  <a:lnTo>
                    <a:pt x="567499" y="140571"/>
                  </a:lnTo>
                  <a:lnTo>
                    <a:pt x="541520" y="106141"/>
                  </a:lnTo>
                  <a:lnTo>
                    <a:pt x="511078" y="75699"/>
                  </a:lnTo>
                  <a:lnTo>
                    <a:pt x="476648" y="49720"/>
                  </a:lnTo>
                  <a:lnTo>
                    <a:pt x="438709" y="28684"/>
                  </a:lnTo>
                  <a:lnTo>
                    <a:pt x="397738" y="13066"/>
                  </a:lnTo>
                  <a:lnTo>
                    <a:pt x="354212" y="3346"/>
                  </a:lnTo>
                  <a:lnTo>
                    <a:pt x="30860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/home/claude/ppt/icons/grid_FFFFFF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0372" y="1118615"/>
              <a:ext cx="321563" cy="320039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7045452" y="955547"/>
            <a:ext cx="617220" cy="617220"/>
            <a:chOff x="7045452" y="955547"/>
            <a:chExt cx="617220" cy="617220"/>
          </a:xfrm>
        </p:grpSpPr>
        <p:sp>
          <p:nvSpPr>
            <p:cNvPr id="33" name="object 33"/>
            <p:cNvSpPr/>
            <p:nvPr/>
          </p:nvSpPr>
          <p:spPr>
            <a:xfrm>
              <a:off x="7045452" y="955547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20" h="617219">
                  <a:moveTo>
                    <a:pt x="308609" y="0"/>
                  </a:moveTo>
                  <a:lnTo>
                    <a:pt x="263007" y="3346"/>
                  </a:lnTo>
                  <a:lnTo>
                    <a:pt x="219481" y="13066"/>
                  </a:lnTo>
                  <a:lnTo>
                    <a:pt x="178510" y="28684"/>
                  </a:lnTo>
                  <a:lnTo>
                    <a:pt x="140571" y="49720"/>
                  </a:lnTo>
                  <a:lnTo>
                    <a:pt x="106141" y="75699"/>
                  </a:lnTo>
                  <a:lnTo>
                    <a:pt x="75699" y="106141"/>
                  </a:lnTo>
                  <a:lnTo>
                    <a:pt x="49720" y="140571"/>
                  </a:lnTo>
                  <a:lnTo>
                    <a:pt x="28684" y="178510"/>
                  </a:lnTo>
                  <a:lnTo>
                    <a:pt x="13066" y="219481"/>
                  </a:lnTo>
                  <a:lnTo>
                    <a:pt x="3346" y="263007"/>
                  </a:lnTo>
                  <a:lnTo>
                    <a:pt x="0" y="308610"/>
                  </a:lnTo>
                  <a:lnTo>
                    <a:pt x="3346" y="354212"/>
                  </a:lnTo>
                  <a:lnTo>
                    <a:pt x="13066" y="397738"/>
                  </a:lnTo>
                  <a:lnTo>
                    <a:pt x="28684" y="438709"/>
                  </a:lnTo>
                  <a:lnTo>
                    <a:pt x="49720" y="476648"/>
                  </a:lnTo>
                  <a:lnTo>
                    <a:pt x="75699" y="511078"/>
                  </a:lnTo>
                  <a:lnTo>
                    <a:pt x="106141" y="541520"/>
                  </a:lnTo>
                  <a:lnTo>
                    <a:pt x="140571" y="567499"/>
                  </a:lnTo>
                  <a:lnTo>
                    <a:pt x="178510" y="588535"/>
                  </a:lnTo>
                  <a:lnTo>
                    <a:pt x="219481" y="604153"/>
                  </a:lnTo>
                  <a:lnTo>
                    <a:pt x="263007" y="613873"/>
                  </a:lnTo>
                  <a:lnTo>
                    <a:pt x="308609" y="617219"/>
                  </a:lnTo>
                  <a:lnTo>
                    <a:pt x="354212" y="613873"/>
                  </a:lnTo>
                  <a:lnTo>
                    <a:pt x="397738" y="604153"/>
                  </a:lnTo>
                  <a:lnTo>
                    <a:pt x="438709" y="588535"/>
                  </a:lnTo>
                  <a:lnTo>
                    <a:pt x="476648" y="567499"/>
                  </a:lnTo>
                  <a:lnTo>
                    <a:pt x="511078" y="541520"/>
                  </a:lnTo>
                  <a:lnTo>
                    <a:pt x="541520" y="511078"/>
                  </a:lnTo>
                  <a:lnTo>
                    <a:pt x="567499" y="476648"/>
                  </a:lnTo>
                  <a:lnTo>
                    <a:pt x="588535" y="438709"/>
                  </a:lnTo>
                  <a:lnTo>
                    <a:pt x="604153" y="397738"/>
                  </a:lnTo>
                  <a:lnTo>
                    <a:pt x="613873" y="354212"/>
                  </a:lnTo>
                  <a:lnTo>
                    <a:pt x="617220" y="308610"/>
                  </a:lnTo>
                  <a:lnTo>
                    <a:pt x="613873" y="263007"/>
                  </a:lnTo>
                  <a:lnTo>
                    <a:pt x="604153" y="219481"/>
                  </a:lnTo>
                  <a:lnTo>
                    <a:pt x="588535" y="178510"/>
                  </a:lnTo>
                  <a:lnTo>
                    <a:pt x="567499" y="140571"/>
                  </a:lnTo>
                  <a:lnTo>
                    <a:pt x="541520" y="106141"/>
                  </a:lnTo>
                  <a:lnTo>
                    <a:pt x="511078" y="75699"/>
                  </a:lnTo>
                  <a:lnTo>
                    <a:pt x="476648" y="49720"/>
                  </a:lnTo>
                  <a:lnTo>
                    <a:pt x="438709" y="28684"/>
                  </a:lnTo>
                  <a:lnTo>
                    <a:pt x="397738" y="13066"/>
                  </a:lnTo>
                  <a:lnTo>
                    <a:pt x="354212" y="3346"/>
                  </a:lnTo>
                  <a:lnTo>
                    <a:pt x="308609" y="0"/>
                  </a:lnTo>
                  <a:close/>
                </a:path>
              </a:pathLst>
            </a:custGeom>
            <a:solidFill>
              <a:srgbClr val="D588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/home/claude/ppt/icons/layers_FFFFFF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80" y="1103375"/>
              <a:ext cx="321564" cy="3215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13453" y="1655140"/>
            <a:ext cx="1092200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0" spc="-1120">
                <a:solidFill>
                  <a:srgbClr val="FFFFFF"/>
                </a:solidFill>
                <a:latin typeface="Garamond"/>
                <a:cs typeface="Garamond"/>
              </a:rPr>
              <a:t>Fin</a:t>
            </a:r>
            <a:endParaRPr sz="80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29661" y="2760726"/>
            <a:ext cx="386080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b="1">
                <a:solidFill>
                  <a:srgbClr val="4471C4"/>
                </a:solidFill>
                <a:latin typeface="Calibri"/>
                <a:cs typeface="Calibri"/>
              </a:rPr>
              <a:t>Prochain</a:t>
            </a:r>
            <a:r>
              <a:rPr dirty="0" sz="1250" spc="5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4471C4"/>
                </a:solidFill>
                <a:latin typeface="Calibri"/>
                <a:cs typeface="Calibri"/>
              </a:rPr>
              <a:t>chapitre</a:t>
            </a:r>
            <a:r>
              <a:rPr dirty="0" sz="1250" spc="5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4471C4"/>
                </a:solidFill>
                <a:latin typeface="Calibri"/>
                <a:cs typeface="Calibri"/>
              </a:rPr>
              <a:t>: Typologie</a:t>
            </a:r>
            <a:r>
              <a:rPr dirty="0" sz="1250" spc="15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4471C4"/>
                </a:solidFill>
                <a:latin typeface="Calibri"/>
                <a:cs typeface="Calibri"/>
              </a:rPr>
              <a:t>des systèmes</a:t>
            </a:r>
            <a:r>
              <a:rPr dirty="0" sz="1250" spc="20" b="1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4471C4"/>
                </a:solidFill>
                <a:latin typeface="Calibri"/>
                <a:cs typeface="Calibri"/>
              </a:rPr>
              <a:t>d'exploitation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2026-10-11T07:49:15Z</dcterms:created>
  <dcterms:modified xsi:type="dcterms:W3CDTF">2026-10-11T07:49:15Z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2026-10-11T00:00:00Z</vt:filetime>
  </property>
  <property fmtid="{D5CDD505-2E9C-101B-9397-08002B2CF9AE}" pid="5" name="Producer">
    <vt:lpwstr>Microsoft® PowerPoint® 2016</vt:lpwstr>
  </property>
</Properties>
</file>