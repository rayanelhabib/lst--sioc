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9144000"/>
  <p:embeddedFontLst>
    <p:embeddedFont>
      <p:font typeface="Cambria Math" panose="02040503050406030204" pitchFamily="18" charset="0"/>
      <p:regular r:id="rId21"/>
    </p:embeddedFont>
    <p:embeddedFont>
      <p:font typeface="Inter"/>
      <p:bold r:id="rId22"/>
    </p:embeddedFont>
    <p:embeddedFont>
      <p:font typeface="JetBrains Mono"/>
      <p:bold r:id="rId23"/>
    </p:embeddedFont>
    <p:embeddedFont>
      <p:font typeface="Space Grotesk"/>
      <p:bold r:id="rId24"/>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0850" autoAdjust="0"/>
  </p:normalViewPr>
  <p:slideViewPr>
    <p:cSldViewPr snapToGrid="0" snapToObjects="1">
      <p:cViewPr varScale="1">
        <p:scale>
          <a:sx n="82" d="100"/>
          <a:sy n="82" d="100"/>
        </p:scale>
        <p:origin x="691"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98CF02-6FB8-4FC9-91D4-56703ADC0F4B}" type="datetimeFigureOut">
              <a:rPr lang="fr-FR" smtClean="0"/>
              <a:t>08/10/2026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E2C881C-F9EA-4388-B8AE-D5F1912BE9C9}" type="slidenum">
              <a:rPr lang="fr-FR" smtClean="0"/>
              <a:t>‹N°›</a:t>
            </a:fld>
            <a:endParaRPr lang="fr-FR"/>
          </a:p>
        </p:txBody>
      </p:sp>
    </p:spTree>
    <p:extLst>
      <p:ext uri="{BB962C8B-B14F-4D97-AF65-F5344CB8AC3E}">
        <p14:creationId xmlns:p14="http://schemas.microsoft.com/office/powerpoint/2010/main" val="3557023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dirty="0">
                <a:solidFill>
                  <a:srgbClr val="CBD5E1"/>
                </a:solidFill>
                <a:latin typeface="Inter"/>
              </a:rPr>
              <a:t>Bonjour à tous et bienvenue dans ce premier cours du </a:t>
            </a:r>
            <a:r>
              <a:rPr lang="fr-FR" sz="1200" b="1" noProof="0" dirty="0">
                <a:solidFill>
                  <a:srgbClr val="38BDF8"/>
                </a:solidFill>
                <a:latin typeface="JetBrains Mono"/>
              </a:rPr>
              <a:t>Réseaux et protocoles</a:t>
            </a:r>
            <a:r>
              <a:rPr lang="fr-FR" sz="1200" b="0" i="0" u="none" dirty="0">
                <a:solidFill>
                  <a:srgbClr val="CBD5E1"/>
                </a:solidFill>
                <a:latin typeface="Inter"/>
              </a:rPr>
              <a:t>. Aujourd'hui, nous posons les fondations fondamentales des réseaux informatiques : les systèmes de numération. Sans la maîtrise du binaire et de l'hexadécimal, il est impossible de comprendre l'adressage IP, le découpage en sous-réseaux ou le fonctionnement des commutateurs. Notre objectif aujourd'hui : démystifier ces calculs et voir leur application directe sur les équipements."</a:t>
            </a:r>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1</a:t>
            </a:fld>
            <a:endParaRPr lang="fr-FR"/>
          </a:p>
        </p:txBody>
      </p:sp>
    </p:spTree>
    <p:extLst>
      <p:ext uri="{BB962C8B-B14F-4D97-AF65-F5344CB8AC3E}">
        <p14:creationId xmlns:p14="http://schemas.microsoft.com/office/powerpoint/2010/main" val="2134940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"Les machines ne comprennent ni le français, ni le décimal. Un routeur Cisco ne traite que des variations de tension : tension haute = 1, tension basse = 0. Le binaire est le langage natif du matériel. L'hexadécimal et l'octal sont des raccourcis humains pour lire plus facilement de très longues suites de bits sans se tromper."</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2</a:t>
            </a:fld>
            <a:endParaRPr lang="fr-FR"/>
          </a:p>
        </p:txBody>
      </p:sp>
    </p:spTree>
    <p:extLst>
      <p:ext uri="{BB962C8B-B14F-4D97-AF65-F5344CB8AC3E}">
        <p14:creationId xmlns:p14="http://schemas.microsoft.com/office/powerpoint/2010/main" val="6168141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"Remarquez qu'en base 16, les chiffres de 0 à 9 ne suffisent pas pour représenter 16 valeurs. On utilise donc les lettres de A à F pour représenter les nombres de 10 à 15. A vaut 10, B vaut 11, jusqu'à F qui vaut 15. C'est une convention universelle."</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3</a:t>
            </a:fld>
            <a:endParaRPr lang="fr-FR"/>
          </a:p>
        </p:txBody>
      </p:sp>
    </p:spTree>
    <p:extLst>
      <p:ext uri="{BB962C8B-B14F-4D97-AF65-F5344CB8AC3E}">
        <p14:creationId xmlns:p14="http://schemas.microsoft.com/office/powerpoint/2010/main" val="200787707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"Dans tout système positionnel, la valeur d'un chiffre dépend de </a:t>
                </a:r>
                <a:r>
                  <a:rPr lang="fr-FR" sz="1200" b="0" i="0" u="none" noProof="0" dirty="0" err="1">
                    <a:solidFill>
                      <a:srgbClr val="334155"/>
                    </a:solidFill>
                    <a:latin typeface="Inter"/>
                  </a:rPr>
                  <a:t>son䒽emplacement</a:t>
                </a:r>
                <a:r>
                  <a:rPr lang="fr-FR" sz="1200" b="0" i="0" u="none" noProof="0" dirty="0">
                    <a:solidFill>
                      <a:srgbClr val="334155"/>
                    </a:solidFill>
                    <a:latin typeface="Inter"/>
                  </a:rPr>
                  <a:t>. Le '5' dans 2541 ne vaut pas 5, mais 500 car il est en position 2 (puissance 10²). Ce même principe s'applique à la perfection au binaire avec des puissances de 2."</a:t>
                </a:r>
              </a:p>
              <a:p>
                <a:pPr lvl="0"/>
                <a14:m>
                  <m:oMath xmlns:m="http://schemas.openxmlformats.org/officeDocument/2006/math">
                    <m:r>
                      <a:rPr lang="fr-FR" sz="1200" i="1" kern="1200" smtClean="0">
                        <a:solidFill>
                          <a:schemeClr val="tx1"/>
                        </a:solidFill>
                        <a:latin typeface="Cambria Math" panose="02040503050406030204" pitchFamily="18" charset="0"/>
                        <a:ea typeface="+mn-ea"/>
                        <a:cs typeface="+mn-cs"/>
                      </a:rPr>
                      <m:t>𝑁</m:t>
                    </m:r>
                  </m:oMath>
                </a14:m>
                <a:r>
                  <a:rPr lang="fr-FR" sz="1200" kern="1200" dirty="0">
                    <a:solidFill>
                      <a:schemeClr val="tx1"/>
                    </a:solidFill>
                    <a:effectLst/>
                    <a:latin typeface="+mn-lt"/>
                    <a:ea typeface="+mn-ea"/>
                    <a:cs typeface="+mn-cs"/>
                  </a:rPr>
                  <a:t>: Le nombre évalué dans la base décimale. </a:t>
                </a:r>
              </a:p>
              <a:p>
                <a:pPr lvl="0"/>
                <a14:m>
                  <m:oMath xmlns:m="http://schemas.openxmlformats.org/officeDocument/2006/math">
                    <m:r>
                      <a:rPr lang="fr-FR" sz="1200" i="1" kern="1200" smtClean="0">
                        <a:solidFill>
                          <a:schemeClr val="tx1"/>
                        </a:solidFill>
                        <a:latin typeface="Cambria Math" panose="02040503050406030204" pitchFamily="18" charset="0"/>
                        <a:ea typeface="+mn-ea"/>
                        <a:cs typeface="+mn-cs"/>
                      </a:rPr>
                      <m:t>𝐵</m:t>
                    </m:r>
                  </m:oMath>
                </a14:m>
                <a:r>
                  <a:rPr lang="fr-FR" sz="1200" kern="1200" dirty="0">
                    <a:solidFill>
                      <a:schemeClr val="tx1"/>
                    </a:solidFill>
                    <a:effectLst/>
                    <a:latin typeface="+mn-lt"/>
                    <a:ea typeface="+mn-ea"/>
                    <a:cs typeface="+mn-cs"/>
                  </a:rPr>
                  <a:t>: La base de numération (par exemple </a:t>
                </a:r>
                <a14:m>
                  <m:oMath xmlns:m="http://schemas.openxmlformats.org/officeDocument/2006/math">
                    <m:r>
                      <a:rPr lang="fr-FR" sz="1200" i="1" kern="1200" smtClean="0">
                        <a:solidFill>
                          <a:schemeClr val="tx1"/>
                        </a:solidFill>
                        <a:latin typeface="Cambria Math" panose="02040503050406030204" pitchFamily="18" charset="0"/>
                        <a:ea typeface="+mn-ea"/>
                        <a:cs typeface="+mn-cs"/>
                      </a:rPr>
                      <m:t>𝐵</m:t>
                    </m:r>
                    <m:r>
                      <a:rPr lang="fr-FR" sz="1200" i="0" kern="1200">
                        <a:solidFill>
                          <a:schemeClr val="tx1"/>
                        </a:solidFill>
                        <a:latin typeface="Cambria Math" panose="02040503050406030204" pitchFamily="18" charset="0"/>
                        <a:ea typeface="+mn-ea"/>
                        <a:cs typeface="+mn-cs"/>
                      </a:rPr>
                      <m:t>=10</m:t>
                    </m:r>
                  </m:oMath>
                </a14:m>
                <a:r>
                  <a:rPr lang="fr-FR" sz="1200" kern="1200" dirty="0">
                    <a:solidFill>
                      <a:schemeClr val="tx1"/>
                    </a:solidFill>
                    <a:effectLst/>
                    <a:latin typeface="+mn-lt"/>
                    <a:ea typeface="+mn-ea"/>
                    <a:cs typeface="+mn-cs"/>
                  </a:rPr>
                  <a:t>pour le système décimal, </a:t>
                </a:r>
                <a14:m>
                  <m:oMath xmlns:m="http://schemas.openxmlformats.org/officeDocument/2006/math">
                    <m:r>
                      <a:rPr lang="fr-FR" sz="1200" i="1" kern="1200" smtClean="0">
                        <a:solidFill>
                          <a:schemeClr val="tx1"/>
                        </a:solidFill>
                        <a:latin typeface="Cambria Math" panose="02040503050406030204" pitchFamily="18" charset="0"/>
                        <a:ea typeface="+mn-ea"/>
                        <a:cs typeface="+mn-cs"/>
                      </a:rPr>
                      <m:t>𝐵</m:t>
                    </m:r>
                    <m:r>
                      <a:rPr lang="fr-FR" sz="1200" i="0" kern="1200">
                        <a:solidFill>
                          <a:schemeClr val="tx1"/>
                        </a:solidFill>
                        <a:latin typeface="Cambria Math" panose="02040503050406030204" pitchFamily="18" charset="0"/>
                        <a:ea typeface="+mn-ea"/>
                        <a:cs typeface="+mn-cs"/>
                      </a:rPr>
                      <m:t>=2</m:t>
                    </m:r>
                  </m:oMath>
                </a14:m>
                <a:r>
                  <a:rPr lang="fr-FR" sz="1200" kern="1200" dirty="0">
                    <a:solidFill>
                      <a:schemeClr val="tx1"/>
                    </a:solidFill>
                    <a:effectLst/>
                    <a:latin typeface="+mn-lt"/>
                    <a:ea typeface="+mn-ea"/>
                    <a:cs typeface="+mn-cs"/>
                  </a:rPr>
                  <a:t>pour le binaire, ou </a:t>
                </a:r>
                <a14:m>
                  <m:oMath xmlns:m="http://schemas.openxmlformats.org/officeDocument/2006/math">
                    <m:r>
                      <a:rPr lang="fr-FR" sz="1200" i="1" kern="1200" smtClean="0">
                        <a:solidFill>
                          <a:schemeClr val="tx1"/>
                        </a:solidFill>
                        <a:latin typeface="Cambria Math" panose="02040503050406030204" pitchFamily="18" charset="0"/>
                        <a:ea typeface="+mn-ea"/>
                        <a:cs typeface="+mn-cs"/>
                      </a:rPr>
                      <m:t>𝐵</m:t>
                    </m:r>
                    <m:r>
                      <a:rPr lang="fr-FR" sz="1200" i="0" kern="1200">
                        <a:solidFill>
                          <a:schemeClr val="tx1"/>
                        </a:solidFill>
                        <a:latin typeface="Cambria Math" panose="02040503050406030204" pitchFamily="18" charset="0"/>
                        <a:ea typeface="+mn-ea"/>
                        <a:cs typeface="+mn-cs"/>
                      </a:rPr>
                      <m:t>=16</m:t>
                    </m:r>
                  </m:oMath>
                </a14:m>
                <a:r>
                  <a:rPr lang="fr-FR" sz="1200" kern="1200" dirty="0">
                    <a:solidFill>
                      <a:schemeClr val="tx1"/>
                    </a:solidFill>
                    <a:effectLst/>
                    <a:latin typeface="+mn-lt"/>
                    <a:ea typeface="+mn-ea"/>
                    <a:cs typeface="+mn-cs"/>
                  </a:rPr>
                  <a:t>pour l'hexadécimal). </a:t>
                </a:r>
              </a:p>
              <a:p>
                <a:pPr lvl="0"/>
                <a14:m>
                  <m:oMath xmlns:m="http://schemas.openxmlformats.org/officeDocument/2006/math">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𝑑</m:t>
                        </m:r>
                      </m:e>
                      <m:sub>
                        <m:r>
                          <a:rPr lang="fr-FR" sz="1200" i="1" kern="1200">
                            <a:solidFill>
                              <a:schemeClr val="tx1"/>
                            </a:solidFill>
                            <a:latin typeface="Cambria Math" panose="02040503050406030204" pitchFamily="18" charset="0"/>
                            <a:ea typeface="+mn-ea"/>
                            <a:cs typeface="+mn-cs"/>
                          </a:rPr>
                          <m:t>𝑖</m:t>
                        </m:r>
                      </m:sub>
                    </m:sSub>
                  </m:oMath>
                </a14:m>
                <a:r>
                  <a:rPr lang="fr-FR" sz="1200" kern="1200" dirty="0">
                    <a:solidFill>
                      <a:schemeClr val="tx1"/>
                    </a:solidFill>
                    <a:effectLst/>
                    <a:latin typeface="+mn-lt"/>
                    <a:ea typeface="+mn-ea"/>
                    <a:cs typeface="+mn-cs"/>
                  </a:rPr>
                  <a:t>: Les chiffres (digits) composant le nombre, situés aux positions </a:t>
                </a:r>
                <a14:m>
                  <m:oMath xmlns:m="http://schemas.openxmlformats.org/officeDocument/2006/math">
                    <m:r>
                      <a:rPr lang="fr-FR" sz="1200" i="1" kern="1200" smtClean="0">
                        <a:solidFill>
                          <a:schemeClr val="tx1"/>
                        </a:solidFill>
                        <a:latin typeface="Cambria Math" panose="02040503050406030204" pitchFamily="18" charset="0"/>
                        <a:ea typeface="+mn-ea"/>
                        <a:cs typeface="+mn-cs"/>
                      </a:rPr>
                      <m:t>𝑖</m:t>
                    </m:r>
                  </m:oMath>
                </a14:m>
                <a:r>
                  <a:rPr lang="fr-FR" sz="1200" kern="1200" dirty="0">
                    <a:solidFill>
                      <a:schemeClr val="tx1"/>
                    </a:solidFill>
                    <a:effectLst/>
                    <a:latin typeface="+mn-lt"/>
                    <a:ea typeface="+mn-ea"/>
                    <a:cs typeface="+mn-cs"/>
                  </a:rPr>
                  <a:t>(avec </a:t>
                </a:r>
                <a14:m>
                  <m:oMath xmlns:m="http://schemas.openxmlformats.org/officeDocument/2006/math">
                    <m:r>
                      <a:rPr lang="fr-FR" sz="1200" kern="1200" smtClean="0">
                        <a:solidFill>
                          <a:schemeClr val="tx1"/>
                        </a:solidFill>
                        <a:latin typeface="Cambria Math" panose="02040503050406030204" pitchFamily="18" charset="0"/>
                        <a:ea typeface="+mn-ea"/>
                        <a:cs typeface="+mn-cs"/>
                      </a:rPr>
                      <m:t>0</m:t>
                    </m:r>
                    <m:r>
                      <a:rPr lang="fr-FR" sz="1200" i="0" kern="1200">
                        <a:solidFill>
                          <a:schemeClr val="tx1"/>
                        </a:solidFill>
                        <a:latin typeface="Cambria Math" panose="02040503050406030204" pitchFamily="18" charset="0"/>
                        <a:ea typeface="+mn-ea"/>
                        <a:cs typeface="+mn-cs"/>
                      </a:rPr>
                      <m:t>≤</m:t>
                    </m:r>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𝑑</m:t>
                        </m:r>
                      </m:e>
                      <m:sub>
                        <m:r>
                          <a:rPr lang="fr-FR" sz="1200" i="1" kern="1200">
                            <a:solidFill>
                              <a:schemeClr val="tx1"/>
                            </a:solidFill>
                            <a:latin typeface="Cambria Math" panose="02040503050406030204" pitchFamily="18" charset="0"/>
                            <a:ea typeface="+mn-ea"/>
                            <a:cs typeface="+mn-cs"/>
                          </a:rPr>
                          <m:t>𝑖</m:t>
                        </m:r>
                      </m:sub>
                    </m:sSub>
                    <m:r>
                      <a:rPr lang="fr-FR" sz="1200" i="0" kern="1200">
                        <a:solidFill>
                          <a:schemeClr val="tx1"/>
                        </a:solidFill>
                        <a:latin typeface="Cambria Math" panose="02040503050406030204" pitchFamily="18" charset="0"/>
                        <a:ea typeface="+mn-ea"/>
                        <a:cs typeface="+mn-cs"/>
                      </a:rPr>
                      <m:t>&lt;</m:t>
                    </m:r>
                    <m:r>
                      <a:rPr lang="fr-FR" sz="1200" i="1" kern="1200">
                        <a:solidFill>
                          <a:schemeClr val="tx1"/>
                        </a:solidFill>
                        <a:latin typeface="Cambria Math" panose="02040503050406030204" pitchFamily="18" charset="0"/>
                        <a:ea typeface="+mn-ea"/>
                        <a:cs typeface="+mn-cs"/>
                      </a:rPr>
                      <m:t>𝐵</m:t>
                    </m:r>
                  </m:oMath>
                </a14:m>
                <a:r>
                  <a:rPr lang="fr-FR" sz="1200" kern="1200" dirty="0">
                    <a:solidFill>
                      <a:schemeClr val="tx1"/>
                    </a:solidFill>
                    <a:effectLst/>
                    <a:latin typeface="+mn-lt"/>
                    <a:ea typeface="+mn-ea"/>
                    <a:cs typeface="+mn-cs"/>
                  </a:rPr>
                  <a:t>). </a:t>
                </a:r>
              </a:p>
              <a:p>
                <a:pPr lvl="0"/>
                <a14:m>
                  <m:oMath xmlns:m="http://schemas.openxmlformats.org/officeDocument/2006/math">
                    <m:sSup>
                      <m:sSupPr>
                        <m:ctrlPr>
                          <a:rPr lang="fr-FR" sz="1200" i="1" kern="1200">
                            <a:solidFill>
                              <a:schemeClr val="tx1"/>
                            </a:solidFill>
                            <a:latin typeface="Cambria Math" panose="02040503050406030204" pitchFamily="18" charset="0"/>
                            <a:ea typeface="+mn-ea"/>
                            <a:cs typeface="+mn-cs"/>
                          </a:rPr>
                        </m:ctrlPr>
                      </m:sSupPr>
                      <m:e>
                        <m:r>
                          <a:rPr lang="fr-FR" sz="1200" i="1" kern="1200">
                            <a:solidFill>
                              <a:schemeClr val="tx1"/>
                            </a:solidFill>
                            <a:latin typeface="Cambria Math" panose="02040503050406030204" pitchFamily="18" charset="0"/>
                            <a:ea typeface="+mn-ea"/>
                            <a:cs typeface="+mn-cs"/>
                          </a:rPr>
                          <m:t>𝐵</m:t>
                        </m:r>
                      </m:e>
                      <m:sup>
                        <m:r>
                          <a:rPr lang="fr-FR" sz="1200" i="1" kern="1200">
                            <a:solidFill>
                              <a:schemeClr val="tx1"/>
                            </a:solidFill>
                            <a:latin typeface="Cambria Math" panose="02040503050406030204" pitchFamily="18" charset="0"/>
                            <a:ea typeface="+mn-ea"/>
                            <a:cs typeface="+mn-cs"/>
                          </a:rPr>
                          <m:t>𝑖</m:t>
                        </m:r>
                      </m:sup>
                    </m:sSup>
                  </m:oMath>
                </a14:m>
                <a:r>
                  <a:rPr lang="fr-FR" sz="1200" kern="1200" dirty="0">
                    <a:solidFill>
                      <a:schemeClr val="tx1"/>
                    </a:solidFill>
                    <a:effectLst/>
                    <a:latin typeface="+mn-lt"/>
                    <a:ea typeface="+mn-ea"/>
                    <a:cs typeface="+mn-cs"/>
                  </a:rPr>
                  <a:t>: Les puissances de la base associées au poids de chaque position (remarque : dans l'image, les puissances </a:t>
                </a:r>
                <a14:m>
                  <m:oMath xmlns:m="http://schemas.openxmlformats.org/officeDocument/2006/math">
                    <m:sSup>
                      <m:sSupPr>
                        <m:ctrlPr>
                          <a:rPr lang="fr-FR" sz="1200" i="1" kern="1200">
                            <a:solidFill>
                              <a:schemeClr val="tx1"/>
                            </a:solidFill>
                            <a:latin typeface="Cambria Math" panose="02040503050406030204" pitchFamily="18" charset="0"/>
                            <a:ea typeface="+mn-ea"/>
                            <a:cs typeface="+mn-cs"/>
                          </a:rPr>
                        </m:ctrlPr>
                      </m:sSupPr>
                      <m:e>
                        <m:r>
                          <a:rPr lang="fr-FR" sz="1200" i="1" kern="1200">
                            <a:solidFill>
                              <a:schemeClr val="tx1"/>
                            </a:solidFill>
                            <a:latin typeface="Cambria Math" panose="02040503050406030204" pitchFamily="18" charset="0"/>
                            <a:ea typeface="+mn-ea"/>
                            <a:cs typeface="+mn-cs"/>
                          </a:rPr>
                          <m:t>𝐵</m:t>
                        </m:r>
                      </m:e>
                      <m:sup>
                        <m:r>
                          <a:rPr lang="fr-FR" sz="1200" i="1" kern="1200">
                            <a:solidFill>
                              <a:schemeClr val="tx1"/>
                            </a:solidFill>
                            <a:latin typeface="Cambria Math" panose="02040503050406030204" pitchFamily="18" charset="0"/>
                            <a:ea typeface="+mn-ea"/>
                            <a:cs typeface="+mn-cs"/>
                          </a:rPr>
                          <m:t>𝑛</m:t>
                        </m:r>
                      </m:sup>
                    </m:sSup>
                    <m:r>
                      <a:rPr lang="fr-FR" sz="1200" i="0" kern="1200">
                        <a:solidFill>
                          <a:schemeClr val="tx1"/>
                        </a:solidFill>
                        <a:latin typeface="Cambria Math" panose="02040503050406030204" pitchFamily="18" charset="0"/>
                        <a:ea typeface="+mn-ea"/>
                        <a:cs typeface="+mn-cs"/>
                      </a:rPr>
                      <m:t>,</m:t>
                    </m:r>
                    <m:sSup>
                      <m:sSupPr>
                        <m:ctrlPr>
                          <a:rPr lang="fr-FR" sz="1200" i="1" kern="1200">
                            <a:solidFill>
                              <a:schemeClr val="tx1"/>
                            </a:solidFill>
                            <a:latin typeface="Cambria Math" panose="02040503050406030204" pitchFamily="18" charset="0"/>
                            <a:ea typeface="+mn-ea"/>
                            <a:cs typeface="+mn-cs"/>
                          </a:rPr>
                        </m:ctrlPr>
                      </m:sSupPr>
                      <m:e>
                        <m:r>
                          <a:rPr lang="fr-FR" sz="1200" i="1" kern="1200">
                            <a:solidFill>
                              <a:schemeClr val="tx1"/>
                            </a:solidFill>
                            <a:latin typeface="Cambria Math" panose="02040503050406030204" pitchFamily="18" charset="0"/>
                            <a:ea typeface="+mn-ea"/>
                            <a:cs typeface="+mn-cs"/>
                          </a:rPr>
                          <m:t>𝐵</m:t>
                        </m:r>
                      </m:e>
                      <m:sup>
                        <m:r>
                          <a:rPr lang="fr-FR" sz="1200" i="1" kern="1200">
                            <a:solidFill>
                              <a:schemeClr val="tx1"/>
                            </a:solidFill>
                            <a:latin typeface="Cambria Math" panose="02040503050406030204" pitchFamily="18" charset="0"/>
                            <a:ea typeface="+mn-ea"/>
                            <a:cs typeface="+mn-cs"/>
                          </a:rPr>
                          <m:t>𝑛</m:t>
                        </m:r>
                        <m:r>
                          <a:rPr lang="fr-FR" sz="1200" i="0" kern="1200">
                            <a:solidFill>
                              <a:schemeClr val="tx1"/>
                            </a:solidFill>
                            <a:latin typeface="Cambria Math" panose="02040503050406030204" pitchFamily="18" charset="0"/>
                            <a:ea typeface="+mn-ea"/>
                            <a:cs typeface="+mn-cs"/>
                          </a:rPr>
                          <m:t>−1</m:t>
                        </m:r>
                      </m:sup>
                    </m:sSup>
                    <m:r>
                      <a:rPr lang="fr-FR" sz="1200" i="0" kern="1200">
                        <a:solidFill>
                          <a:schemeClr val="tx1"/>
                        </a:solidFill>
                        <a:latin typeface="Cambria Math" panose="02040503050406030204" pitchFamily="18" charset="0"/>
                        <a:ea typeface="+mn-ea"/>
                        <a:cs typeface="+mn-cs"/>
                      </a:rPr>
                      <m:t>,…,</m:t>
                    </m:r>
                    <m:sSup>
                      <m:sSupPr>
                        <m:ctrlPr>
                          <a:rPr lang="fr-FR" sz="1200" i="1" kern="1200">
                            <a:solidFill>
                              <a:schemeClr val="tx1"/>
                            </a:solidFill>
                            <a:latin typeface="Cambria Math" panose="02040503050406030204" pitchFamily="18" charset="0"/>
                            <a:ea typeface="+mn-ea"/>
                            <a:cs typeface="+mn-cs"/>
                          </a:rPr>
                        </m:ctrlPr>
                      </m:sSupPr>
                      <m:e>
                        <m:r>
                          <a:rPr lang="fr-FR" sz="1200" i="1" kern="1200">
                            <a:solidFill>
                              <a:schemeClr val="tx1"/>
                            </a:solidFill>
                            <a:latin typeface="Cambria Math" panose="02040503050406030204" pitchFamily="18" charset="0"/>
                            <a:ea typeface="+mn-ea"/>
                            <a:cs typeface="+mn-cs"/>
                          </a:rPr>
                          <m:t>𝐵</m:t>
                        </m:r>
                      </m:e>
                      <m:sup>
                        <m:r>
                          <a:rPr lang="fr-FR" sz="1200" i="0" kern="1200">
                            <a:solidFill>
                              <a:schemeClr val="tx1"/>
                            </a:solidFill>
                            <a:latin typeface="Cambria Math" panose="02040503050406030204" pitchFamily="18" charset="0"/>
                            <a:ea typeface="+mn-ea"/>
                            <a:cs typeface="+mn-cs"/>
                          </a:rPr>
                          <m:t>1</m:t>
                        </m:r>
                      </m:sup>
                    </m:sSup>
                    <m:r>
                      <a:rPr lang="fr-FR" sz="1200" i="0" kern="1200">
                        <a:solidFill>
                          <a:schemeClr val="tx1"/>
                        </a:solidFill>
                        <a:latin typeface="Cambria Math" panose="02040503050406030204" pitchFamily="18" charset="0"/>
                        <a:ea typeface="+mn-ea"/>
                        <a:cs typeface="+mn-cs"/>
                      </a:rPr>
                      <m:t>,</m:t>
                    </m:r>
                    <m:sSup>
                      <m:sSupPr>
                        <m:ctrlPr>
                          <a:rPr lang="fr-FR" sz="1200" i="1" kern="1200">
                            <a:solidFill>
                              <a:schemeClr val="tx1"/>
                            </a:solidFill>
                            <a:latin typeface="Cambria Math" panose="02040503050406030204" pitchFamily="18" charset="0"/>
                            <a:ea typeface="+mn-ea"/>
                            <a:cs typeface="+mn-cs"/>
                          </a:rPr>
                        </m:ctrlPr>
                      </m:sSupPr>
                      <m:e>
                        <m:r>
                          <a:rPr lang="fr-FR" sz="1200" i="1" kern="1200">
                            <a:solidFill>
                              <a:schemeClr val="tx1"/>
                            </a:solidFill>
                            <a:latin typeface="Cambria Math" panose="02040503050406030204" pitchFamily="18" charset="0"/>
                            <a:ea typeface="+mn-ea"/>
                            <a:cs typeface="+mn-cs"/>
                          </a:rPr>
                          <m:t>𝐵</m:t>
                        </m:r>
                      </m:e>
                      <m:sup>
                        <m:r>
                          <a:rPr lang="fr-FR" sz="1200" i="0" kern="1200">
                            <a:solidFill>
                              <a:schemeClr val="tx1"/>
                            </a:solidFill>
                            <a:latin typeface="Cambria Math" panose="02040503050406030204" pitchFamily="18" charset="0"/>
                            <a:ea typeface="+mn-ea"/>
                            <a:cs typeface="+mn-cs"/>
                          </a:rPr>
                          <m:t>0</m:t>
                        </m:r>
                      </m:sup>
                    </m:sSup>
                  </m:oMath>
                </a14:m>
                <a:r>
                  <a:rPr lang="fr-FR" sz="1200" kern="1200" dirty="0">
                    <a:solidFill>
                      <a:schemeClr val="tx1"/>
                    </a:solidFill>
                    <a:effectLst/>
                    <a:latin typeface="+mn-lt"/>
                    <a:ea typeface="+mn-ea"/>
                    <a:cs typeface="+mn-cs"/>
                  </a:rPr>
                  <a:t>sont notées sous forme d'indices </a:t>
                </a:r>
                <a14:m>
                  <m:oMath xmlns:m="http://schemas.openxmlformats.org/officeDocument/2006/math">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𝐵</m:t>
                        </m:r>
                      </m:e>
                      <m:sub>
                        <m:r>
                          <a:rPr lang="fr-FR" sz="1200" i="1" kern="1200">
                            <a:solidFill>
                              <a:schemeClr val="tx1"/>
                            </a:solidFill>
                            <a:latin typeface="Cambria Math" panose="02040503050406030204" pitchFamily="18" charset="0"/>
                            <a:ea typeface="+mn-ea"/>
                            <a:cs typeface="+mn-cs"/>
                          </a:rPr>
                          <m:t>𝑛</m:t>
                        </m:r>
                      </m:sub>
                    </m:sSub>
                    <m:r>
                      <a:rPr lang="fr-FR" sz="1200" i="0" kern="1200">
                        <a:solidFill>
                          <a:schemeClr val="tx1"/>
                        </a:solidFill>
                        <a:latin typeface="Cambria Math" panose="02040503050406030204" pitchFamily="18" charset="0"/>
                        <a:ea typeface="+mn-ea"/>
                        <a:cs typeface="+mn-cs"/>
                      </a:rPr>
                      <m:t>,</m:t>
                    </m:r>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𝐵</m:t>
                        </m:r>
                      </m:e>
                      <m:sub>
                        <m:r>
                          <a:rPr lang="fr-FR" sz="1200" i="1" kern="1200">
                            <a:solidFill>
                              <a:schemeClr val="tx1"/>
                            </a:solidFill>
                            <a:latin typeface="Cambria Math" panose="02040503050406030204" pitchFamily="18" charset="0"/>
                            <a:ea typeface="+mn-ea"/>
                            <a:cs typeface="+mn-cs"/>
                          </a:rPr>
                          <m:t>𝑛</m:t>
                        </m:r>
                        <m:r>
                          <a:rPr lang="fr-FR" sz="1200" i="0" kern="1200">
                            <a:solidFill>
                              <a:schemeClr val="tx1"/>
                            </a:solidFill>
                            <a:latin typeface="Cambria Math" panose="02040503050406030204" pitchFamily="18" charset="0"/>
                            <a:ea typeface="+mn-ea"/>
                            <a:cs typeface="+mn-cs"/>
                          </a:rPr>
                          <m:t>−1</m:t>
                        </m:r>
                      </m:sub>
                    </m:sSub>
                    <m:r>
                      <a:rPr lang="fr-FR" sz="1200" i="0" kern="1200">
                        <a:solidFill>
                          <a:schemeClr val="tx1"/>
                        </a:solidFill>
                        <a:latin typeface="Cambria Math" panose="02040503050406030204" pitchFamily="18" charset="0"/>
                        <a:ea typeface="+mn-ea"/>
                        <a:cs typeface="+mn-cs"/>
                      </a:rPr>
                      <m:t>,…,</m:t>
                    </m:r>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𝐵</m:t>
                        </m:r>
                      </m:e>
                      <m:sub>
                        <m:r>
                          <a:rPr lang="fr-FR" sz="1200" i="0" kern="1200">
                            <a:solidFill>
                              <a:schemeClr val="tx1"/>
                            </a:solidFill>
                            <a:latin typeface="Cambria Math" panose="02040503050406030204" pitchFamily="18" charset="0"/>
                            <a:ea typeface="+mn-ea"/>
                            <a:cs typeface="+mn-cs"/>
                          </a:rPr>
                          <m:t>1</m:t>
                        </m:r>
                      </m:sub>
                    </m:sSub>
                    <m:r>
                      <a:rPr lang="fr-FR" sz="1200" i="0" kern="1200">
                        <a:solidFill>
                          <a:schemeClr val="tx1"/>
                        </a:solidFill>
                        <a:latin typeface="Cambria Math" panose="02040503050406030204" pitchFamily="18" charset="0"/>
                        <a:ea typeface="+mn-ea"/>
                        <a:cs typeface="+mn-cs"/>
                      </a:rPr>
                      <m:t>,</m:t>
                    </m:r>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𝐵</m:t>
                        </m:r>
                      </m:e>
                      <m:sub>
                        <m:r>
                          <a:rPr lang="fr-FR" sz="1200" i="0" kern="1200">
                            <a:solidFill>
                              <a:schemeClr val="tx1"/>
                            </a:solidFill>
                            <a:latin typeface="Cambria Math" panose="02040503050406030204" pitchFamily="18" charset="0"/>
                            <a:ea typeface="+mn-ea"/>
                            <a:cs typeface="+mn-cs"/>
                          </a:rPr>
                          <m:t>0</m:t>
                        </m:r>
                      </m:sub>
                    </m:sSub>
                  </m:oMath>
                </a14:m>
                <a:r>
                  <a:rPr lang="fr-FR" sz="1200" kern="1200" dirty="0">
                    <a:solidFill>
                      <a:schemeClr val="tx1"/>
                    </a:solidFill>
                    <a:effectLst/>
                    <a:latin typeface="+mn-lt"/>
                    <a:ea typeface="+mn-ea"/>
                    <a:cs typeface="+mn-cs"/>
                  </a:rPr>
                  <a:t>). </a:t>
                </a:r>
              </a:p>
              <a:p>
                <a:r>
                  <a:rPr lang="fr-FR" sz="1200" kern="1200" dirty="0">
                    <a:solidFill>
                      <a:schemeClr val="tx1"/>
                    </a:solidFill>
                    <a:effectLst/>
                    <a:latin typeface="+mn-lt"/>
                    <a:ea typeface="+mn-ea"/>
                    <a:cs typeface="+mn-cs"/>
                  </a:rPr>
                  <a:t>Sous forme formelle mathématique, cette relation s'écrit :</a:t>
                </a:r>
              </a:p>
              <a:p>
                <a:pPr/>
                <a14:m>
                  <m:oMathPara xmlns:m="http://schemas.openxmlformats.org/officeDocument/2006/math">
                    <m:oMath>
                      <m:r>
                        <a:rPr lang="fr-FR" sz="1200" i="1" kern="1200" smtClean="0">
                          <a:solidFill>
                            <a:schemeClr val="tx1"/>
                          </a:solidFill>
                          <a:latin typeface="Cambria Math" panose="02040503050406030204" pitchFamily="18" charset="0"/>
                          <a:ea typeface="+mn-ea"/>
                          <a:cs typeface="+mn-cs"/>
                        </a:rPr>
                        <m:t>𝑁</m:t>
                      </m:r>
                      <m:r>
                        <a:rPr lang="fr-FR" sz="1200" i="0" kern="1200">
                          <a:solidFill>
                            <a:schemeClr val="tx1"/>
                          </a:solidFill>
                          <a:latin typeface="Cambria Math" panose="02040503050406030204" pitchFamily="18" charset="0"/>
                          <a:ea typeface="+mn-ea"/>
                          <a:cs typeface="+mn-cs"/>
                        </a:rPr>
                        <m:t>=</m:t>
                      </m:r>
                      <m:nary>
                        <m:naryPr>
                          <m:chr m:val="∑"/>
                          <m:limLoc m:val="undOvr"/>
                          <m:ctrlPr>
                            <a:rPr lang="fr-FR" sz="1200" i="1" kern="1200">
                              <a:solidFill>
                                <a:schemeClr val="tx1"/>
                              </a:solidFill>
                              <a:latin typeface="Cambria Math" panose="02040503050406030204" pitchFamily="18" charset="0"/>
                              <a:ea typeface="+mn-ea"/>
                              <a:cs typeface="+mn-cs"/>
                            </a:rPr>
                          </m:ctrlPr>
                        </m:naryPr>
                        <m:sub>
                          <m:r>
                            <a:rPr lang="fr-FR" sz="1200" i="1" kern="1200">
                              <a:solidFill>
                                <a:schemeClr val="tx1"/>
                              </a:solidFill>
                              <a:latin typeface="Cambria Math" panose="02040503050406030204" pitchFamily="18" charset="0"/>
                              <a:ea typeface="+mn-ea"/>
                              <a:cs typeface="+mn-cs"/>
                            </a:rPr>
                            <m:t>𝑖</m:t>
                          </m:r>
                          <m:r>
                            <a:rPr lang="fr-FR" sz="1200" i="0" kern="1200">
                              <a:solidFill>
                                <a:schemeClr val="tx1"/>
                              </a:solidFill>
                              <a:latin typeface="Cambria Math" panose="02040503050406030204" pitchFamily="18" charset="0"/>
                              <a:ea typeface="+mn-ea"/>
                              <a:cs typeface="+mn-cs"/>
                            </a:rPr>
                            <m:t>=0</m:t>
                          </m:r>
                        </m:sub>
                        <m:sup>
                          <m:r>
                            <a:rPr lang="fr-FR" sz="1200" i="1" kern="1200">
                              <a:solidFill>
                                <a:schemeClr val="tx1"/>
                              </a:solidFill>
                              <a:latin typeface="Cambria Math" panose="02040503050406030204" pitchFamily="18" charset="0"/>
                              <a:ea typeface="+mn-ea"/>
                              <a:cs typeface="+mn-cs"/>
                            </a:rPr>
                            <m:t>𝑛</m:t>
                          </m:r>
                        </m:sup>
                        <m:e>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𝑑</m:t>
                              </m:r>
                            </m:e>
                            <m:sub>
                              <m:r>
                                <a:rPr lang="fr-FR" sz="1200" i="1" kern="1200">
                                  <a:solidFill>
                                    <a:schemeClr val="tx1"/>
                                  </a:solidFill>
                                  <a:latin typeface="Cambria Math" panose="02040503050406030204" pitchFamily="18" charset="0"/>
                                  <a:ea typeface="+mn-ea"/>
                                  <a:cs typeface="+mn-cs"/>
                                </a:rPr>
                                <m:t>𝑖</m:t>
                              </m:r>
                            </m:sub>
                          </m:sSub>
                        </m:e>
                      </m:nary>
                      <m:r>
                        <a:rPr lang="fr-FR" sz="1200" i="0" kern="1200">
                          <a:solidFill>
                            <a:schemeClr val="tx1"/>
                          </a:solidFill>
                          <a:latin typeface="Cambria Math" panose="02040503050406030204" pitchFamily="18" charset="0"/>
                          <a:ea typeface="+mn-ea"/>
                          <a:cs typeface="+mn-cs"/>
                        </a:rPr>
                        <m:t>⋅</m:t>
                      </m:r>
                      <m:sSup>
                        <m:sSupPr>
                          <m:ctrlPr>
                            <a:rPr lang="fr-FR" sz="1200" i="1" kern="1200">
                              <a:solidFill>
                                <a:schemeClr val="tx1"/>
                              </a:solidFill>
                              <a:latin typeface="Cambria Math" panose="02040503050406030204" pitchFamily="18" charset="0"/>
                              <a:ea typeface="+mn-ea"/>
                              <a:cs typeface="+mn-cs"/>
                            </a:rPr>
                          </m:ctrlPr>
                        </m:sSupPr>
                        <m:e>
                          <m:r>
                            <a:rPr lang="fr-FR" sz="1200" i="1" kern="1200">
                              <a:solidFill>
                                <a:schemeClr val="tx1"/>
                              </a:solidFill>
                              <a:latin typeface="Cambria Math" panose="02040503050406030204" pitchFamily="18" charset="0"/>
                              <a:ea typeface="+mn-ea"/>
                              <a:cs typeface="+mn-cs"/>
                            </a:rPr>
                            <m:t>𝐵</m:t>
                          </m:r>
                        </m:e>
                        <m:sup>
                          <m:r>
                            <a:rPr lang="fr-FR" sz="1200" i="1" kern="1200">
                              <a:solidFill>
                                <a:schemeClr val="tx1"/>
                              </a:solidFill>
                              <a:latin typeface="Cambria Math" panose="02040503050406030204" pitchFamily="18" charset="0"/>
                              <a:ea typeface="+mn-ea"/>
                              <a:cs typeface="+mn-cs"/>
                            </a:rPr>
                            <m:t>𝑖</m:t>
                          </m:r>
                        </m:sup>
                      </m:sSup>
                      <m:r>
                        <a:rPr lang="fr-FR" sz="1200" i="0" kern="1200">
                          <a:solidFill>
                            <a:schemeClr val="tx1"/>
                          </a:solidFill>
                          <a:latin typeface="Cambria Math" panose="02040503050406030204" pitchFamily="18" charset="0"/>
                          <a:ea typeface="+mn-ea"/>
                          <a:cs typeface="+mn-cs"/>
                        </a:rPr>
                        <m:t>=</m:t>
                      </m:r>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𝑑</m:t>
                          </m:r>
                        </m:e>
                        <m:sub>
                          <m:r>
                            <a:rPr lang="fr-FR" sz="1200" i="1" kern="1200">
                              <a:solidFill>
                                <a:schemeClr val="tx1"/>
                              </a:solidFill>
                              <a:latin typeface="Cambria Math" panose="02040503050406030204" pitchFamily="18" charset="0"/>
                              <a:ea typeface="+mn-ea"/>
                              <a:cs typeface="+mn-cs"/>
                            </a:rPr>
                            <m:t>𝑛</m:t>
                          </m:r>
                        </m:sub>
                      </m:sSub>
                      <m:r>
                        <a:rPr lang="fr-FR" sz="1200" i="0" kern="1200">
                          <a:solidFill>
                            <a:schemeClr val="tx1"/>
                          </a:solidFill>
                          <a:latin typeface="Cambria Math" panose="02040503050406030204" pitchFamily="18" charset="0"/>
                          <a:ea typeface="+mn-ea"/>
                          <a:cs typeface="+mn-cs"/>
                        </a:rPr>
                        <m:t>⋅</m:t>
                      </m:r>
                      <m:sSup>
                        <m:sSupPr>
                          <m:ctrlPr>
                            <a:rPr lang="fr-FR" sz="1200" i="1" kern="1200">
                              <a:solidFill>
                                <a:schemeClr val="tx1"/>
                              </a:solidFill>
                              <a:latin typeface="Cambria Math" panose="02040503050406030204" pitchFamily="18" charset="0"/>
                              <a:ea typeface="+mn-ea"/>
                              <a:cs typeface="+mn-cs"/>
                            </a:rPr>
                          </m:ctrlPr>
                        </m:sSupPr>
                        <m:e>
                          <m:r>
                            <a:rPr lang="fr-FR" sz="1200" i="1" kern="1200">
                              <a:solidFill>
                                <a:schemeClr val="tx1"/>
                              </a:solidFill>
                              <a:latin typeface="Cambria Math" panose="02040503050406030204" pitchFamily="18" charset="0"/>
                              <a:ea typeface="+mn-ea"/>
                              <a:cs typeface="+mn-cs"/>
                            </a:rPr>
                            <m:t>𝐵</m:t>
                          </m:r>
                        </m:e>
                        <m:sup>
                          <m:r>
                            <a:rPr lang="fr-FR" sz="1200" i="1" kern="1200">
                              <a:solidFill>
                                <a:schemeClr val="tx1"/>
                              </a:solidFill>
                              <a:latin typeface="Cambria Math" panose="02040503050406030204" pitchFamily="18" charset="0"/>
                              <a:ea typeface="+mn-ea"/>
                              <a:cs typeface="+mn-cs"/>
                            </a:rPr>
                            <m:t>𝑛</m:t>
                          </m:r>
                        </m:sup>
                      </m:sSup>
                      <m:r>
                        <a:rPr lang="fr-FR" sz="1200" i="0" kern="1200">
                          <a:solidFill>
                            <a:schemeClr val="tx1"/>
                          </a:solidFill>
                          <a:latin typeface="Cambria Math" panose="02040503050406030204" pitchFamily="18" charset="0"/>
                          <a:ea typeface="+mn-ea"/>
                          <a:cs typeface="+mn-cs"/>
                        </a:rPr>
                        <m:t>+</m:t>
                      </m:r>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𝑑</m:t>
                          </m:r>
                        </m:e>
                        <m:sub>
                          <m:r>
                            <a:rPr lang="fr-FR" sz="1200" i="1" kern="1200">
                              <a:solidFill>
                                <a:schemeClr val="tx1"/>
                              </a:solidFill>
                              <a:latin typeface="Cambria Math" panose="02040503050406030204" pitchFamily="18" charset="0"/>
                              <a:ea typeface="+mn-ea"/>
                              <a:cs typeface="+mn-cs"/>
                            </a:rPr>
                            <m:t>𝑛</m:t>
                          </m:r>
                          <m:r>
                            <a:rPr lang="fr-FR" sz="1200" i="0" kern="1200">
                              <a:solidFill>
                                <a:schemeClr val="tx1"/>
                              </a:solidFill>
                              <a:latin typeface="Cambria Math" panose="02040503050406030204" pitchFamily="18" charset="0"/>
                              <a:ea typeface="+mn-ea"/>
                              <a:cs typeface="+mn-cs"/>
                            </a:rPr>
                            <m:t>−1</m:t>
                          </m:r>
                        </m:sub>
                      </m:sSub>
                      <m:r>
                        <a:rPr lang="fr-FR" sz="1200" i="0" kern="1200">
                          <a:solidFill>
                            <a:schemeClr val="tx1"/>
                          </a:solidFill>
                          <a:latin typeface="Cambria Math" panose="02040503050406030204" pitchFamily="18" charset="0"/>
                          <a:ea typeface="+mn-ea"/>
                          <a:cs typeface="+mn-cs"/>
                        </a:rPr>
                        <m:t>⋅</m:t>
                      </m:r>
                      <m:sSup>
                        <m:sSupPr>
                          <m:ctrlPr>
                            <a:rPr lang="fr-FR" sz="1200" i="1" kern="1200">
                              <a:solidFill>
                                <a:schemeClr val="tx1"/>
                              </a:solidFill>
                              <a:latin typeface="Cambria Math" panose="02040503050406030204" pitchFamily="18" charset="0"/>
                              <a:ea typeface="+mn-ea"/>
                              <a:cs typeface="+mn-cs"/>
                            </a:rPr>
                          </m:ctrlPr>
                        </m:sSupPr>
                        <m:e>
                          <m:r>
                            <a:rPr lang="fr-FR" sz="1200" i="1" kern="1200">
                              <a:solidFill>
                                <a:schemeClr val="tx1"/>
                              </a:solidFill>
                              <a:latin typeface="Cambria Math" panose="02040503050406030204" pitchFamily="18" charset="0"/>
                              <a:ea typeface="+mn-ea"/>
                              <a:cs typeface="+mn-cs"/>
                            </a:rPr>
                            <m:t>𝐵</m:t>
                          </m:r>
                        </m:e>
                        <m:sup>
                          <m:r>
                            <a:rPr lang="fr-FR" sz="1200" i="1" kern="1200">
                              <a:solidFill>
                                <a:schemeClr val="tx1"/>
                              </a:solidFill>
                              <a:latin typeface="Cambria Math" panose="02040503050406030204" pitchFamily="18" charset="0"/>
                              <a:ea typeface="+mn-ea"/>
                              <a:cs typeface="+mn-cs"/>
                            </a:rPr>
                            <m:t>𝑛</m:t>
                          </m:r>
                          <m:r>
                            <a:rPr lang="fr-FR" sz="1200" i="0" kern="1200">
                              <a:solidFill>
                                <a:schemeClr val="tx1"/>
                              </a:solidFill>
                              <a:latin typeface="Cambria Math" panose="02040503050406030204" pitchFamily="18" charset="0"/>
                              <a:ea typeface="+mn-ea"/>
                              <a:cs typeface="+mn-cs"/>
                            </a:rPr>
                            <m:t>−1</m:t>
                          </m:r>
                        </m:sup>
                      </m:sSup>
                      <m:r>
                        <a:rPr lang="fr-FR" sz="1200" i="0" kern="1200">
                          <a:solidFill>
                            <a:schemeClr val="tx1"/>
                          </a:solidFill>
                          <a:latin typeface="Cambria Math" panose="02040503050406030204" pitchFamily="18" charset="0"/>
                          <a:ea typeface="+mn-ea"/>
                          <a:cs typeface="+mn-cs"/>
                        </a:rPr>
                        <m:t>+…+</m:t>
                      </m:r>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𝑑</m:t>
                          </m:r>
                        </m:e>
                        <m:sub>
                          <m:r>
                            <a:rPr lang="fr-FR" sz="1200" i="0" kern="1200">
                              <a:solidFill>
                                <a:schemeClr val="tx1"/>
                              </a:solidFill>
                              <a:latin typeface="Cambria Math" panose="02040503050406030204" pitchFamily="18" charset="0"/>
                              <a:ea typeface="+mn-ea"/>
                              <a:cs typeface="+mn-cs"/>
                            </a:rPr>
                            <m:t>1</m:t>
                          </m:r>
                        </m:sub>
                      </m:sSub>
                      <m:r>
                        <a:rPr lang="fr-FR" sz="1200" i="0" kern="1200">
                          <a:solidFill>
                            <a:schemeClr val="tx1"/>
                          </a:solidFill>
                          <a:latin typeface="Cambria Math" panose="02040503050406030204" pitchFamily="18" charset="0"/>
                          <a:ea typeface="+mn-ea"/>
                          <a:cs typeface="+mn-cs"/>
                        </a:rPr>
                        <m:t>⋅</m:t>
                      </m:r>
                      <m:sSup>
                        <m:sSupPr>
                          <m:ctrlPr>
                            <a:rPr lang="fr-FR" sz="1200" i="1" kern="1200">
                              <a:solidFill>
                                <a:schemeClr val="tx1"/>
                              </a:solidFill>
                              <a:latin typeface="Cambria Math" panose="02040503050406030204" pitchFamily="18" charset="0"/>
                              <a:ea typeface="+mn-ea"/>
                              <a:cs typeface="+mn-cs"/>
                            </a:rPr>
                          </m:ctrlPr>
                        </m:sSupPr>
                        <m:e>
                          <m:r>
                            <a:rPr lang="fr-FR" sz="1200" i="1" kern="1200">
                              <a:solidFill>
                                <a:schemeClr val="tx1"/>
                              </a:solidFill>
                              <a:latin typeface="Cambria Math" panose="02040503050406030204" pitchFamily="18" charset="0"/>
                              <a:ea typeface="+mn-ea"/>
                              <a:cs typeface="+mn-cs"/>
                            </a:rPr>
                            <m:t>𝐵</m:t>
                          </m:r>
                        </m:e>
                        <m:sup>
                          <m:r>
                            <a:rPr lang="fr-FR" sz="1200" i="0" kern="1200">
                              <a:solidFill>
                                <a:schemeClr val="tx1"/>
                              </a:solidFill>
                              <a:latin typeface="Cambria Math" panose="02040503050406030204" pitchFamily="18" charset="0"/>
                              <a:ea typeface="+mn-ea"/>
                              <a:cs typeface="+mn-cs"/>
                            </a:rPr>
                            <m:t>1</m:t>
                          </m:r>
                        </m:sup>
                      </m:sSup>
                      <m:r>
                        <a:rPr lang="fr-FR" sz="1200" i="0" kern="1200">
                          <a:solidFill>
                            <a:schemeClr val="tx1"/>
                          </a:solidFill>
                          <a:latin typeface="Cambria Math" panose="02040503050406030204" pitchFamily="18" charset="0"/>
                          <a:ea typeface="+mn-ea"/>
                          <a:cs typeface="+mn-cs"/>
                        </a:rPr>
                        <m:t>+</m:t>
                      </m:r>
                      <m:sSub>
                        <m:sSubPr>
                          <m:ctrlPr>
                            <a:rPr lang="fr-FR" sz="1200" i="1" kern="1200">
                              <a:solidFill>
                                <a:schemeClr val="tx1"/>
                              </a:solidFill>
                              <a:latin typeface="Cambria Math" panose="02040503050406030204" pitchFamily="18" charset="0"/>
                              <a:ea typeface="+mn-ea"/>
                              <a:cs typeface="+mn-cs"/>
                            </a:rPr>
                          </m:ctrlPr>
                        </m:sSubPr>
                        <m:e>
                          <m:r>
                            <a:rPr lang="fr-FR" sz="1200" i="1" kern="1200">
                              <a:solidFill>
                                <a:schemeClr val="tx1"/>
                              </a:solidFill>
                              <a:latin typeface="Cambria Math" panose="02040503050406030204" pitchFamily="18" charset="0"/>
                              <a:ea typeface="+mn-ea"/>
                              <a:cs typeface="+mn-cs"/>
                            </a:rPr>
                            <m:t>𝑑</m:t>
                          </m:r>
                        </m:e>
                        <m:sub>
                          <m:r>
                            <a:rPr lang="fr-FR" sz="1200" i="0" kern="1200">
                              <a:solidFill>
                                <a:schemeClr val="tx1"/>
                              </a:solidFill>
                              <a:latin typeface="Cambria Math" panose="02040503050406030204" pitchFamily="18" charset="0"/>
                              <a:ea typeface="+mn-ea"/>
                              <a:cs typeface="+mn-cs"/>
                            </a:rPr>
                            <m:t>0</m:t>
                          </m:r>
                        </m:sub>
                      </m:sSub>
                      <m:r>
                        <a:rPr lang="fr-FR" sz="1200" i="0" kern="1200">
                          <a:solidFill>
                            <a:schemeClr val="tx1"/>
                          </a:solidFill>
                          <a:latin typeface="Cambria Math" panose="02040503050406030204" pitchFamily="18" charset="0"/>
                          <a:ea typeface="+mn-ea"/>
                          <a:cs typeface="+mn-cs"/>
                        </a:rPr>
                        <m:t>⋅</m:t>
                      </m:r>
                      <m:sSup>
                        <m:sSupPr>
                          <m:ctrlPr>
                            <a:rPr lang="fr-FR" sz="1200" i="1" kern="1200">
                              <a:solidFill>
                                <a:schemeClr val="tx1"/>
                              </a:solidFill>
                              <a:latin typeface="Cambria Math" panose="02040503050406030204" pitchFamily="18" charset="0"/>
                              <a:ea typeface="+mn-ea"/>
                              <a:cs typeface="+mn-cs"/>
                            </a:rPr>
                          </m:ctrlPr>
                        </m:sSupPr>
                        <m:e>
                          <m:r>
                            <a:rPr lang="fr-FR" sz="1200" i="1" kern="1200">
                              <a:solidFill>
                                <a:schemeClr val="tx1"/>
                              </a:solidFill>
                              <a:latin typeface="Cambria Math" panose="02040503050406030204" pitchFamily="18" charset="0"/>
                              <a:ea typeface="+mn-ea"/>
                              <a:cs typeface="+mn-cs"/>
                            </a:rPr>
                            <m:t>𝐵</m:t>
                          </m:r>
                        </m:e>
                        <m:sup>
                          <m:r>
                            <a:rPr lang="fr-FR" sz="1200" i="0" kern="1200">
                              <a:solidFill>
                                <a:schemeClr val="tx1"/>
                              </a:solidFill>
                              <a:latin typeface="Cambria Math" panose="02040503050406030204" pitchFamily="18" charset="0"/>
                              <a:ea typeface="+mn-ea"/>
                              <a:cs typeface="+mn-cs"/>
                            </a:rPr>
                            <m:t>0</m:t>
                          </m:r>
                        </m:sup>
                      </m:sSup>
                    </m:oMath>
                  </m:oMathPara>
                </a14:m>
                <a:endParaRPr lang="fr-FR" sz="1200" kern="1200" dirty="0">
                  <a:solidFill>
                    <a:schemeClr val="tx1"/>
                  </a:solidFill>
                  <a:effectLst/>
                  <a:latin typeface="+mn-lt"/>
                  <a:ea typeface="+mn-ea"/>
                  <a:cs typeface="+mn-cs"/>
                </a:endParaRPr>
              </a:p>
              <a:p>
                <a:endParaRPr lang="fr-FR" dirty="0"/>
              </a:p>
            </p:txBody>
          </p:sp>
        </mc:Choice>
        <mc:Fallback xmlns="">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"Dans tout système positionnel, la valeur d'un chiffre dépend de </a:t>
                </a:r>
                <a:r>
                  <a:rPr lang="fr-FR" sz="1200" b="0" i="0" u="none" noProof="0" dirty="0" err="1">
                    <a:solidFill>
                      <a:srgbClr val="334155"/>
                    </a:solidFill>
                    <a:latin typeface="Inter"/>
                  </a:rPr>
                  <a:t>son䒽emplacement</a:t>
                </a:r>
                <a:r>
                  <a:rPr lang="fr-FR" sz="1200" b="0" i="0" u="none" noProof="0" dirty="0">
                    <a:solidFill>
                      <a:srgbClr val="334155"/>
                    </a:solidFill>
                    <a:latin typeface="Inter"/>
                  </a:rPr>
                  <a:t>. Le '5' dans 2541 ne vaut pas 5, mais 500 car il est en position 2 (puissance 10²). Ce même principe s'applique à la perfection au binaire avec des puissances de 2."</a:t>
                </a:r>
              </a:p>
              <a:p>
                <a:pPr lvl="0"/>
                <a:r>
                  <a:rPr lang="fr-FR" sz="1200" i="0" kern="1200">
                    <a:solidFill>
                      <a:schemeClr val="tx1"/>
                    </a:solidFill>
                    <a:latin typeface="+mn-lt"/>
                    <a:ea typeface="+mn-ea"/>
                    <a:cs typeface="+mn-cs"/>
                  </a:rPr>
                  <a:t>𝑁</a:t>
                </a:r>
                <a:r>
                  <a:rPr lang="fr-FR" sz="1200" kern="1200" dirty="0">
                    <a:solidFill>
                      <a:schemeClr val="tx1"/>
                    </a:solidFill>
                    <a:effectLst/>
                    <a:latin typeface="+mn-lt"/>
                    <a:ea typeface="+mn-ea"/>
                    <a:cs typeface="+mn-cs"/>
                  </a:rPr>
                  <a:t>: Le nombre évalué dans la base décimale. </a:t>
                </a:r>
              </a:p>
              <a:p>
                <a:pPr lvl="0"/>
                <a:r>
                  <a:rPr lang="fr-FR" sz="1200" i="0" kern="1200">
                    <a:solidFill>
                      <a:schemeClr val="tx1"/>
                    </a:solidFill>
                    <a:latin typeface="+mn-lt"/>
                    <a:ea typeface="+mn-ea"/>
                    <a:cs typeface="+mn-cs"/>
                  </a:rPr>
                  <a:t>𝐵</a:t>
                </a:r>
                <a:r>
                  <a:rPr lang="fr-FR" sz="1200" kern="1200" dirty="0">
                    <a:solidFill>
                      <a:schemeClr val="tx1"/>
                    </a:solidFill>
                    <a:effectLst/>
                    <a:latin typeface="+mn-lt"/>
                    <a:ea typeface="+mn-ea"/>
                    <a:cs typeface="+mn-cs"/>
                  </a:rPr>
                  <a:t>: La base de numération (par exemple </a:t>
                </a:r>
                <a:r>
                  <a:rPr lang="fr-FR" sz="1200" i="0" kern="1200">
                    <a:solidFill>
                      <a:schemeClr val="tx1"/>
                    </a:solidFill>
                    <a:latin typeface="+mn-lt"/>
                    <a:ea typeface="+mn-ea"/>
                    <a:cs typeface="+mn-cs"/>
                  </a:rPr>
                  <a:t>𝐵=10</a:t>
                </a:r>
                <a:r>
                  <a:rPr lang="fr-FR" sz="1200" kern="1200" dirty="0">
                    <a:solidFill>
                      <a:schemeClr val="tx1"/>
                    </a:solidFill>
                    <a:effectLst/>
                    <a:latin typeface="+mn-lt"/>
                    <a:ea typeface="+mn-ea"/>
                    <a:cs typeface="+mn-cs"/>
                  </a:rPr>
                  <a:t>pour le système décimal, </a:t>
                </a:r>
                <a:r>
                  <a:rPr lang="fr-FR" sz="1200" i="0" kern="1200">
                    <a:solidFill>
                      <a:schemeClr val="tx1"/>
                    </a:solidFill>
                    <a:latin typeface="+mn-lt"/>
                    <a:ea typeface="+mn-ea"/>
                    <a:cs typeface="+mn-cs"/>
                  </a:rPr>
                  <a:t>𝐵=2</a:t>
                </a:r>
                <a:r>
                  <a:rPr lang="fr-FR" sz="1200" kern="1200" dirty="0">
                    <a:solidFill>
                      <a:schemeClr val="tx1"/>
                    </a:solidFill>
                    <a:effectLst/>
                    <a:latin typeface="+mn-lt"/>
                    <a:ea typeface="+mn-ea"/>
                    <a:cs typeface="+mn-cs"/>
                  </a:rPr>
                  <a:t>pour le binaire, ou </a:t>
                </a:r>
                <a:r>
                  <a:rPr lang="fr-FR" sz="1200" i="0" kern="1200">
                    <a:solidFill>
                      <a:schemeClr val="tx1"/>
                    </a:solidFill>
                    <a:latin typeface="+mn-lt"/>
                    <a:ea typeface="+mn-ea"/>
                    <a:cs typeface="+mn-cs"/>
                  </a:rPr>
                  <a:t>𝐵=16</a:t>
                </a:r>
                <a:r>
                  <a:rPr lang="fr-FR" sz="1200" kern="1200" dirty="0">
                    <a:solidFill>
                      <a:schemeClr val="tx1"/>
                    </a:solidFill>
                    <a:effectLst/>
                    <a:latin typeface="+mn-lt"/>
                    <a:ea typeface="+mn-ea"/>
                    <a:cs typeface="+mn-cs"/>
                  </a:rPr>
                  <a:t>pour l'hexadécimal). </a:t>
                </a:r>
              </a:p>
              <a:p>
                <a:pPr lvl="0"/>
                <a:r>
                  <a:rPr lang="fr-FR" sz="1200" i="0" kern="1200">
                    <a:solidFill>
                      <a:schemeClr val="tx1"/>
                    </a:solidFill>
                    <a:latin typeface="+mn-lt"/>
                    <a:ea typeface="+mn-ea"/>
                    <a:cs typeface="+mn-cs"/>
                  </a:rPr>
                  <a:t>𝑑_𝑖</a:t>
                </a:r>
                <a:r>
                  <a:rPr lang="fr-FR" sz="1200" kern="1200" dirty="0">
                    <a:solidFill>
                      <a:schemeClr val="tx1"/>
                    </a:solidFill>
                    <a:effectLst/>
                    <a:latin typeface="+mn-lt"/>
                    <a:ea typeface="+mn-ea"/>
                    <a:cs typeface="+mn-cs"/>
                  </a:rPr>
                  <a:t>: Les chiffres (digits) composant le nombre, situés aux positions </a:t>
                </a:r>
                <a:r>
                  <a:rPr lang="fr-FR" sz="1200" i="0" kern="1200">
                    <a:solidFill>
                      <a:schemeClr val="tx1"/>
                    </a:solidFill>
                    <a:latin typeface="+mn-lt"/>
                    <a:ea typeface="+mn-ea"/>
                    <a:cs typeface="+mn-cs"/>
                  </a:rPr>
                  <a:t>𝑖</a:t>
                </a:r>
                <a:r>
                  <a:rPr lang="fr-FR" sz="1200" kern="1200" dirty="0">
                    <a:solidFill>
                      <a:schemeClr val="tx1"/>
                    </a:solidFill>
                    <a:effectLst/>
                    <a:latin typeface="+mn-lt"/>
                    <a:ea typeface="+mn-ea"/>
                    <a:cs typeface="+mn-cs"/>
                  </a:rPr>
                  <a:t>(avec </a:t>
                </a:r>
                <a:r>
                  <a:rPr lang="fr-FR" sz="1200" i="0" kern="1200">
                    <a:solidFill>
                      <a:schemeClr val="tx1"/>
                    </a:solidFill>
                    <a:latin typeface="+mn-lt"/>
                    <a:ea typeface="+mn-ea"/>
                    <a:cs typeface="+mn-cs"/>
                  </a:rPr>
                  <a:t>0≤𝑑_𝑖&lt;𝐵</a:t>
                </a:r>
                <a:r>
                  <a:rPr lang="fr-FR" sz="1200" kern="1200" dirty="0">
                    <a:solidFill>
                      <a:schemeClr val="tx1"/>
                    </a:solidFill>
                    <a:effectLst/>
                    <a:latin typeface="+mn-lt"/>
                    <a:ea typeface="+mn-ea"/>
                    <a:cs typeface="+mn-cs"/>
                  </a:rPr>
                  <a:t>). </a:t>
                </a:r>
              </a:p>
              <a:p>
                <a:pPr lvl="0"/>
                <a:r>
                  <a:rPr lang="fr-FR" sz="1200" i="0" kern="1200">
                    <a:solidFill>
                      <a:schemeClr val="tx1"/>
                    </a:solidFill>
                    <a:latin typeface="+mn-lt"/>
                    <a:ea typeface="+mn-ea"/>
                    <a:cs typeface="+mn-cs"/>
                  </a:rPr>
                  <a:t>𝐵^𝑖</a:t>
                </a:r>
                <a:r>
                  <a:rPr lang="fr-FR" sz="1200" kern="1200" dirty="0">
                    <a:solidFill>
                      <a:schemeClr val="tx1"/>
                    </a:solidFill>
                    <a:effectLst/>
                    <a:latin typeface="+mn-lt"/>
                    <a:ea typeface="+mn-ea"/>
                    <a:cs typeface="+mn-cs"/>
                  </a:rPr>
                  <a:t>: Les puissances de la base associées au poids de chaque position (remarque : dans l'image, les puissances </a:t>
                </a:r>
                <a:r>
                  <a:rPr lang="fr-FR" sz="1200" i="0" kern="1200">
                    <a:solidFill>
                      <a:schemeClr val="tx1"/>
                    </a:solidFill>
                    <a:latin typeface="+mn-lt"/>
                    <a:ea typeface="+mn-ea"/>
                    <a:cs typeface="+mn-cs"/>
                  </a:rPr>
                  <a:t>𝐵^𝑛,𝐵^(𝑛−1),…,𝐵^1,𝐵^0</a:t>
                </a:r>
                <a:r>
                  <a:rPr lang="fr-FR" sz="1200" kern="1200" dirty="0">
                    <a:solidFill>
                      <a:schemeClr val="tx1"/>
                    </a:solidFill>
                    <a:effectLst/>
                    <a:latin typeface="+mn-lt"/>
                    <a:ea typeface="+mn-ea"/>
                    <a:cs typeface="+mn-cs"/>
                  </a:rPr>
                  <a:t>sont notées sous forme d'indices </a:t>
                </a:r>
                <a:r>
                  <a:rPr lang="fr-FR" sz="1200" i="0" kern="1200">
                    <a:solidFill>
                      <a:schemeClr val="tx1"/>
                    </a:solidFill>
                    <a:latin typeface="+mn-lt"/>
                    <a:ea typeface="+mn-ea"/>
                    <a:cs typeface="+mn-cs"/>
                  </a:rPr>
                  <a:t>𝐵_𝑛,𝐵_(𝑛−1),…,𝐵_1,𝐵_0</a:t>
                </a:r>
                <a:r>
                  <a:rPr lang="fr-FR" sz="1200" kern="1200" dirty="0">
                    <a:solidFill>
                      <a:schemeClr val="tx1"/>
                    </a:solidFill>
                    <a:effectLst/>
                    <a:latin typeface="+mn-lt"/>
                    <a:ea typeface="+mn-ea"/>
                    <a:cs typeface="+mn-cs"/>
                  </a:rPr>
                  <a:t>). </a:t>
                </a:r>
              </a:p>
              <a:p>
                <a:r>
                  <a:rPr lang="fr-FR" sz="1200" kern="1200" dirty="0">
                    <a:solidFill>
                      <a:schemeClr val="tx1"/>
                    </a:solidFill>
                    <a:effectLst/>
                    <a:latin typeface="+mn-lt"/>
                    <a:ea typeface="+mn-ea"/>
                    <a:cs typeface="+mn-cs"/>
                  </a:rPr>
                  <a:t>Sous forme formelle mathématique, cette relation s'écrit :</a:t>
                </a:r>
              </a:p>
              <a:p>
                <a:r>
                  <a:rPr lang="fr-FR" sz="1200" i="0" kern="1200">
                    <a:solidFill>
                      <a:schemeClr val="tx1"/>
                    </a:solidFill>
                    <a:latin typeface="+mn-lt"/>
                    <a:ea typeface="+mn-ea"/>
                    <a:cs typeface="+mn-cs"/>
                  </a:rPr>
                  <a:t>𝑁=∑1_(𝑖=0)^𝑛▒𝑑_𝑖 ⋅𝐵^𝑖=𝑑_𝑛⋅𝐵^𝑛+𝑑_(𝑛−1)⋅𝐵^(𝑛−1)+…+𝑑_1⋅𝐵^1+𝑑_0⋅𝐵^0</a:t>
                </a:r>
                <a:endParaRPr lang="fr-FR" sz="1200" kern="1200" dirty="0">
                  <a:solidFill>
                    <a:schemeClr val="tx1"/>
                  </a:solidFill>
                  <a:effectLst/>
                  <a:latin typeface="+mn-lt"/>
                  <a:ea typeface="+mn-ea"/>
                  <a:cs typeface="+mn-cs"/>
                </a:endParaRPr>
              </a:p>
              <a:p>
                <a:endParaRPr lang="fr-FR" dirty="0"/>
              </a:p>
            </p:txBody>
          </p:sp>
        </mc:Fallback>
      </mc:AlternateContent>
      <p:sp>
        <p:nvSpPr>
          <p:cNvPr id="4" name="Espace réservé du numéro de diapositive 3"/>
          <p:cNvSpPr>
            <a:spLocks noGrp="1"/>
          </p:cNvSpPr>
          <p:nvPr>
            <p:ph type="sldNum" sz="quarter" idx="5"/>
          </p:nvPr>
        </p:nvSpPr>
        <p:spPr/>
        <p:txBody>
          <a:bodyPr/>
          <a:lstStyle/>
          <a:p>
            <a:fld id="{5E2C881C-F9EA-4388-B8AE-D5F1912BE9C9}" type="slidenum">
              <a:rPr lang="fr-FR" smtClean="0"/>
              <a:t>4</a:t>
            </a:fld>
            <a:endParaRPr lang="fr-FR"/>
          </a:p>
        </p:txBody>
      </p:sp>
    </p:spTree>
    <p:extLst>
      <p:ext uri="{BB962C8B-B14F-4D97-AF65-F5344CB8AC3E}">
        <p14:creationId xmlns:p14="http://schemas.microsoft.com/office/powerpoint/2010/main" val="2114378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noProof="0" dirty="0">
                <a:solidFill>
                  <a:srgbClr val="334155"/>
                </a:solidFill>
                <a:latin typeface="Inter"/>
              </a:rPr>
              <a:t>Apprenez ces 8 nombres par cœur : 128, 64, 32, 16, 8, 4, 2, 1. C'est votre table de multiplication pour le réseau ! Un octet varie toujours entre 0 et 255. C'est exactement pour cela que les 4 chiffres d'une adresse IPv4 ne dépassent jamais 255.« </a:t>
            </a:r>
          </a:p>
          <a:p>
            <a:r>
              <a:rPr lang="fr-FR" i="1" dirty="0"/>
              <a:t>Least </a:t>
            </a:r>
            <a:r>
              <a:rPr lang="fr-FR" i="1" dirty="0" err="1"/>
              <a:t>Significant</a:t>
            </a:r>
            <a:r>
              <a:rPr lang="fr-FR" i="1" dirty="0"/>
              <a:t> Bit</a:t>
            </a:r>
            <a:r>
              <a:rPr lang="fr-FR" dirty="0"/>
              <a:t> </a:t>
            </a:r>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5</a:t>
            </a:fld>
            <a:endParaRPr lang="fr-FR"/>
          </a:p>
        </p:txBody>
      </p:sp>
    </p:spTree>
    <p:extLst>
      <p:ext uri="{BB962C8B-B14F-4D97-AF65-F5344CB8AC3E}">
        <p14:creationId xmlns:p14="http://schemas.microsoft.com/office/powerpoint/2010/main" val="6843291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"L'intérêt majeur de la base 16 est qu'un caractère hexa représente exactement 4 bits (un demi-octet ou nibble). Deux caractères hexa représentent donc un octet complet (ex: FF = 255). C'est extrêmement propre et lisible."</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6</a:t>
            </a:fld>
            <a:endParaRPr lang="fr-FR"/>
          </a:p>
        </p:txBody>
      </p:sp>
    </p:spTree>
    <p:extLst>
      <p:ext uri="{BB962C8B-B14F-4D97-AF65-F5344CB8AC3E}">
        <p14:creationId xmlns:p14="http://schemas.microsoft.com/office/powerpoint/2010/main" val="39170146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"Pour convertir du binaire en décimal, la règle est simple : on regarde où se trouvent les '1'. On prend les poids correspondants et on les additionne. Ici, nous avons un 1 à 128, un 1 à 32, un 1 à 8 et un 1 à 4. 128 + 32 + 8 + 4 = 172. C'est l'octet de tête classique d'une IP de Classe B."</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7</a:t>
            </a:fld>
            <a:endParaRPr lang="fr-FR"/>
          </a:p>
        </p:txBody>
      </p:sp>
    </p:spTree>
    <p:extLst>
      <p:ext uri="{BB962C8B-B14F-4D97-AF65-F5344CB8AC3E}">
        <p14:creationId xmlns:p14="http://schemas.microsoft.com/office/powerpoint/2010/main" val="33550684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noProof="0" dirty="0">
                <a:solidFill>
                  <a:srgbClr val="334155"/>
                </a:solidFill>
                <a:latin typeface="Inter"/>
              </a:rPr>
              <a:t>En examen CCNA, vous n'avez pas de calculatrice. La méthode par soustraction est la plus efficace : comparez votre nombre aux poids décroissants (128, 64, 32...). Si le nombre est plus grand ou égal, mettez un 1 et gardez le reste. Sinon, mettez un 0."</a:t>
            </a:r>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8</a:t>
            </a:fld>
            <a:endParaRPr lang="fr-FR"/>
          </a:p>
        </p:txBody>
      </p:sp>
    </p:spTree>
    <p:extLst>
      <p:ext uri="{BB962C8B-B14F-4D97-AF65-F5344CB8AC3E}">
        <p14:creationId xmlns:p14="http://schemas.microsoft.com/office/powerpoint/2010/main" val="9118133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"C'est la méthode algorithmique universelle. On divise continuellement par 2 jusqu'à obtenir un quotient nul, puis on relève les restes du dernier au premier (de bas en haut). Attention à ne pas lire les restes dans le mauvais sens !"</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9</a:t>
            </a:fld>
            <a:endParaRPr lang="fr-FR"/>
          </a:p>
        </p:txBody>
      </p:sp>
    </p:spTree>
    <p:extLst>
      <p:ext uri="{BB962C8B-B14F-4D97-AF65-F5344CB8AC3E}">
        <p14:creationId xmlns:p14="http://schemas.microsoft.com/office/powerpoint/2010/main" val="32531313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noProof="0" dirty="0">
                <a:solidFill>
                  <a:srgbClr val="334155"/>
                </a:solidFill>
                <a:latin typeface="Inter"/>
              </a:rPr>
              <a:t>Regardez comme le passage entre le binaire et l'hexadécimal est fluide ! Pas besoin de repasser par le décimal. 1101 binaire vaut 13 en décimal, soit 'D' en hexa. 0110 vaut 6. Donc 11010110 s'écrit D6 en hexa. C'est magique et rapide."</a:t>
            </a:r>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10</a:t>
            </a:fld>
            <a:endParaRPr lang="fr-FR"/>
          </a:p>
        </p:txBody>
      </p:sp>
    </p:spTree>
    <p:extLst>
      <p:ext uri="{BB962C8B-B14F-4D97-AF65-F5344CB8AC3E}">
        <p14:creationId xmlns:p14="http://schemas.microsoft.com/office/powerpoint/2010/main" val="298188291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"Même principe exact pour l'octal, mais au lieu de grouper par 4 bits, on groupe par 3 bits. La valeur 75 en octal se traduit par 111 (7) suivi de 101 (5). Vous retrouverez cela en administration système Linux lors de l'attribution des droits chmod 755."</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11</a:t>
            </a:fld>
            <a:endParaRPr lang="fr-FR"/>
          </a:p>
        </p:txBody>
      </p:sp>
    </p:spTree>
    <p:extLst>
      <p:ext uri="{BB962C8B-B14F-4D97-AF65-F5344CB8AC3E}">
        <p14:creationId xmlns:p14="http://schemas.microsoft.com/office/powerpoint/2010/main" val="12204187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"Voici votre table de référence absolue. Entraînez-vous à réciter les équivalents : 10 c'est A (1010), 12 c'est C (1100), 15 c'est F (1111). Quand vous connaîtrez ce tableau par cœur, vos calculs de masque et d'IPv6 deviendront un jeu d'enfant."</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12</a:t>
            </a:fld>
            <a:endParaRPr lang="fr-FR"/>
          </a:p>
        </p:txBody>
      </p:sp>
    </p:spTree>
    <p:extLst>
      <p:ext uri="{BB962C8B-B14F-4D97-AF65-F5344CB8AC3E}">
        <p14:creationId xmlns:p14="http://schemas.microsoft.com/office/powerpoint/2010/main" val="8421024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"Nous entrons dans l'application réseau. Quand vous tapez 192.168.10.15 sur votre PC, la carte réseau convertit immédiatement cette chaîne en une suite de 32 bits binaires. Chaque octet séparé par un point correspond exactement à 8 bits."</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13</a:t>
            </a:fld>
            <a:endParaRPr lang="fr-FR"/>
          </a:p>
        </p:txBody>
      </p:sp>
    </p:spTree>
    <p:extLst>
      <p:ext uri="{BB962C8B-B14F-4D97-AF65-F5344CB8AC3E}">
        <p14:creationId xmlns:p14="http://schemas.microsoft.com/office/powerpoint/2010/main" val="2267754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noProof="0" dirty="0">
                <a:solidFill>
                  <a:srgbClr val="334155"/>
                </a:solidFill>
                <a:latin typeface="Inter"/>
              </a:rPr>
              <a:t>Comment un routeur </a:t>
            </a:r>
            <a:r>
              <a:rPr lang="fr-FR" sz="1200" b="0" i="0" u="none" noProof="0" dirty="0" err="1">
                <a:solidFill>
                  <a:srgbClr val="334155"/>
                </a:solidFill>
                <a:latin typeface="Inter"/>
              </a:rPr>
              <a:t>sait-il</a:t>
            </a:r>
            <a:r>
              <a:rPr lang="fr-FR" sz="1200" b="0" i="0" u="none" noProof="0" dirty="0">
                <a:solidFill>
                  <a:srgbClr val="334155"/>
                </a:solidFill>
                <a:latin typeface="Inter"/>
              </a:rPr>
              <a:t> si un paquet est destiné au réseau local ou à Internet ? Il réalise un ET logique bit à bit entre l'adresse IP et le masque. La seule condition pour obtenir un 1 dans le résultat, c'est d'avoir 1 ET 1."</a:t>
            </a:r>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14</a:t>
            </a:fld>
            <a:endParaRPr lang="fr-FR"/>
          </a:p>
        </p:txBody>
      </p:sp>
    </p:spTree>
    <p:extLst>
      <p:ext uri="{BB962C8B-B14F-4D97-AF65-F5344CB8AC3E}">
        <p14:creationId xmlns:p14="http://schemas.microsoft.com/office/powerpoint/2010/main" val="6141325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"Regardez l'effet du masque : là où le masque contient des 1 (255), l'adresse IP est recopiée à l'identique. Là où le masque contient des 0 (0), tous les bits de l'IP sont effacés. Résultat : l'adresse de réseau est 192.168.10.0."</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15</a:t>
            </a:fld>
            <a:endParaRPr lang="fr-FR"/>
          </a:p>
        </p:txBody>
      </p:sp>
    </p:spTree>
    <p:extLst>
      <p:ext uri="{BB962C8B-B14F-4D97-AF65-F5344CB8AC3E}">
        <p14:creationId xmlns:p14="http://schemas.microsoft.com/office/powerpoint/2010/main" val="280678049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sz="1200" b="0" i="0" u="none" noProof="0" dirty="0">
                <a:solidFill>
                  <a:srgbClr val="334155"/>
                </a:solidFill>
                <a:latin typeface="Inter"/>
              </a:rPr>
              <a:t>Voici les deux formules reines du CCNA. Pourquoi fait-on '- 2' pour les hôtes ? Parce que dans chaque sous-réseau, deux adresses sont réservées : la toute première (adresse réseau) et la toute dernière (adresse de broadcast/diffusion)."</a:t>
            </a:r>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16</a:t>
            </a:fld>
            <a:endParaRPr lang="fr-FR"/>
          </a:p>
        </p:txBody>
      </p:sp>
    </p:spTree>
    <p:extLst>
      <p:ext uri="{BB962C8B-B14F-4D97-AF65-F5344CB8AC3E}">
        <p14:creationId xmlns:p14="http://schemas.microsoft.com/office/powerpoint/2010/main" val="3822966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"Chaque carte réseau possède une adresse physique unique gravée en usine. Elle fait 48 bits, représentée par 12 caractères hexadécimaux. Les 6 premiers caractères identifient la marque (OUI), les 6 derniers constituent le numéro de série unique."</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17</a:t>
            </a:fld>
            <a:endParaRPr lang="fr-FR"/>
          </a:p>
        </p:txBody>
      </p:sp>
    </p:spTree>
    <p:extLst>
      <p:ext uri="{BB962C8B-B14F-4D97-AF65-F5344CB8AC3E}">
        <p14:creationId xmlns:p14="http://schemas.microsoft.com/office/powerpoint/2010/main" val="42760931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b="0" i="0" u="none" noProof="0" dirty="0">
                <a:solidFill>
                  <a:srgbClr val="334155"/>
                </a:solidFill>
                <a:latin typeface="Inter"/>
              </a:rPr>
              <a:t>"Face au manque d'adresses IPv4, le monde bascule vers IPv6. Écrire 128 bits en binaire serait impossible à gérer pour un humain. Grâce à l'hexadécimal, on résume cette adresse en 8 blocs de 4 chiffres hexa. D'où l'importance capitale de maîtriser la base 16."</a:t>
            </a:r>
          </a:p>
          <a:p>
            <a:endParaRPr lang="fr-FR" dirty="0"/>
          </a:p>
        </p:txBody>
      </p:sp>
      <p:sp>
        <p:nvSpPr>
          <p:cNvPr id="4" name="Espace réservé du numéro de diapositive 3"/>
          <p:cNvSpPr>
            <a:spLocks noGrp="1"/>
          </p:cNvSpPr>
          <p:nvPr>
            <p:ph type="sldNum" sz="quarter" idx="5"/>
          </p:nvPr>
        </p:nvSpPr>
        <p:spPr/>
        <p:txBody>
          <a:bodyPr/>
          <a:lstStyle/>
          <a:p>
            <a:fld id="{5E2C881C-F9EA-4388-B8AE-D5F1912BE9C9}" type="slidenum">
              <a:rPr lang="fr-FR" smtClean="0"/>
              <a:t>18</a:t>
            </a:fld>
            <a:endParaRPr lang="fr-FR"/>
          </a:p>
        </p:txBody>
      </p:sp>
    </p:spTree>
    <p:extLst>
      <p:ext uri="{BB962C8B-B14F-4D97-AF65-F5344CB8AC3E}">
        <p14:creationId xmlns:p14="http://schemas.microsoft.com/office/powerpoint/2010/main" val="16247783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 name="Rectangle 1"/>
          <p:cNvSpPr/>
          <p:nvPr/>
        </p:nvSpPr>
        <p:spPr>
          <a:xfrm>
            <a:off x="457200" y="5488483"/>
            <a:ext cx="11277600" cy="988516"/>
          </a:xfrm>
          <a:prstGeom prst="rect">
            <a:avLst/>
          </a:prstGeom>
          <a:solidFill>
            <a:srgbClr val="222A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3" name="Rectangle 2"/>
          <p:cNvSpPr/>
          <p:nvPr/>
        </p:nvSpPr>
        <p:spPr>
          <a:xfrm>
            <a:off x="457200" y="5488483"/>
            <a:ext cx="38100" cy="988516"/>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pic>
        <p:nvPicPr>
          <p:cNvPr id="4" name="Picture 3" descr="image.png"/>
          <p:cNvPicPr>
            <a:picLocks noChangeAspect="1"/>
          </p:cNvPicPr>
          <p:nvPr/>
        </p:nvPicPr>
        <p:blipFill>
          <a:blip r:embed="rId3"/>
          <a:stretch>
            <a:fillRect/>
          </a:stretch>
        </p:blipFill>
        <p:spPr>
          <a:xfrm>
            <a:off x="8115300" y="1896516"/>
            <a:ext cx="3619500" cy="2286000"/>
          </a:xfrm>
          <a:prstGeom prst="rect">
            <a:avLst/>
          </a:prstGeom>
        </p:spPr>
      </p:pic>
      <p:pic>
        <p:nvPicPr>
          <p:cNvPr id="5" name="Picture 4" descr="image.png"/>
          <p:cNvPicPr>
            <a:picLocks noChangeAspect="1"/>
          </p:cNvPicPr>
          <p:nvPr/>
        </p:nvPicPr>
        <p:blipFill>
          <a:blip r:embed="rId4"/>
          <a:stretch>
            <a:fillRect/>
          </a:stretch>
        </p:blipFill>
        <p:spPr>
          <a:xfrm>
            <a:off x="8124825" y="1906041"/>
            <a:ext cx="3600450" cy="2266950"/>
          </a:xfrm>
          <a:prstGeom prst="rect">
            <a:avLst/>
          </a:prstGeom>
        </p:spPr>
      </p:pic>
      <p:sp>
        <p:nvSpPr>
          <p:cNvPr id="6" name="TextBox 5"/>
          <p:cNvSpPr txBox="1"/>
          <p:nvPr/>
        </p:nvSpPr>
        <p:spPr>
          <a:xfrm>
            <a:off x="457200" y="381000"/>
            <a:ext cx="2902226" cy="307777"/>
          </a:xfrm>
          <a:prstGeom prst="rect">
            <a:avLst/>
          </a:prstGeom>
          <a:noFill/>
        </p:spPr>
        <p:txBody>
          <a:bodyPr wrap="square" lIns="0" tIns="0" rIns="0" bIns="0" anchor="t">
            <a:spAutoFit/>
          </a:bodyPr>
          <a:lstStyle/>
          <a:p>
            <a:r>
              <a:rPr lang="fr-FR" sz="2000" b="1" noProof="0" dirty="0">
                <a:solidFill>
                  <a:srgbClr val="38BDF8"/>
                </a:solidFill>
                <a:latin typeface="JetBrains Mono"/>
              </a:rPr>
              <a:t>Réseaux et protocoles</a:t>
            </a:r>
            <a:endParaRPr lang="fr-FR" sz="2000" b="1" i="0" u="none" noProof="0" dirty="0">
              <a:solidFill>
                <a:srgbClr val="38BDF8"/>
              </a:solidFill>
              <a:latin typeface="JetBrains Mono"/>
            </a:endParaRPr>
          </a:p>
        </p:txBody>
      </p:sp>
      <p:sp>
        <p:nvSpPr>
          <p:cNvPr id="7" name="TextBox 6"/>
          <p:cNvSpPr txBox="1"/>
          <p:nvPr/>
        </p:nvSpPr>
        <p:spPr>
          <a:xfrm>
            <a:off x="10668000" y="381000"/>
            <a:ext cx="1352550" cy="171450"/>
          </a:xfrm>
          <a:prstGeom prst="rect">
            <a:avLst/>
          </a:prstGeom>
          <a:noFill/>
        </p:spPr>
        <p:txBody>
          <a:bodyPr wrap="none" lIns="0" tIns="0" rIns="0" bIns="0" anchor="t">
            <a:spAutoFit/>
          </a:bodyPr>
          <a:lstStyle/>
          <a:p>
            <a:pPr algn="l"/>
            <a:r>
              <a:rPr lang="fr-FR" sz="1050" b="0" i="0" u="none" noProof="0" dirty="0">
                <a:solidFill>
                  <a:srgbClr val="94A3B8"/>
                </a:solidFill>
                <a:latin typeface="JetBrains Mono"/>
              </a:rPr>
              <a:t>SEANCE 01 / 20</a:t>
            </a:r>
          </a:p>
        </p:txBody>
      </p:sp>
      <p:sp>
        <p:nvSpPr>
          <p:cNvPr id="11" name="TextBox 10"/>
          <p:cNvSpPr txBox="1"/>
          <p:nvPr/>
        </p:nvSpPr>
        <p:spPr>
          <a:xfrm>
            <a:off x="457200" y="2384226"/>
            <a:ext cx="7740967" cy="920055"/>
          </a:xfrm>
          <a:prstGeom prst="rect">
            <a:avLst/>
          </a:prstGeom>
          <a:noFill/>
        </p:spPr>
        <p:txBody>
          <a:bodyPr wrap="square" lIns="0" tIns="0" rIns="0" bIns="0" anchor="t">
            <a:spAutoFit/>
          </a:bodyPr>
          <a:lstStyle/>
          <a:p>
            <a:pPr algn="l">
              <a:lnSpc>
                <a:spcPts val="3622"/>
              </a:lnSpc>
            </a:pPr>
            <a:r>
              <a:rPr lang="fr-FR" sz="3150" b="1" i="0" u="none" noProof="0" dirty="0">
                <a:solidFill>
                  <a:srgbClr val="FFFFFF"/>
                </a:solidFill>
                <a:latin typeface="Space Grotesk"/>
              </a:rPr>
              <a:t>Chapitre I: Systèmes de Numération &amp; Mathématiques Réseau</a:t>
            </a:r>
          </a:p>
        </p:txBody>
      </p:sp>
      <p:sp>
        <p:nvSpPr>
          <p:cNvPr id="12" name="TextBox 11"/>
          <p:cNvSpPr txBox="1"/>
          <p:nvPr/>
        </p:nvSpPr>
        <p:spPr>
          <a:xfrm>
            <a:off x="457200" y="3456682"/>
            <a:ext cx="7372350" cy="514350"/>
          </a:xfrm>
          <a:prstGeom prst="rect">
            <a:avLst/>
          </a:prstGeom>
          <a:noFill/>
        </p:spPr>
        <p:txBody>
          <a:bodyPr wrap="square" lIns="0" tIns="0" rIns="0" bIns="0" anchor="t">
            <a:spAutoFit/>
          </a:bodyPr>
          <a:lstStyle/>
          <a:p>
            <a:pPr algn="l">
              <a:lnSpc>
                <a:spcPts val="2025"/>
              </a:lnSpc>
            </a:pPr>
            <a:r>
              <a:rPr lang="fr-FR" sz="1350" b="0" i="0" u="none" noProof="0" dirty="0">
                <a:solidFill>
                  <a:srgbClr val="94A3B8"/>
                </a:solidFill>
                <a:latin typeface="Inter"/>
              </a:rPr>
              <a:t>Du bit à l'adresse IP : comprendre la logique binaire et hexadécimale au cœur des équipements informatiques.</a:t>
            </a:r>
          </a:p>
        </p:txBody>
      </p:sp>
      <p:sp>
        <p:nvSpPr>
          <p:cNvPr id="14" name="TextBox 5">
            <a:extLst>
              <a:ext uri="{FF2B5EF4-FFF2-40B4-BE49-F238E27FC236}">
                <a16:creationId xmlns:a16="http://schemas.microsoft.com/office/drawing/2014/main" id="{E5D2919D-E43B-FD79-11A6-C00B6659A913}"/>
              </a:ext>
            </a:extLst>
          </p:cNvPr>
          <p:cNvSpPr txBox="1"/>
          <p:nvPr/>
        </p:nvSpPr>
        <p:spPr>
          <a:xfrm>
            <a:off x="771110" y="5521076"/>
            <a:ext cx="5343939" cy="923330"/>
          </a:xfrm>
          <a:prstGeom prst="rect">
            <a:avLst/>
          </a:prstGeom>
          <a:noFill/>
        </p:spPr>
        <p:txBody>
          <a:bodyPr wrap="square" lIns="0" tIns="0" rIns="0" bIns="0" anchor="t">
            <a:spAutoFit/>
          </a:bodyPr>
          <a:lstStyle/>
          <a:p>
            <a:r>
              <a:rPr lang="fr-FR" sz="2000" b="1" i="0" u="none" noProof="0" dirty="0">
                <a:solidFill>
                  <a:srgbClr val="38BDF8"/>
                </a:solidFill>
                <a:latin typeface="JetBrains Mono"/>
              </a:rPr>
              <a:t>Pr. Lahcen BELOUADDANE</a:t>
            </a:r>
          </a:p>
          <a:p>
            <a:r>
              <a:rPr lang="fr-FR" sz="2000" b="1" i="0" u="none" noProof="0" dirty="0">
                <a:solidFill>
                  <a:srgbClr val="38BDF8"/>
                </a:solidFill>
                <a:latin typeface="JetBrains Mono"/>
              </a:rPr>
              <a:t>Senior Software Architect and Cloud </a:t>
            </a:r>
            <a:r>
              <a:rPr lang="fr-FR" sz="2000" b="1" i="0" u="none" noProof="0" dirty="0" err="1">
                <a:solidFill>
                  <a:srgbClr val="38BDF8"/>
                </a:solidFill>
                <a:latin typeface="JetBrains Mono"/>
              </a:rPr>
              <a:t>Engineer</a:t>
            </a:r>
            <a:endParaRPr lang="fr-FR" sz="2000" b="1" i="0" u="none" noProof="0" dirty="0">
              <a:solidFill>
                <a:srgbClr val="38BDF8"/>
              </a:solidFill>
              <a:latin typeface="JetBrains Mono"/>
            </a:endParaRPr>
          </a:p>
          <a:p>
            <a:r>
              <a:rPr lang="fr-FR" sz="2000" b="1" i="0" u="none" noProof="0">
                <a:solidFill>
                  <a:srgbClr val="38BDF8"/>
                </a:solidFill>
                <a:latin typeface="JetBrains Mono"/>
              </a:rPr>
              <a:t>Lahcen.belouaddane</a:t>
            </a:r>
            <a:r>
              <a:rPr lang="fr-FR" sz="2000" b="1" i="0" u="none" noProof="0" dirty="0" err="1">
                <a:solidFill>
                  <a:srgbClr val="38BDF8"/>
                </a:solidFill>
                <a:latin typeface="JetBrains Mono"/>
              </a:rPr>
              <a:t>@uhp.ac.ma</a:t>
            </a:r>
            <a:endParaRPr lang="fr-FR" sz="2000" b="1" i="0" u="none" noProof="0" dirty="0">
              <a:solidFill>
                <a:srgbClr val="38BDF8"/>
              </a:solidFill>
              <a:latin typeface="JetBrains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457200" y="2389882"/>
            <a:ext cx="36321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Rounded Rectangle 3"/>
          <p:cNvSpPr/>
          <p:nvPr/>
        </p:nvSpPr>
        <p:spPr>
          <a:xfrm>
            <a:off x="4279850" y="2389882"/>
            <a:ext cx="36321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Rounded Rectangle 4"/>
          <p:cNvSpPr/>
          <p:nvPr/>
        </p:nvSpPr>
        <p:spPr>
          <a:xfrm>
            <a:off x="8102500" y="2389882"/>
            <a:ext cx="3632150" cy="1676400"/>
          </a:xfrm>
          <a:prstGeom prst="roundRect">
            <a:avLst>
              <a:gd name="adj" fmla="val 6818"/>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pic>
        <p:nvPicPr>
          <p:cNvPr id="7" name="Picture 6" descr="image.png"/>
          <p:cNvPicPr>
            <a:picLocks noChangeAspect="1"/>
          </p:cNvPicPr>
          <p:nvPr/>
        </p:nvPicPr>
        <p:blipFill>
          <a:blip r:embed="rId3"/>
          <a:stretch>
            <a:fillRect/>
          </a:stretch>
        </p:blipFill>
        <p:spPr>
          <a:xfrm>
            <a:off x="695325" y="2628007"/>
            <a:ext cx="381000" cy="381000"/>
          </a:xfrm>
          <a:prstGeom prst="rect">
            <a:avLst/>
          </a:prstGeom>
        </p:spPr>
      </p:pic>
      <p:pic>
        <p:nvPicPr>
          <p:cNvPr id="8" name="Picture 7" descr="image.png"/>
          <p:cNvPicPr>
            <a:picLocks noChangeAspect="1"/>
          </p:cNvPicPr>
          <p:nvPr/>
        </p:nvPicPr>
        <p:blipFill>
          <a:blip r:embed="rId4"/>
          <a:stretch>
            <a:fillRect/>
          </a:stretch>
        </p:blipFill>
        <p:spPr>
          <a:xfrm>
            <a:off x="4517975" y="2628007"/>
            <a:ext cx="381000" cy="381000"/>
          </a:xfrm>
          <a:prstGeom prst="rect">
            <a:avLst/>
          </a:prstGeom>
        </p:spPr>
      </p:pic>
      <p:pic>
        <p:nvPicPr>
          <p:cNvPr id="9" name="Picture 8" descr="image.png"/>
          <p:cNvPicPr>
            <a:picLocks noChangeAspect="1"/>
          </p:cNvPicPr>
          <p:nvPr/>
        </p:nvPicPr>
        <p:blipFill>
          <a:blip r:embed="rId5"/>
          <a:stretch>
            <a:fillRect/>
          </a:stretch>
        </p:blipFill>
        <p:spPr>
          <a:xfrm>
            <a:off x="8340625" y="2628007"/>
            <a:ext cx="381000" cy="381000"/>
          </a:xfrm>
          <a:prstGeom prst="rect">
            <a:avLst/>
          </a:prstGeom>
        </p:spPr>
      </p:pic>
      <p:pic>
        <p:nvPicPr>
          <p:cNvPr id="10" name="Picture 9" descr="image.png"/>
          <p:cNvPicPr>
            <a:picLocks noChangeAspect="1"/>
          </p:cNvPicPr>
          <p:nvPr/>
        </p:nvPicPr>
        <p:blipFill>
          <a:blip r:embed="rId6"/>
          <a:stretch>
            <a:fillRect/>
          </a:stretch>
        </p:blipFill>
        <p:spPr>
          <a:xfrm>
            <a:off x="790575" y="2723257"/>
            <a:ext cx="190500" cy="190500"/>
          </a:xfrm>
          <a:prstGeom prst="rect">
            <a:avLst/>
          </a:prstGeom>
        </p:spPr>
      </p:pic>
      <p:pic>
        <p:nvPicPr>
          <p:cNvPr id="11" name="Picture 10" descr="image.png"/>
          <p:cNvPicPr>
            <a:picLocks noChangeAspect="1"/>
          </p:cNvPicPr>
          <p:nvPr/>
        </p:nvPicPr>
        <p:blipFill>
          <a:blip r:embed="rId7"/>
          <a:stretch>
            <a:fillRect/>
          </a:stretch>
        </p:blipFill>
        <p:spPr>
          <a:xfrm>
            <a:off x="4589412" y="2723257"/>
            <a:ext cx="238125" cy="190500"/>
          </a:xfrm>
          <a:prstGeom prst="rect">
            <a:avLst/>
          </a:prstGeom>
        </p:spPr>
      </p:pic>
      <p:pic>
        <p:nvPicPr>
          <p:cNvPr id="12" name="Picture 11" descr="image.png"/>
          <p:cNvPicPr>
            <a:picLocks noChangeAspect="1"/>
          </p:cNvPicPr>
          <p:nvPr/>
        </p:nvPicPr>
        <p:blipFill>
          <a:blip r:embed="rId8"/>
          <a:stretch>
            <a:fillRect/>
          </a:stretch>
        </p:blipFill>
        <p:spPr>
          <a:xfrm>
            <a:off x="8421588" y="2723257"/>
            <a:ext cx="219075" cy="190500"/>
          </a:xfrm>
          <a:prstGeom prst="rect">
            <a:avLst/>
          </a:prstGeom>
        </p:spPr>
      </p:pic>
      <p:sp>
        <p:nvSpPr>
          <p:cNvPr id="13" name="TextBox 12"/>
          <p:cNvSpPr txBox="1"/>
          <p:nvPr/>
        </p:nvSpPr>
        <p:spPr>
          <a:xfrm>
            <a:off x="457200" y="381000"/>
            <a:ext cx="4302332" cy="300082"/>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Pourquoi des mathématiques en réseau ?</a:t>
            </a:r>
          </a:p>
        </p:txBody>
      </p:sp>
      <p:sp>
        <p:nvSpPr>
          <p:cNvPr id="14" name="TextBox 13"/>
          <p:cNvSpPr txBox="1"/>
          <p:nvPr/>
        </p:nvSpPr>
        <p:spPr>
          <a:xfrm>
            <a:off x="10058400" y="457200"/>
            <a:ext cx="20955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OBJECTIFS PEDAGOGIQUES</a:t>
            </a:r>
          </a:p>
        </p:txBody>
      </p:sp>
      <p:sp>
        <p:nvSpPr>
          <p:cNvPr id="17" name="TextBox 16"/>
          <p:cNvSpPr txBox="1"/>
          <p:nvPr/>
        </p:nvSpPr>
        <p:spPr>
          <a:xfrm>
            <a:off x="695325" y="3123307"/>
            <a:ext cx="4142119" cy="247650"/>
          </a:xfrm>
          <a:prstGeom prst="rect">
            <a:avLst/>
          </a:prstGeom>
          <a:noFill/>
        </p:spPr>
        <p:txBody>
          <a:bodyPr wrap="none" lIns="0" tIns="0" rIns="0" bIns="0" anchor="t">
            <a:spAutoFit/>
          </a:bodyPr>
          <a:lstStyle/>
          <a:p>
            <a:pPr algn="l"/>
            <a:r>
              <a:rPr lang="fr-FR" sz="1500" b="1" i="0" u="none" noProof="0" dirty="0">
                <a:solidFill>
                  <a:srgbClr val="0F172A"/>
                </a:solidFill>
                <a:latin typeface="Space Grotesk"/>
              </a:rPr>
              <a:t>Binaire (Base 2)</a:t>
            </a:r>
          </a:p>
        </p:txBody>
      </p:sp>
      <p:sp>
        <p:nvSpPr>
          <p:cNvPr id="18" name="TextBox 17"/>
          <p:cNvSpPr txBox="1"/>
          <p:nvPr/>
        </p:nvSpPr>
        <p:spPr>
          <a:xfrm>
            <a:off x="695325" y="3447157"/>
            <a:ext cx="3251150" cy="381000"/>
          </a:xfrm>
          <a:prstGeom prst="rect">
            <a:avLst/>
          </a:prstGeom>
          <a:noFill/>
        </p:spPr>
        <p:txBody>
          <a:bodyPr wrap="square" lIns="0" tIns="0" rIns="0" bIns="0" anchor="t">
            <a:spAutoFit/>
          </a:bodyPr>
          <a:lstStyle/>
          <a:p>
            <a:pPr algn="l"/>
            <a:r>
              <a:rPr lang="fr-FR" sz="1200" b="0" i="0" u="none" noProof="0" dirty="0">
                <a:solidFill>
                  <a:srgbClr val="475569"/>
                </a:solidFill>
                <a:latin typeface="Inter"/>
              </a:rPr>
              <a:t>Signaux électriques &amp; optiques. Calcul de masques IP et adresses de diffusion.</a:t>
            </a:r>
          </a:p>
        </p:txBody>
      </p:sp>
      <p:sp>
        <p:nvSpPr>
          <p:cNvPr id="19" name="TextBox 18"/>
          <p:cNvSpPr txBox="1"/>
          <p:nvPr/>
        </p:nvSpPr>
        <p:spPr>
          <a:xfrm>
            <a:off x="4517975" y="3123307"/>
            <a:ext cx="4142119" cy="247650"/>
          </a:xfrm>
          <a:prstGeom prst="rect">
            <a:avLst/>
          </a:prstGeom>
          <a:noFill/>
        </p:spPr>
        <p:txBody>
          <a:bodyPr wrap="none" lIns="0" tIns="0" rIns="0" bIns="0" anchor="t">
            <a:spAutoFit/>
          </a:bodyPr>
          <a:lstStyle/>
          <a:p>
            <a:pPr algn="l"/>
            <a:r>
              <a:rPr lang="fr-FR" sz="1500" b="1" i="0" u="none" noProof="0" dirty="0">
                <a:solidFill>
                  <a:srgbClr val="0F172A"/>
                </a:solidFill>
                <a:latin typeface="Space Grotesk"/>
              </a:rPr>
              <a:t>Hexadécimal (Base 16)</a:t>
            </a:r>
          </a:p>
        </p:txBody>
      </p:sp>
      <p:sp>
        <p:nvSpPr>
          <p:cNvPr id="20" name="TextBox 19"/>
          <p:cNvSpPr txBox="1"/>
          <p:nvPr/>
        </p:nvSpPr>
        <p:spPr>
          <a:xfrm>
            <a:off x="4517975" y="3447157"/>
            <a:ext cx="3251150" cy="381000"/>
          </a:xfrm>
          <a:prstGeom prst="rect">
            <a:avLst/>
          </a:prstGeom>
          <a:noFill/>
        </p:spPr>
        <p:txBody>
          <a:bodyPr wrap="square" lIns="0" tIns="0" rIns="0" bIns="0" anchor="t">
            <a:spAutoFit/>
          </a:bodyPr>
          <a:lstStyle/>
          <a:p>
            <a:pPr algn="l"/>
            <a:r>
              <a:rPr lang="fr-FR" sz="1200" b="0" i="0" u="none" noProof="0" dirty="0">
                <a:solidFill>
                  <a:srgbClr val="475569"/>
                </a:solidFill>
                <a:latin typeface="Inter"/>
              </a:rPr>
              <a:t>Compactage des 48 bits des adresses MAC et des 128 bits des adresses IPv6.</a:t>
            </a:r>
          </a:p>
        </p:txBody>
      </p:sp>
      <p:sp>
        <p:nvSpPr>
          <p:cNvPr id="21" name="TextBox 20"/>
          <p:cNvSpPr txBox="1"/>
          <p:nvPr/>
        </p:nvSpPr>
        <p:spPr>
          <a:xfrm>
            <a:off x="8340625" y="3123307"/>
            <a:ext cx="3851374" cy="247650"/>
          </a:xfrm>
          <a:prstGeom prst="rect">
            <a:avLst/>
          </a:prstGeom>
          <a:noFill/>
        </p:spPr>
        <p:txBody>
          <a:bodyPr wrap="none" lIns="0" tIns="0" rIns="0" bIns="0" anchor="t">
            <a:spAutoFit/>
          </a:bodyPr>
          <a:lstStyle/>
          <a:p>
            <a:pPr algn="l"/>
            <a:r>
              <a:rPr lang="fr-FR" sz="1500" b="1" i="0" u="none" noProof="0" dirty="0">
                <a:solidFill>
                  <a:srgbClr val="0F172A"/>
                </a:solidFill>
                <a:latin typeface="Space Grotesk"/>
              </a:rPr>
              <a:t>Octal (Base 8)</a:t>
            </a:r>
          </a:p>
        </p:txBody>
      </p:sp>
      <p:sp>
        <p:nvSpPr>
          <p:cNvPr id="22" name="TextBox 21"/>
          <p:cNvSpPr txBox="1"/>
          <p:nvPr/>
        </p:nvSpPr>
        <p:spPr>
          <a:xfrm>
            <a:off x="8340625" y="3447157"/>
            <a:ext cx="3251150" cy="381000"/>
          </a:xfrm>
          <a:prstGeom prst="rect">
            <a:avLst/>
          </a:prstGeom>
          <a:noFill/>
        </p:spPr>
        <p:txBody>
          <a:bodyPr wrap="square" lIns="0" tIns="0" rIns="0" bIns="0" anchor="t">
            <a:spAutoFit/>
          </a:bodyPr>
          <a:lstStyle/>
          <a:p>
            <a:pPr algn="l"/>
            <a:r>
              <a:rPr lang="fr-FR" sz="1200" b="0" i="0" u="none" noProof="0" dirty="0">
                <a:solidFill>
                  <a:srgbClr val="475569"/>
                </a:solidFill>
                <a:latin typeface="Inter"/>
              </a:rPr>
              <a:t>Gestion des droits d'accès et permissions sous serveurs Linux/Unix (</a:t>
            </a:r>
            <a:r>
              <a:rPr lang="fr-FR" sz="1200" b="0" i="0" u="none" noProof="0" dirty="0" err="1">
                <a:solidFill>
                  <a:srgbClr val="475569"/>
                </a:solidFill>
                <a:latin typeface="Inter"/>
              </a:rPr>
              <a:t>rwx</a:t>
            </a:r>
            <a:r>
              <a:rPr lang="fr-FR" sz="1200" b="0" i="0" u="none" noProof="0" dirty="0">
                <a:solidFill>
                  <a:srgbClr val="475569"/>
                </a:solidFill>
                <a:latin typeface="Inter"/>
              </a:rPr>
              <a:t>).</a:t>
            </a:r>
          </a:p>
        </p:txBody>
      </p:sp>
      <p:pic>
        <p:nvPicPr>
          <p:cNvPr id="23" name="Image 22">
            <a:extLst>
              <a:ext uri="{FF2B5EF4-FFF2-40B4-BE49-F238E27FC236}">
                <a16:creationId xmlns:a16="http://schemas.microsoft.com/office/drawing/2014/main" id="{FF4B4ED0-9422-82D6-1757-16A66B994B2C}"/>
              </a:ext>
            </a:extLst>
          </p:cNvPr>
          <p:cNvPicPr>
            <a:picLocks noChangeAspect="1"/>
          </p:cNvPicPr>
          <p:nvPr/>
        </p:nvPicPr>
        <p:blipFill>
          <a:blip r:embed="rId9"/>
          <a:stretch>
            <a:fillRect/>
          </a:stretch>
        </p:blipFill>
        <p:spPr>
          <a:xfrm>
            <a:off x="442233" y="4066282"/>
            <a:ext cx="3504242" cy="2558737"/>
          </a:xfrm>
          <a:prstGeom prst="rect">
            <a:avLst/>
          </a:prstGeom>
        </p:spPr>
      </p:pic>
      <p:pic>
        <p:nvPicPr>
          <p:cNvPr id="25" name="Image 24">
            <a:extLst>
              <a:ext uri="{FF2B5EF4-FFF2-40B4-BE49-F238E27FC236}">
                <a16:creationId xmlns:a16="http://schemas.microsoft.com/office/drawing/2014/main" id="{BA2AF752-4BB5-EC26-9616-875A0DF25110}"/>
              </a:ext>
            </a:extLst>
          </p:cNvPr>
          <p:cNvPicPr>
            <a:picLocks noChangeAspect="1"/>
          </p:cNvPicPr>
          <p:nvPr/>
        </p:nvPicPr>
        <p:blipFill>
          <a:blip r:embed="rId10"/>
          <a:stretch>
            <a:fillRect/>
          </a:stretch>
        </p:blipFill>
        <p:spPr>
          <a:xfrm>
            <a:off x="4089349" y="4074155"/>
            <a:ext cx="2627973" cy="1443962"/>
          </a:xfrm>
          <a:prstGeom prst="rect">
            <a:avLst/>
          </a:prstGeom>
        </p:spPr>
      </p:pic>
      <p:pic>
        <p:nvPicPr>
          <p:cNvPr id="27" name="Image 26">
            <a:extLst>
              <a:ext uri="{FF2B5EF4-FFF2-40B4-BE49-F238E27FC236}">
                <a16:creationId xmlns:a16="http://schemas.microsoft.com/office/drawing/2014/main" id="{A6F8748E-4601-85EE-7C8F-EE876D584415}"/>
              </a:ext>
            </a:extLst>
          </p:cNvPr>
          <p:cNvPicPr>
            <a:picLocks noChangeAspect="1"/>
          </p:cNvPicPr>
          <p:nvPr/>
        </p:nvPicPr>
        <p:blipFill>
          <a:blip r:embed="rId11"/>
          <a:stretch>
            <a:fillRect/>
          </a:stretch>
        </p:blipFill>
        <p:spPr>
          <a:xfrm>
            <a:off x="7127556" y="4311170"/>
            <a:ext cx="3845244" cy="2413893"/>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 name="Rounded Rectangle 3"/>
          <p:cNvSpPr/>
          <p:nvPr/>
        </p:nvSpPr>
        <p:spPr>
          <a:xfrm>
            <a:off x="457200" y="2275582"/>
            <a:ext cx="11277600" cy="221932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graphicFrame>
        <p:nvGraphicFramePr>
          <p:cNvPr id="5" name="Table 4"/>
          <p:cNvGraphicFramePr>
            <a:graphicFrameLocks noGrp="1"/>
          </p:cNvGraphicFramePr>
          <p:nvPr>
            <p:extLst>
              <p:ext uri="{D42A27DB-BD31-4B8C-83A1-F6EECF244321}">
                <p14:modId xmlns:p14="http://schemas.microsoft.com/office/powerpoint/2010/main" val="2196102430"/>
              </p:ext>
            </p:extLst>
          </p:nvPr>
        </p:nvGraphicFramePr>
        <p:xfrm>
          <a:off x="457200" y="2275582"/>
          <a:ext cx="11268073" cy="2219325"/>
        </p:xfrm>
        <a:graphic>
          <a:graphicData uri="http://schemas.openxmlformats.org/drawingml/2006/table">
            <a:tbl>
              <a:tblPr/>
              <a:tblGrid>
                <a:gridCol w="1304180">
                  <a:extLst>
                    <a:ext uri="{9D8B030D-6E8A-4147-A177-3AD203B41FA5}">
                      <a16:colId xmlns:a16="http://schemas.microsoft.com/office/drawing/2014/main" val="20000"/>
                    </a:ext>
                  </a:extLst>
                </a:gridCol>
                <a:gridCol w="1668363">
                  <a:extLst>
                    <a:ext uri="{9D8B030D-6E8A-4147-A177-3AD203B41FA5}">
                      <a16:colId xmlns:a16="http://schemas.microsoft.com/office/drawing/2014/main" val="20001"/>
                    </a:ext>
                  </a:extLst>
                </a:gridCol>
                <a:gridCol w="4607718">
                  <a:extLst>
                    <a:ext uri="{9D8B030D-6E8A-4147-A177-3AD203B41FA5}">
                      <a16:colId xmlns:a16="http://schemas.microsoft.com/office/drawing/2014/main" val="20002"/>
                    </a:ext>
                  </a:extLst>
                </a:gridCol>
                <a:gridCol w="3687812">
                  <a:extLst>
                    <a:ext uri="{9D8B030D-6E8A-4147-A177-3AD203B41FA5}">
                      <a16:colId xmlns:a16="http://schemas.microsoft.com/office/drawing/2014/main" val="20003"/>
                    </a:ext>
                  </a:extLst>
                </a:gridCol>
              </a:tblGrid>
              <a:tr h="443865">
                <a:tc>
                  <a:txBody>
                    <a:bodyPr/>
                    <a:lstStyle/>
                    <a:p>
                      <a:pPr algn="l"/>
                      <a:r>
                        <a:rPr lang="fr-FR" sz="1200" b="1" i="0" u="none" noProof="0" dirty="0">
                          <a:solidFill>
                            <a:srgbClr val="FFFFFF"/>
                          </a:solidFill>
                          <a:latin typeface="Inter"/>
                        </a:rPr>
                        <a:t>Base</a:t>
                      </a:r>
                    </a:p>
                  </a:txBody>
                  <a:tcPr marL="63500" marR="63500" marT="25400" marB="25400" anchor="ctr">
                    <a:lnL>
                      <a:noFill/>
                    </a:lnL>
                    <a:lnR>
                      <a:noFill/>
                    </a:lnR>
                    <a:lnT>
                      <a:noFill/>
                    </a:lnT>
                    <a:lnB>
                      <a:noFill/>
                    </a:lnB>
                    <a:solidFill>
                      <a:srgbClr val="0F172A"/>
                    </a:solidFill>
                  </a:tcPr>
                </a:tc>
                <a:tc>
                  <a:txBody>
                    <a:bodyPr/>
                    <a:lstStyle/>
                    <a:p>
                      <a:pPr algn="l"/>
                      <a:r>
                        <a:rPr lang="fr-FR" sz="1200" b="1" i="0" u="none" noProof="0" dirty="0">
                          <a:solidFill>
                            <a:srgbClr val="FFFFFF"/>
                          </a:solidFill>
                          <a:latin typeface="Inter"/>
                        </a:rPr>
                        <a:t>Nom</a:t>
                      </a:r>
                    </a:p>
                  </a:txBody>
                  <a:tcPr marL="63500" marR="63500" marT="25400" marB="25400" anchor="ctr">
                    <a:lnL>
                      <a:noFill/>
                    </a:lnL>
                    <a:lnR>
                      <a:noFill/>
                    </a:lnR>
                    <a:lnT>
                      <a:noFill/>
                    </a:lnT>
                    <a:lnB>
                      <a:noFill/>
                    </a:lnB>
                    <a:solidFill>
                      <a:srgbClr val="0F172A"/>
                    </a:solidFill>
                  </a:tcPr>
                </a:tc>
                <a:tc>
                  <a:txBody>
                    <a:bodyPr/>
                    <a:lstStyle/>
                    <a:p>
                      <a:pPr algn="l"/>
                      <a:r>
                        <a:rPr lang="fr-FR" sz="1200" b="1" i="0" u="none" noProof="0" dirty="0">
                          <a:solidFill>
                            <a:srgbClr val="FFFFFF"/>
                          </a:solidFill>
                          <a:latin typeface="Inter"/>
                        </a:rPr>
                        <a:t>Symboles Utilisés</a:t>
                      </a:r>
                    </a:p>
                  </a:txBody>
                  <a:tcPr marL="63500" marR="63500" marT="25400" marB="25400" anchor="ctr">
                    <a:lnL>
                      <a:noFill/>
                    </a:lnL>
                    <a:lnR>
                      <a:noFill/>
                    </a:lnR>
                    <a:lnT>
                      <a:noFill/>
                    </a:lnT>
                    <a:lnB>
                      <a:noFill/>
                    </a:lnB>
                    <a:solidFill>
                      <a:srgbClr val="0F172A"/>
                    </a:solidFill>
                  </a:tcPr>
                </a:tc>
                <a:tc>
                  <a:txBody>
                    <a:bodyPr/>
                    <a:lstStyle/>
                    <a:p>
                      <a:pPr algn="l"/>
                      <a:r>
                        <a:rPr lang="fr-FR" sz="1200" b="1" i="0" u="none" noProof="0" dirty="0">
                          <a:solidFill>
                            <a:srgbClr val="FFFFFF"/>
                          </a:solidFill>
                          <a:latin typeface="Inter"/>
                        </a:rPr>
                        <a:t>Usage Principal</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443865">
                <a:tc>
                  <a:txBody>
                    <a:bodyPr/>
                    <a:lstStyle/>
                    <a:p>
                      <a:pPr algn="l"/>
                      <a:r>
                        <a:rPr lang="fr-FR" sz="1200" b="1" i="0" u="none" noProof="0" dirty="0">
                          <a:solidFill>
                            <a:srgbClr val="334155"/>
                          </a:solidFill>
                          <a:latin typeface="JetBrains Mono"/>
                        </a:rPr>
                        <a:t>Base 10</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Inter"/>
                        </a:rPr>
                        <a:t>Décimal</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JetBrains Mono"/>
                        </a:rPr>
                        <a:t>{ 0, 1, 2, 3, 4, 5, 6, 7, 8, 9 }</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Inter"/>
                        </a:rPr>
                        <a:t>Usage humain quotidien</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443865">
                <a:tc>
                  <a:txBody>
                    <a:bodyPr/>
                    <a:lstStyle/>
                    <a:p>
                      <a:pPr algn="l"/>
                      <a:r>
                        <a:rPr lang="fr-FR" sz="1200" b="1" i="0" u="none" noProof="0" dirty="0">
                          <a:solidFill>
                            <a:srgbClr val="334155"/>
                          </a:solidFill>
                          <a:latin typeface="JetBrains Mono"/>
                        </a:rPr>
                        <a:t>Base 2</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Inter"/>
                        </a:rPr>
                        <a:t>Binaire</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JetBrains Mono"/>
                        </a:rPr>
                        <a:t>{ 0, 1 }</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Inter"/>
                        </a:rPr>
                        <a:t>Circuits électroniques / Signaux</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2"/>
                  </a:ext>
                </a:extLst>
              </a:tr>
              <a:tr h="443865">
                <a:tc>
                  <a:txBody>
                    <a:bodyPr/>
                    <a:lstStyle/>
                    <a:p>
                      <a:pPr algn="l"/>
                      <a:r>
                        <a:rPr lang="fr-FR" sz="1200" b="1" i="0" u="none" noProof="0" dirty="0">
                          <a:solidFill>
                            <a:srgbClr val="334155"/>
                          </a:solidFill>
                          <a:latin typeface="JetBrains Mono"/>
                        </a:rPr>
                        <a:t>Base 8</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Inter"/>
                        </a:rPr>
                        <a:t>Octal</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JetBrains Mono"/>
                        </a:rPr>
                        <a:t>{ 0, 1, 2, 3, 4, 5, 6, 7 }</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Inter"/>
                        </a:rPr>
                        <a:t>Droits fichiers Unix (Chmod)</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443865">
                <a:tc>
                  <a:txBody>
                    <a:bodyPr/>
                    <a:lstStyle/>
                    <a:p>
                      <a:pPr algn="l"/>
                      <a:r>
                        <a:rPr lang="fr-FR" sz="1200" b="1" i="0" u="none" noProof="0" dirty="0">
                          <a:solidFill>
                            <a:srgbClr val="334155"/>
                          </a:solidFill>
                          <a:latin typeface="JetBrains Mono"/>
                        </a:rPr>
                        <a:t>Base 16</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Inter"/>
                        </a:rPr>
                        <a:t>Hexadécimal</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JetBrains Mono"/>
                        </a:rPr>
                        <a:t>{ 0..9, A, B, C, D, E, F }</a:t>
                      </a:r>
                    </a:p>
                  </a:txBody>
                  <a:tcPr marL="63500" marR="63500" marT="25400" marB="25400" anchor="ctr">
                    <a:lnL>
                      <a:noFill/>
                    </a:lnL>
                    <a:lnR>
                      <a:noFill/>
                    </a:lnR>
                    <a:lnT>
                      <a:noFill/>
                    </a:lnT>
                    <a:lnB>
                      <a:noFill/>
                    </a:lnB>
                    <a:solidFill>
                      <a:srgbClr val="FFFFFF"/>
                    </a:solidFill>
                  </a:tcPr>
                </a:tc>
                <a:tc>
                  <a:txBody>
                    <a:bodyPr/>
                    <a:lstStyle/>
                    <a:p>
                      <a:pPr algn="l"/>
                      <a:r>
                        <a:rPr lang="fr-FR" sz="1200" b="0" i="0" u="none" noProof="0" dirty="0">
                          <a:solidFill>
                            <a:srgbClr val="334155"/>
                          </a:solidFill>
                          <a:latin typeface="Inter"/>
                        </a:rPr>
                        <a:t>Adresses MAC, IPv6, Chiffrement</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4"/>
                  </a:ext>
                </a:extLst>
              </a:tr>
            </a:tbl>
          </a:graphicData>
        </a:graphic>
      </p:graphicFrame>
      <p:sp>
        <p:nvSpPr>
          <p:cNvPr id="6" name="TextBox 5"/>
          <p:cNvSpPr txBox="1"/>
          <p:nvPr/>
        </p:nvSpPr>
        <p:spPr>
          <a:xfrm>
            <a:off x="457200" y="381000"/>
            <a:ext cx="5963245"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Les Systèmes de Numération (Base B)</a:t>
            </a:r>
          </a:p>
        </p:txBody>
      </p:sp>
      <p:sp>
        <p:nvSpPr>
          <p:cNvPr id="7" name="TextBox 6"/>
          <p:cNvSpPr txBox="1"/>
          <p:nvPr/>
        </p:nvSpPr>
        <p:spPr>
          <a:xfrm>
            <a:off x="10896600" y="457200"/>
            <a:ext cx="112395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CONVENTIONS</a:t>
            </a:r>
          </a:p>
        </p:txBody>
      </p:sp>
      <p:sp>
        <p:nvSpPr>
          <p:cNvPr id="8" name="TextBox 7"/>
          <p:cNvSpPr txBox="1"/>
          <p:nvPr/>
        </p:nvSpPr>
        <p:spPr>
          <a:xfrm>
            <a:off x="457200" y="1923157"/>
            <a:ext cx="11734800" cy="200025"/>
          </a:xfrm>
          <a:prstGeom prst="rect">
            <a:avLst/>
          </a:prstGeom>
          <a:noFill/>
        </p:spPr>
        <p:txBody>
          <a:bodyPr wrap="none" lIns="0" tIns="0" rIns="0" bIns="0" anchor="t">
            <a:spAutoFit/>
          </a:bodyPr>
          <a:lstStyle/>
          <a:p>
            <a:pPr algn="l"/>
            <a:r>
              <a:rPr lang="fr-FR" sz="1350" b="0" i="0" u="none" noProof="0" dirty="0">
                <a:solidFill>
                  <a:srgbClr val="334155"/>
                </a:solidFill>
                <a:latin typeface="Inter"/>
              </a:rPr>
              <a:t>Un système de numération de base </a:t>
            </a:r>
            <a:r>
              <a:rPr lang="fr-FR" sz="1350" b="1" i="0" u="none" noProof="0" dirty="0">
                <a:solidFill>
                  <a:srgbClr val="0284C7"/>
                </a:solidFill>
                <a:latin typeface="Inter"/>
              </a:rPr>
              <a:t>B</a:t>
            </a:r>
            <a:r>
              <a:rPr lang="fr-FR" sz="1350" b="0" i="0" u="none" noProof="0" dirty="0">
                <a:solidFill>
                  <a:srgbClr val="334155"/>
                </a:solidFill>
                <a:latin typeface="Inter"/>
              </a:rPr>
              <a:t> utilise exactement </a:t>
            </a:r>
            <a:r>
              <a:rPr lang="fr-FR" sz="1350" b="1" i="0" u="none" noProof="0" dirty="0">
                <a:solidFill>
                  <a:srgbClr val="0284C7"/>
                </a:solidFill>
                <a:latin typeface="Inter"/>
              </a:rPr>
              <a:t>B symboles distincts</a:t>
            </a:r>
            <a:r>
              <a:rPr lang="fr-FR" sz="1350" b="0" i="0" u="none" noProof="0" dirty="0">
                <a:solidFill>
                  <a:srgbClr val="334155"/>
                </a:solidFill>
                <a:latin typeface="Inter"/>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457200" y="1775668"/>
            <a:ext cx="11277600" cy="1006971"/>
          </a:xfrm>
          <a:prstGeom prst="roundRect">
            <a:avLst>
              <a:gd name="adj" fmla="val 11350"/>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Rounded Rectangle 3"/>
          <p:cNvSpPr/>
          <p:nvPr/>
        </p:nvSpPr>
        <p:spPr>
          <a:xfrm>
            <a:off x="457200" y="2973139"/>
            <a:ext cx="11277600" cy="1478756"/>
          </a:xfrm>
          <a:prstGeom prst="roundRect">
            <a:avLst>
              <a:gd name="adj" fmla="val 772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 name="Rounded Rectangle 5"/>
          <p:cNvSpPr/>
          <p:nvPr/>
        </p:nvSpPr>
        <p:spPr>
          <a:xfrm>
            <a:off x="657225" y="3540769"/>
            <a:ext cx="2605087" cy="711100"/>
          </a:xfrm>
          <a:prstGeom prst="roundRect">
            <a:avLst>
              <a:gd name="adj" fmla="val 1071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ounded Rectangle 6"/>
          <p:cNvSpPr/>
          <p:nvPr/>
        </p:nvSpPr>
        <p:spPr>
          <a:xfrm>
            <a:off x="3414712" y="3540769"/>
            <a:ext cx="2605087" cy="711100"/>
          </a:xfrm>
          <a:prstGeom prst="roundRect">
            <a:avLst>
              <a:gd name="adj" fmla="val 1071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8" name="Rounded Rectangle 7"/>
          <p:cNvSpPr/>
          <p:nvPr/>
        </p:nvSpPr>
        <p:spPr>
          <a:xfrm>
            <a:off x="6172200" y="3540769"/>
            <a:ext cx="2605087" cy="711100"/>
          </a:xfrm>
          <a:prstGeom prst="roundRect">
            <a:avLst>
              <a:gd name="adj" fmla="val 1071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Rounded Rectangle 8"/>
          <p:cNvSpPr/>
          <p:nvPr/>
        </p:nvSpPr>
        <p:spPr>
          <a:xfrm>
            <a:off x="8929687" y="3540769"/>
            <a:ext cx="2605087" cy="711100"/>
          </a:xfrm>
          <a:prstGeom prst="roundRect">
            <a:avLst>
              <a:gd name="adj" fmla="val 10715"/>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TextBox 9"/>
          <p:cNvSpPr txBox="1"/>
          <p:nvPr/>
        </p:nvSpPr>
        <p:spPr>
          <a:xfrm>
            <a:off x="457200" y="381000"/>
            <a:ext cx="5738217"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Principe de la Notation Positionnelle</a:t>
            </a:r>
          </a:p>
        </p:txBody>
      </p:sp>
      <p:sp>
        <p:nvSpPr>
          <p:cNvPr id="11" name="TextBox 10"/>
          <p:cNvSpPr txBox="1"/>
          <p:nvPr/>
        </p:nvSpPr>
        <p:spPr>
          <a:xfrm>
            <a:off x="9906000" y="457200"/>
            <a:ext cx="22860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MATHEMATIQUES APPLIQUEES</a:t>
            </a:r>
          </a:p>
        </p:txBody>
      </p:sp>
      <p:sp>
        <p:nvSpPr>
          <p:cNvPr id="14" name="TextBox 13"/>
          <p:cNvSpPr txBox="1"/>
          <p:nvPr/>
        </p:nvSpPr>
        <p:spPr>
          <a:xfrm>
            <a:off x="-357187" y="1966168"/>
            <a:ext cx="12906375" cy="190500"/>
          </a:xfrm>
          <a:prstGeom prst="rect">
            <a:avLst/>
          </a:prstGeom>
          <a:noFill/>
        </p:spPr>
        <p:txBody>
          <a:bodyPr wrap="none" lIns="0" tIns="0" rIns="0" bIns="0" anchor="t">
            <a:spAutoFit/>
          </a:bodyPr>
          <a:lstStyle/>
          <a:p>
            <a:pPr algn="ctr"/>
            <a:r>
              <a:rPr lang="fr-FR" sz="1200" b="0" i="0" u="none" noProof="0" dirty="0">
                <a:solidFill>
                  <a:srgbClr val="64748B"/>
                </a:solidFill>
                <a:latin typeface="Inter"/>
              </a:rPr>
              <a:t>Formule Polynomiale Générale :</a:t>
            </a:r>
          </a:p>
        </p:txBody>
      </p:sp>
      <p:sp>
        <p:nvSpPr>
          <p:cNvPr id="15" name="TextBox 14"/>
          <p:cNvSpPr txBox="1"/>
          <p:nvPr/>
        </p:nvSpPr>
        <p:spPr>
          <a:xfrm>
            <a:off x="-357187" y="2232868"/>
            <a:ext cx="12906375" cy="359271"/>
          </a:xfrm>
          <a:prstGeom prst="rect">
            <a:avLst/>
          </a:prstGeom>
          <a:noFill/>
        </p:spPr>
        <p:txBody>
          <a:bodyPr wrap="square" lIns="0" tIns="0" rIns="0" bIns="0" anchor="t">
            <a:spAutoFit/>
          </a:bodyPr>
          <a:lstStyle/>
          <a:p>
            <a:pPr algn="ctr"/>
            <a:r>
              <a:rPr lang="fr-FR" sz="1650" b="1" i="0" u="none" noProof="0" dirty="0">
                <a:solidFill>
                  <a:srgbClr val="0284C7"/>
                </a:solidFill>
                <a:latin typeface="JetBrains Mono"/>
              </a:rPr>
              <a:t>N = </a:t>
            </a:r>
            <a:r>
              <a:rPr lang="fr-FR" sz="1650" b="1" i="0" u="none" noProof="0" dirty="0" err="1">
                <a:solidFill>
                  <a:srgbClr val="0284C7"/>
                </a:solidFill>
                <a:latin typeface="JetBrains Mono"/>
              </a:rPr>
              <a:t>d</a:t>
            </a:r>
            <a:r>
              <a:rPr lang="fr-FR" sz="1374" b="1" i="0" u="none" noProof="0" dirty="0" err="1">
                <a:solidFill>
                  <a:srgbClr val="0284C7"/>
                </a:solidFill>
                <a:latin typeface="JetBrains Mono"/>
              </a:rPr>
              <a:t>n</a:t>
            </a:r>
            <a:r>
              <a:rPr lang="fr-FR" sz="1650" b="1" i="0" u="none" noProof="0" dirty="0">
                <a:solidFill>
                  <a:srgbClr val="0284C7"/>
                </a:solidFill>
                <a:latin typeface="JetBrains Mono"/>
              </a:rPr>
              <a:t> × </a:t>
            </a:r>
            <a:r>
              <a:rPr lang="fr-FR" sz="1650" b="1" i="0" u="none" noProof="0" dirty="0" err="1">
                <a:solidFill>
                  <a:srgbClr val="0284C7"/>
                </a:solidFill>
                <a:latin typeface="JetBrains Mono"/>
              </a:rPr>
              <a:t>B</a:t>
            </a:r>
            <a:r>
              <a:rPr lang="fr-FR" sz="1374" b="1" i="0" u="none" noProof="0" dirty="0" err="1">
                <a:solidFill>
                  <a:srgbClr val="0284C7"/>
                </a:solidFill>
                <a:latin typeface="JetBrains Mono"/>
              </a:rPr>
              <a:t>n</a:t>
            </a:r>
            <a:r>
              <a:rPr lang="fr-FR" sz="1650" b="1" i="0" u="none" noProof="0" dirty="0">
                <a:solidFill>
                  <a:srgbClr val="0284C7"/>
                </a:solidFill>
                <a:latin typeface="JetBrains Mono"/>
              </a:rPr>
              <a:t> + d</a:t>
            </a:r>
            <a:r>
              <a:rPr lang="fr-FR" sz="1374" b="1" i="0" u="none" noProof="0" dirty="0">
                <a:solidFill>
                  <a:srgbClr val="0284C7"/>
                </a:solidFill>
                <a:latin typeface="JetBrains Mono"/>
              </a:rPr>
              <a:t>n-1</a:t>
            </a:r>
            <a:r>
              <a:rPr lang="fr-FR" sz="1650" b="1" i="0" u="none" noProof="0" dirty="0">
                <a:solidFill>
                  <a:srgbClr val="0284C7"/>
                </a:solidFill>
                <a:latin typeface="JetBrains Mono"/>
              </a:rPr>
              <a:t> × B</a:t>
            </a:r>
            <a:r>
              <a:rPr lang="fr-FR" sz="1374" b="1" i="0" u="none" noProof="0" dirty="0">
                <a:solidFill>
                  <a:srgbClr val="0284C7"/>
                </a:solidFill>
                <a:latin typeface="JetBrains Mono"/>
              </a:rPr>
              <a:t>n-1</a:t>
            </a:r>
            <a:r>
              <a:rPr lang="fr-FR" sz="1650" b="1" i="0" u="none" noProof="0" dirty="0">
                <a:solidFill>
                  <a:srgbClr val="0284C7"/>
                </a:solidFill>
                <a:latin typeface="JetBrains Mono"/>
              </a:rPr>
              <a:t> + ... + d</a:t>
            </a:r>
            <a:r>
              <a:rPr lang="fr-FR" sz="1374" b="1" i="0" u="none" noProof="0" dirty="0">
                <a:solidFill>
                  <a:srgbClr val="0284C7"/>
                </a:solidFill>
                <a:latin typeface="JetBrains Mono"/>
              </a:rPr>
              <a:t>1</a:t>
            </a:r>
            <a:r>
              <a:rPr lang="fr-FR" sz="1650" b="1" i="0" u="none" noProof="0" dirty="0">
                <a:solidFill>
                  <a:srgbClr val="0284C7"/>
                </a:solidFill>
                <a:latin typeface="JetBrains Mono"/>
              </a:rPr>
              <a:t> × B</a:t>
            </a:r>
            <a:r>
              <a:rPr lang="fr-FR" sz="1374" b="1" i="0" u="none" noProof="0" dirty="0">
                <a:solidFill>
                  <a:srgbClr val="0284C7"/>
                </a:solidFill>
                <a:latin typeface="JetBrains Mono"/>
              </a:rPr>
              <a:t>1</a:t>
            </a:r>
            <a:r>
              <a:rPr lang="fr-FR" sz="1650" b="1" i="0" u="none" noProof="0" dirty="0">
                <a:solidFill>
                  <a:srgbClr val="0284C7"/>
                </a:solidFill>
                <a:latin typeface="JetBrains Mono"/>
              </a:rPr>
              <a:t> + d</a:t>
            </a:r>
            <a:r>
              <a:rPr lang="fr-FR" sz="1374" b="1" i="0" u="none" noProof="0" dirty="0">
                <a:solidFill>
                  <a:srgbClr val="0284C7"/>
                </a:solidFill>
                <a:latin typeface="JetBrains Mono"/>
              </a:rPr>
              <a:t>0</a:t>
            </a:r>
            <a:r>
              <a:rPr lang="fr-FR" sz="1650" b="1" i="0" u="none" noProof="0" dirty="0">
                <a:solidFill>
                  <a:srgbClr val="0284C7"/>
                </a:solidFill>
                <a:latin typeface="JetBrains Mono"/>
              </a:rPr>
              <a:t> × B</a:t>
            </a:r>
            <a:r>
              <a:rPr lang="fr-FR" sz="1374" b="1" i="0" u="none" noProof="0" dirty="0">
                <a:solidFill>
                  <a:srgbClr val="0284C7"/>
                </a:solidFill>
                <a:latin typeface="JetBrains Mono"/>
              </a:rPr>
              <a:t>0</a:t>
            </a:r>
          </a:p>
        </p:txBody>
      </p:sp>
      <p:sp>
        <p:nvSpPr>
          <p:cNvPr id="16" name="TextBox 15"/>
          <p:cNvSpPr txBox="1"/>
          <p:nvPr/>
        </p:nvSpPr>
        <p:spPr>
          <a:xfrm>
            <a:off x="657225" y="3173164"/>
            <a:ext cx="11534775" cy="253305"/>
          </a:xfrm>
          <a:prstGeom prst="rect">
            <a:avLst/>
          </a:prstGeom>
          <a:noFill/>
        </p:spPr>
        <p:txBody>
          <a:bodyPr wrap="none" lIns="0" tIns="0" rIns="0" bIns="0" anchor="t">
            <a:spAutoFit/>
          </a:bodyPr>
          <a:lstStyle/>
          <a:p>
            <a:pPr algn="l"/>
            <a:r>
              <a:rPr lang="fr-FR" sz="1350" b="1" i="0" u="none" noProof="0" dirty="0">
                <a:solidFill>
                  <a:srgbClr val="0F172A"/>
                </a:solidFill>
                <a:latin typeface="Space Grotesk"/>
              </a:rPr>
              <a:t>Exemple concret en Base 10 : N = 2541</a:t>
            </a:r>
            <a:r>
              <a:rPr lang="fr-FR" sz="1125" b="1" i="0" u="none" noProof="0" dirty="0">
                <a:solidFill>
                  <a:srgbClr val="0F172A"/>
                </a:solidFill>
                <a:latin typeface="Space Grotesk"/>
              </a:rPr>
              <a:t>10</a:t>
            </a:r>
          </a:p>
        </p:txBody>
      </p:sp>
      <p:sp>
        <p:nvSpPr>
          <p:cNvPr id="17" name="TextBox 16"/>
          <p:cNvSpPr txBox="1"/>
          <p:nvPr/>
        </p:nvSpPr>
        <p:spPr>
          <a:xfrm>
            <a:off x="486370" y="3664594"/>
            <a:ext cx="2946796" cy="292000"/>
          </a:xfrm>
          <a:prstGeom prst="rect">
            <a:avLst/>
          </a:prstGeom>
          <a:noFill/>
        </p:spPr>
        <p:txBody>
          <a:bodyPr wrap="square" lIns="0" tIns="0" rIns="0" bIns="0" anchor="t">
            <a:spAutoFit/>
          </a:bodyPr>
          <a:lstStyle/>
          <a:p>
            <a:pPr algn="ctr"/>
            <a:r>
              <a:rPr lang="fr-FR" sz="1500" b="1" i="0" u="none" noProof="0" dirty="0">
                <a:solidFill>
                  <a:srgbClr val="0284C7"/>
                </a:solidFill>
                <a:latin typeface="JetBrains Mono"/>
              </a:rPr>
              <a:t>2 × 10</a:t>
            </a:r>
            <a:r>
              <a:rPr lang="fr-FR" sz="1250" b="1" i="0" u="none" noProof="0" dirty="0">
                <a:solidFill>
                  <a:srgbClr val="0284C7"/>
                </a:solidFill>
                <a:latin typeface="JetBrains Mono"/>
              </a:rPr>
              <a:t>3</a:t>
            </a:r>
          </a:p>
        </p:txBody>
      </p:sp>
      <p:sp>
        <p:nvSpPr>
          <p:cNvPr id="18" name="TextBox 17"/>
          <p:cNvSpPr txBox="1"/>
          <p:nvPr/>
        </p:nvSpPr>
        <p:spPr>
          <a:xfrm>
            <a:off x="486370" y="3956595"/>
            <a:ext cx="2946796" cy="171450"/>
          </a:xfrm>
          <a:prstGeom prst="rect">
            <a:avLst/>
          </a:prstGeom>
          <a:noFill/>
        </p:spPr>
        <p:txBody>
          <a:bodyPr wrap="none" lIns="0" tIns="0" rIns="0" bIns="0" anchor="t">
            <a:spAutoFit/>
          </a:bodyPr>
          <a:lstStyle/>
          <a:p>
            <a:pPr algn="ctr"/>
            <a:r>
              <a:rPr lang="fr-FR" sz="1050" b="0" i="0" u="none" noProof="0" dirty="0">
                <a:solidFill>
                  <a:srgbClr val="64748B"/>
                </a:solidFill>
                <a:latin typeface="JetBrains Mono"/>
              </a:rPr>
              <a:t>2000</a:t>
            </a:r>
          </a:p>
        </p:txBody>
      </p:sp>
      <p:sp>
        <p:nvSpPr>
          <p:cNvPr id="19" name="TextBox 18"/>
          <p:cNvSpPr txBox="1"/>
          <p:nvPr/>
        </p:nvSpPr>
        <p:spPr>
          <a:xfrm>
            <a:off x="3243857" y="3664594"/>
            <a:ext cx="2946796" cy="292000"/>
          </a:xfrm>
          <a:prstGeom prst="rect">
            <a:avLst/>
          </a:prstGeom>
          <a:noFill/>
        </p:spPr>
        <p:txBody>
          <a:bodyPr wrap="square" lIns="0" tIns="0" rIns="0" bIns="0" anchor="t">
            <a:spAutoFit/>
          </a:bodyPr>
          <a:lstStyle/>
          <a:p>
            <a:pPr algn="ctr"/>
            <a:r>
              <a:rPr lang="fr-FR" sz="1500" b="1" i="0" u="none" noProof="0" dirty="0">
                <a:solidFill>
                  <a:srgbClr val="0284C7"/>
                </a:solidFill>
                <a:latin typeface="JetBrains Mono"/>
              </a:rPr>
              <a:t>5 × 10</a:t>
            </a:r>
            <a:r>
              <a:rPr lang="fr-FR" sz="1250" b="1" i="0" u="none" noProof="0" dirty="0">
                <a:solidFill>
                  <a:srgbClr val="0284C7"/>
                </a:solidFill>
                <a:latin typeface="JetBrains Mono"/>
              </a:rPr>
              <a:t>2</a:t>
            </a:r>
          </a:p>
        </p:txBody>
      </p:sp>
      <p:sp>
        <p:nvSpPr>
          <p:cNvPr id="20" name="TextBox 19"/>
          <p:cNvSpPr txBox="1"/>
          <p:nvPr/>
        </p:nvSpPr>
        <p:spPr>
          <a:xfrm>
            <a:off x="3243857" y="3956595"/>
            <a:ext cx="2946796" cy="171450"/>
          </a:xfrm>
          <a:prstGeom prst="rect">
            <a:avLst/>
          </a:prstGeom>
          <a:noFill/>
        </p:spPr>
        <p:txBody>
          <a:bodyPr wrap="none" lIns="0" tIns="0" rIns="0" bIns="0" anchor="t">
            <a:spAutoFit/>
          </a:bodyPr>
          <a:lstStyle/>
          <a:p>
            <a:pPr algn="ctr"/>
            <a:r>
              <a:rPr lang="fr-FR" sz="1050" b="0" i="0" u="none" noProof="0" dirty="0">
                <a:solidFill>
                  <a:srgbClr val="64748B"/>
                </a:solidFill>
                <a:latin typeface="JetBrains Mono"/>
              </a:rPr>
              <a:t>500</a:t>
            </a:r>
          </a:p>
        </p:txBody>
      </p:sp>
      <p:sp>
        <p:nvSpPr>
          <p:cNvPr id="21" name="TextBox 20"/>
          <p:cNvSpPr txBox="1"/>
          <p:nvPr/>
        </p:nvSpPr>
        <p:spPr>
          <a:xfrm>
            <a:off x="6001345" y="3664594"/>
            <a:ext cx="2946796" cy="292000"/>
          </a:xfrm>
          <a:prstGeom prst="rect">
            <a:avLst/>
          </a:prstGeom>
          <a:noFill/>
        </p:spPr>
        <p:txBody>
          <a:bodyPr wrap="square" lIns="0" tIns="0" rIns="0" bIns="0" anchor="t">
            <a:spAutoFit/>
          </a:bodyPr>
          <a:lstStyle/>
          <a:p>
            <a:pPr algn="ctr"/>
            <a:r>
              <a:rPr lang="fr-FR" sz="1500" b="1" i="0" u="none" noProof="0" dirty="0">
                <a:solidFill>
                  <a:srgbClr val="0284C7"/>
                </a:solidFill>
                <a:latin typeface="JetBrains Mono"/>
              </a:rPr>
              <a:t>4 × 10</a:t>
            </a:r>
            <a:r>
              <a:rPr lang="fr-FR" sz="1250" b="1" i="0" u="none" noProof="0" dirty="0">
                <a:solidFill>
                  <a:srgbClr val="0284C7"/>
                </a:solidFill>
                <a:latin typeface="JetBrains Mono"/>
              </a:rPr>
              <a:t>1</a:t>
            </a:r>
          </a:p>
        </p:txBody>
      </p:sp>
      <p:sp>
        <p:nvSpPr>
          <p:cNvPr id="22" name="TextBox 21"/>
          <p:cNvSpPr txBox="1"/>
          <p:nvPr/>
        </p:nvSpPr>
        <p:spPr>
          <a:xfrm>
            <a:off x="6001345" y="3956595"/>
            <a:ext cx="2946796" cy="171450"/>
          </a:xfrm>
          <a:prstGeom prst="rect">
            <a:avLst/>
          </a:prstGeom>
          <a:noFill/>
        </p:spPr>
        <p:txBody>
          <a:bodyPr wrap="none" lIns="0" tIns="0" rIns="0" bIns="0" anchor="t">
            <a:spAutoFit/>
          </a:bodyPr>
          <a:lstStyle/>
          <a:p>
            <a:pPr algn="ctr"/>
            <a:r>
              <a:rPr lang="fr-FR" sz="1050" b="0" i="0" u="none" noProof="0" dirty="0">
                <a:solidFill>
                  <a:srgbClr val="64748B"/>
                </a:solidFill>
                <a:latin typeface="JetBrains Mono"/>
              </a:rPr>
              <a:t>40</a:t>
            </a:r>
          </a:p>
        </p:txBody>
      </p:sp>
      <p:sp>
        <p:nvSpPr>
          <p:cNvPr id="23" name="TextBox 22"/>
          <p:cNvSpPr txBox="1"/>
          <p:nvPr/>
        </p:nvSpPr>
        <p:spPr>
          <a:xfrm>
            <a:off x="8758832" y="3664594"/>
            <a:ext cx="2946796" cy="292000"/>
          </a:xfrm>
          <a:prstGeom prst="rect">
            <a:avLst/>
          </a:prstGeom>
          <a:noFill/>
        </p:spPr>
        <p:txBody>
          <a:bodyPr wrap="square" lIns="0" tIns="0" rIns="0" bIns="0" anchor="t">
            <a:spAutoFit/>
          </a:bodyPr>
          <a:lstStyle/>
          <a:p>
            <a:pPr algn="ctr"/>
            <a:r>
              <a:rPr lang="fr-FR" sz="1500" b="1" i="0" u="none" noProof="0" dirty="0">
                <a:solidFill>
                  <a:srgbClr val="0284C7"/>
                </a:solidFill>
                <a:latin typeface="JetBrains Mono"/>
              </a:rPr>
              <a:t>1 × 10</a:t>
            </a:r>
            <a:r>
              <a:rPr lang="fr-FR" sz="1250" b="1" i="0" u="none" noProof="0" dirty="0">
                <a:solidFill>
                  <a:srgbClr val="0284C7"/>
                </a:solidFill>
                <a:latin typeface="JetBrains Mono"/>
              </a:rPr>
              <a:t>0</a:t>
            </a:r>
          </a:p>
        </p:txBody>
      </p:sp>
      <p:sp>
        <p:nvSpPr>
          <p:cNvPr id="24" name="TextBox 23"/>
          <p:cNvSpPr txBox="1"/>
          <p:nvPr/>
        </p:nvSpPr>
        <p:spPr>
          <a:xfrm>
            <a:off x="8758832" y="3956595"/>
            <a:ext cx="2946796" cy="171450"/>
          </a:xfrm>
          <a:prstGeom prst="rect">
            <a:avLst/>
          </a:prstGeom>
          <a:noFill/>
        </p:spPr>
        <p:txBody>
          <a:bodyPr wrap="none" lIns="0" tIns="0" rIns="0" bIns="0" anchor="t">
            <a:spAutoFit/>
          </a:bodyPr>
          <a:lstStyle/>
          <a:p>
            <a:pPr algn="ctr"/>
            <a:r>
              <a:rPr lang="fr-FR" sz="1050" b="0" i="0" u="none" noProof="0" dirty="0">
                <a:solidFill>
                  <a:srgbClr val="64748B"/>
                </a:solidFill>
                <a:latin typeface="JetBrains Mono"/>
              </a:rPr>
              <a:t>1</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 name="Rounded Rectangle 3"/>
          <p:cNvSpPr/>
          <p:nvPr/>
        </p:nvSpPr>
        <p:spPr>
          <a:xfrm>
            <a:off x="457200" y="3975794"/>
            <a:ext cx="5562600" cy="438150"/>
          </a:xfrm>
          <a:prstGeom prst="roundRect">
            <a:avLst>
              <a:gd name="adj" fmla="val 1739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Rounded Rectangle 4"/>
          <p:cNvSpPr/>
          <p:nvPr/>
        </p:nvSpPr>
        <p:spPr>
          <a:xfrm>
            <a:off x="6172200" y="3975794"/>
            <a:ext cx="5562600" cy="438150"/>
          </a:xfrm>
          <a:prstGeom prst="roundRect">
            <a:avLst>
              <a:gd name="adj" fmla="val 17391"/>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 name="Rounded Rectangle 5"/>
          <p:cNvSpPr/>
          <p:nvPr/>
        </p:nvSpPr>
        <p:spPr>
          <a:xfrm>
            <a:off x="457200" y="2318444"/>
            <a:ext cx="11277600" cy="146685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graphicFrame>
        <p:nvGraphicFramePr>
          <p:cNvPr id="7" name="Table 6"/>
          <p:cNvGraphicFramePr>
            <a:graphicFrameLocks noGrp="1"/>
          </p:cNvGraphicFramePr>
          <p:nvPr>
            <p:extLst>
              <p:ext uri="{D42A27DB-BD31-4B8C-83A1-F6EECF244321}">
                <p14:modId xmlns:p14="http://schemas.microsoft.com/office/powerpoint/2010/main" val="3050347259"/>
              </p:ext>
            </p:extLst>
          </p:nvPr>
        </p:nvGraphicFramePr>
        <p:xfrm>
          <a:off x="457200" y="2318444"/>
          <a:ext cx="11258545" cy="1466850"/>
        </p:xfrm>
        <a:graphic>
          <a:graphicData uri="http://schemas.openxmlformats.org/drawingml/2006/table">
            <a:tbl>
              <a:tblPr/>
              <a:tblGrid>
                <a:gridCol w="2162472">
                  <a:extLst>
                    <a:ext uri="{9D8B030D-6E8A-4147-A177-3AD203B41FA5}">
                      <a16:colId xmlns:a16="http://schemas.microsoft.com/office/drawing/2014/main" val="20000"/>
                    </a:ext>
                  </a:extLst>
                </a:gridCol>
                <a:gridCol w="1155501">
                  <a:extLst>
                    <a:ext uri="{9D8B030D-6E8A-4147-A177-3AD203B41FA5}">
                      <a16:colId xmlns:a16="http://schemas.microsoft.com/office/drawing/2014/main" val="20001"/>
                    </a:ext>
                  </a:extLst>
                </a:gridCol>
                <a:gridCol w="1155501">
                  <a:extLst>
                    <a:ext uri="{9D8B030D-6E8A-4147-A177-3AD203B41FA5}">
                      <a16:colId xmlns:a16="http://schemas.microsoft.com/office/drawing/2014/main" val="20002"/>
                    </a:ext>
                  </a:extLst>
                </a:gridCol>
                <a:gridCol w="1155501">
                  <a:extLst>
                    <a:ext uri="{9D8B030D-6E8A-4147-A177-3AD203B41FA5}">
                      <a16:colId xmlns:a16="http://schemas.microsoft.com/office/drawing/2014/main" val="20003"/>
                    </a:ext>
                  </a:extLst>
                </a:gridCol>
                <a:gridCol w="1155501">
                  <a:extLst>
                    <a:ext uri="{9D8B030D-6E8A-4147-A177-3AD203B41FA5}">
                      <a16:colId xmlns:a16="http://schemas.microsoft.com/office/drawing/2014/main" val="20004"/>
                    </a:ext>
                  </a:extLst>
                </a:gridCol>
                <a:gridCol w="1155501">
                  <a:extLst>
                    <a:ext uri="{9D8B030D-6E8A-4147-A177-3AD203B41FA5}">
                      <a16:colId xmlns:a16="http://schemas.microsoft.com/office/drawing/2014/main" val="20005"/>
                    </a:ext>
                  </a:extLst>
                </a:gridCol>
                <a:gridCol w="1155501">
                  <a:extLst>
                    <a:ext uri="{9D8B030D-6E8A-4147-A177-3AD203B41FA5}">
                      <a16:colId xmlns:a16="http://schemas.microsoft.com/office/drawing/2014/main" val="20006"/>
                    </a:ext>
                  </a:extLst>
                </a:gridCol>
                <a:gridCol w="2163067">
                  <a:extLst>
                    <a:ext uri="{9D8B030D-6E8A-4147-A177-3AD203B41FA5}">
                      <a16:colId xmlns:a16="http://schemas.microsoft.com/office/drawing/2014/main" val="20007"/>
                    </a:ext>
                  </a:extLst>
                </a:gridCol>
              </a:tblGrid>
              <a:tr h="488950">
                <a:tc>
                  <a:txBody>
                    <a:bodyPr/>
                    <a:lstStyle/>
                    <a:p>
                      <a:pPr algn="ctr"/>
                      <a:r>
                        <a:rPr lang="fr-FR" sz="1200" b="1" i="0" u="none" noProof="0" dirty="0">
                          <a:solidFill>
                            <a:srgbClr val="FFFFFF"/>
                          </a:solidFill>
                          <a:latin typeface="JetBrains Mono"/>
                        </a:rPr>
                        <a:t>Bit 7 (MSB)</a:t>
                      </a:r>
                    </a:p>
                  </a:txBody>
                  <a:tcPr marL="63500" marR="63500" marT="25400" marB="25400" anchor="ctr">
                    <a:lnL>
                      <a:noFill/>
                    </a:lnL>
                    <a:lnR>
                      <a:noFill/>
                    </a:lnR>
                    <a:lnT>
                      <a:noFill/>
                    </a:lnT>
                    <a:lnB>
                      <a:noFill/>
                    </a:lnB>
                    <a:solidFill>
                      <a:srgbClr val="0284C7"/>
                    </a:solidFill>
                  </a:tcPr>
                </a:tc>
                <a:tc>
                  <a:txBody>
                    <a:bodyPr/>
                    <a:lstStyle/>
                    <a:p>
                      <a:pPr algn="ctr"/>
                      <a:r>
                        <a:rPr lang="fr-FR" sz="1200" b="1" i="0" u="none" noProof="0" dirty="0">
                          <a:solidFill>
                            <a:srgbClr val="FFFFFF"/>
                          </a:solidFill>
                          <a:latin typeface="JetBrains Mono"/>
                        </a:rPr>
                        <a:t>Bit 6</a:t>
                      </a:r>
                    </a:p>
                  </a:txBody>
                  <a:tcPr marL="63500" marR="63500" marT="25400" marB="25400" anchor="ctr">
                    <a:lnL>
                      <a:noFill/>
                    </a:lnL>
                    <a:lnR>
                      <a:noFill/>
                    </a:lnR>
                    <a:lnT>
                      <a:noFill/>
                    </a:lnT>
                    <a:lnB>
                      <a:noFill/>
                    </a:lnB>
                    <a:solidFill>
                      <a:srgbClr val="0284C7"/>
                    </a:solidFill>
                  </a:tcPr>
                </a:tc>
                <a:tc>
                  <a:txBody>
                    <a:bodyPr/>
                    <a:lstStyle/>
                    <a:p>
                      <a:pPr algn="ctr"/>
                      <a:r>
                        <a:rPr lang="fr-FR" sz="1200" b="1" i="0" u="none" noProof="0" dirty="0">
                          <a:solidFill>
                            <a:srgbClr val="FFFFFF"/>
                          </a:solidFill>
                          <a:latin typeface="JetBrains Mono"/>
                        </a:rPr>
                        <a:t>Bit 5</a:t>
                      </a:r>
                    </a:p>
                  </a:txBody>
                  <a:tcPr marL="63500" marR="63500" marT="25400" marB="25400" anchor="ctr">
                    <a:lnL>
                      <a:noFill/>
                    </a:lnL>
                    <a:lnR>
                      <a:noFill/>
                    </a:lnR>
                    <a:lnT>
                      <a:noFill/>
                    </a:lnT>
                    <a:lnB>
                      <a:noFill/>
                    </a:lnB>
                    <a:solidFill>
                      <a:srgbClr val="0284C7"/>
                    </a:solidFill>
                  </a:tcPr>
                </a:tc>
                <a:tc>
                  <a:txBody>
                    <a:bodyPr/>
                    <a:lstStyle/>
                    <a:p>
                      <a:pPr algn="ctr"/>
                      <a:r>
                        <a:rPr lang="fr-FR" sz="1200" b="1" i="0" u="none" noProof="0" dirty="0">
                          <a:solidFill>
                            <a:srgbClr val="FFFFFF"/>
                          </a:solidFill>
                          <a:latin typeface="JetBrains Mono"/>
                        </a:rPr>
                        <a:t>Bit 4</a:t>
                      </a:r>
                    </a:p>
                  </a:txBody>
                  <a:tcPr marL="63500" marR="63500" marT="25400" marB="25400" anchor="ctr">
                    <a:lnL>
                      <a:noFill/>
                    </a:lnL>
                    <a:lnR>
                      <a:noFill/>
                    </a:lnR>
                    <a:lnT>
                      <a:noFill/>
                    </a:lnT>
                    <a:lnB>
                      <a:noFill/>
                    </a:lnB>
                    <a:solidFill>
                      <a:srgbClr val="0284C7"/>
                    </a:solidFill>
                  </a:tcPr>
                </a:tc>
                <a:tc>
                  <a:txBody>
                    <a:bodyPr/>
                    <a:lstStyle/>
                    <a:p>
                      <a:pPr algn="ctr"/>
                      <a:r>
                        <a:rPr lang="fr-FR" sz="1200" b="1" i="0" u="none" noProof="0" dirty="0">
                          <a:solidFill>
                            <a:srgbClr val="FFFFFF"/>
                          </a:solidFill>
                          <a:latin typeface="JetBrains Mono"/>
                        </a:rPr>
                        <a:t>Bit 3</a:t>
                      </a:r>
                    </a:p>
                  </a:txBody>
                  <a:tcPr marL="63500" marR="63500" marT="25400" marB="25400" anchor="ctr">
                    <a:lnL>
                      <a:noFill/>
                    </a:lnL>
                    <a:lnR>
                      <a:noFill/>
                    </a:lnR>
                    <a:lnT>
                      <a:noFill/>
                    </a:lnT>
                    <a:lnB>
                      <a:noFill/>
                    </a:lnB>
                    <a:solidFill>
                      <a:srgbClr val="0284C7"/>
                    </a:solidFill>
                  </a:tcPr>
                </a:tc>
                <a:tc>
                  <a:txBody>
                    <a:bodyPr/>
                    <a:lstStyle/>
                    <a:p>
                      <a:pPr algn="ctr"/>
                      <a:r>
                        <a:rPr lang="fr-FR" sz="1200" b="1" i="0" u="none" noProof="0" dirty="0">
                          <a:solidFill>
                            <a:srgbClr val="FFFFFF"/>
                          </a:solidFill>
                          <a:latin typeface="JetBrains Mono"/>
                        </a:rPr>
                        <a:t>Bit 2</a:t>
                      </a:r>
                    </a:p>
                  </a:txBody>
                  <a:tcPr marL="63500" marR="63500" marT="25400" marB="25400" anchor="ctr">
                    <a:lnL>
                      <a:noFill/>
                    </a:lnL>
                    <a:lnR>
                      <a:noFill/>
                    </a:lnR>
                    <a:lnT>
                      <a:noFill/>
                    </a:lnT>
                    <a:lnB>
                      <a:noFill/>
                    </a:lnB>
                    <a:solidFill>
                      <a:srgbClr val="0284C7"/>
                    </a:solidFill>
                  </a:tcPr>
                </a:tc>
                <a:tc>
                  <a:txBody>
                    <a:bodyPr/>
                    <a:lstStyle/>
                    <a:p>
                      <a:pPr algn="ctr"/>
                      <a:r>
                        <a:rPr lang="fr-FR" sz="1200" b="1" i="0" u="none" noProof="0" dirty="0">
                          <a:solidFill>
                            <a:srgbClr val="FFFFFF"/>
                          </a:solidFill>
                          <a:latin typeface="JetBrains Mono"/>
                        </a:rPr>
                        <a:t>Bit 1</a:t>
                      </a:r>
                    </a:p>
                  </a:txBody>
                  <a:tcPr marL="63500" marR="63500" marT="25400" marB="25400" anchor="ctr">
                    <a:lnL>
                      <a:noFill/>
                    </a:lnL>
                    <a:lnR>
                      <a:noFill/>
                    </a:lnR>
                    <a:lnT>
                      <a:noFill/>
                    </a:lnT>
                    <a:lnB>
                      <a:noFill/>
                    </a:lnB>
                    <a:solidFill>
                      <a:srgbClr val="0284C7"/>
                    </a:solidFill>
                  </a:tcPr>
                </a:tc>
                <a:tc>
                  <a:txBody>
                    <a:bodyPr/>
                    <a:lstStyle/>
                    <a:p>
                      <a:pPr algn="ctr"/>
                      <a:r>
                        <a:rPr lang="fr-FR" sz="1200" b="1" i="0" u="none" noProof="0" dirty="0">
                          <a:solidFill>
                            <a:srgbClr val="FFFFFF"/>
                          </a:solidFill>
                          <a:latin typeface="JetBrains Mono"/>
                        </a:rPr>
                        <a:t>Bit 0 (LSB)</a:t>
                      </a:r>
                    </a:p>
                  </a:txBody>
                  <a:tcPr marL="63500" marR="63500" marT="25400" marB="25400" anchor="ctr">
                    <a:lnL>
                      <a:noFill/>
                    </a:lnL>
                    <a:lnR>
                      <a:noFill/>
                    </a:lnR>
                    <a:lnT>
                      <a:noFill/>
                    </a:lnT>
                    <a:lnB>
                      <a:noFill/>
                    </a:lnB>
                    <a:solidFill>
                      <a:srgbClr val="0284C7"/>
                    </a:solidFill>
                  </a:tcPr>
                </a:tc>
                <a:extLst>
                  <a:ext uri="{0D108BD9-81ED-4DB2-BD59-A6C34878D82A}">
                    <a16:rowId xmlns:a16="http://schemas.microsoft.com/office/drawing/2014/main" val="10000"/>
                  </a:ext>
                </a:extLst>
              </a:tr>
              <a:tr h="488950">
                <a:tc>
                  <a:txBody>
                    <a:bodyPr/>
                    <a:lstStyle/>
                    <a:p>
                      <a:pPr algn="ctr"/>
                      <a:r>
                        <a:rPr lang="fr-FR" sz="1350" b="0" i="0" u="none" noProof="0" dirty="0">
                          <a:solidFill>
                            <a:srgbClr val="0369A1"/>
                          </a:solidFill>
                          <a:latin typeface="JetBrains Mono"/>
                        </a:rPr>
                        <a:t>27</a:t>
                      </a:r>
                    </a:p>
                  </a:txBody>
                  <a:tcPr marL="63500" marR="63500" marT="25400" marB="25400" anchor="ctr">
                    <a:lnL>
                      <a:noFill/>
                    </a:lnL>
                    <a:lnR>
                      <a:noFill/>
                    </a:lnR>
                    <a:lnT>
                      <a:noFill/>
                    </a:lnT>
                    <a:lnB>
                      <a:noFill/>
                    </a:lnB>
                    <a:solidFill>
                      <a:srgbClr val="F0F9FF"/>
                    </a:solidFill>
                  </a:tcPr>
                </a:tc>
                <a:tc>
                  <a:txBody>
                    <a:bodyPr/>
                    <a:lstStyle/>
                    <a:p>
                      <a:pPr algn="ctr"/>
                      <a:r>
                        <a:rPr lang="fr-FR" sz="1350" b="0" i="0" u="none" noProof="0" dirty="0">
                          <a:solidFill>
                            <a:srgbClr val="0369A1"/>
                          </a:solidFill>
                          <a:latin typeface="JetBrains Mono"/>
                        </a:rPr>
                        <a:t>26</a:t>
                      </a:r>
                    </a:p>
                  </a:txBody>
                  <a:tcPr marL="63500" marR="63500" marT="25400" marB="25400" anchor="ctr">
                    <a:lnL>
                      <a:noFill/>
                    </a:lnL>
                    <a:lnR>
                      <a:noFill/>
                    </a:lnR>
                    <a:lnT>
                      <a:noFill/>
                    </a:lnT>
                    <a:lnB>
                      <a:noFill/>
                    </a:lnB>
                    <a:solidFill>
                      <a:srgbClr val="F0F9FF"/>
                    </a:solidFill>
                  </a:tcPr>
                </a:tc>
                <a:tc>
                  <a:txBody>
                    <a:bodyPr/>
                    <a:lstStyle/>
                    <a:p>
                      <a:pPr algn="ctr"/>
                      <a:r>
                        <a:rPr lang="fr-FR" sz="1350" b="0" i="0" u="none" noProof="0" dirty="0">
                          <a:solidFill>
                            <a:srgbClr val="0369A1"/>
                          </a:solidFill>
                          <a:latin typeface="JetBrains Mono"/>
                        </a:rPr>
                        <a:t>25</a:t>
                      </a:r>
                    </a:p>
                  </a:txBody>
                  <a:tcPr marL="63500" marR="63500" marT="25400" marB="25400" anchor="ctr">
                    <a:lnL>
                      <a:noFill/>
                    </a:lnL>
                    <a:lnR>
                      <a:noFill/>
                    </a:lnR>
                    <a:lnT>
                      <a:noFill/>
                    </a:lnT>
                    <a:lnB>
                      <a:noFill/>
                    </a:lnB>
                    <a:solidFill>
                      <a:srgbClr val="F0F9FF"/>
                    </a:solidFill>
                  </a:tcPr>
                </a:tc>
                <a:tc>
                  <a:txBody>
                    <a:bodyPr/>
                    <a:lstStyle/>
                    <a:p>
                      <a:pPr algn="ctr"/>
                      <a:r>
                        <a:rPr lang="fr-FR" sz="1350" b="0" i="0" u="none" noProof="0" dirty="0">
                          <a:solidFill>
                            <a:srgbClr val="0369A1"/>
                          </a:solidFill>
                          <a:latin typeface="JetBrains Mono"/>
                        </a:rPr>
                        <a:t>24</a:t>
                      </a:r>
                    </a:p>
                  </a:txBody>
                  <a:tcPr marL="63500" marR="63500" marT="25400" marB="25400" anchor="ctr">
                    <a:lnL>
                      <a:noFill/>
                    </a:lnL>
                    <a:lnR>
                      <a:noFill/>
                    </a:lnR>
                    <a:lnT>
                      <a:noFill/>
                    </a:lnT>
                    <a:lnB>
                      <a:noFill/>
                    </a:lnB>
                    <a:solidFill>
                      <a:srgbClr val="F0F9FF"/>
                    </a:solidFill>
                  </a:tcPr>
                </a:tc>
                <a:tc>
                  <a:txBody>
                    <a:bodyPr/>
                    <a:lstStyle/>
                    <a:p>
                      <a:pPr algn="ctr"/>
                      <a:r>
                        <a:rPr lang="fr-FR" sz="1350" b="0" i="0" u="none" noProof="0" dirty="0">
                          <a:solidFill>
                            <a:srgbClr val="0369A1"/>
                          </a:solidFill>
                          <a:latin typeface="JetBrains Mono"/>
                        </a:rPr>
                        <a:t>23</a:t>
                      </a:r>
                    </a:p>
                  </a:txBody>
                  <a:tcPr marL="63500" marR="63500" marT="25400" marB="25400" anchor="ctr">
                    <a:lnL>
                      <a:noFill/>
                    </a:lnL>
                    <a:lnR>
                      <a:noFill/>
                    </a:lnR>
                    <a:lnT>
                      <a:noFill/>
                    </a:lnT>
                    <a:lnB>
                      <a:noFill/>
                    </a:lnB>
                    <a:solidFill>
                      <a:srgbClr val="F0F9FF"/>
                    </a:solidFill>
                  </a:tcPr>
                </a:tc>
                <a:tc>
                  <a:txBody>
                    <a:bodyPr/>
                    <a:lstStyle/>
                    <a:p>
                      <a:pPr algn="ctr"/>
                      <a:r>
                        <a:rPr lang="fr-FR" sz="1350" b="0" i="0" u="none" noProof="0" dirty="0">
                          <a:solidFill>
                            <a:srgbClr val="0369A1"/>
                          </a:solidFill>
                          <a:latin typeface="JetBrains Mono"/>
                        </a:rPr>
                        <a:t>22</a:t>
                      </a:r>
                    </a:p>
                  </a:txBody>
                  <a:tcPr marL="63500" marR="63500" marT="25400" marB="25400" anchor="ctr">
                    <a:lnL>
                      <a:noFill/>
                    </a:lnL>
                    <a:lnR>
                      <a:noFill/>
                    </a:lnR>
                    <a:lnT>
                      <a:noFill/>
                    </a:lnT>
                    <a:lnB>
                      <a:noFill/>
                    </a:lnB>
                    <a:solidFill>
                      <a:srgbClr val="F0F9FF"/>
                    </a:solidFill>
                  </a:tcPr>
                </a:tc>
                <a:tc>
                  <a:txBody>
                    <a:bodyPr/>
                    <a:lstStyle/>
                    <a:p>
                      <a:pPr algn="ctr"/>
                      <a:r>
                        <a:rPr lang="fr-FR" sz="1350" b="0" i="0" u="none" noProof="0" dirty="0">
                          <a:solidFill>
                            <a:srgbClr val="0369A1"/>
                          </a:solidFill>
                          <a:latin typeface="JetBrains Mono"/>
                        </a:rPr>
                        <a:t>21</a:t>
                      </a:r>
                    </a:p>
                  </a:txBody>
                  <a:tcPr marL="63500" marR="63500" marT="25400" marB="25400" anchor="ctr">
                    <a:lnL>
                      <a:noFill/>
                    </a:lnL>
                    <a:lnR>
                      <a:noFill/>
                    </a:lnR>
                    <a:lnT>
                      <a:noFill/>
                    </a:lnT>
                    <a:lnB>
                      <a:noFill/>
                    </a:lnB>
                    <a:solidFill>
                      <a:srgbClr val="F0F9FF"/>
                    </a:solidFill>
                  </a:tcPr>
                </a:tc>
                <a:tc>
                  <a:txBody>
                    <a:bodyPr/>
                    <a:lstStyle/>
                    <a:p>
                      <a:pPr algn="ctr"/>
                      <a:r>
                        <a:rPr lang="fr-FR" sz="1350" b="0" i="0" u="none" noProof="0" dirty="0">
                          <a:solidFill>
                            <a:srgbClr val="0369A1"/>
                          </a:solidFill>
                          <a:latin typeface="JetBrains Mono"/>
                        </a:rPr>
                        <a:t>20</a:t>
                      </a:r>
                    </a:p>
                  </a:txBody>
                  <a:tcPr marL="63500" marR="63500" marT="25400" marB="25400" anchor="ctr">
                    <a:lnL>
                      <a:noFill/>
                    </a:lnL>
                    <a:lnR>
                      <a:noFill/>
                    </a:lnR>
                    <a:lnT>
                      <a:noFill/>
                    </a:lnT>
                    <a:lnB>
                      <a:noFill/>
                    </a:lnB>
                    <a:solidFill>
                      <a:srgbClr val="F0F9FF"/>
                    </a:solidFill>
                  </a:tcPr>
                </a:tc>
                <a:extLst>
                  <a:ext uri="{0D108BD9-81ED-4DB2-BD59-A6C34878D82A}">
                    <a16:rowId xmlns:a16="http://schemas.microsoft.com/office/drawing/2014/main" val="10001"/>
                  </a:ext>
                </a:extLst>
              </a:tr>
              <a:tr h="488950">
                <a:tc>
                  <a:txBody>
                    <a:bodyPr/>
                    <a:lstStyle/>
                    <a:p>
                      <a:pPr algn="ctr"/>
                      <a:r>
                        <a:rPr lang="fr-FR" sz="1650" b="1" i="0" u="none" noProof="0" dirty="0">
                          <a:solidFill>
                            <a:srgbClr val="0F172A"/>
                          </a:solidFill>
                          <a:latin typeface="JetBrains Mono"/>
                        </a:rPr>
                        <a:t>128</a:t>
                      </a:r>
                    </a:p>
                  </a:txBody>
                  <a:tcPr marL="63500" marR="63500" marT="25400" marB="25400" anchor="ctr">
                    <a:lnL>
                      <a:noFill/>
                    </a:lnL>
                    <a:lnR>
                      <a:noFill/>
                    </a:lnR>
                    <a:lnT>
                      <a:noFill/>
                    </a:lnT>
                    <a:lnB>
                      <a:noFill/>
                    </a:lnB>
                    <a:solidFill>
                      <a:srgbClr val="FFFFFF"/>
                    </a:solidFill>
                  </a:tcPr>
                </a:tc>
                <a:tc>
                  <a:txBody>
                    <a:bodyPr/>
                    <a:lstStyle/>
                    <a:p>
                      <a:pPr algn="ctr"/>
                      <a:r>
                        <a:rPr lang="fr-FR" sz="1650" b="1" i="0" u="none" noProof="0" dirty="0">
                          <a:solidFill>
                            <a:srgbClr val="0F172A"/>
                          </a:solidFill>
                          <a:latin typeface="JetBrains Mono"/>
                        </a:rPr>
                        <a:t>64</a:t>
                      </a:r>
                    </a:p>
                  </a:txBody>
                  <a:tcPr marL="63500" marR="63500" marT="25400" marB="25400" anchor="ctr">
                    <a:lnL>
                      <a:noFill/>
                    </a:lnL>
                    <a:lnR>
                      <a:noFill/>
                    </a:lnR>
                    <a:lnT>
                      <a:noFill/>
                    </a:lnT>
                    <a:lnB>
                      <a:noFill/>
                    </a:lnB>
                    <a:solidFill>
                      <a:srgbClr val="FFFFFF"/>
                    </a:solidFill>
                  </a:tcPr>
                </a:tc>
                <a:tc>
                  <a:txBody>
                    <a:bodyPr/>
                    <a:lstStyle/>
                    <a:p>
                      <a:pPr algn="ctr"/>
                      <a:r>
                        <a:rPr lang="fr-FR" sz="1650" b="1" i="0" u="none" noProof="0" dirty="0">
                          <a:solidFill>
                            <a:srgbClr val="0F172A"/>
                          </a:solidFill>
                          <a:latin typeface="JetBrains Mono"/>
                        </a:rPr>
                        <a:t>32</a:t>
                      </a:r>
                    </a:p>
                  </a:txBody>
                  <a:tcPr marL="63500" marR="63500" marT="25400" marB="25400" anchor="ctr">
                    <a:lnL>
                      <a:noFill/>
                    </a:lnL>
                    <a:lnR>
                      <a:noFill/>
                    </a:lnR>
                    <a:lnT>
                      <a:noFill/>
                    </a:lnT>
                    <a:lnB>
                      <a:noFill/>
                    </a:lnB>
                    <a:solidFill>
                      <a:srgbClr val="FFFFFF"/>
                    </a:solidFill>
                  </a:tcPr>
                </a:tc>
                <a:tc>
                  <a:txBody>
                    <a:bodyPr/>
                    <a:lstStyle/>
                    <a:p>
                      <a:pPr algn="ctr"/>
                      <a:r>
                        <a:rPr lang="fr-FR" sz="1650" b="1" i="0" u="none" noProof="0" dirty="0">
                          <a:solidFill>
                            <a:srgbClr val="0F172A"/>
                          </a:solidFill>
                          <a:latin typeface="JetBrains Mono"/>
                        </a:rPr>
                        <a:t>16</a:t>
                      </a:r>
                    </a:p>
                  </a:txBody>
                  <a:tcPr marL="63500" marR="63500" marT="25400" marB="25400" anchor="ctr">
                    <a:lnL>
                      <a:noFill/>
                    </a:lnL>
                    <a:lnR>
                      <a:noFill/>
                    </a:lnR>
                    <a:lnT>
                      <a:noFill/>
                    </a:lnT>
                    <a:lnB>
                      <a:noFill/>
                    </a:lnB>
                    <a:solidFill>
                      <a:srgbClr val="FFFFFF"/>
                    </a:solidFill>
                  </a:tcPr>
                </a:tc>
                <a:tc>
                  <a:txBody>
                    <a:bodyPr/>
                    <a:lstStyle/>
                    <a:p>
                      <a:pPr algn="ctr"/>
                      <a:r>
                        <a:rPr lang="fr-FR" sz="1650" b="1" i="0" u="none" noProof="0" dirty="0">
                          <a:solidFill>
                            <a:srgbClr val="0F172A"/>
                          </a:solidFill>
                          <a:latin typeface="JetBrains Mono"/>
                        </a:rPr>
                        <a:t>8</a:t>
                      </a:r>
                    </a:p>
                  </a:txBody>
                  <a:tcPr marL="63500" marR="63500" marT="25400" marB="25400" anchor="ctr">
                    <a:lnL>
                      <a:noFill/>
                    </a:lnL>
                    <a:lnR>
                      <a:noFill/>
                    </a:lnR>
                    <a:lnT>
                      <a:noFill/>
                    </a:lnT>
                    <a:lnB>
                      <a:noFill/>
                    </a:lnB>
                    <a:solidFill>
                      <a:srgbClr val="FFFFFF"/>
                    </a:solidFill>
                  </a:tcPr>
                </a:tc>
                <a:tc>
                  <a:txBody>
                    <a:bodyPr/>
                    <a:lstStyle/>
                    <a:p>
                      <a:pPr algn="ctr"/>
                      <a:r>
                        <a:rPr lang="fr-FR" sz="1650" b="1" i="0" u="none" noProof="0" dirty="0">
                          <a:solidFill>
                            <a:srgbClr val="0F172A"/>
                          </a:solidFill>
                          <a:latin typeface="JetBrains Mono"/>
                        </a:rPr>
                        <a:t>4</a:t>
                      </a:r>
                    </a:p>
                  </a:txBody>
                  <a:tcPr marL="63500" marR="63500" marT="25400" marB="25400" anchor="ctr">
                    <a:lnL>
                      <a:noFill/>
                    </a:lnL>
                    <a:lnR>
                      <a:noFill/>
                    </a:lnR>
                    <a:lnT>
                      <a:noFill/>
                    </a:lnT>
                    <a:lnB>
                      <a:noFill/>
                    </a:lnB>
                    <a:solidFill>
                      <a:srgbClr val="FFFFFF"/>
                    </a:solidFill>
                  </a:tcPr>
                </a:tc>
                <a:tc>
                  <a:txBody>
                    <a:bodyPr/>
                    <a:lstStyle/>
                    <a:p>
                      <a:pPr algn="ctr"/>
                      <a:r>
                        <a:rPr lang="fr-FR" sz="1650" b="1" i="0" u="none" noProof="0" dirty="0">
                          <a:solidFill>
                            <a:srgbClr val="0F172A"/>
                          </a:solidFill>
                          <a:latin typeface="JetBrains Mono"/>
                        </a:rPr>
                        <a:t>2</a:t>
                      </a:r>
                    </a:p>
                  </a:txBody>
                  <a:tcPr marL="63500" marR="63500" marT="25400" marB="25400" anchor="ctr">
                    <a:lnL>
                      <a:noFill/>
                    </a:lnL>
                    <a:lnR>
                      <a:noFill/>
                    </a:lnR>
                    <a:lnT>
                      <a:noFill/>
                    </a:lnT>
                    <a:lnB>
                      <a:noFill/>
                    </a:lnB>
                    <a:solidFill>
                      <a:srgbClr val="FFFFFF"/>
                    </a:solidFill>
                  </a:tcPr>
                </a:tc>
                <a:tc>
                  <a:txBody>
                    <a:bodyPr/>
                    <a:lstStyle/>
                    <a:p>
                      <a:pPr algn="ctr"/>
                      <a:r>
                        <a:rPr lang="fr-FR" sz="1650" b="1" i="0" u="none" noProof="0" dirty="0">
                          <a:solidFill>
                            <a:srgbClr val="0F172A"/>
                          </a:solidFill>
                          <a:latin typeface="JetBrains Mono"/>
                        </a:rPr>
                        <a:t>1</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2"/>
                  </a:ext>
                </a:extLst>
              </a:tr>
            </a:tbl>
          </a:graphicData>
        </a:graphic>
      </p:graphicFrame>
      <p:sp>
        <p:nvSpPr>
          <p:cNvPr id="8" name="TextBox 7"/>
          <p:cNvSpPr txBox="1"/>
          <p:nvPr/>
        </p:nvSpPr>
        <p:spPr>
          <a:xfrm>
            <a:off x="457200" y="381000"/>
            <a:ext cx="5575696"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Le Système Binaire &amp; L'Octet (Byte)</a:t>
            </a:r>
          </a:p>
        </p:txBody>
      </p:sp>
      <p:sp>
        <p:nvSpPr>
          <p:cNvPr id="9" name="TextBox 8"/>
          <p:cNvSpPr txBox="1"/>
          <p:nvPr/>
        </p:nvSpPr>
        <p:spPr>
          <a:xfrm>
            <a:off x="10210800" y="457200"/>
            <a:ext cx="19050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STRUCTURE DE DONNEES</a:t>
            </a:r>
          </a:p>
        </p:txBody>
      </p:sp>
      <p:sp>
        <p:nvSpPr>
          <p:cNvPr id="10" name="TextBox 9"/>
          <p:cNvSpPr txBox="1"/>
          <p:nvPr/>
        </p:nvSpPr>
        <p:spPr>
          <a:xfrm>
            <a:off x="457200" y="1966019"/>
            <a:ext cx="11734800" cy="200025"/>
          </a:xfrm>
          <a:prstGeom prst="rect">
            <a:avLst/>
          </a:prstGeom>
          <a:noFill/>
        </p:spPr>
        <p:txBody>
          <a:bodyPr wrap="none" lIns="0" tIns="0" rIns="0" bIns="0" anchor="t">
            <a:spAutoFit/>
          </a:bodyPr>
          <a:lstStyle/>
          <a:p>
            <a:pPr algn="l"/>
            <a:r>
              <a:rPr lang="fr-FR" sz="1350" b="0" i="0" u="none" noProof="0" dirty="0">
                <a:solidFill>
                  <a:srgbClr val="334155"/>
                </a:solidFill>
                <a:latin typeface="Inter"/>
              </a:rPr>
              <a:t>Poids des 8 bits d'un octet (Puissances de 2) :</a:t>
            </a:r>
          </a:p>
        </p:txBody>
      </p:sp>
      <p:sp>
        <p:nvSpPr>
          <p:cNvPr id="13" name="TextBox 12"/>
          <p:cNvSpPr txBox="1"/>
          <p:nvPr/>
        </p:nvSpPr>
        <p:spPr>
          <a:xfrm>
            <a:off x="638175" y="4099619"/>
            <a:ext cx="6500812" cy="190500"/>
          </a:xfrm>
          <a:prstGeom prst="rect">
            <a:avLst/>
          </a:prstGeom>
          <a:noFill/>
        </p:spPr>
        <p:txBody>
          <a:bodyPr wrap="none" lIns="0" tIns="0" rIns="0" bIns="0" anchor="t">
            <a:spAutoFit/>
          </a:bodyPr>
          <a:lstStyle/>
          <a:p>
            <a:pPr algn="l"/>
            <a:r>
              <a:rPr lang="fr-FR" sz="1125" b="0" i="0" u="none" noProof="0" dirty="0">
                <a:solidFill>
                  <a:srgbClr val="475569"/>
                </a:solidFill>
                <a:latin typeface="Inter"/>
              </a:rPr>
              <a:t>Valeur Minimale : </a:t>
            </a:r>
            <a:r>
              <a:rPr lang="fr-FR" sz="1125" b="1" i="0" u="none" noProof="0" dirty="0">
                <a:solidFill>
                  <a:srgbClr val="0F172A"/>
                </a:solidFill>
                <a:latin typeface="Inter"/>
              </a:rPr>
              <a:t>00000000 = 0</a:t>
            </a:r>
          </a:p>
        </p:txBody>
      </p:sp>
      <p:sp>
        <p:nvSpPr>
          <p:cNvPr id="14" name="TextBox 13"/>
          <p:cNvSpPr txBox="1"/>
          <p:nvPr/>
        </p:nvSpPr>
        <p:spPr>
          <a:xfrm>
            <a:off x="6353175" y="4099619"/>
            <a:ext cx="5838825" cy="190500"/>
          </a:xfrm>
          <a:prstGeom prst="rect">
            <a:avLst/>
          </a:prstGeom>
          <a:noFill/>
        </p:spPr>
        <p:txBody>
          <a:bodyPr wrap="none" lIns="0" tIns="0" rIns="0" bIns="0" anchor="t">
            <a:spAutoFit/>
          </a:bodyPr>
          <a:lstStyle/>
          <a:p>
            <a:pPr algn="l"/>
            <a:r>
              <a:rPr lang="fr-FR" sz="1125" b="0" i="0" u="none" noProof="0" dirty="0">
                <a:solidFill>
                  <a:srgbClr val="475569"/>
                </a:solidFill>
                <a:latin typeface="Inter"/>
              </a:rPr>
              <a:t>Valeur Maximale : </a:t>
            </a:r>
            <a:r>
              <a:rPr lang="fr-FR" sz="1125" b="1" i="0" u="none" noProof="0" dirty="0">
                <a:solidFill>
                  <a:srgbClr val="0284C7"/>
                </a:solidFill>
                <a:latin typeface="Inter"/>
              </a:rPr>
              <a:t>11111111 = 255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457200" y="2256829"/>
            <a:ext cx="5524500" cy="1904255"/>
          </a:xfrm>
          <a:prstGeom prst="roundRect">
            <a:avLst>
              <a:gd name="adj" fmla="val 6002"/>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Rounded Rectangle 3"/>
          <p:cNvSpPr/>
          <p:nvPr/>
        </p:nvSpPr>
        <p:spPr>
          <a:xfrm>
            <a:off x="6210300" y="2256829"/>
            <a:ext cx="5524500" cy="1904255"/>
          </a:xfrm>
          <a:prstGeom prst="roundRect">
            <a:avLst>
              <a:gd name="adj" fmla="val 6002"/>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 name="Rounded Rectangle 5"/>
          <p:cNvSpPr/>
          <p:nvPr/>
        </p:nvSpPr>
        <p:spPr>
          <a:xfrm>
            <a:off x="695325" y="3202930"/>
            <a:ext cx="5048250" cy="720030"/>
          </a:xfrm>
          <a:prstGeom prst="roundRect">
            <a:avLst>
              <a:gd name="adj" fmla="val 1058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ounded Rectangle 6"/>
          <p:cNvSpPr/>
          <p:nvPr/>
        </p:nvSpPr>
        <p:spPr>
          <a:xfrm>
            <a:off x="6448425" y="3202930"/>
            <a:ext cx="5048250" cy="720030"/>
          </a:xfrm>
          <a:prstGeom prst="roundRect">
            <a:avLst>
              <a:gd name="adj" fmla="val 10582"/>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8" name="TextBox 7"/>
          <p:cNvSpPr txBox="1"/>
          <p:nvPr/>
        </p:nvSpPr>
        <p:spPr>
          <a:xfrm>
            <a:off x="457200" y="381000"/>
            <a:ext cx="4738092"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Bases Octale et Hexadécimale</a:t>
            </a:r>
          </a:p>
        </p:txBody>
      </p:sp>
      <p:sp>
        <p:nvSpPr>
          <p:cNvPr id="9" name="TextBox 8"/>
          <p:cNvSpPr txBox="1"/>
          <p:nvPr/>
        </p:nvSpPr>
        <p:spPr>
          <a:xfrm>
            <a:off x="10210800" y="457200"/>
            <a:ext cx="19050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REGROUPEMENT DE BITS</a:t>
            </a:r>
          </a:p>
        </p:txBody>
      </p:sp>
      <p:sp>
        <p:nvSpPr>
          <p:cNvPr id="12" name="TextBox 11"/>
          <p:cNvSpPr txBox="1"/>
          <p:nvPr/>
        </p:nvSpPr>
        <p:spPr>
          <a:xfrm>
            <a:off x="695325" y="2494954"/>
            <a:ext cx="6625828" cy="247650"/>
          </a:xfrm>
          <a:prstGeom prst="rect">
            <a:avLst/>
          </a:prstGeom>
          <a:noFill/>
        </p:spPr>
        <p:txBody>
          <a:bodyPr wrap="none" lIns="0" tIns="0" rIns="0" bIns="0" anchor="t">
            <a:spAutoFit/>
          </a:bodyPr>
          <a:lstStyle/>
          <a:p>
            <a:pPr algn="l"/>
            <a:r>
              <a:rPr lang="fr-FR" sz="1500" b="1" i="0" u="none" noProof="0" dirty="0">
                <a:solidFill>
                  <a:srgbClr val="0D9488"/>
                </a:solidFill>
                <a:latin typeface="Space Grotesk"/>
              </a:rPr>
              <a:t>Base Octale (Base 8)</a:t>
            </a:r>
          </a:p>
        </p:txBody>
      </p:sp>
      <p:sp>
        <p:nvSpPr>
          <p:cNvPr id="13" name="TextBox 12"/>
          <p:cNvSpPr txBox="1"/>
          <p:nvPr/>
        </p:nvSpPr>
        <p:spPr>
          <a:xfrm>
            <a:off x="695325" y="2856904"/>
            <a:ext cx="5143500" cy="231725"/>
          </a:xfrm>
          <a:prstGeom prst="rect">
            <a:avLst/>
          </a:prstGeom>
          <a:noFill/>
        </p:spPr>
        <p:txBody>
          <a:bodyPr wrap="square" lIns="0" tIns="0" rIns="0" bIns="0" anchor="t">
            <a:spAutoFit/>
          </a:bodyPr>
          <a:lstStyle/>
          <a:p>
            <a:pPr algn="l"/>
            <a:r>
              <a:rPr lang="fr-FR" sz="1200" b="0" i="0" u="none" noProof="0" dirty="0">
                <a:solidFill>
                  <a:srgbClr val="334155"/>
                </a:solidFill>
                <a:latin typeface="Inter"/>
              </a:rPr>
              <a:t>Regroupement par paquets de </a:t>
            </a:r>
            <a:r>
              <a:rPr lang="fr-FR" sz="1200" b="1" i="0" u="none" noProof="0" dirty="0">
                <a:solidFill>
                  <a:srgbClr val="0D9488"/>
                </a:solidFill>
                <a:latin typeface="Inter"/>
              </a:rPr>
              <a:t>3 bits</a:t>
            </a:r>
            <a:r>
              <a:rPr lang="fr-FR" sz="1200" b="0" i="0" u="none" noProof="0" dirty="0">
                <a:solidFill>
                  <a:srgbClr val="334155"/>
                </a:solidFill>
                <a:latin typeface="Inter"/>
              </a:rPr>
              <a:t> (2</a:t>
            </a:r>
            <a:r>
              <a:rPr lang="fr-FR" sz="999" b="0" i="0" u="none" noProof="0" dirty="0">
                <a:solidFill>
                  <a:srgbClr val="334155"/>
                </a:solidFill>
                <a:latin typeface="Inter"/>
              </a:rPr>
              <a:t>3</a:t>
            </a:r>
            <a:r>
              <a:rPr lang="fr-FR" sz="1200" b="0" i="0" u="none" noProof="0" dirty="0">
                <a:solidFill>
                  <a:srgbClr val="334155"/>
                </a:solidFill>
                <a:latin typeface="Inter"/>
              </a:rPr>
              <a:t> = 8).</a:t>
            </a:r>
          </a:p>
        </p:txBody>
      </p:sp>
      <p:sp>
        <p:nvSpPr>
          <p:cNvPr id="14" name="TextBox 13"/>
          <p:cNvSpPr txBox="1"/>
          <p:nvPr/>
        </p:nvSpPr>
        <p:spPr>
          <a:xfrm>
            <a:off x="6448425" y="2494954"/>
            <a:ext cx="5743575" cy="247650"/>
          </a:xfrm>
          <a:prstGeom prst="rect">
            <a:avLst/>
          </a:prstGeom>
          <a:noFill/>
        </p:spPr>
        <p:txBody>
          <a:bodyPr wrap="none" lIns="0" tIns="0" rIns="0" bIns="0" anchor="t">
            <a:spAutoFit/>
          </a:bodyPr>
          <a:lstStyle/>
          <a:p>
            <a:pPr algn="l"/>
            <a:r>
              <a:rPr lang="fr-FR" sz="1500" b="1" i="0" u="none" noProof="0" dirty="0">
                <a:solidFill>
                  <a:srgbClr val="0284C7"/>
                </a:solidFill>
                <a:latin typeface="Space Grotesk"/>
              </a:rPr>
              <a:t>Base Hexadécimale (Base 16)</a:t>
            </a:r>
          </a:p>
        </p:txBody>
      </p:sp>
      <p:sp>
        <p:nvSpPr>
          <p:cNvPr id="15" name="TextBox 14"/>
          <p:cNvSpPr txBox="1"/>
          <p:nvPr/>
        </p:nvSpPr>
        <p:spPr>
          <a:xfrm>
            <a:off x="6448425" y="2856904"/>
            <a:ext cx="5143500" cy="231725"/>
          </a:xfrm>
          <a:prstGeom prst="rect">
            <a:avLst/>
          </a:prstGeom>
          <a:noFill/>
        </p:spPr>
        <p:txBody>
          <a:bodyPr wrap="square" lIns="0" tIns="0" rIns="0" bIns="0" anchor="t">
            <a:spAutoFit/>
          </a:bodyPr>
          <a:lstStyle/>
          <a:p>
            <a:pPr algn="l"/>
            <a:r>
              <a:rPr lang="fr-FR" sz="1200" b="0" i="0" u="none" noProof="0" dirty="0">
                <a:solidFill>
                  <a:srgbClr val="334155"/>
                </a:solidFill>
                <a:latin typeface="Inter"/>
              </a:rPr>
              <a:t>Regroupement par paquets de </a:t>
            </a:r>
            <a:r>
              <a:rPr lang="fr-FR" sz="1200" b="1" i="0" u="none" noProof="0" dirty="0">
                <a:solidFill>
                  <a:srgbClr val="0284C7"/>
                </a:solidFill>
                <a:latin typeface="Inter"/>
              </a:rPr>
              <a:t>4 bits</a:t>
            </a:r>
            <a:r>
              <a:rPr lang="fr-FR" sz="1200" b="0" i="0" u="none" noProof="0" dirty="0">
                <a:solidFill>
                  <a:srgbClr val="334155"/>
                </a:solidFill>
                <a:latin typeface="Inter"/>
              </a:rPr>
              <a:t> (2</a:t>
            </a:r>
            <a:r>
              <a:rPr lang="fr-FR" sz="999" b="0" i="0" u="none" noProof="0" dirty="0">
                <a:solidFill>
                  <a:srgbClr val="334155"/>
                </a:solidFill>
                <a:latin typeface="Inter"/>
              </a:rPr>
              <a:t>4</a:t>
            </a:r>
            <a:r>
              <a:rPr lang="fr-FR" sz="1200" b="0" i="0" u="none" noProof="0" dirty="0">
                <a:solidFill>
                  <a:srgbClr val="334155"/>
                </a:solidFill>
                <a:latin typeface="Inter"/>
              </a:rPr>
              <a:t> = 16 - Nibble).</a:t>
            </a:r>
          </a:p>
        </p:txBody>
      </p:sp>
      <p:sp>
        <p:nvSpPr>
          <p:cNvPr id="16" name="TextBox 15"/>
          <p:cNvSpPr txBox="1"/>
          <p:nvPr/>
        </p:nvSpPr>
        <p:spPr>
          <a:xfrm>
            <a:off x="819150" y="3326755"/>
            <a:ext cx="4895850" cy="262830"/>
          </a:xfrm>
          <a:prstGeom prst="rect">
            <a:avLst/>
          </a:prstGeom>
          <a:noFill/>
        </p:spPr>
        <p:txBody>
          <a:bodyPr wrap="square" lIns="0" tIns="0" rIns="0" bIns="0" anchor="t">
            <a:spAutoFit/>
          </a:bodyPr>
          <a:lstStyle/>
          <a:p>
            <a:pPr algn="l"/>
            <a:r>
              <a:rPr lang="fr-FR" sz="1350" b="0" i="0" u="none" noProof="0" dirty="0">
                <a:solidFill>
                  <a:srgbClr val="0F172A"/>
                </a:solidFill>
                <a:latin typeface="JetBrains Mono"/>
              </a:rPr>
              <a:t>111</a:t>
            </a:r>
            <a:r>
              <a:rPr lang="fr-FR" sz="1125" b="0" i="0" u="none" noProof="0" dirty="0">
                <a:solidFill>
                  <a:srgbClr val="0F172A"/>
                </a:solidFill>
                <a:latin typeface="JetBrains Mono"/>
              </a:rPr>
              <a:t>2</a:t>
            </a:r>
            <a:r>
              <a:rPr lang="fr-FR" sz="1350" b="0" i="0" u="none" noProof="0" dirty="0">
                <a:solidFill>
                  <a:srgbClr val="0F172A"/>
                </a:solidFill>
                <a:latin typeface="JetBrains Mono"/>
              </a:rPr>
              <a:t> = 7</a:t>
            </a:r>
            <a:r>
              <a:rPr lang="fr-FR" sz="1125" b="0" i="0" u="none" noProof="0" dirty="0">
                <a:solidFill>
                  <a:srgbClr val="0F172A"/>
                </a:solidFill>
                <a:latin typeface="JetBrains Mono"/>
              </a:rPr>
              <a:t>8</a:t>
            </a:r>
          </a:p>
        </p:txBody>
      </p:sp>
      <p:sp>
        <p:nvSpPr>
          <p:cNvPr id="17" name="TextBox 16"/>
          <p:cNvSpPr txBox="1"/>
          <p:nvPr/>
        </p:nvSpPr>
        <p:spPr>
          <a:xfrm>
            <a:off x="819150" y="3627685"/>
            <a:ext cx="6000750" cy="171450"/>
          </a:xfrm>
          <a:prstGeom prst="rect">
            <a:avLst/>
          </a:prstGeom>
          <a:noFill/>
        </p:spPr>
        <p:txBody>
          <a:bodyPr wrap="none" lIns="0" tIns="0" rIns="0" bIns="0" anchor="t">
            <a:spAutoFit/>
          </a:bodyPr>
          <a:lstStyle/>
          <a:p>
            <a:pPr algn="l"/>
            <a:r>
              <a:rPr lang="fr-FR" sz="1050" b="0" i="0" u="none" noProof="0" dirty="0">
                <a:solidFill>
                  <a:srgbClr val="64748B"/>
                </a:solidFill>
                <a:latin typeface="JetBrains Mono"/>
              </a:rPr>
              <a:t>(4 + 2 + 1 = 7)</a:t>
            </a:r>
          </a:p>
        </p:txBody>
      </p:sp>
      <p:sp>
        <p:nvSpPr>
          <p:cNvPr id="18" name="TextBox 17"/>
          <p:cNvSpPr txBox="1"/>
          <p:nvPr/>
        </p:nvSpPr>
        <p:spPr>
          <a:xfrm>
            <a:off x="6572250" y="3326755"/>
            <a:ext cx="4895850" cy="262830"/>
          </a:xfrm>
          <a:prstGeom prst="rect">
            <a:avLst/>
          </a:prstGeom>
          <a:noFill/>
        </p:spPr>
        <p:txBody>
          <a:bodyPr wrap="square" lIns="0" tIns="0" rIns="0" bIns="0" anchor="t">
            <a:spAutoFit/>
          </a:bodyPr>
          <a:lstStyle/>
          <a:p>
            <a:pPr algn="l"/>
            <a:r>
              <a:rPr lang="fr-FR" sz="1350" b="0" i="0" u="none" noProof="0" dirty="0">
                <a:solidFill>
                  <a:srgbClr val="0F172A"/>
                </a:solidFill>
                <a:latin typeface="JetBrains Mono"/>
              </a:rPr>
              <a:t>1111</a:t>
            </a:r>
            <a:r>
              <a:rPr lang="fr-FR" sz="1125" b="0" i="0" u="none" noProof="0" dirty="0">
                <a:solidFill>
                  <a:srgbClr val="0F172A"/>
                </a:solidFill>
                <a:latin typeface="JetBrains Mono"/>
              </a:rPr>
              <a:t>2</a:t>
            </a:r>
            <a:r>
              <a:rPr lang="fr-FR" sz="1350" b="0" i="0" u="none" noProof="0" dirty="0">
                <a:solidFill>
                  <a:srgbClr val="0F172A"/>
                </a:solidFill>
                <a:latin typeface="JetBrains Mono"/>
              </a:rPr>
              <a:t> = F</a:t>
            </a:r>
            <a:r>
              <a:rPr lang="fr-FR" sz="1125" b="0" i="0" u="none" noProof="0" dirty="0">
                <a:solidFill>
                  <a:srgbClr val="0F172A"/>
                </a:solidFill>
                <a:latin typeface="JetBrains Mono"/>
              </a:rPr>
              <a:t>16</a:t>
            </a:r>
            <a:r>
              <a:rPr lang="fr-FR" sz="1350" b="0" i="0" u="none" noProof="0" dirty="0">
                <a:solidFill>
                  <a:srgbClr val="0F172A"/>
                </a:solidFill>
                <a:latin typeface="JetBrains Mono"/>
              </a:rPr>
              <a:t> = 15</a:t>
            </a:r>
            <a:r>
              <a:rPr lang="fr-FR" sz="1125" b="0" i="0" u="none" noProof="0" dirty="0">
                <a:solidFill>
                  <a:srgbClr val="0F172A"/>
                </a:solidFill>
                <a:latin typeface="JetBrains Mono"/>
              </a:rPr>
              <a:t>10</a:t>
            </a:r>
          </a:p>
        </p:txBody>
      </p:sp>
      <p:sp>
        <p:nvSpPr>
          <p:cNvPr id="19" name="TextBox 18"/>
          <p:cNvSpPr txBox="1"/>
          <p:nvPr/>
        </p:nvSpPr>
        <p:spPr>
          <a:xfrm>
            <a:off x="6572250" y="3627685"/>
            <a:ext cx="5619750" cy="171450"/>
          </a:xfrm>
          <a:prstGeom prst="rect">
            <a:avLst/>
          </a:prstGeom>
          <a:noFill/>
        </p:spPr>
        <p:txBody>
          <a:bodyPr wrap="none" lIns="0" tIns="0" rIns="0" bIns="0" anchor="t">
            <a:spAutoFit/>
          </a:bodyPr>
          <a:lstStyle/>
          <a:p>
            <a:pPr algn="l"/>
            <a:r>
              <a:rPr lang="fr-FR" sz="1050" b="0" i="0" u="none" noProof="0" dirty="0">
                <a:solidFill>
                  <a:srgbClr val="64748B"/>
                </a:solidFill>
                <a:latin typeface="JetBrains Mono"/>
              </a:rPr>
              <a:t>(8 + 4 + 2 + 1 = 15)</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Rounded Rectangle 2"/>
          <p:cNvSpPr/>
          <p:nvPr/>
        </p:nvSpPr>
        <p:spPr>
          <a:xfrm>
            <a:off x="457200" y="3773834"/>
            <a:ext cx="11277600" cy="609600"/>
          </a:xfrm>
          <a:prstGeom prst="roundRect">
            <a:avLst>
              <a:gd name="adj" fmla="val 12500"/>
            </a:avLst>
          </a:prstGeom>
          <a:solidFill>
            <a:srgbClr val="E0F2FE"/>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Rounded Rectangle 4"/>
          <p:cNvSpPr/>
          <p:nvPr/>
        </p:nvSpPr>
        <p:spPr>
          <a:xfrm>
            <a:off x="457200" y="2373659"/>
            <a:ext cx="11277600" cy="1209675"/>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graphicFrame>
        <p:nvGraphicFramePr>
          <p:cNvPr id="6" name="Table 5"/>
          <p:cNvGraphicFramePr>
            <a:graphicFrameLocks noGrp="1"/>
          </p:cNvGraphicFramePr>
          <p:nvPr>
            <p:extLst>
              <p:ext uri="{D42A27DB-BD31-4B8C-83A1-F6EECF244321}">
                <p14:modId xmlns:p14="http://schemas.microsoft.com/office/powerpoint/2010/main" val="2222412656"/>
              </p:ext>
            </p:extLst>
          </p:nvPr>
        </p:nvGraphicFramePr>
        <p:xfrm>
          <a:off x="457200" y="2373659"/>
          <a:ext cx="11268072" cy="1209675"/>
        </p:xfrm>
        <a:graphic>
          <a:graphicData uri="http://schemas.openxmlformats.org/drawingml/2006/table">
            <a:tbl>
              <a:tblPr/>
              <a:tblGrid>
                <a:gridCol w="2525017">
                  <a:extLst>
                    <a:ext uri="{9D8B030D-6E8A-4147-A177-3AD203B41FA5}">
                      <a16:colId xmlns:a16="http://schemas.microsoft.com/office/drawing/2014/main" val="20000"/>
                    </a:ext>
                  </a:extLst>
                </a:gridCol>
                <a:gridCol w="1547068">
                  <a:extLst>
                    <a:ext uri="{9D8B030D-6E8A-4147-A177-3AD203B41FA5}">
                      <a16:colId xmlns:a16="http://schemas.microsoft.com/office/drawing/2014/main" val="20001"/>
                    </a:ext>
                  </a:extLst>
                </a:gridCol>
                <a:gridCol w="1167556">
                  <a:extLst>
                    <a:ext uri="{9D8B030D-6E8A-4147-A177-3AD203B41FA5}">
                      <a16:colId xmlns:a16="http://schemas.microsoft.com/office/drawing/2014/main" val="20002"/>
                    </a:ext>
                  </a:extLst>
                </a:gridCol>
                <a:gridCol w="1226046">
                  <a:extLst>
                    <a:ext uri="{9D8B030D-6E8A-4147-A177-3AD203B41FA5}">
                      <a16:colId xmlns:a16="http://schemas.microsoft.com/office/drawing/2014/main" val="20003"/>
                    </a:ext>
                  </a:extLst>
                </a:gridCol>
                <a:gridCol w="1167556">
                  <a:extLst>
                    <a:ext uri="{9D8B030D-6E8A-4147-A177-3AD203B41FA5}">
                      <a16:colId xmlns:a16="http://schemas.microsoft.com/office/drawing/2014/main" val="20004"/>
                    </a:ext>
                  </a:extLst>
                </a:gridCol>
                <a:gridCol w="904875">
                  <a:extLst>
                    <a:ext uri="{9D8B030D-6E8A-4147-A177-3AD203B41FA5}">
                      <a16:colId xmlns:a16="http://schemas.microsoft.com/office/drawing/2014/main" val="20005"/>
                    </a:ext>
                  </a:extLst>
                </a:gridCol>
                <a:gridCol w="904875">
                  <a:extLst>
                    <a:ext uri="{9D8B030D-6E8A-4147-A177-3AD203B41FA5}">
                      <a16:colId xmlns:a16="http://schemas.microsoft.com/office/drawing/2014/main" val="20006"/>
                    </a:ext>
                  </a:extLst>
                </a:gridCol>
                <a:gridCol w="904875">
                  <a:extLst>
                    <a:ext uri="{9D8B030D-6E8A-4147-A177-3AD203B41FA5}">
                      <a16:colId xmlns:a16="http://schemas.microsoft.com/office/drawing/2014/main" val="20007"/>
                    </a:ext>
                  </a:extLst>
                </a:gridCol>
                <a:gridCol w="920204">
                  <a:extLst>
                    <a:ext uri="{9D8B030D-6E8A-4147-A177-3AD203B41FA5}">
                      <a16:colId xmlns:a16="http://schemas.microsoft.com/office/drawing/2014/main" val="20008"/>
                    </a:ext>
                  </a:extLst>
                </a:gridCol>
              </a:tblGrid>
              <a:tr h="403225">
                <a:tc>
                  <a:txBody>
                    <a:bodyPr/>
                    <a:lstStyle/>
                    <a:p>
                      <a:pPr algn="ctr"/>
                      <a:r>
                        <a:rPr lang="fr-FR" sz="1200" b="0" i="0" u="none" noProof="0" dirty="0">
                          <a:solidFill>
                            <a:srgbClr val="FFFFFF"/>
                          </a:solidFill>
                          <a:latin typeface="JetBrains Mono"/>
                        </a:rPr>
                        <a:t>Bits</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38BDF8"/>
                          </a:solidFill>
                          <a:latin typeface="JetBrains Mono"/>
                        </a:rPr>
                        <a:t>1</a:t>
                      </a:r>
                    </a:p>
                  </a:txBody>
                  <a:tcPr marL="63500" marR="63500" marT="25400" marB="25400" anchor="ctr">
                    <a:lnL>
                      <a:noFill/>
                    </a:lnL>
                    <a:lnR>
                      <a:noFill/>
                    </a:lnR>
                    <a:lnT>
                      <a:noFill/>
                    </a:lnT>
                    <a:lnB>
                      <a:noFill/>
                    </a:lnB>
                    <a:solidFill>
                      <a:srgbClr val="0F172A"/>
                    </a:solidFill>
                  </a:tcPr>
                </a:tc>
                <a:tc>
                  <a:txBody>
                    <a:bodyPr/>
                    <a:lstStyle/>
                    <a:p>
                      <a:pPr algn="ctr"/>
                      <a:r>
                        <a:rPr lang="fr-FR" sz="1200" b="0" i="0" u="none" noProof="0" dirty="0">
                          <a:solidFill>
                            <a:srgbClr val="94A3B8"/>
                          </a:solidFill>
                          <a:latin typeface="JetBrains Mono"/>
                        </a:rPr>
                        <a:t>0</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38BDF8"/>
                          </a:solidFill>
                          <a:latin typeface="JetBrains Mono"/>
                        </a:rPr>
                        <a:t>1</a:t>
                      </a:r>
                    </a:p>
                  </a:txBody>
                  <a:tcPr marL="63500" marR="63500" marT="25400" marB="25400" anchor="ctr">
                    <a:lnL>
                      <a:noFill/>
                    </a:lnL>
                    <a:lnR>
                      <a:noFill/>
                    </a:lnR>
                    <a:lnT>
                      <a:noFill/>
                    </a:lnT>
                    <a:lnB>
                      <a:noFill/>
                    </a:lnB>
                    <a:solidFill>
                      <a:srgbClr val="0F172A"/>
                    </a:solidFill>
                  </a:tcPr>
                </a:tc>
                <a:tc>
                  <a:txBody>
                    <a:bodyPr/>
                    <a:lstStyle/>
                    <a:p>
                      <a:pPr algn="ctr"/>
                      <a:r>
                        <a:rPr lang="fr-FR" sz="1200" b="0" i="0" u="none" noProof="0" dirty="0">
                          <a:solidFill>
                            <a:srgbClr val="94A3B8"/>
                          </a:solidFill>
                          <a:latin typeface="JetBrains Mono"/>
                        </a:rPr>
                        <a:t>0</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38BDF8"/>
                          </a:solidFill>
                          <a:latin typeface="JetBrains Mono"/>
                        </a:rPr>
                        <a:t>1</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38BDF8"/>
                          </a:solidFill>
                          <a:latin typeface="JetBrains Mono"/>
                        </a:rPr>
                        <a:t>1</a:t>
                      </a:r>
                    </a:p>
                  </a:txBody>
                  <a:tcPr marL="63500" marR="63500" marT="25400" marB="25400" anchor="ctr">
                    <a:lnL>
                      <a:noFill/>
                    </a:lnL>
                    <a:lnR>
                      <a:noFill/>
                    </a:lnR>
                    <a:lnT>
                      <a:noFill/>
                    </a:lnT>
                    <a:lnB>
                      <a:noFill/>
                    </a:lnB>
                    <a:solidFill>
                      <a:srgbClr val="0F172A"/>
                    </a:solidFill>
                  </a:tcPr>
                </a:tc>
                <a:tc>
                  <a:txBody>
                    <a:bodyPr/>
                    <a:lstStyle/>
                    <a:p>
                      <a:pPr algn="ctr"/>
                      <a:r>
                        <a:rPr lang="fr-FR" sz="1200" b="0" i="0" u="none" noProof="0" dirty="0">
                          <a:solidFill>
                            <a:srgbClr val="94A3B8"/>
                          </a:solidFill>
                          <a:latin typeface="JetBrains Mono"/>
                        </a:rPr>
                        <a:t>0</a:t>
                      </a:r>
                    </a:p>
                  </a:txBody>
                  <a:tcPr marL="63500" marR="63500" marT="25400" marB="25400" anchor="ctr">
                    <a:lnL>
                      <a:noFill/>
                    </a:lnL>
                    <a:lnR>
                      <a:noFill/>
                    </a:lnR>
                    <a:lnT>
                      <a:noFill/>
                    </a:lnT>
                    <a:lnB>
                      <a:noFill/>
                    </a:lnB>
                    <a:solidFill>
                      <a:srgbClr val="0F172A"/>
                    </a:solidFill>
                  </a:tcPr>
                </a:tc>
                <a:tc>
                  <a:txBody>
                    <a:bodyPr/>
                    <a:lstStyle/>
                    <a:p>
                      <a:pPr algn="ctr"/>
                      <a:r>
                        <a:rPr lang="fr-FR" sz="1200" b="0" i="0" u="none" noProof="0" dirty="0">
                          <a:solidFill>
                            <a:srgbClr val="94A3B8"/>
                          </a:solidFill>
                          <a:latin typeface="JetBrains Mono"/>
                        </a:rPr>
                        <a:t>0</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403225">
                <a:tc>
                  <a:txBody>
                    <a:bodyPr/>
                    <a:lstStyle/>
                    <a:p>
                      <a:pPr algn="ctr"/>
                      <a:r>
                        <a:rPr lang="fr-FR" sz="1200" b="0" i="0" u="none" noProof="0" dirty="0">
                          <a:solidFill>
                            <a:srgbClr val="475569"/>
                          </a:solidFill>
                          <a:latin typeface="JetBrains Mono"/>
                        </a:rPr>
                        <a:t>Poids</a:t>
                      </a:r>
                    </a:p>
                  </a:txBody>
                  <a:tcPr marL="63500" marR="63500" marT="25400" marB="25400" anchor="ctr">
                    <a:lnL>
                      <a:noFill/>
                    </a:lnL>
                    <a:lnR>
                      <a:noFill/>
                    </a:lnR>
                    <a:lnT>
                      <a:noFill/>
                    </a:lnT>
                    <a:lnB>
                      <a:noFill/>
                    </a:lnB>
                    <a:solidFill>
                      <a:srgbClr val="F1F5F9"/>
                    </a:solidFill>
                  </a:tcPr>
                </a:tc>
                <a:tc>
                  <a:txBody>
                    <a:bodyPr/>
                    <a:lstStyle/>
                    <a:p>
                      <a:pPr algn="ctr"/>
                      <a:r>
                        <a:rPr lang="fr-FR" sz="1200" b="0" i="0" u="none" noProof="0" dirty="0">
                          <a:solidFill>
                            <a:srgbClr val="475569"/>
                          </a:solidFill>
                          <a:latin typeface="JetBrains Mono"/>
                        </a:rPr>
                        <a:t>128</a:t>
                      </a:r>
                    </a:p>
                  </a:txBody>
                  <a:tcPr marL="63500" marR="63500" marT="25400" marB="25400" anchor="ctr">
                    <a:lnL>
                      <a:noFill/>
                    </a:lnL>
                    <a:lnR>
                      <a:noFill/>
                    </a:lnR>
                    <a:lnT>
                      <a:noFill/>
                    </a:lnT>
                    <a:lnB>
                      <a:noFill/>
                    </a:lnB>
                    <a:solidFill>
                      <a:srgbClr val="F1F5F9"/>
                    </a:solidFill>
                  </a:tcPr>
                </a:tc>
                <a:tc>
                  <a:txBody>
                    <a:bodyPr/>
                    <a:lstStyle/>
                    <a:p>
                      <a:pPr algn="ctr"/>
                      <a:r>
                        <a:rPr lang="fr-FR" sz="1200" b="0" i="0" u="none" noProof="0" dirty="0">
                          <a:solidFill>
                            <a:srgbClr val="475569"/>
                          </a:solidFill>
                          <a:latin typeface="JetBrains Mono"/>
                        </a:rPr>
                        <a:t>64</a:t>
                      </a:r>
                    </a:p>
                  </a:txBody>
                  <a:tcPr marL="63500" marR="63500" marT="25400" marB="25400" anchor="ctr">
                    <a:lnL>
                      <a:noFill/>
                    </a:lnL>
                    <a:lnR>
                      <a:noFill/>
                    </a:lnR>
                    <a:lnT>
                      <a:noFill/>
                    </a:lnT>
                    <a:lnB>
                      <a:noFill/>
                    </a:lnB>
                    <a:solidFill>
                      <a:srgbClr val="F1F5F9"/>
                    </a:solidFill>
                  </a:tcPr>
                </a:tc>
                <a:tc>
                  <a:txBody>
                    <a:bodyPr/>
                    <a:lstStyle/>
                    <a:p>
                      <a:pPr algn="ctr"/>
                      <a:r>
                        <a:rPr lang="fr-FR" sz="1200" b="0" i="0" u="none" noProof="0" dirty="0">
                          <a:solidFill>
                            <a:srgbClr val="475569"/>
                          </a:solidFill>
                          <a:latin typeface="JetBrains Mono"/>
                        </a:rPr>
                        <a:t>32</a:t>
                      </a:r>
                    </a:p>
                  </a:txBody>
                  <a:tcPr marL="63500" marR="63500" marT="25400" marB="25400" anchor="ctr">
                    <a:lnL>
                      <a:noFill/>
                    </a:lnL>
                    <a:lnR>
                      <a:noFill/>
                    </a:lnR>
                    <a:lnT>
                      <a:noFill/>
                    </a:lnT>
                    <a:lnB>
                      <a:noFill/>
                    </a:lnB>
                    <a:solidFill>
                      <a:srgbClr val="F1F5F9"/>
                    </a:solidFill>
                  </a:tcPr>
                </a:tc>
                <a:tc>
                  <a:txBody>
                    <a:bodyPr/>
                    <a:lstStyle/>
                    <a:p>
                      <a:pPr algn="ctr"/>
                      <a:r>
                        <a:rPr lang="fr-FR" sz="1200" b="0" i="0" u="none" noProof="0" dirty="0">
                          <a:solidFill>
                            <a:srgbClr val="475569"/>
                          </a:solidFill>
                          <a:latin typeface="JetBrains Mono"/>
                        </a:rPr>
                        <a:t>16</a:t>
                      </a:r>
                    </a:p>
                  </a:txBody>
                  <a:tcPr marL="63500" marR="63500" marT="25400" marB="25400" anchor="ctr">
                    <a:lnL>
                      <a:noFill/>
                    </a:lnL>
                    <a:lnR>
                      <a:noFill/>
                    </a:lnR>
                    <a:lnT>
                      <a:noFill/>
                    </a:lnT>
                    <a:lnB>
                      <a:noFill/>
                    </a:lnB>
                    <a:solidFill>
                      <a:srgbClr val="F1F5F9"/>
                    </a:solidFill>
                  </a:tcPr>
                </a:tc>
                <a:tc>
                  <a:txBody>
                    <a:bodyPr/>
                    <a:lstStyle/>
                    <a:p>
                      <a:pPr algn="ctr"/>
                      <a:r>
                        <a:rPr lang="fr-FR" sz="1200" b="0" i="0" u="none" noProof="0" dirty="0">
                          <a:solidFill>
                            <a:srgbClr val="475569"/>
                          </a:solidFill>
                          <a:latin typeface="JetBrains Mono"/>
                        </a:rPr>
                        <a:t>8</a:t>
                      </a:r>
                    </a:p>
                  </a:txBody>
                  <a:tcPr marL="63500" marR="63500" marT="25400" marB="25400" anchor="ctr">
                    <a:lnL>
                      <a:noFill/>
                    </a:lnL>
                    <a:lnR>
                      <a:noFill/>
                    </a:lnR>
                    <a:lnT>
                      <a:noFill/>
                    </a:lnT>
                    <a:lnB>
                      <a:noFill/>
                    </a:lnB>
                    <a:solidFill>
                      <a:srgbClr val="F1F5F9"/>
                    </a:solidFill>
                  </a:tcPr>
                </a:tc>
                <a:tc>
                  <a:txBody>
                    <a:bodyPr/>
                    <a:lstStyle/>
                    <a:p>
                      <a:pPr algn="ctr"/>
                      <a:r>
                        <a:rPr lang="fr-FR" sz="1200" b="0" i="0" u="none" noProof="0" dirty="0">
                          <a:solidFill>
                            <a:srgbClr val="475569"/>
                          </a:solidFill>
                          <a:latin typeface="JetBrains Mono"/>
                        </a:rPr>
                        <a:t>4</a:t>
                      </a:r>
                    </a:p>
                  </a:txBody>
                  <a:tcPr marL="63500" marR="63500" marT="25400" marB="25400" anchor="ctr">
                    <a:lnL>
                      <a:noFill/>
                    </a:lnL>
                    <a:lnR>
                      <a:noFill/>
                    </a:lnR>
                    <a:lnT>
                      <a:noFill/>
                    </a:lnT>
                    <a:lnB>
                      <a:noFill/>
                    </a:lnB>
                    <a:solidFill>
                      <a:srgbClr val="F1F5F9"/>
                    </a:solidFill>
                  </a:tcPr>
                </a:tc>
                <a:tc>
                  <a:txBody>
                    <a:bodyPr/>
                    <a:lstStyle/>
                    <a:p>
                      <a:pPr algn="ctr"/>
                      <a:r>
                        <a:rPr lang="fr-FR" sz="1200" b="0" i="0" u="none" noProof="0" dirty="0">
                          <a:solidFill>
                            <a:srgbClr val="475569"/>
                          </a:solidFill>
                          <a:latin typeface="JetBrains Mono"/>
                        </a:rPr>
                        <a:t>2</a:t>
                      </a:r>
                    </a:p>
                  </a:txBody>
                  <a:tcPr marL="63500" marR="63500" marT="25400" marB="25400" anchor="ctr">
                    <a:lnL>
                      <a:noFill/>
                    </a:lnL>
                    <a:lnR>
                      <a:noFill/>
                    </a:lnR>
                    <a:lnT>
                      <a:noFill/>
                    </a:lnT>
                    <a:lnB>
                      <a:noFill/>
                    </a:lnB>
                    <a:solidFill>
                      <a:srgbClr val="F1F5F9"/>
                    </a:solidFill>
                  </a:tcPr>
                </a:tc>
                <a:tc>
                  <a:txBody>
                    <a:bodyPr/>
                    <a:lstStyle/>
                    <a:p>
                      <a:pPr algn="ctr"/>
                      <a:r>
                        <a:rPr lang="fr-FR" sz="1200" b="0" i="0" u="none" noProof="0" dirty="0">
                          <a:solidFill>
                            <a:srgbClr val="475569"/>
                          </a:solidFill>
                          <a:latin typeface="JetBrains Mono"/>
                        </a:rPr>
                        <a:t>1</a:t>
                      </a:r>
                    </a:p>
                  </a:txBody>
                  <a:tcPr marL="63500" marR="63500" marT="25400" marB="25400" anchor="ctr">
                    <a:lnL>
                      <a:noFill/>
                    </a:lnL>
                    <a:lnR>
                      <a:noFill/>
                    </a:lnR>
                    <a:lnT>
                      <a:noFill/>
                    </a:lnT>
                    <a:lnB>
                      <a:noFill/>
                    </a:lnB>
                    <a:solidFill>
                      <a:srgbClr val="F1F5F9"/>
                    </a:solidFill>
                  </a:tcPr>
                </a:tc>
                <a:extLst>
                  <a:ext uri="{0D108BD9-81ED-4DB2-BD59-A6C34878D82A}">
                    <a16:rowId xmlns:a16="http://schemas.microsoft.com/office/drawing/2014/main" val="10001"/>
                  </a:ext>
                </a:extLst>
              </a:tr>
              <a:tr h="403225">
                <a:tc>
                  <a:txBody>
                    <a:bodyPr/>
                    <a:lstStyle/>
                    <a:p>
                      <a:pPr algn="ctr"/>
                      <a:r>
                        <a:rPr lang="fr-FR" sz="1350" b="1" i="0" u="none" noProof="0" dirty="0">
                          <a:solidFill>
                            <a:srgbClr val="0284C7"/>
                          </a:solidFill>
                          <a:latin typeface="JetBrains Mono"/>
                        </a:rPr>
                        <a:t>Valeur</a:t>
                      </a:r>
                    </a:p>
                  </a:txBody>
                  <a:tcPr marL="63500" marR="63500" marT="25400" marB="25400" anchor="ctr">
                    <a:lnL>
                      <a:noFill/>
                    </a:lnL>
                    <a:lnR>
                      <a:noFill/>
                    </a:lnR>
                    <a:lnT>
                      <a:noFill/>
                    </a:lnT>
                    <a:lnB>
                      <a:noFill/>
                    </a:lnB>
                    <a:solidFill>
                      <a:srgbClr val="FFFFFF"/>
                    </a:solidFill>
                  </a:tcPr>
                </a:tc>
                <a:tc>
                  <a:txBody>
                    <a:bodyPr/>
                    <a:lstStyle/>
                    <a:p>
                      <a:pPr algn="ctr"/>
                      <a:r>
                        <a:rPr lang="fr-FR" sz="1350" b="1" i="0" u="none" noProof="0" dirty="0">
                          <a:solidFill>
                            <a:srgbClr val="0284C7"/>
                          </a:solidFill>
                          <a:latin typeface="JetBrains Mono"/>
                        </a:rPr>
                        <a:t>128</a:t>
                      </a:r>
                    </a:p>
                  </a:txBody>
                  <a:tcPr marL="63500" marR="63500" marT="25400" marB="25400" anchor="ctr">
                    <a:lnL>
                      <a:noFill/>
                    </a:lnL>
                    <a:lnR>
                      <a:noFill/>
                    </a:lnR>
                    <a:lnT>
                      <a:noFill/>
                    </a:lnT>
                    <a:lnB>
                      <a:noFill/>
                    </a:lnB>
                    <a:solidFill>
                      <a:srgbClr val="FFFFFF"/>
                    </a:solidFill>
                  </a:tcPr>
                </a:tc>
                <a:tc>
                  <a:txBody>
                    <a:bodyPr/>
                    <a:lstStyle/>
                    <a:p>
                      <a:pPr algn="ctr"/>
                      <a:r>
                        <a:rPr lang="fr-FR" sz="1350" b="1" i="0" u="none" noProof="0" dirty="0">
                          <a:solidFill>
                            <a:srgbClr val="0F172A"/>
                          </a:solidFill>
                          <a:latin typeface="JetBrains Mono"/>
                        </a:rPr>
                        <a:t>0</a:t>
                      </a:r>
                    </a:p>
                  </a:txBody>
                  <a:tcPr marL="63500" marR="63500" marT="25400" marB="25400" anchor="ctr">
                    <a:lnL>
                      <a:noFill/>
                    </a:lnL>
                    <a:lnR>
                      <a:noFill/>
                    </a:lnR>
                    <a:lnT>
                      <a:noFill/>
                    </a:lnT>
                    <a:lnB>
                      <a:noFill/>
                    </a:lnB>
                    <a:solidFill>
                      <a:srgbClr val="FFFFFF"/>
                    </a:solidFill>
                  </a:tcPr>
                </a:tc>
                <a:tc>
                  <a:txBody>
                    <a:bodyPr/>
                    <a:lstStyle/>
                    <a:p>
                      <a:pPr algn="ctr"/>
                      <a:r>
                        <a:rPr lang="fr-FR" sz="1350" b="1" i="0" u="none" noProof="0" dirty="0">
                          <a:solidFill>
                            <a:srgbClr val="0284C7"/>
                          </a:solidFill>
                          <a:latin typeface="JetBrains Mono"/>
                        </a:rPr>
                        <a:t>32</a:t>
                      </a:r>
                    </a:p>
                  </a:txBody>
                  <a:tcPr marL="63500" marR="63500" marT="25400" marB="25400" anchor="ctr">
                    <a:lnL>
                      <a:noFill/>
                    </a:lnL>
                    <a:lnR>
                      <a:noFill/>
                    </a:lnR>
                    <a:lnT>
                      <a:noFill/>
                    </a:lnT>
                    <a:lnB>
                      <a:noFill/>
                    </a:lnB>
                    <a:solidFill>
                      <a:srgbClr val="FFFFFF"/>
                    </a:solidFill>
                  </a:tcPr>
                </a:tc>
                <a:tc>
                  <a:txBody>
                    <a:bodyPr/>
                    <a:lstStyle/>
                    <a:p>
                      <a:pPr algn="ctr"/>
                      <a:r>
                        <a:rPr lang="fr-FR" sz="1350" b="1" i="0" u="none" noProof="0" dirty="0">
                          <a:solidFill>
                            <a:srgbClr val="0F172A"/>
                          </a:solidFill>
                          <a:latin typeface="JetBrains Mono"/>
                        </a:rPr>
                        <a:t>0</a:t>
                      </a:r>
                    </a:p>
                  </a:txBody>
                  <a:tcPr marL="63500" marR="63500" marT="25400" marB="25400" anchor="ctr">
                    <a:lnL>
                      <a:noFill/>
                    </a:lnL>
                    <a:lnR>
                      <a:noFill/>
                    </a:lnR>
                    <a:lnT>
                      <a:noFill/>
                    </a:lnT>
                    <a:lnB>
                      <a:noFill/>
                    </a:lnB>
                    <a:solidFill>
                      <a:srgbClr val="FFFFFF"/>
                    </a:solidFill>
                  </a:tcPr>
                </a:tc>
                <a:tc>
                  <a:txBody>
                    <a:bodyPr/>
                    <a:lstStyle/>
                    <a:p>
                      <a:pPr algn="ctr"/>
                      <a:r>
                        <a:rPr lang="fr-FR" sz="1350" b="1" i="0" u="none" noProof="0" dirty="0">
                          <a:solidFill>
                            <a:srgbClr val="0284C7"/>
                          </a:solidFill>
                          <a:latin typeface="JetBrains Mono"/>
                        </a:rPr>
                        <a:t>8</a:t>
                      </a:r>
                    </a:p>
                  </a:txBody>
                  <a:tcPr marL="63500" marR="63500" marT="25400" marB="25400" anchor="ctr">
                    <a:lnL>
                      <a:noFill/>
                    </a:lnL>
                    <a:lnR>
                      <a:noFill/>
                    </a:lnR>
                    <a:lnT>
                      <a:noFill/>
                    </a:lnT>
                    <a:lnB>
                      <a:noFill/>
                    </a:lnB>
                    <a:solidFill>
                      <a:srgbClr val="FFFFFF"/>
                    </a:solidFill>
                  </a:tcPr>
                </a:tc>
                <a:tc>
                  <a:txBody>
                    <a:bodyPr/>
                    <a:lstStyle/>
                    <a:p>
                      <a:pPr algn="ctr"/>
                      <a:r>
                        <a:rPr lang="fr-FR" sz="1350" b="1" i="0" u="none" noProof="0" dirty="0">
                          <a:solidFill>
                            <a:srgbClr val="0284C7"/>
                          </a:solidFill>
                          <a:latin typeface="JetBrains Mono"/>
                        </a:rPr>
                        <a:t>4</a:t>
                      </a:r>
                    </a:p>
                  </a:txBody>
                  <a:tcPr marL="63500" marR="63500" marT="25400" marB="25400" anchor="ctr">
                    <a:lnL>
                      <a:noFill/>
                    </a:lnL>
                    <a:lnR>
                      <a:noFill/>
                    </a:lnR>
                    <a:lnT>
                      <a:noFill/>
                    </a:lnT>
                    <a:lnB>
                      <a:noFill/>
                    </a:lnB>
                    <a:solidFill>
                      <a:srgbClr val="FFFFFF"/>
                    </a:solidFill>
                  </a:tcPr>
                </a:tc>
                <a:tc>
                  <a:txBody>
                    <a:bodyPr/>
                    <a:lstStyle/>
                    <a:p>
                      <a:pPr algn="ctr"/>
                      <a:r>
                        <a:rPr lang="fr-FR" sz="1350" b="1" i="0" u="none" noProof="0" dirty="0">
                          <a:solidFill>
                            <a:srgbClr val="0F172A"/>
                          </a:solidFill>
                          <a:latin typeface="JetBrains Mono"/>
                        </a:rPr>
                        <a:t>0</a:t>
                      </a:r>
                    </a:p>
                  </a:txBody>
                  <a:tcPr marL="63500" marR="63500" marT="25400" marB="25400" anchor="ctr">
                    <a:lnL>
                      <a:noFill/>
                    </a:lnL>
                    <a:lnR>
                      <a:noFill/>
                    </a:lnR>
                    <a:lnT>
                      <a:noFill/>
                    </a:lnT>
                    <a:lnB>
                      <a:noFill/>
                    </a:lnB>
                    <a:solidFill>
                      <a:srgbClr val="FFFFFF"/>
                    </a:solidFill>
                  </a:tcPr>
                </a:tc>
                <a:tc>
                  <a:txBody>
                    <a:bodyPr/>
                    <a:lstStyle/>
                    <a:p>
                      <a:pPr algn="ctr"/>
                      <a:r>
                        <a:rPr lang="fr-FR" sz="1350" b="1" i="0" u="none" noProof="0" dirty="0">
                          <a:solidFill>
                            <a:srgbClr val="0F172A"/>
                          </a:solidFill>
                          <a:latin typeface="JetBrains Mono"/>
                        </a:rPr>
                        <a:t>0</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457200" y="381000"/>
            <a:ext cx="4813101"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Conversion : Binaire ➔ Décimal</a:t>
            </a:r>
          </a:p>
        </p:txBody>
      </p:sp>
      <p:sp>
        <p:nvSpPr>
          <p:cNvPr id="8" name="TextBox 7"/>
          <p:cNvSpPr txBox="1"/>
          <p:nvPr/>
        </p:nvSpPr>
        <p:spPr>
          <a:xfrm>
            <a:off x="10210800" y="457200"/>
            <a:ext cx="19050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METHODE PAR ADDITION</a:t>
            </a:r>
          </a:p>
        </p:txBody>
      </p:sp>
      <p:sp>
        <p:nvSpPr>
          <p:cNvPr id="9" name="TextBox 8"/>
          <p:cNvSpPr txBox="1"/>
          <p:nvPr/>
        </p:nvSpPr>
        <p:spPr>
          <a:xfrm>
            <a:off x="457200" y="1996529"/>
            <a:ext cx="11372850" cy="262830"/>
          </a:xfrm>
          <a:prstGeom prst="rect">
            <a:avLst/>
          </a:prstGeom>
          <a:noFill/>
        </p:spPr>
        <p:txBody>
          <a:bodyPr wrap="square" lIns="0" tIns="0" rIns="0" bIns="0" anchor="t">
            <a:spAutoFit/>
          </a:bodyPr>
          <a:lstStyle/>
          <a:p>
            <a:pPr algn="l"/>
            <a:r>
              <a:rPr lang="fr-FR" sz="1350" b="0" i="0" u="none" noProof="0" dirty="0">
                <a:solidFill>
                  <a:srgbClr val="334155"/>
                </a:solidFill>
                <a:latin typeface="Inter"/>
              </a:rPr>
              <a:t>Exemple Guidé : Convertir </a:t>
            </a:r>
            <a:r>
              <a:rPr lang="fr-FR" sz="1350" b="1" i="0" u="none" noProof="0" dirty="0">
                <a:solidFill>
                  <a:srgbClr val="0284C7"/>
                </a:solidFill>
                <a:latin typeface="Inter"/>
              </a:rPr>
              <a:t>10101100</a:t>
            </a:r>
            <a:r>
              <a:rPr lang="fr-FR" sz="1125" b="1" i="0" u="none" noProof="0" dirty="0">
                <a:solidFill>
                  <a:srgbClr val="0284C7"/>
                </a:solidFill>
                <a:latin typeface="Inter"/>
              </a:rPr>
              <a:t>2</a:t>
            </a:r>
            <a:r>
              <a:rPr lang="fr-FR" sz="1350" b="0" i="0" u="none" noProof="0" dirty="0">
                <a:solidFill>
                  <a:srgbClr val="334155"/>
                </a:solidFill>
                <a:latin typeface="Inter"/>
              </a:rPr>
              <a:t> en Décimal</a:t>
            </a:r>
          </a:p>
        </p:txBody>
      </p:sp>
      <p:sp>
        <p:nvSpPr>
          <p:cNvPr id="12" name="TextBox 11"/>
          <p:cNvSpPr txBox="1"/>
          <p:nvPr/>
        </p:nvSpPr>
        <p:spPr>
          <a:xfrm>
            <a:off x="-375046" y="3935759"/>
            <a:ext cx="12942093" cy="285750"/>
          </a:xfrm>
          <a:prstGeom prst="rect">
            <a:avLst/>
          </a:prstGeom>
          <a:noFill/>
        </p:spPr>
        <p:txBody>
          <a:bodyPr wrap="square" lIns="0" tIns="0" rIns="0" bIns="0" anchor="t">
            <a:spAutoFit/>
          </a:bodyPr>
          <a:lstStyle/>
          <a:p>
            <a:pPr algn="ctr"/>
            <a:r>
              <a:rPr lang="fr-FR" sz="1500" b="1" i="0" u="none" noProof="0" dirty="0">
                <a:solidFill>
                  <a:srgbClr val="0369A1"/>
                </a:solidFill>
                <a:latin typeface="JetBrains Mono"/>
              </a:rPr>
              <a:t>Calcul : 128 + 32 + 8 + 4 = 172</a:t>
            </a:r>
            <a:r>
              <a:rPr lang="fr-FR" sz="1250" b="1" i="0" u="none" noProof="0" dirty="0">
                <a:solidFill>
                  <a:srgbClr val="0369A1"/>
                </a:solidFill>
                <a:latin typeface="JetBrains Mono"/>
              </a:rPr>
              <a:t>10</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457200" y="3821459"/>
            <a:ext cx="11277600" cy="571500"/>
          </a:xfrm>
          <a:prstGeom prst="roundRect">
            <a:avLst>
              <a:gd name="adj" fmla="val 13333"/>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Rounded Rectangle 4"/>
          <p:cNvSpPr/>
          <p:nvPr/>
        </p:nvSpPr>
        <p:spPr>
          <a:xfrm>
            <a:off x="457200" y="2345084"/>
            <a:ext cx="11277600" cy="390525"/>
          </a:xfrm>
          <a:prstGeom prst="roundRect">
            <a:avLst>
              <a:gd name="adj" fmla="val 1463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 name="Rectangle 5"/>
          <p:cNvSpPr/>
          <p:nvPr/>
        </p:nvSpPr>
        <p:spPr>
          <a:xfrm>
            <a:off x="457200" y="2345084"/>
            <a:ext cx="38100" cy="390525"/>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Rounded Rectangle 6"/>
          <p:cNvSpPr/>
          <p:nvPr/>
        </p:nvSpPr>
        <p:spPr>
          <a:xfrm>
            <a:off x="457200" y="2811809"/>
            <a:ext cx="11277600" cy="390525"/>
          </a:xfrm>
          <a:prstGeom prst="roundRect">
            <a:avLst>
              <a:gd name="adj" fmla="val 1463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8" name="Rectangle 7"/>
          <p:cNvSpPr/>
          <p:nvPr/>
        </p:nvSpPr>
        <p:spPr>
          <a:xfrm>
            <a:off x="457200" y="2811809"/>
            <a:ext cx="38100" cy="390525"/>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9" name="Rounded Rectangle 8"/>
          <p:cNvSpPr/>
          <p:nvPr/>
        </p:nvSpPr>
        <p:spPr>
          <a:xfrm>
            <a:off x="457200" y="3278534"/>
            <a:ext cx="11277600" cy="390525"/>
          </a:xfrm>
          <a:prstGeom prst="roundRect">
            <a:avLst>
              <a:gd name="adj" fmla="val 1463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0" name="Rectangle 9"/>
          <p:cNvSpPr/>
          <p:nvPr/>
        </p:nvSpPr>
        <p:spPr>
          <a:xfrm>
            <a:off x="457200" y="3278534"/>
            <a:ext cx="38100" cy="390525"/>
          </a:xfrm>
          <a:prstGeom prst="rect">
            <a:avLst/>
          </a:prstGeom>
          <a:solidFill>
            <a:srgbClr val="94A3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11" name="TextBox 10"/>
          <p:cNvSpPr txBox="1"/>
          <p:nvPr/>
        </p:nvSpPr>
        <p:spPr>
          <a:xfrm>
            <a:off x="457200" y="381000"/>
            <a:ext cx="7388423"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Conversion : Décimal ➔ Binaire (Soustractions)</a:t>
            </a:r>
          </a:p>
        </p:txBody>
      </p:sp>
      <p:sp>
        <p:nvSpPr>
          <p:cNvPr id="12" name="TextBox 11"/>
          <p:cNvSpPr txBox="1"/>
          <p:nvPr/>
        </p:nvSpPr>
        <p:spPr>
          <a:xfrm>
            <a:off x="10210800" y="457200"/>
            <a:ext cx="19050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CALCUL MENTAL RAPIDE</a:t>
            </a:r>
          </a:p>
        </p:txBody>
      </p:sp>
      <p:sp>
        <p:nvSpPr>
          <p:cNvPr id="13" name="TextBox 12"/>
          <p:cNvSpPr txBox="1"/>
          <p:nvPr/>
        </p:nvSpPr>
        <p:spPr>
          <a:xfrm>
            <a:off x="457200" y="1987004"/>
            <a:ext cx="11734800" cy="243780"/>
          </a:xfrm>
          <a:prstGeom prst="rect">
            <a:avLst/>
          </a:prstGeom>
          <a:noFill/>
        </p:spPr>
        <p:txBody>
          <a:bodyPr wrap="none" lIns="0" tIns="0" rIns="0" bIns="0" anchor="t">
            <a:spAutoFit/>
          </a:bodyPr>
          <a:lstStyle/>
          <a:p>
            <a:pPr algn="l"/>
            <a:r>
              <a:rPr lang="fr-FR" sz="1350" b="0" i="0" u="none" noProof="0" dirty="0">
                <a:solidFill>
                  <a:srgbClr val="334155"/>
                </a:solidFill>
                <a:latin typeface="Inter"/>
              </a:rPr>
              <a:t>Objectif : Convertir </a:t>
            </a:r>
            <a:r>
              <a:rPr lang="fr-FR" sz="1350" b="1" i="0" u="none" noProof="0" dirty="0">
                <a:solidFill>
                  <a:srgbClr val="0284C7"/>
                </a:solidFill>
                <a:latin typeface="Inter"/>
              </a:rPr>
              <a:t>192</a:t>
            </a:r>
            <a:r>
              <a:rPr lang="fr-FR" sz="1125" b="1" i="0" u="none" noProof="0" dirty="0">
                <a:solidFill>
                  <a:srgbClr val="0284C7"/>
                </a:solidFill>
                <a:latin typeface="Inter"/>
              </a:rPr>
              <a:t>10</a:t>
            </a:r>
            <a:r>
              <a:rPr lang="fr-FR" sz="1350" b="0" i="0" u="none" noProof="0" dirty="0">
                <a:solidFill>
                  <a:srgbClr val="334155"/>
                </a:solidFill>
                <a:latin typeface="Inter"/>
              </a:rPr>
              <a:t> en binaire (Méthode préférée pour le réseau)</a:t>
            </a:r>
          </a:p>
        </p:txBody>
      </p:sp>
      <p:sp>
        <p:nvSpPr>
          <p:cNvPr id="16" name="TextBox 15"/>
          <p:cNvSpPr txBox="1"/>
          <p:nvPr/>
        </p:nvSpPr>
        <p:spPr>
          <a:xfrm>
            <a:off x="609600" y="2440334"/>
            <a:ext cx="11068050" cy="200025"/>
          </a:xfrm>
          <a:prstGeom prst="rect">
            <a:avLst/>
          </a:prstGeom>
          <a:noFill/>
        </p:spPr>
        <p:txBody>
          <a:bodyPr wrap="square" lIns="0" tIns="0" rIns="0" bIns="0" anchor="t">
            <a:spAutoFit/>
          </a:bodyPr>
          <a:lstStyle/>
          <a:p>
            <a:pPr algn="l"/>
            <a:r>
              <a:rPr lang="fr-FR" sz="1200" b="0" i="0" u="none" noProof="0" dirty="0">
                <a:solidFill>
                  <a:srgbClr val="1E293B"/>
                </a:solidFill>
                <a:latin typeface="JetBrains Mono"/>
              </a:rPr>
              <a:t>192 ≥ 128 ? </a:t>
            </a:r>
            <a:r>
              <a:rPr lang="fr-FR" sz="1200" b="1" i="0" u="none" noProof="0" dirty="0">
                <a:solidFill>
                  <a:srgbClr val="1E293B"/>
                </a:solidFill>
                <a:latin typeface="JetBrains Mono"/>
              </a:rPr>
              <a:t>OUI</a:t>
            </a:r>
            <a:r>
              <a:rPr lang="fr-FR" sz="1200" b="0" i="0" u="none" noProof="0" dirty="0">
                <a:solidFill>
                  <a:srgbClr val="1E293B"/>
                </a:solidFill>
                <a:latin typeface="JetBrains Mono"/>
              </a:rPr>
              <a:t> ➔ Poser </a:t>
            </a:r>
            <a:r>
              <a:rPr lang="fr-FR" sz="1200" b="1" i="0" u="none" noProof="0" dirty="0">
                <a:solidFill>
                  <a:srgbClr val="1E293B"/>
                </a:solidFill>
                <a:latin typeface="JetBrains Mono"/>
              </a:rPr>
              <a:t>1</a:t>
            </a:r>
            <a:r>
              <a:rPr lang="fr-FR" sz="1200" b="0" i="0" u="none" noProof="0" dirty="0">
                <a:solidFill>
                  <a:srgbClr val="1E293B"/>
                </a:solidFill>
                <a:latin typeface="JetBrains Mono"/>
              </a:rPr>
              <a:t> (Reste : 192 - 128 = 64)</a:t>
            </a:r>
          </a:p>
        </p:txBody>
      </p:sp>
      <p:sp>
        <p:nvSpPr>
          <p:cNvPr id="17" name="TextBox 16"/>
          <p:cNvSpPr txBox="1"/>
          <p:nvPr/>
        </p:nvSpPr>
        <p:spPr>
          <a:xfrm>
            <a:off x="609600" y="2907059"/>
            <a:ext cx="11068050" cy="200025"/>
          </a:xfrm>
          <a:prstGeom prst="rect">
            <a:avLst/>
          </a:prstGeom>
          <a:noFill/>
        </p:spPr>
        <p:txBody>
          <a:bodyPr wrap="square" lIns="0" tIns="0" rIns="0" bIns="0" anchor="t">
            <a:spAutoFit/>
          </a:bodyPr>
          <a:lstStyle/>
          <a:p>
            <a:pPr algn="l"/>
            <a:r>
              <a:rPr lang="fr-FR" sz="1200" b="0" i="0" u="none" noProof="0" dirty="0">
                <a:solidFill>
                  <a:srgbClr val="1E293B"/>
                </a:solidFill>
                <a:latin typeface="JetBrains Mono"/>
              </a:rPr>
              <a:t>64 ≥ 64 ? </a:t>
            </a:r>
            <a:r>
              <a:rPr lang="fr-FR" sz="1200" b="1" i="0" u="none" noProof="0" dirty="0">
                <a:solidFill>
                  <a:srgbClr val="1E293B"/>
                </a:solidFill>
                <a:latin typeface="JetBrains Mono"/>
              </a:rPr>
              <a:t>OUI</a:t>
            </a:r>
            <a:r>
              <a:rPr lang="fr-FR" sz="1200" b="0" i="0" u="none" noProof="0" dirty="0">
                <a:solidFill>
                  <a:srgbClr val="1E293B"/>
                </a:solidFill>
                <a:latin typeface="JetBrains Mono"/>
              </a:rPr>
              <a:t> ➔ Poser </a:t>
            </a:r>
            <a:r>
              <a:rPr lang="fr-FR" sz="1200" b="1" i="0" u="none" noProof="0" dirty="0">
                <a:solidFill>
                  <a:srgbClr val="1E293B"/>
                </a:solidFill>
                <a:latin typeface="JetBrains Mono"/>
              </a:rPr>
              <a:t>1</a:t>
            </a:r>
            <a:r>
              <a:rPr lang="fr-FR" sz="1200" b="0" i="0" u="none" noProof="0" dirty="0">
                <a:solidFill>
                  <a:srgbClr val="1E293B"/>
                </a:solidFill>
                <a:latin typeface="JetBrains Mono"/>
              </a:rPr>
              <a:t> (Reste : 64 - 64 = 0)</a:t>
            </a:r>
          </a:p>
        </p:txBody>
      </p:sp>
      <p:sp>
        <p:nvSpPr>
          <p:cNvPr id="18" name="TextBox 17"/>
          <p:cNvSpPr txBox="1"/>
          <p:nvPr/>
        </p:nvSpPr>
        <p:spPr>
          <a:xfrm>
            <a:off x="609600" y="3373784"/>
            <a:ext cx="11068050" cy="200025"/>
          </a:xfrm>
          <a:prstGeom prst="rect">
            <a:avLst/>
          </a:prstGeom>
          <a:noFill/>
        </p:spPr>
        <p:txBody>
          <a:bodyPr wrap="square" lIns="0" tIns="0" rIns="0" bIns="0" anchor="t">
            <a:spAutoFit/>
          </a:bodyPr>
          <a:lstStyle/>
          <a:p>
            <a:pPr algn="l"/>
            <a:r>
              <a:rPr lang="fr-FR" sz="1200" b="0" i="0" u="none" noProof="0" dirty="0">
                <a:solidFill>
                  <a:srgbClr val="1E293B"/>
                </a:solidFill>
                <a:latin typeface="JetBrains Mono"/>
              </a:rPr>
              <a:t>Reste nul ➔ Tous les bits suivants passent à </a:t>
            </a:r>
            <a:r>
              <a:rPr lang="fr-FR" sz="1200" b="1" i="0" u="none" noProof="0" dirty="0">
                <a:solidFill>
                  <a:srgbClr val="1E293B"/>
                </a:solidFill>
                <a:latin typeface="JetBrains Mono"/>
              </a:rPr>
              <a:t>0</a:t>
            </a:r>
            <a:r>
              <a:rPr lang="fr-FR" sz="1200" b="0" i="0" u="none" noProof="0" dirty="0">
                <a:solidFill>
                  <a:srgbClr val="1E293B"/>
                </a:solidFill>
                <a:latin typeface="JetBrains Mono"/>
              </a:rPr>
              <a:t> (32, 16, 8, 4, 2, 1)</a:t>
            </a:r>
          </a:p>
        </p:txBody>
      </p:sp>
      <p:sp>
        <p:nvSpPr>
          <p:cNvPr id="19" name="TextBox 18"/>
          <p:cNvSpPr txBox="1"/>
          <p:nvPr/>
        </p:nvSpPr>
        <p:spPr>
          <a:xfrm>
            <a:off x="-386953" y="3964334"/>
            <a:ext cx="12965906" cy="285750"/>
          </a:xfrm>
          <a:prstGeom prst="rect">
            <a:avLst/>
          </a:prstGeom>
          <a:noFill/>
        </p:spPr>
        <p:txBody>
          <a:bodyPr wrap="square" lIns="0" tIns="0" rIns="0" bIns="0" anchor="t">
            <a:spAutoFit/>
          </a:bodyPr>
          <a:lstStyle/>
          <a:p>
            <a:pPr algn="ctr"/>
            <a:r>
              <a:rPr lang="fr-FR" sz="1500" b="1" i="0" u="none" noProof="0" dirty="0">
                <a:solidFill>
                  <a:srgbClr val="166534"/>
                </a:solidFill>
                <a:latin typeface="JetBrains Mono"/>
              </a:rPr>
              <a:t>Résultat : 192</a:t>
            </a:r>
            <a:r>
              <a:rPr lang="fr-FR" sz="1250" b="1" i="0" u="none" noProof="0" dirty="0">
                <a:solidFill>
                  <a:srgbClr val="166534"/>
                </a:solidFill>
                <a:latin typeface="JetBrains Mono"/>
              </a:rPr>
              <a:t>10</a:t>
            </a:r>
            <a:r>
              <a:rPr lang="fr-FR" sz="1500" b="1" i="0" u="none" noProof="0" dirty="0">
                <a:solidFill>
                  <a:srgbClr val="166534"/>
                </a:solidFill>
                <a:latin typeface="JetBrains Mono"/>
              </a:rPr>
              <a:t> = 11000000</a:t>
            </a:r>
            <a:r>
              <a:rPr lang="fr-FR" sz="1250" b="1" i="0" u="none" noProof="0" dirty="0">
                <a:solidFill>
                  <a:srgbClr val="166534"/>
                </a:solidFill>
                <a:latin typeface="JetBrains Mono"/>
              </a:rPr>
              <a:t>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Rounded Rectangle 2"/>
          <p:cNvSpPr/>
          <p:nvPr/>
        </p:nvSpPr>
        <p:spPr>
          <a:xfrm>
            <a:off x="6048375" y="2362200"/>
            <a:ext cx="5686425" cy="1693515"/>
          </a:xfrm>
          <a:prstGeom prst="roundRect">
            <a:avLst>
              <a:gd name="adj" fmla="val 6749"/>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Rounded Rectangle 4"/>
          <p:cNvSpPr/>
          <p:nvPr/>
        </p:nvSpPr>
        <p:spPr>
          <a:xfrm>
            <a:off x="457200" y="2814637"/>
            <a:ext cx="5286375" cy="1123950"/>
          </a:xfrm>
          <a:prstGeom prst="roundRect">
            <a:avLst>
              <a:gd name="adj" fmla="val 6779"/>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pic>
        <p:nvPicPr>
          <p:cNvPr id="6" name="Picture 5" descr="image.png"/>
          <p:cNvPicPr>
            <a:picLocks noChangeAspect="1"/>
          </p:cNvPicPr>
          <p:nvPr/>
        </p:nvPicPr>
        <p:blipFill>
          <a:blip r:embed="rId3"/>
          <a:stretch>
            <a:fillRect/>
          </a:stretch>
        </p:blipFill>
        <p:spPr>
          <a:xfrm>
            <a:off x="8777287" y="2562225"/>
            <a:ext cx="228600" cy="304800"/>
          </a:xfrm>
          <a:prstGeom prst="rect">
            <a:avLst/>
          </a:prstGeom>
        </p:spPr>
      </p:pic>
      <p:sp>
        <p:nvSpPr>
          <p:cNvPr id="7" name="TextBox 6"/>
          <p:cNvSpPr txBox="1"/>
          <p:nvPr/>
        </p:nvSpPr>
        <p:spPr>
          <a:xfrm>
            <a:off x="457200" y="381000"/>
            <a:ext cx="6350793"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Conversion : Divisions Successives par 2</a:t>
            </a:r>
          </a:p>
        </p:txBody>
      </p:sp>
      <p:sp>
        <p:nvSpPr>
          <p:cNvPr id="8" name="TextBox 7"/>
          <p:cNvSpPr txBox="1"/>
          <p:nvPr/>
        </p:nvSpPr>
        <p:spPr>
          <a:xfrm>
            <a:off x="10363200" y="457200"/>
            <a:ext cx="17145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ALGORITHME GENERAL</a:t>
            </a:r>
          </a:p>
        </p:txBody>
      </p:sp>
      <p:sp>
        <p:nvSpPr>
          <p:cNvPr id="11" name="TextBox 10"/>
          <p:cNvSpPr txBox="1"/>
          <p:nvPr/>
        </p:nvSpPr>
        <p:spPr>
          <a:xfrm>
            <a:off x="457200" y="2479476"/>
            <a:ext cx="6607968" cy="220860"/>
          </a:xfrm>
          <a:prstGeom prst="rect">
            <a:avLst/>
          </a:prstGeom>
          <a:noFill/>
        </p:spPr>
        <p:txBody>
          <a:bodyPr wrap="none" lIns="0" tIns="0" rIns="0" bIns="0" anchor="t">
            <a:spAutoFit/>
          </a:bodyPr>
          <a:lstStyle/>
          <a:p>
            <a:pPr algn="l"/>
            <a:r>
              <a:rPr lang="fr-FR" sz="1200" b="0" i="0" u="none" noProof="0" dirty="0">
                <a:solidFill>
                  <a:srgbClr val="334155"/>
                </a:solidFill>
                <a:latin typeface="Inter"/>
              </a:rPr>
              <a:t>Convertir </a:t>
            </a:r>
            <a:r>
              <a:rPr lang="fr-FR" sz="1200" b="1" i="0" u="none" noProof="0" dirty="0">
                <a:solidFill>
                  <a:srgbClr val="0284C7"/>
                </a:solidFill>
                <a:latin typeface="Inter"/>
              </a:rPr>
              <a:t>13</a:t>
            </a:r>
            <a:r>
              <a:rPr lang="fr-FR" sz="999" b="1" i="0" u="none" noProof="0" dirty="0">
                <a:solidFill>
                  <a:srgbClr val="0284C7"/>
                </a:solidFill>
                <a:latin typeface="Inter"/>
              </a:rPr>
              <a:t>10</a:t>
            </a:r>
            <a:r>
              <a:rPr lang="fr-FR" sz="1200" b="0" i="0" u="none" noProof="0" dirty="0">
                <a:solidFill>
                  <a:srgbClr val="334155"/>
                </a:solidFill>
                <a:latin typeface="Inter"/>
              </a:rPr>
              <a:t> en binaire :</a:t>
            </a:r>
          </a:p>
        </p:txBody>
      </p:sp>
      <p:sp>
        <p:nvSpPr>
          <p:cNvPr id="12" name="TextBox 11"/>
          <p:cNvSpPr txBox="1"/>
          <p:nvPr/>
        </p:nvSpPr>
        <p:spPr>
          <a:xfrm>
            <a:off x="5589389" y="2981325"/>
            <a:ext cx="6604396" cy="219075"/>
          </a:xfrm>
          <a:prstGeom prst="rect">
            <a:avLst/>
          </a:prstGeom>
          <a:noFill/>
        </p:spPr>
        <p:txBody>
          <a:bodyPr wrap="none" lIns="0" tIns="0" rIns="0" bIns="0" anchor="t">
            <a:spAutoFit/>
          </a:bodyPr>
          <a:lstStyle/>
          <a:p>
            <a:pPr algn="ctr"/>
            <a:r>
              <a:rPr lang="fr-FR" sz="1350" b="1" i="0" u="none" noProof="0" dirty="0">
                <a:solidFill>
                  <a:srgbClr val="0F172A"/>
                </a:solidFill>
                <a:latin typeface="Space Grotesk"/>
              </a:rPr>
              <a:t>Lecture de BAS en HAUT</a:t>
            </a:r>
          </a:p>
        </p:txBody>
      </p:sp>
      <p:sp>
        <p:nvSpPr>
          <p:cNvPr id="13" name="TextBox 12"/>
          <p:cNvSpPr txBox="1"/>
          <p:nvPr/>
        </p:nvSpPr>
        <p:spPr>
          <a:xfrm>
            <a:off x="5589389" y="3276600"/>
            <a:ext cx="6604396" cy="340965"/>
          </a:xfrm>
          <a:prstGeom prst="rect">
            <a:avLst/>
          </a:prstGeom>
          <a:noFill/>
        </p:spPr>
        <p:txBody>
          <a:bodyPr wrap="none" lIns="0" tIns="0" rIns="0" bIns="0" anchor="t">
            <a:spAutoFit/>
          </a:bodyPr>
          <a:lstStyle/>
          <a:p>
            <a:pPr algn="ctr"/>
            <a:r>
              <a:rPr lang="fr-FR" sz="1800" b="1" i="0" u="none" noProof="0" dirty="0">
                <a:solidFill>
                  <a:srgbClr val="0284C7"/>
                </a:solidFill>
                <a:latin typeface="JetBrains Mono"/>
              </a:rPr>
              <a:t>1101</a:t>
            </a:r>
            <a:r>
              <a:rPr lang="fr-FR" sz="1500" b="1" i="0" u="none" noProof="0" dirty="0">
                <a:solidFill>
                  <a:srgbClr val="0284C7"/>
                </a:solidFill>
                <a:latin typeface="JetBrains Mono"/>
              </a:rPr>
              <a:t>2</a:t>
            </a:r>
          </a:p>
        </p:txBody>
      </p:sp>
      <p:sp>
        <p:nvSpPr>
          <p:cNvPr id="14" name="TextBox 13"/>
          <p:cNvSpPr txBox="1"/>
          <p:nvPr/>
        </p:nvSpPr>
        <p:spPr>
          <a:xfrm>
            <a:off x="5589389" y="3693765"/>
            <a:ext cx="6604396" cy="161925"/>
          </a:xfrm>
          <a:prstGeom prst="rect">
            <a:avLst/>
          </a:prstGeom>
          <a:noFill/>
        </p:spPr>
        <p:txBody>
          <a:bodyPr wrap="none" lIns="0" tIns="0" rIns="0" bIns="0" anchor="t">
            <a:spAutoFit/>
          </a:bodyPr>
          <a:lstStyle/>
          <a:p>
            <a:pPr algn="ctr"/>
            <a:r>
              <a:rPr lang="fr-FR" sz="1050" b="0" i="0" u="none" noProof="0" dirty="0">
                <a:solidFill>
                  <a:srgbClr val="64748B"/>
                </a:solidFill>
                <a:latin typeface="Inter"/>
              </a:rPr>
              <a:t>(8 + 4 + 0 + 1 = 13)</a:t>
            </a:r>
          </a:p>
        </p:txBody>
      </p:sp>
      <p:sp>
        <p:nvSpPr>
          <p:cNvPr id="15" name="TextBox 14"/>
          <p:cNvSpPr txBox="1"/>
          <p:nvPr/>
        </p:nvSpPr>
        <p:spPr>
          <a:xfrm>
            <a:off x="619125" y="2976562"/>
            <a:ext cx="6203156" cy="200025"/>
          </a:xfrm>
          <a:prstGeom prst="rect">
            <a:avLst/>
          </a:prstGeom>
          <a:noFill/>
        </p:spPr>
        <p:txBody>
          <a:bodyPr wrap="none" lIns="0" tIns="0" rIns="0" bIns="0" anchor="t">
            <a:spAutoFit/>
          </a:bodyPr>
          <a:lstStyle/>
          <a:p>
            <a:pPr algn="l"/>
            <a:r>
              <a:rPr lang="fr-FR" sz="1200" b="0" i="0" u="none" noProof="0" dirty="0">
                <a:solidFill>
                  <a:srgbClr val="1E293B"/>
                </a:solidFill>
                <a:latin typeface="JetBrains Mono"/>
              </a:rPr>
              <a:t>13 ÷ 2 = 6 | Reste = </a:t>
            </a:r>
            <a:r>
              <a:rPr lang="fr-FR" sz="1200" b="1" i="0" u="none" noProof="0" dirty="0">
                <a:solidFill>
                  <a:srgbClr val="DC2626"/>
                </a:solidFill>
                <a:latin typeface="JetBrains Mono"/>
              </a:rPr>
              <a:t>1</a:t>
            </a:r>
            <a:r>
              <a:rPr lang="fr-FR" sz="1200" b="0" i="0" u="none" noProof="0" dirty="0">
                <a:solidFill>
                  <a:srgbClr val="1E293B"/>
                </a:solidFill>
                <a:latin typeface="JetBrains Mono"/>
              </a:rPr>
              <a:t> (LSB)</a:t>
            </a:r>
          </a:p>
        </p:txBody>
      </p:sp>
      <p:sp>
        <p:nvSpPr>
          <p:cNvPr id="16" name="TextBox 15"/>
          <p:cNvSpPr txBox="1"/>
          <p:nvPr/>
        </p:nvSpPr>
        <p:spPr>
          <a:xfrm>
            <a:off x="619125" y="3176587"/>
            <a:ext cx="6203156" cy="200025"/>
          </a:xfrm>
          <a:prstGeom prst="rect">
            <a:avLst/>
          </a:prstGeom>
          <a:noFill/>
        </p:spPr>
        <p:txBody>
          <a:bodyPr wrap="none" lIns="0" tIns="0" rIns="0" bIns="0" anchor="t">
            <a:spAutoFit/>
          </a:bodyPr>
          <a:lstStyle/>
          <a:p>
            <a:pPr algn="l"/>
            <a:r>
              <a:rPr lang="fr-FR" sz="1200" b="0" i="0" u="none" noProof="0" dirty="0">
                <a:solidFill>
                  <a:srgbClr val="1E293B"/>
                </a:solidFill>
                <a:latin typeface="JetBrains Mono"/>
              </a:rPr>
              <a:t>6 ÷ 2 = 3 | Reste = </a:t>
            </a:r>
            <a:r>
              <a:rPr lang="fr-FR" sz="1200" b="1" i="0" u="none" noProof="0" dirty="0">
                <a:solidFill>
                  <a:srgbClr val="0284C7"/>
                </a:solidFill>
                <a:latin typeface="JetBrains Mono"/>
              </a:rPr>
              <a:t>0</a:t>
            </a:r>
          </a:p>
        </p:txBody>
      </p:sp>
      <p:sp>
        <p:nvSpPr>
          <p:cNvPr id="17" name="TextBox 16"/>
          <p:cNvSpPr txBox="1"/>
          <p:nvPr/>
        </p:nvSpPr>
        <p:spPr>
          <a:xfrm>
            <a:off x="619125" y="3376612"/>
            <a:ext cx="6203156" cy="200025"/>
          </a:xfrm>
          <a:prstGeom prst="rect">
            <a:avLst/>
          </a:prstGeom>
          <a:noFill/>
        </p:spPr>
        <p:txBody>
          <a:bodyPr wrap="none" lIns="0" tIns="0" rIns="0" bIns="0" anchor="t">
            <a:spAutoFit/>
          </a:bodyPr>
          <a:lstStyle/>
          <a:p>
            <a:pPr algn="l"/>
            <a:r>
              <a:rPr lang="fr-FR" sz="1200" b="0" i="0" u="none" noProof="0" dirty="0">
                <a:solidFill>
                  <a:srgbClr val="1E293B"/>
                </a:solidFill>
                <a:latin typeface="JetBrains Mono"/>
              </a:rPr>
              <a:t>3 ÷ 2 = 1 | Reste = </a:t>
            </a:r>
            <a:r>
              <a:rPr lang="fr-FR" sz="1200" b="1" i="0" u="none" noProof="0" dirty="0">
                <a:solidFill>
                  <a:srgbClr val="0284C7"/>
                </a:solidFill>
                <a:latin typeface="JetBrains Mono"/>
              </a:rPr>
              <a:t>1</a:t>
            </a:r>
          </a:p>
        </p:txBody>
      </p:sp>
      <p:sp>
        <p:nvSpPr>
          <p:cNvPr id="18" name="TextBox 17"/>
          <p:cNvSpPr txBox="1"/>
          <p:nvPr/>
        </p:nvSpPr>
        <p:spPr>
          <a:xfrm>
            <a:off x="619125" y="3576637"/>
            <a:ext cx="6203156" cy="200025"/>
          </a:xfrm>
          <a:prstGeom prst="rect">
            <a:avLst/>
          </a:prstGeom>
          <a:noFill/>
        </p:spPr>
        <p:txBody>
          <a:bodyPr wrap="none" lIns="0" tIns="0" rIns="0" bIns="0" anchor="t">
            <a:spAutoFit/>
          </a:bodyPr>
          <a:lstStyle/>
          <a:p>
            <a:pPr algn="l"/>
            <a:r>
              <a:rPr lang="fr-FR" sz="1200" b="0" i="0" u="none" noProof="0" dirty="0">
                <a:solidFill>
                  <a:srgbClr val="1E293B"/>
                </a:solidFill>
                <a:latin typeface="JetBrains Mono"/>
              </a:rPr>
              <a:t>1 ÷ 2 = 0 | Reste = </a:t>
            </a:r>
            <a:r>
              <a:rPr lang="fr-FR" sz="1200" b="1" i="0" u="none" noProof="0" dirty="0">
                <a:solidFill>
                  <a:srgbClr val="16A34A"/>
                </a:solidFill>
                <a:latin typeface="JetBrains Mono"/>
              </a:rPr>
              <a:t>1</a:t>
            </a:r>
            <a:r>
              <a:rPr lang="fr-FR" sz="1200" b="0" i="0" u="none" noProof="0" dirty="0">
                <a:solidFill>
                  <a:srgbClr val="1E293B"/>
                </a:solidFill>
                <a:latin typeface="JetBrains Mono"/>
              </a:rPr>
              <a:t> (MSB)</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457200" y="1999357"/>
            <a:ext cx="11277600" cy="1019175"/>
          </a:xfrm>
          <a:prstGeom prst="roundRect">
            <a:avLst>
              <a:gd name="adj" fmla="val 112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Rounded Rectangle 3"/>
          <p:cNvSpPr/>
          <p:nvPr/>
        </p:nvSpPr>
        <p:spPr>
          <a:xfrm>
            <a:off x="457200" y="3209032"/>
            <a:ext cx="11277600" cy="1019175"/>
          </a:xfrm>
          <a:prstGeom prst="roundRect">
            <a:avLst>
              <a:gd name="adj" fmla="val 11214"/>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 name="TextBox 5"/>
          <p:cNvSpPr txBox="1"/>
          <p:nvPr/>
        </p:nvSpPr>
        <p:spPr>
          <a:xfrm>
            <a:off x="457200" y="381000"/>
            <a:ext cx="5425678"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Conversion Hexadécimal ↔ Binaire</a:t>
            </a:r>
          </a:p>
        </p:txBody>
      </p:sp>
      <p:sp>
        <p:nvSpPr>
          <p:cNvPr id="7" name="TextBox 6"/>
          <p:cNvSpPr txBox="1"/>
          <p:nvPr/>
        </p:nvSpPr>
        <p:spPr>
          <a:xfrm>
            <a:off x="9372600" y="457200"/>
            <a:ext cx="28194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CORRESPONDANCE DIRECTE (NIBBLE)</a:t>
            </a:r>
          </a:p>
        </p:txBody>
      </p:sp>
      <p:sp>
        <p:nvSpPr>
          <p:cNvPr id="10" name="TextBox 9"/>
          <p:cNvSpPr txBox="1"/>
          <p:nvPr/>
        </p:nvSpPr>
        <p:spPr>
          <a:xfrm>
            <a:off x="657225" y="2199382"/>
            <a:ext cx="11534775" cy="219075"/>
          </a:xfrm>
          <a:prstGeom prst="rect">
            <a:avLst/>
          </a:prstGeom>
          <a:noFill/>
        </p:spPr>
        <p:txBody>
          <a:bodyPr wrap="none" lIns="0" tIns="0" rIns="0" bIns="0" anchor="t">
            <a:spAutoFit/>
          </a:bodyPr>
          <a:lstStyle/>
          <a:p>
            <a:pPr algn="l"/>
            <a:r>
              <a:rPr lang="fr-FR" sz="1350" b="1" i="0" u="none" noProof="0" dirty="0">
                <a:solidFill>
                  <a:srgbClr val="0F172A"/>
                </a:solidFill>
                <a:latin typeface="Space Grotesk"/>
              </a:rPr>
              <a:t>Hexa ➔ Binaire : Séparer chaque chiffre en 4 bits</a:t>
            </a:r>
          </a:p>
        </p:txBody>
      </p:sp>
      <p:sp>
        <p:nvSpPr>
          <p:cNvPr id="11" name="TextBox 10"/>
          <p:cNvSpPr txBox="1"/>
          <p:nvPr/>
        </p:nvSpPr>
        <p:spPr>
          <a:xfrm>
            <a:off x="-351234" y="2532757"/>
            <a:ext cx="12894468" cy="285750"/>
          </a:xfrm>
          <a:prstGeom prst="rect">
            <a:avLst/>
          </a:prstGeom>
          <a:noFill/>
        </p:spPr>
        <p:txBody>
          <a:bodyPr wrap="square" lIns="0" tIns="0" rIns="0" bIns="0" anchor="t">
            <a:spAutoFit/>
          </a:bodyPr>
          <a:lstStyle/>
          <a:p>
            <a:pPr algn="ctr"/>
            <a:r>
              <a:rPr lang="fr-FR" sz="1500" b="1" i="0" u="none" noProof="0" dirty="0">
                <a:solidFill>
                  <a:srgbClr val="0284C7"/>
                </a:solidFill>
                <a:latin typeface="JetBrains Mono"/>
              </a:rPr>
              <a:t>1A</a:t>
            </a:r>
            <a:r>
              <a:rPr lang="fr-FR" sz="1250" b="1" i="0" u="none" noProof="0" dirty="0">
                <a:solidFill>
                  <a:srgbClr val="0284C7"/>
                </a:solidFill>
                <a:latin typeface="JetBrains Mono"/>
              </a:rPr>
              <a:t>16</a:t>
            </a:r>
            <a:r>
              <a:rPr lang="fr-FR" sz="1500" b="1" i="0" u="none" noProof="0" dirty="0">
                <a:solidFill>
                  <a:srgbClr val="0284C7"/>
                </a:solidFill>
                <a:latin typeface="JetBrains Mono"/>
              </a:rPr>
              <a:t> ➔ (1)</a:t>
            </a:r>
            <a:r>
              <a:rPr lang="fr-FR" sz="1250" b="1" i="0" u="none" noProof="0" dirty="0">
                <a:solidFill>
                  <a:srgbClr val="0284C7"/>
                </a:solidFill>
                <a:latin typeface="JetBrains Mono"/>
              </a:rPr>
              <a:t>16</a:t>
            </a:r>
            <a:r>
              <a:rPr lang="fr-FR" sz="1500" b="1" i="0" u="none" noProof="0" dirty="0">
                <a:solidFill>
                  <a:srgbClr val="0284C7"/>
                </a:solidFill>
                <a:latin typeface="JetBrains Mono"/>
              </a:rPr>
              <a:t> (A)</a:t>
            </a:r>
            <a:r>
              <a:rPr lang="fr-FR" sz="1250" b="1" i="0" u="none" noProof="0" dirty="0">
                <a:solidFill>
                  <a:srgbClr val="0284C7"/>
                </a:solidFill>
                <a:latin typeface="JetBrains Mono"/>
              </a:rPr>
              <a:t>16</a:t>
            </a:r>
            <a:r>
              <a:rPr lang="fr-FR" sz="1500" b="1" i="0" u="none" noProof="0" dirty="0">
                <a:solidFill>
                  <a:srgbClr val="0284C7"/>
                </a:solidFill>
                <a:latin typeface="JetBrains Mono"/>
              </a:rPr>
              <a:t> ➔ </a:t>
            </a:r>
            <a:r>
              <a:rPr lang="fr-FR" sz="1500" b="1" i="0" u="none" noProof="0" dirty="0">
                <a:solidFill>
                  <a:srgbClr val="0D9488"/>
                </a:solidFill>
                <a:latin typeface="JetBrains Mono"/>
              </a:rPr>
              <a:t>0001</a:t>
            </a:r>
            <a:r>
              <a:rPr lang="fr-FR" sz="1500" b="1" i="0" u="none" noProof="0" dirty="0">
                <a:solidFill>
                  <a:srgbClr val="0284C7"/>
                </a:solidFill>
                <a:latin typeface="JetBrains Mono"/>
              </a:rPr>
              <a:t> 1010</a:t>
            </a:r>
            <a:r>
              <a:rPr lang="fr-FR" sz="1250" b="1" i="0" u="none" noProof="0" dirty="0">
                <a:solidFill>
                  <a:srgbClr val="0284C7"/>
                </a:solidFill>
                <a:latin typeface="JetBrains Mono"/>
              </a:rPr>
              <a:t>2</a:t>
            </a:r>
          </a:p>
        </p:txBody>
      </p:sp>
      <p:sp>
        <p:nvSpPr>
          <p:cNvPr id="12" name="TextBox 11"/>
          <p:cNvSpPr txBox="1"/>
          <p:nvPr/>
        </p:nvSpPr>
        <p:spPr>
          <a:xfrm>
            <a:off x="657225" y="3409057"/>
            <a:ext cx="11534775" cy="219075"/>
          </a:xfrm>
          <a:prstGeom prst="rect">
            <a:avLst/>
          </a:prstGeom>
          <a:noFill/>
        </p:spPr>
        <p:txBody>
          <a:bodyPr wrap="none" lIns="0" tIns="0" rIns="0" bIns="0" anchor="t">
            <a:spAutoFit/>
          </a:bodyPr>
          <a:lstStyle/>
          <a:p>
            <a:pPr algn="l"/>
            <a:r>
              <a:rPr lang="fr-FR" sz="1350" b="1" i="0" u="none" noProof="0" dirty="0">
                <a:solidFill>
                  <a:srgbClr val="0F172A"/>
                </a:solidFill>
                <a:latin typeface="Space Grotesk"/>
              </a:rPr>
              <a:t>Binaire ➔ Hexa : Regrouper par paquets de 4 bits depuis la droite</a:t>
            </a:r>
          </a:p>
        </p:txBody>
      </p:sp>
      <p:sp>
        <p:nvSpPr>
          <p:cNvPr id="13" name="TextBox 12"/>
          <p:cNvSpPr txBox="1"/>
          <p:nvPr/>
        </p:nvSpPr>
        <p:spPr>
          <a:xfrm>
            <a:off x="-351234" y="3742432"/>
            <a:ext cx="12894468" cy="285750"/>
          </a:xfrm>
          <a:prstGeom prst="rect">
            <a:avLst/>
          </a:prstGeom>
          <a:noFill/>
        </p:spPr>
        <p:txBody>
          <a:bodyPr wrap="square" lIns="0" tIns="0" rIns="0" bIns="0" anchor="t">
            <a:spAutoFit/>
          </a:bodyPr>
          <a:lstStyle/>
          <a:p>
            <a:pPr algn="ctr"/>
            <a:r>
              <a:rPr lang="fr-FR" sz="1500" b="1" i="0" u="none" noProof="0" dirty="0">
                <a:solidFill>
                  <a:srgbClr val="0284C7"/>
                </a:solidFill>
                <a:latin typeface="JetBrains Mono"/>
              </a:rPr>
              <a:t>11010110</a:t>
            </a:r>
            <a:r>
              <a:rPr lang="fr-FR" sz="1250" b="1" i="0" u="none" noProof="0" dirty="0">
                <a:solidFill>
                  <a:srgbClr val="0284C7"/>
                </a:solidFill>
                <a:latin typeface="JetBrains Mono"/>
              </a:rPr>
              <a:t>2</a:t>
            </a:r>
            <a:r>
              <a:rPr lang="fr-FR" sz="1500" b="1" i="0" u="none" noProof="0" dirty="0">
                <a:solidFill>
                  <a:srgbClr val="0284C7"/>
                </a:solidFill>
                <a:latin typeface="JetBrains Mono"/>
              </a:rPr>
              <a:t> ➔ </a:t>
            </a:r>
            <a:r>
              <a:rPr lang="fr-FR" sz="1500" b="1" i="0" u="none" noProof="0" dirty="0">
                <a:solidFill>
                  <a:srgbClr val="0D9488"/>
                </a:solidFill>
                <a:latin typeface="JetBrains Mono"/>
              </a:rPr>
              <a:t>(1101)</a:t>
            </a:r>
            <a:r>
              <a:rPr lang="fr-FR" sz="1500" b="1" i="0" u="none" noProof="0" dirty="0">
                <a:solidFill>
                  <a:srgbClr val="0284C7"/>
                </a:solidFill>
                <a:latin typeface="JetBrains Mono"/>
              </a:rPr>
              <a:t> (0110) ➔ D6</a:t>
            </a:r>
            <a:r>
              <a:rPr lang="fr-FR" sz="1250" b="1" i="0" u="none" noProof="0" dirty="0">
                <a:solidFill>
                  <a:srgbClr val="0284C7"/>
                </a:solidFill>
                <a:latin typeface="JetBrains Mono"/>
              </a:rPr>
              <a:t>16</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Rounded Rectangle 2"/>
          <p:cNvSpPr/>
          <p:nvPr/>
        </p:nvSpPr>
        <p:spPr>
          <a:xfrm>
            <a:off x="457200" y="1999357"/>
            <a:ext cx="11277600" cy="1019175"/>
          </a:xfrm>
          <a:prstGeom prst="roundRect">
            <a:avLst>
              <a:gd name="adj" fmla="val 1121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Rounded Rectangle 3"/>
          <p:cNvSpPr/>
          <p:nvPr/>
        </p:nvSpPr>
        <p:spPr>
          <a:xfrm>
            <a:off x="457200" y="3209032"/>
            <a:ext cx="11277600" cy="1019175"/>
          </a:xfrm>
          <a:prstGeom prst="roundRect">
            <a:avLst>
              <a:gd name="adj" fmla="val 11214"/>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 name="TextBox 5"/>
          <p:cNvSpPr txBox="1"/>
          <p:nvPr/>
        </p:nvSpPr>
        <p:spPr>
          <a:xfrm>
            <a:off x="457200" y="381000"/>
            <a:ext cx="4275534"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Conversion Octal ↔ Binaire</a:t>
            </a:r>
          </a:p>
        </p:txBody>
      </p:sp>
      <p:sp>
        <p:nvSpPr>
          <p:cNvPr id="7" name="TextBox 6"/>
          <p:cNvSpPr txBox="1"/>
          <p:nvPr/>
        </p:nvSpPr>
        <p:spPr>
          <a:xfrm>
            <a:off x="10439400" y="457200"/>
            <a:ext cx="161925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PAQUETS DE 3 BITS</a:t>
            </a:r>
          </a:p>
        </p:txBody>
      </p:sp>
      <p:sp>
        <p:nvSpPr>
          <p:cNvPr id="10" name="TextBox 9"/>
          <p:cNvSpPr txBox="1"/>
          <p:nvPr/>
        </p:nvSpPr>
        <p:spPr>
          <a:xfrm>
            <a:off x="657225" y="2199382"/>
            <a:ext cx="11534775" cy="219075"/>
          </a:xfrm>
          <a:prstGeom prst="rect">
            <a:avLst/>
          </a:prstGeom>
          <a:noFill/>
        </p:spPr>
        <p:txBody>
          <a:bodyPr wrap="none" lIns="0" tIns="0" rIns="0" bIns="0" anchor="t">
            <a:spAutoFit/>
          </a:bodyPr>
          <a:lstStyle/>
          <a:p>
            <a:pPr algn="l"/>
            <a:r>
              <a:rPr lang="fr-FR" sz="1350" b="1" i="0" u="none" noProof="0" dirty="0">
                <a:solidFill>
                  <a:srgbClr val="0F172A"/>
                </a:solidFill>
                <a:latin typeface="Space Grotesk"/>
              </a:rPr>
              <a:t>Octal ➔ Binaire : Chaque chiffre vaut 3 bits</a:t>
            </a:r>
          </a:p>
        </p:txBody>
      </p:sp>
      <p:sp>
        <p:nvSpPr>
          <p:cNvPr id="11" name="TextBox 10"/>
          <p:cNvSpPr txBox="1"/>
          <p:nvPr/>
        </p:nvSpPr>
        <p:spPr>
          <a:xfrm>
            <a:off x="-351234" y="2532757"/>
            <a:ext cx="12894468" cy="285750"/>
          </a:xfrm>
          <a:prstGeom prst="rect">
            <a:avLst/>
          </a:prstGeom>
          <a:noFill/>
        </p:spPr>
        <p:txBody>
          <a:bodyPr wrap="square" lIns="0" tIns="0" rIns="0" bIns="0" anchor="t">
            <a:spAutoFit/>
          </a:bodyPr>
          <a:lstStyle/>
          <a:p>
            <a:pPr algn="ctr"/>
            <a:r>
              <a:rPr lang="fr-FR" sz="1500" b="1" i="0" u="none" noProof="0" dirty="0">
                <a:solidFill>
                  <a:srgbClr val="0D9488"/>
                </a:solidFill>
                <a:latin typeface="JetBrains Mono"/>
              </a:rPr>
              <a:t>75</a:t>
            </a:r>
            <a:r>
              <a:rPr lang="fr-FR" sz="1250" b="1" i="0" u="none" noProof="0" dirty="0">
                <a:solidFill>
                  <a:srgbClr val="0D9488"/>
                </a:solidFill>
                <a:latin typeface="JetBrains Mono"/>
              </a:rPr>
              <a:t>8</a:t>
            </a:r>
            <a:r>
              <a:rPr lang="fr-FR" sz="1500" b="1" i="0" u="none" noProof="0" dirty="0">
                <a:solidFill>
                  <a:srgbClr val="0D9488"/>
                </a:solidFill>
                <a:latin typeface="JetBrains Mono"/>
              </a:rPr>
              <a:t> ➔ (7)</a:t>
            </a:r>
            <a:r>
              <a:rPr lang="fr-FR" sz="1250" b="1" i="0" u="none" noProof="0" dirty="0">
                <a:solidFill>
                  <a:srgbClr val="0D9488"/>
                </a:solidFill>
                <a:latin typeface="JetBrains Mono"/>
              </a:rPr>
              <a:t>8</a:t>
            </a:r>
            <a:r>
              <a:rPr lang="fr-FR" sz="1500" b="1" i="0" u="none" noProof="0" dirty="0">
                <a:solidFill>
                  <a:srgbClr val="0D9488"/>
                </a:solidFill>
                <a:latin typeface="JetBrains Mono"/>
              </a:rPr>
              <a:t> (5)</a:t>
            </a:r>
            <a:r>
              <a:rPr lang="fr-FR" sz="1250" b="1" i="0" u="none" noProof="0" dirty="0">
                <a:solidFill>
                  <a:srgbClr val="0D9488"/>
                </a:solidFill>
                <a:latin typeface="JetBrains Mono"/>
              </a:rPr>
              <a:t>8</a:t>
            </a:r>
            <a:r>
              <a:rPr lang="fr-FR" sz="1500" b="1" i="0" u="none" noProof="0" dirty="0">
                <a:solidFill>
                  <a:srgbClr val="0D9488"/>
                </a:solidFill>
                <a:latin typeface="JetBrains Mono"/>
              </a:rPr>
              <a:t> ➔ </a:t>
            </a:r>
            <a:r>
              <a:rPr lang="fr-FR" sz="1500" b="1" i="0" u="none" noProof="0" dirty="0">
                <a:solidFill>
                  <a:srgbClr val="0284C7"/>
                </a:solidFill>
                <a:latin typeface="JetBrains Mono"/>
              </a:rPr>
              <a:t>111</a:t>
            </a:r>
            <a:r>
              <a:rPr lang="fr-FR" sz="1500" b="1" i="0" u="none" noProof="0" dirty="0">
                <a:solidFill>
                  <a:srgbClr val="0D9488"/>
                </a:solidFill>
                <a:latin typeface="JetBrains Mono"/>
              </a:rPr>
              <a:t> 101</a:t>
            </a:r>
            <a:r>
              <a:rPr lang="fr-FR" sz="1250" b="1" i="0" u="none" noProof="0" dirty="0">
                <a:solidFill>
                  <a:srgbClr val="0D9488"/>
                </a:solidFill>
                <a:latin typeface="JetBrains Mono"/>
              </a:rPr>
              <a:t>2</a:t>
            </a:r>
          </a:p>
        </p:txBody>
      </p:sp>
      <p:sp>
        <p:nvSpPr>
          <p:cNvPr id="12" name="TextBox 11"/>
          <p:cNvSpPr txBox="1"/>
          <p:nvPr/>
        </p:nvSpPr>
        <p:spPr>
          <a:xfrm>
            <a:off x="657225" y="3409057"/>
            <a:ext cx="11534775" cy="219075"/>
          </a:xfrm>
          <a:prstGeom prst="rect">
            <a:avLst/>
          </a:prstGeom>
          <a:noFill/>
        </p:spPr>
        <p:txBody>
          <a:bodyPr wrap="none" lIns="0" tIns="0" rIns="0" bIns="0" anchor="t">
            <a:spAutoFit/>
          </a:bodyPr>
          <a:lstStyle/>
          <a:p>
            <a:pPr algn="l"/>
            <a:r>
              <a:rPr lang="fr-FR" sz="1350" b="1" i="0" u="none" noProof="0" dirty="0">
                <a:solidFill>
                  <a:srgbClr val="0F172A"/>
                </a:solidFill>
                <a:latin typeface="Space Grotesk"/>
              </a:rPr>
              <a:t>Binaire ➔ Octal : Regrouper par 3 bits depuis la droite</a:t>
            </a:r>
          </a:p>
        </p:txBody>
      </p:sp>
      <p:sp>
        <p:nvSpPr>
          <p:cNvPr id="13" name="TextBox 12"/>
          <p:cNvSpPr txBox="1"/>
          <p:nvPr/>
        </p:nvSpPr>
        <p:spPr>
          <a:xfrm>
            <a:off x="-351234" y="3742432"/>
            <a:ext cx="12894468" cy="285750"/>
          </a:xfrm>
          <a:prstGeom prst="rect">
            <a:avLst/>
          </a:prstGeom>
          <a:noFill/>
        </p:spPr>
        <p:txBody>
          <a:bodyPr wrap="square" lIns="0" tIns="0" rIns="0" bIns="0" anchor="t">
            <a:spAutoFit/>
          </a:bodyPr>
          <a:lstStyle/>
          <a:p>
            <a:pPr algn="ctr"/>
            <a:r>
              <a:rPr lang="fr-FR" sz="1500" b="1" i="0" u="none" noProof="0" dirty="0">
                <a:solidFill>
                  <a:srgbClr val="0D9488"/>
                </a:solidFill>
                <a:latin typeface="JetBrains Mono"/>
              </a:rPr>
              <a:t>100110</a:t>
            </a:r>
            <a:r>
              <a:rPr lang="fr-FR" sz="1250" b="1" i="0" u="none" noProof="0" dirty="0">
                <a:solidFill>
                  <a:srgbClr val="0D9488"/>
                </a:solidFill>
                <a:latin typeface="JetBrains Mono"/>
              </a:rPr>
              <a:t>2</a:t>
            </a:r>
            <a:r>
              <a:rPr lang="fr-FR" sz="1500" b="1" i="0" u="none" noProof="0" dirty="0">
                <a:solidFill>
                  <a:srgbClr val="0D9488"/>
                </a:solidFill>
                <a:latin typeface="JetBrains Mono"/>
              </a:rPr>
              <a:t> ➔ </a:t>
            </a:r>
            <a:r>
              <a:rPr lang="fr-FR" sz="1500" b="1" i="0" u="none" noProof="0" dirty="0">
                <a:solidFill>
                  <a:srgbClr val="0284C7"/>
                </a:solidFill>
                <a:latin typeface="JetBrains Mono"/>
              </a:rPr>
              <a:t>(100)</a:t>
            </a:r>
            <a:r>
              <a:rPr lang="fr-FR" sz="1500" b="1" i="0" u="none" noProof="0" dirty="0">
                <a:solidFill>
                  <a:srgbClr val="0D9488"/>
                </a:solidFill>
                <a:latin typeface="JetBrains Mono"/>
              </a:rPr>
              <a:t> (110) ➔ 46</a:t>
            </a:r>
            <a:r>
              <a:rPr lang="fr-FR" sz="1250" b="1" i="0" u="none" noProof="0" dirty="0">
                <a:solidFill>
                  <a:srgbClr val="0D9488"/>
                </a:solidFill>
                <a:latin typeface="JetBrains Mono"/>
              </a:rPr>
              <a:t>8</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ounded Rectangle 3"/>
          <p:cNvSpPr/>
          <p:nvPr/>
        </p:nvSpPr>
        <p:spPr>
          <a:xfrm>
            <a:off x="457200" y="2208907"/>
            <a:ext cx="11277600" cy="1962150"/>
          </a:xfrm>
          <a:prstGeom prst="roundRect">
            <a:avLst>
              <a:gd name="adj" fmla="val 0"/>
            </a:avLst>
          </a:prstGeom>
          <a:solidFill>
            <a:srgbClr val="F8FAF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graphicFrame>
        <p:nvGraphicFramePr>
          <p:cNvPr id="5" name="Table 4"/>
          <p:cNvGraphicFramePr>
            <a:graphicFrameLocks noGrp="1"/>
          </p:cNvGraphicFramePr>
          <p:nvPr>
            <p:extLst>
              <p:ext uri="{D42A27DB-BD31-4B8C-83A1-F6EECF244321}">
                <p14:modId xmlns:p14="http://schemas.microsoft.com/office/powerpoint/2010/main" val="3354853754"/>
              </p:ext>
            </p:extLst>
          </p:nvPr>
        </p:nvGraphicFramePr>
        <p:xfrm>
          <a:off x="457200" y="2208907"/>
          <a:ext cx="11268069" cy="2011680"/>
        </p:xfrm>
        <a:graphic>
          <a:graphicData uri="http://schemas.openxmlformats.org/drawingml/2006/table">
            <a:tbl>
              <a:tblPr/>
              <a:tblGrid>
                <a:gridCol w="1336923">
                  <a:extLst>
                    <a:ext uri="{9D8B030D-6E8A-4147-A177-3AD203B41FA5}">
                      <a16:colId xmlns:a16="http://schemas.microsoft.com/office/drawing/2014/main" val="20000"/>
                    </a:ext>
                  </a:extLst>
                </a:gridCol>
                <a:gridCol w="1329183">
                  <a:extLst>
                    <a:ext uri="{9D8B030D-6E8A-4147-A177-3AD203B41FA5}">
                      <a16:colId xmlns:a16="http://schemas.microsoft.com/office/drawing/2014/main" val="20001"/>
                    </a:ext>
                  </a:extLst>
                </a:gridCol>
                <a:gridCol w="1020067">
                  <a:extLst>
                    <a:ext uri="{9D8B030D-6E8A-4147-A177-3AD203B41FA5}">
                      <a16:colId xmlns:a16="http://schemas.microsoft.com/office/drawing/2014/main" val="20002"/>
                    </a:ext>
                  </a:extLst>
                </a:gridCol>
                <a:gridCol w="1947564">
                  <a:extLst>
                    <a:ext uri="{9D8B030D-6E8A-4147-A177-3AD203B41FA5}">
                      <a16:colId xmlns:a16="http://schemas.microsoft.com/office/drawing/2014/main" val="20003"/>
                    </a:ext>
                  </a:extLst>
                </a:gridCol>
                <a:gridCol w="1329183">
                  <a:extLst>
                    <a:ext uri="{9D8B030D-6E8A-4147-A177-3AD203B41FA5}">
                      <a16:colId xmlns:a16="http://schemas.microsoft.com/office/drawing/2014/main" val="20004"/>
                    </a:ext>
                  </a:extLst>
                </a:gridCol>
                <a:gridCol w="1329183">
                  <a:extLst>
                    <a:ext uri="{9D8B030D-6E8A-4147-A177-3AD203B41FA5}">
                      <a16:colId xmlns:a16="http://schemas.microsoft.com/office/drawing/2014/main" val="20005"/>
                    </a:ext>
                  </a:extLst>
                </a:gridCol>
                <a:gridCol w="1020067">
                  <a:extLst>
                    <a:ext uri="{9D8B030D-6E8A-4147-A177-3AD203B41FA5}">
                      <a16:colId xmlns:a16="http://schemas.microsoft.com/office/drawing/2014/main" val="20006"/>
                    </a:ext>
                  </a:extLst>
                </a:gridCol>
                <a:gridCol w="1955899">
                  <a:extLst>
                    <a:ext uri="{9D8B030D-6E8A-4147-A177-3AD203B41FA5}">
                      <a16:colId xmlns:a16="http://schemas.microsoft.com/office/drawing/2014/main" val="20007"/>
                    </a:ext>
                  </a:extLst>
                </a:gridCol>
              </a:tblGrid>
              <a:tr h="218016">
                <a:tc>
                  <a:txBody>
                    <a:bodyPr/>
                    <a:lstStyle/>
                    <a:p>
                      <a:pPr algn="ctr"/>
                      <a:r>
                        <a:rPr lang="fr-FR" sz="1200" b="1" i="0" u="none" noProof="0" dirty="0">
                          <a:solidFill>
                            <a:srgbClr val="FFFFFF"/>
                          </a:solidFill>
                          <a:latin typeface="JetBrains Mono"/>
                        </a:rPr>
                        <a:t>Décimal</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FFFFFF"/>
                          </a:solidFill>
                          <a:latin typeface="JetBrains Mono"/>
                        </a:rPr>
                        <a:t>Binaire</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FFFFFF"/>
                          </a:solidFill>
                          <a:latin typeface="JetBrains Mono"/>
                        </a:rPr>
                        <a:t>Octal</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FFFFFF"/>
                          </a:solidFill>
                          <a:latin typeface="JetBrains Mono"/>
                        </a:rPr>
                        <a:t>Hexadécimal</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FFFFFF"/>
                          </a:solidFill>
                          <a:latin typeface="JetBrains Mono"/>
                        </a:rPr>
                        <a:t>Décimal</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FFFFFF"/>
                          </a:solidFill>
                          <a:latin typeface="JetBrains Mono"/>
                        </a:rPr>
                        <a:t>Binaire</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FFFFFF"/>
                          </a:solidFill>
                          <a:latin typeface="JetBrains Mono"/>
                        </a:rPr>
                        <a:t>Octal</a:t>
                      </a:r>
                    </a:p>
                  </a:txBody>
                  <a:tcPr marL="63500" marR="63500" marT="25400" marB="25400" anchor="ctr">
                    <a:lnL>
                      <a:noFill/>
                    </a:lnL>
                    <a:lnR>
                      <a:noFill/>
                    </a:lnR>
                    <a:lnT>
                      <a:noFill/>
                    </a:lnT>
                    <a:lnB>
                      <a:noFill/>
                    </a:lnB>
                    <a:solidFill>
                      <a:srgbClr val="0F172A"/>
                    </a:solidFill>
                  </a:tcPr>
                </a:tc>
                <a:tc>
                  <a:txBody>
                    <a:bodyPr/>
                    <a:lstStyle/>
                    <a:p>
                      <a:pPr algn="ctr"/>
                      <a:r>
                        <a:rPr lang="fr-FR" sz="1200" b="1" i="0" u="none" noProof="0" dirty="0">
                          <a:solidFill>
                            <a:srgbClr val="FFFFFF"/>
                          </a:solidFill>
                          <a:latin typeface="JetBrains Mono"/>
                        </a:rPr>
                        <a:t>Hexadécimal</a:t>
                      </a:r>
                    </a:p>
                  </a:txBody>
                  <a:tcPr marL="63500" marR="63500" marT="25400" marB="25400" anchor="ctr">
                    <a:lnL>
                      <a:noFill/>
                    </a:lnL>
                    <a:lnR>
                      <a:noFill/>
                    </a:lnR>
                    <a:lnT>
                      <a:noFill/>
                    </a:lnT>
                    <a:lnB>
                      <a:noFill/>
                    </a:lnB>
                    <a:solidFill>
                      <a:srgbClr val="0F172A"/>
                    </a:solidFill>
                  </a:tcPr>
                </a:tc>
                <a:extLst>
                  <a:ext uri="{0D108BD9-81ED-4DB2-BD59-A6C34878D82A}">
                    <a16:rowId xmlns:a16="http://schemas.microsoft.com/office/drawing/2014/main" val="10000"/>
                  </a:ext>
                </a:extLst>
              </a:tr>
              <a:tr h="218016">
                <a:tc>
                  <a:txBody>
                    <a:bodyPr/>
                    <a:lstStyle/>
                    <a:p>
                      <a:pPr algn="ctr"/>
                      <a:r>
                        <a:rPr lang="fr-FR" sz="1125" b="0" i="0" u="none" noProof="0" dirty="0">
                          <a:solidFill>
                            <a:srgbClr val="334155"/>
                          </a:solidFill>
                          <a:latin typeface="JetBrains Mono"/>
                        </a:rPr>
                        <a:t>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0000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0</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334155"/>
                          </a:solidFill>
                          <a:latin typeface="JetBrains Mono"/>
                        </a:rPr>
                        <a:t>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8</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1000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10</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334155"/>
                          </a:solidFill>
                          <a:latin typeface="JetBrains Mono"/>
                        </a:rPr>
                        <a:t>8</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1"/>
                  </a:ext>
                </a:extLst>
              </a:tr>
              <a:tr h="218016">
                <a:tc>
                  <a:txBody>
                    <a:bodyPr/>
                    <a:lstStyle/>
                    <a:p>
                      <a:pPr algn="ctr"/>
                      <a:r>
                        <a:rPr lang="fr-FR" sz="1125" b="0" i="0" u="none" noProof="0" dirty="0">
                          <a:solidFill>
                            <a:srgbClr val="334155"/>
                          </a:solidFill>
                          <a:latin typeface="JetBrains Mono"/>
                        </a:rPr>
                        <a:t>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0001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334155"/>
                          </a:solidFill>
                          <a:latin typeface="JetBrains Mono"/>
                        </a:rPr>
                        <a:t>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9</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1001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11</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334155"/>
                          </a:solidFill>
                          <a:latin typeface="JetBrains Mono"/>
                        </a:rPr>
                        <a:t>9</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2"/>
                  </a:ext>
                </a:extLst>
              </a:tr>
              <a:tr h="218016">
                <a:tc>
                  <a:txBody>
                    <a:bodyPr/>
                    <a:lstStyle/>
                    <a:p>
                      <a:pPr algn="ctr"/>
                      <a:r>
                        <a:rPr lang="fr-FR" sz="1125" b="0" i="0" u="none" noProof="0" dirty="0">
                          <a:solidFill>
                            <a:srgbClr val="334155"/>
                          </a:solidFill>
                          <a:latin typeface="JetBrains Mono"/>
                        </a:rPr>
                        <a:t>2</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0010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2</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334155"/>
                          </a:solidFill>
                          <a:latin typeface="JetBrains Mono"/>
                        </a:rPr>
                        <a:t>2</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1010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12</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0284C7"/>
                          </a:solidFill>
                          <a:latin typeface="JetBrains Mono"/>
                        </a:rPr>
                        <a:t>A</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3"/>
                  </a:ext>
                </a:extLst>
              </a:tr>
              <a:tr h="218016">
                <a:tc>
                  <a:txBody>
                    <a:bodyPr/>
                    <a:lstStyle/>
                    <a:p>
                      <a:pPr algn="ctr"/>
                      <a:r>
                        <a:rPr lang="fr-FR" sz="1125" b="0" i="0" u="none" noProof="0" dirty="0">
                          <a:solidFill>
                            <a:srgbClr val="334155"/>
                          </a:solidFill>
                          <a:latin typeface="JetBrains Mono"/>
                        </a:rPr>
                        <a:t>3</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0011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3</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334155"/>
                          </a:solidFill>
                          <a:latin typeface="JetBrains Mono"/>
                        </a:rPr>
                        <a:t>3</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1011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13</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0284C7"/>
                          </a:solidFill>
                          <a:latin typeface="JetBrains Mono"/>
                        </a:rPr>
                        <a:t>B</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4"/>
                  </a:ext>
                </a:extLst>
              </a:tr>
              <a:tr h="218016">
                <a:tc>
                  <a:txBody>
                    <a:bodyPr/>
                    <a:lstStyle/>
                    <a:p>
                      <a:pPr algn="ctr"/>
                      <a:r>
                        <a:rPr lang="fr-FR" sz="1125" b="0" i="0" u="none" noProof="0" dirty="0">
                          <a:solidFill>
                            <a:srgbClr val="334155"/>
                          </a:solidFill>
                          <a:latin typeface="JetBrains Mono"/>
                        </a:rPr>
                        <a:t>4</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0100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4</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334155"/>
                          </a:solidFill>
                          <a:latin typeface="JetBrains Mono"/>
                        </a:rPr>
                        <a:t>4</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12</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1100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14</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0284C7"/>
                          </a:solidFill>
                          <a:latin typeface="JetBrains Mono"/>
                        </a:rPr>
                        <a:t>C</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5"/>
                  </a:ext>
                </a:extLst>
              </a:tr>
              <a:tr h="218016">
                <a:tc>
                  <a:txBody>
                    <a:bodyPr/>
                    <a:lstStyle/>
                    <a:p>
                      <a:pPr algn="ctr"/>
                      <a:r>
                        <a:rPr lang="fr-FR" sz="1125" b="0" i="0" u="none" noProof="0" dirty="0">
                          <a:solidFill>
                            <a:srgbClr val="334155"/>
                          </a:solidFill>
                          <a:latin typeface="JetBrains Mono"/>
                        </a:rPr>
                        <a:t>5</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0101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5</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334155"/>
                          </a:solidFill>
                          <a:latin typeface="JetBrains Mono"/>
                        </a:rPr>
                        <a:t>5</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13</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1101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15</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0284C7"/>
                          </a:solidFill>
                          <a:latin typeface="JetBrains Mono"/>
                        </a:rPr>
                        <a:t>D</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6"/>
                  </a:ext>
                </a:extLst>
              </a:tr>
              <a:tr h="218016">
                <a:tc>
                  <a:txBody>
                    <a:bodyPr/>
                    <a:lstStyle/>
                    <a:p>
                      <a:pPr algn="ctr"/>
                      <a:r>
                        <a:rPr lang="fr-FR" sz="1125" b="0" i="0" u="none" noProof="0" dirty="0">
                          <a:solidFill>
                            <a:srgbClr val="334155"/>
                          </a:solidFill>
                          <a:latin typeface="JetBrains Mono"/>
                        </a:rPr>
                        <a:t>6</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0110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6</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334155"/>
                          </a:solidFill>
                          <a:latin typeface="JetBrains Mono"/>
                        </a:rPr>
                        <a:t>6</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14</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1110</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16</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0284C7"/>
                          </a:solidFill>
                          <a:latin typeface="JetBrains Mono"/>
                        </a:rPr>
                        <a:t>E</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7"/>
                  </a:ext>
                </a:extLst>
              </a:tr>
              <a:tr h="218022">
                <a:tc>
                  <a:txBody>
                    <a:bodyPr/>
                    <a:lstStyle/>
                    <a:p>
                      <a:pPr algn="ctr"/>
                      <a:r>
                        <a:rPr lang="fr-FR" sz="1125" b="0" i="0" u="none" noProof="0" dirty="0">
                          <a:solidFill>
                            <a:srgbClr val="334155"/>
                          </a:solidFill>
                          <a:latin typeface="JetBrains Mono"/>
                        </a:rPr>
                        <a:t>7</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0111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7</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334155"/>
                          </a:solidFill>
                          <a:latin typeface="JetBrains Mono"/>
                        </a:rPr>
                        <a:t>7</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15</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1111</a:t>
                      </a:r>
                    </a:p>
                  </a:txBody>
                  <a:tcPr marL="63500" marR="63500" marT="25400" marB="25400" anchor="ctr">
                    <a:lnL>
                      <a:noFill/>
                    </a:lnL>
                    <a:lnR>
                      <a:noFill/>
                    </a:lnR>
                    <a:lnT>
                      <a:noFill/>
                    </a:lnT>
                    <a:lnB>
                      <a:noFill/>
                    </a:lnB>
                    <a:solidFill>
                      <a:srgbClr val="F8FAFC"/>
                    </a:solidFill>
                  </a:tcPr>
                </a:tc>
                <a:tc>
                  <a:txBody>
                    <a:bodyPr/>
                    <a:lstStyle/>
                    <a:p>
                      <a:pPr algn="ctr"/>
                      <a:r>
                        <a:rPr lang="fr-FR" sz="1125" b="0" i="0" u="none" noProof="0" dirty="0">
                          <a:solidFill>
                            <a:srgbClr val="334155"/>
                          </a:solidFill>
                          <a:latin typeface="JetBrains Mono"/>
                        </a:rPr>
                        <a:t>17</a:t>
                      </a:r>
                    </a:p>
                  </a:txBody>
                  <a:tcPr marL="63500" marR="63500" marT="25400" marB="25400" anchor="ctr">
                    <a:lnL>
                      <a:noFill/>
                    </a:lnL>
                    <a:lnR>
                      <a:noFill/>
                    </a:lnR>
                    <a:lnT>
                      <a:noFill/>
                    </a:lnT>
                    <a:lnB>
                      <a:noFill/>
                    </a:lnB>
                    <a:solidFill>
                      <a:srgbClr val="F8FAFC"/>
                    </a:solidFill>
                  </a:tcPr>
                </a:tc>
                <a:tc>
                  <a:txBody>
                    <a:bodyPr/>
                    <a:lstStyle/>
                    <a:p>
                      <a:pPr algn="ctr"/>
                      <a:r>
                        <a:rPr lang="fr-FR" sz="1125" b="1" i="0" u="none" noProof="0" dirty="0">
                          <a:solidFill>
                            <a:srgbClr val="0284C7"/>
                          </a:solidFill>
                          <a:latin typeface="JetBrains Mono"/>
                        </a:rPr>
                        <a:t>F</a:t>
                      </a:r>
                    </a:p>
                  </a:txBody>
                  <a:tcPr marL="63500" marR="63500" marT="25400" marB="25400" anchor="ctr">
                    <a:lnL>
                      <a:noFill/>
                    </a:lnL>
                    <a:lnR>
                      <a:noFill/>
                    </a:lnR>
                    <a:lnT>
                      <a:noFill/>
                    </a:lnT>
                    <a:lnB>
                      <a:noFill/>
                    </a:lnB>
                    <a:solidFill>
                      <a:srgbClr val="F8FAFC"/>
                    </a:solidFill>
                  </a:tcPr>
                </a:tc>
                <a:extLst>
                  <a:ext uri="{0D108BD9-81ED-4DB2-BD59-A6C34878D82A}">
                    <a16:rowId xmlns:a16="http://schemas.microsoft.com/office/drawing/2014/main" val="10008"/>
                  </a:ext>
                </a:extLst>
              </a:tr>
            </a:tbl>
          </a:graphicData>
        </a:graphic>
      </p:graphicFrame>
      <p:sp>
        <p:nvSpPr>
          <p:cNvPr id="6" name="TextBox 5"/>
          <p:cNvSpPr txBox="1"/>
          <p:nvPr/>
        </p:nvSpPr>
        <p:spPr>
          <a:xfrm>
            <a:off x="457200" y="381000"/>
            <a:ext cx="6313289"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Tableau Récapitulatif des Bases (0 à 15)</a:t>
            </a:r>
          </a:p>
        </p:txBody>
      </p:sp>
      <p:sp>
        <p:nvSpPr>
          <p:cNvPr id="7" name="TextBox 6"/>
          <p:cNvSpPr txBox="1"/>
          <p:nvPr/>
        </p:nvSpPr>
        <p:spPr>
          <a:xfrm>
            <a:off x="10210800" y="457200"/>
            <a:ext cx="19050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A CONNAÎTRE PAR CŒUR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4" name="Rounded Rectangle 3"/>
          <p:cNvSpPr/>
          <p:nvPr/>
        </p:nvSpPr>
        <p:spPr>
          <a:xfrm>
            <a:off x="457200" y="2742307"/>
            <a:ext cx="7543800" cy="1247775"/>
          </a:xfrm>
          <a:prstGeom prst="roundRect">
            <a:avLst>
              <a:gd name="adj" fmla="val 6106"/>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pic>
        <p:nvPicPr>
          <p:cNvPr id="5" name="Picture 4" descr="image.png"/>
          <p:cNvPicPr>
            <a:picLocks noChangeAspect="1"/>
          </p:cNvPicPr>
          <p:nvPr/>
        </p:nvPicPr>
        <p:blipFill>
          <a:blip r:embed="rId3"/>
          <a:stretch>
            <a:fillRect/>
          </a:stretch>
        </p:blipFill>
        <p:spPr>
          <a:xfrm>
            <a:off x="8305800" y="2142232"/>
            <a:ext cx="3429000" cy="2095500"/>
          </a:xfrm>
          <a:prstGeom prst="rect">
            <a:avLst/>
          </a:prstGeom>
        </p:spPr>
      </p:pic>
      <p:pic>
        <p:nvPicPr>
          <p:cNvPr id="6" name="Picture 5" descr="image.png"/>
          <p:cNvPicPr>
            <a:picLocks noChangeAspect="1"/>
          </p:cNvPicPr>
          <p:nvPr/>
        </p:nvPicPr>
        <p:blipFill>
          <a:blip r:embed="rId4"/>
          <a:stretch>
            <a:fillRect/>
          </a:stretch>
        </p:blipFill>
        <p:spPr>
          <a:xfrm>
            <a:off x="8315325" y="2151757"/>
            <a:ext cx="3409950" cy="2076450"/>
          </a:xfrm>
          <a:prstGeom prst="rect">
            <a:avLst/>
          </a:prstGeom>
        </p:spPr>
      </p:pic>
      <p:sp>
        <p:nvSpPr>
          <p:cNvPr id="7" name="TextBox 6"/>
          <p:cNvSpPr txBox="1"/>
          <p:nvPr/>
        </p:nvSpPr>
        <p:spPr>
          <a:xfrm>
            <a:off x="457200" y="381000"/>
            <a:ext cx="4575571"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Anatomie d'une Adresse IPv4</a:t>
            </a:r>
          </a:p>
        </p:txBody>
      </p:sp>
      <p:sp>
        <p:nvSpPr>
          <p:cNvPr id="8" name="TextBox 7"/>
          <p:cNvSpPr txBox="1"/>
          <p:nvPr/>
        </p:nvSpPr>
        <p:spPr>
          <a:xfrm>
            <a:off x="9525000" y="457200"/>
            <a:ext cx="26670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APPLICATION RESEAU (COUCHE 3)</a:t>
            </a:r>
          </a:p>
        </p:txBody>
      </p:sp>
      <p:sp>
        <p:nvSpPr>
          <p:cNvPr id="11" name="TextBox 10"/>
          <p:cNvSpPr txBox="1"/>
          <p:nvPr/>
        </p:nvSpPr>
        <p:spPr>
          <a:xfrm>
            <a:off x="457200" y="2389882"/>
            <a:ext cx="9429750" cy="200025"/>
          </a:xfrm>
          <a:prstGeom prst="rect">
            <a:avLst/>
          </a:prstGeom>
          <a:noFill/>
        </p:spPr>
        <p:txBody>
          <a:bodyPr wrap="none" lIns="0" tIns="0" rIns="0" bIns="0" anchor="t">
            <a:spAutoFit/>
          </a:bodyPr>
          <a:lstStyle/>
          <a:p>
            <a:pPr algn="l"/>
            <a:r>
              <a:rPr lang="fr-FR" sz="1350" b="0" i="0" u="none" noProof="0" dirty="0">
                <a:solidFill>
                  <a:srgbClr val="334155"/>
                </a:solidFill>
                <a:latin typeface="Inter"/>
              </a:rPr>
              <a:t>Une adresse IPv4 est un nombre binaire de </a:t>
            </a:r>
            <a:r>
              <a:rPr lang="fr-FR" sz="1350" b="1" i="0" u="none" noProof="0" dirty="0">
                <a:solidFill>
                  <a:srgbClr val="0284C7"/>
                </a:solidFill>
                <a:latin typeface="Inter"/>
              </a:rPr>
              <a:t>32 bits</a:t>
            </a:r>
            <a:r>
              <a:rPr lang="fr-FR" sz="1350" b="0" i="0" u="none" noProof="0" dirty="0">
                <a:solidFill>
                  <a:srgbClr val="334155"/>
                </a:solidFill>
                <a:latin typeface="Inter"/>
              </a:rPr>
              <a:t> découpé en </a:t>
            </a:r>
            <a:r>
              <a:rPr lang="fr-FR" sz="1350" b="1" i="0" u="none" noProof="0" dirty="0">
                <a:solidFill>
                  <a:srgbClr val="0284C7"/>
                </a:solidFill>
                <a:latin typeface="Inter"/>
              </a:rPr>
              <a:t>4 octets</a:t>
            </a:r>
            <a:r>
              <a:rPr lang="fr-FR" sz="1350" b="0" i="0" u="none" noProof="0" dirty="0">
                <a:solidFill>
                  <a:srgbClr val="334155"/>
                </a:solidFill>
                <a:latin typeface="Inter"/>
              </a:rPr>
              <a:t> (</a:t>
            </a:r>
            <a:r>
              <a:rPr lang="fr-FR" sz="1350" b="0" i="0" u="none" noProof="0" dirty="0" err="1">
                <a:solidFill>
                  <a:srgbClr val="334155"/>
                </a:solidFill>
                <a:latin typeface="Inter"/>
              </a:rPr>
              <a:t>Dotted-Decimal</a:t>
            </a:r>
            <a:r>
              <a:rPr lang="fr-FR" sz="1350" b="0" i="0" u="none" noProof="0" dirty="0">
                <a:solidFill>
                  <a:srgbClr val="334155"/>
                </a:solidFill>
                <a:latin typeface="Inter"/>
              </a:rPr>
              <a:t>).</a:t>
            </a:r>
          </a:p>
        </p:txBody>
      </p:sp>
      <p:sp>
        <p:nvSpPr>
          <p:cNvPr id="12" name="TextBox 11"/>
          <p:cNvSpPr txBox="1"/>
          <p:nvPr/>
        </p:nvSpPr>
        <p:spPr>
          <a:xfrm>
            <a:off x="619125" y="2904232"/>
            <a:ext cx="9024937" cy="171450"/>
          </a:xfrm>
          <a:prstGeom prst="rect">
            <a:avLst/>
          </a:prstGeom>
          <a:noFill/>
        </p:spPr>
        <p:txBody>
          <a:bodyPr wrap="none" lIns="0" tIns="0" rIns="0" bIns="0" anchor="t">
            <a:spAutoFit/>
          </a:bodyPr>
          <a:lstStyle/>
          <a:p>
            <a:pPr algn="l"/>
            <a:r>
              <a:rPr lang="fr-FR" sz="1050" b="0" i="0" u="none" noProof="0" dirty="0">
                <a:solidFill>
                  <a:srgbClr val="64748B"/>
                </a:solidFill>
                <a:latin typeface="JetBrains Mono"/>
              </a:rPr>
              <a:t>Format Décimal Pointé :</a:t>
            </a:r>
          </a:p>
        </p:txBody>
      </p:sp>
      <p:sp>
        <p:nvSpPr>
          <p:cNvPr id="13" name="TextBox 12"/>
          <p:cNvSpPr txBox="1"/>
          <p:nvPr/>
        </p:nvSpPr>
        <p:spPr>
          <a:xfrm>
            <a:off x="619125" y="3075682"/>
            <a:ext cx="9024937" cy="276225"/>
          </a:xfrm>
          <a:prstGeom prst="rect">
            <a:avLst/>
          </a:prstGeom>
          <a:noFill/>
        </p:spPr>
        <p:txBody>
          <a:bodyPr wrap="none" lIns="0" tIns="0" rIns="0" bIns="0" anchor="t">
            <a:spAutoFit/>
          </a:bodyPr>
          <a:lstStyle/>
          <a:p>
            <a:pPr algn="l"/>
            <a:r>
              <a:rPr lang="fr-FR" sz="1650" b="1" i="0" u="none" noProof="0" dirty="0">
                <a:solidFill>
                  <a:srgbClr val="0284C7"/>
                </a:solidFill>
                <a:latin typeface="JetBrains Mono"/>
              </a:rPr>
              <a:t>192 . 168 . 10 . 15</a:t>
            </a:r>
          </a:p>
        </p:txBody>
      </p:sp>
      <p:sp>
        <p:nvSpPr>
          <p:cNvPr id="14" name="TextBox 13"/>
          <p:cNvSpPr txBox="1"/>
          <p:nvPr/>
        </p:nvSpPr>
        <p:spPr>
          <a:xfrm>
            <a:off x="619125" y="3466207"/>
            <a:ext cx="9024937" cy="171450"/>
          </a:xfrm>
          <a:prstGeom prst="rect">
            <a:avLst/>
          </a:prstGeom>
          <a:noFill/>
        </p:spPr>
        <p:txBody>
          <a:bodyPr wrap="none" lIns="0" tIns="0" rIns="0" bIns="0" anchor="t">
            <a:spAutoFit/>
          </a:bodyPr>
          <a:lstStyle/>
          <a:p>
            <a:pPr algn="l"/>
            <a:r>
              <a:rPr lang="fr-FR" sz="1050" b="0" i="0" u="none" noProof="0" dirty="0">
                <a:solidFill>
                  <a:srgbClr val="64748B"/>
                </a:solidFill>
                <a:latin typeface="JetBrains Mono"/>
              </a:rPr>
              <a:t>Format Binaire Réel (32 bits) :</a:t>
            </a:r>
          </a:p>
        </p:txBody>
      </p:sp>
      <p:sp>
        <p:nvSpPr>
          <p:cNvPr id="15" name="TextBox 14"/>
          <p:cNvSpPr txBox="1"/>
          <p:nvPr/>
        </p:nvSpPr>
        <p:spPr>
          <a:xfrm>
            <a:off x="619125" y="3637657"/>
            <a:ext cx="9024937" cy="190500"/>
          </a:xfrm>
          <a:prstGeom prst="rect">
            <a:avLst/>
          </a:prstGeom>
          <a:noFill/>
        </p:spPr>
        <p:txBody>
          <a:bodyPr wrap="none" lIns="0" tIns="0" rIns="0" bIns="0" anchor="t">
            <a:spAutoFit/>
          </a:bodyPr>
          <a:lstStyle/>
          <a:p>
            <a:pPr algn="l"/>
            <a:r>
              <a:rPr lang="fr-FR" sz="1125" b="1" i="0" u="none" noProof="0" dirty="0">
                <a:solidFill>
                  <a:srgbClr val="0F172A"/>
                </a:solidFill>
                <a:latin typeface="JetBrains Mono"/>
              </a:rPr>
              <a:t>11000000 . 10101000 . 00001010 . 00001111</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457200" y="2522339"/>
            <a:ext cx="5524500" cy="1373237"/>
          </a:xfrm>
          <a:prstGeom prst="roundRect">
            <a:avLst>
              <a:gd name="adj" fmla="val 8323"/>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Rounded Rectangle 3"/>
          <p:cNvSpPr/>
          <p:nvPr/>
        </p:nvSpPr>
        <p:spPr>
          <a:xfrm>
            <a:off x="6210300" y="2327969"/>
            <a:ext cx="5524500" cy="1762125"/>
          </a:xfrm>
          <a:prstGeom prst="roundRect">
            <a:avLst>
              <a:gd name="adj" fmla="val 6486"/>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 name="Rounded Rectangle 5"/>
          <p:cNvSpPr/>
          <p:nvPr/>
        </p:nvSpPr>
        <p:spPr>
          <a:xfrm>
            <a:off x="6410325" y="2861369"/>
            <a:ext cx="5124450" cy="1028700"/>
          </a:xfrm>
          <a:prstGeom prst="roundRect">
            <a:avLst>
              <a:gd name="adj" fmla="val 0"/>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graphicFrame>
        <p:nvGraphicFramePr>
          <p:cNvPr id="7" name="Table 6"/>
          <p:cNvGraphicFramePr>
            <a:graphicFrameLocks noGrp="1"/>
          </p:cNvGraphicFramePr>
          <p:nvPr>
            <p:extLst>
              <p:ext uri="{D42A27DB-BD31-4B8C-83A1-F6EECF244321}">
                <p14:modId xmlns:p14="http://schemas.microsoft.com/office/powerpoint/2010/main" val="1114226442"/>
              </p:ext>
            </p:extLst>
          </p:nvPr>
        </p:nvGraphicFramePr>
        <p:xfrm>
          <a:off x="6410325" y="2861369"/>
          <a:ext cx="5124449" cy="1168400"/>
        </p:xfrm>
        <a:graphic>
          <a:graphicData uri="http://schemas.openxmlformats.org/drawingml/2006/table">
            <a:tbl>
              <a:tblPr/>
              <a:tblGrid>
                <a:gridCol w="1507182">
                  <a:extLst>
                    <a:ext uri="{9D8B030D-6E8A-4147-A177-3AD203B41FA5}">
                      <a16:colId xmlns:a16="http://schemas.microsoft.com/office/drawing/2014/main" val="20000"/>
                    </a:ext>
                  </a:extLst>
                </a:gridCol>
                <a:gridCol w="1507182">
                  <a:extLst>
                    <a:ext uri="{9D8B030D-6E8A-4147-A177-3AD203B41FA5}">
                      <a16:colId xmlns:a16="http://schemas.microsoft.com/office/drawing/2014/main" val="20001"/>
                    </a:ext>
                  </a:extLst>
                </a:gridCol>
                <a:gridCol w="2110085">
                  <a:extLst>
                    <a:ext uri="{9D8B030D-6E8A-4147-A177-3AD203B41FA5}">
                      <a16:colId xmlns:a16="http://schemas.microsoft.com/office/drawing/2014/main" val="20002"/>
                    </a:ext>
                  </a:extLst>
                </a:gridCol>
              </a:tblGrid>
              <a:tr h="205740">
                <a:tc>
                  <a:txBody>
                    <a:bodyPr/>
                    <a:lstStyle/>
                    <a:p>
                      <a:pPr algn="ctr"/>
                      <a:r>
                        <a:rPr lang="fr-FR" sz="1200" b="1" i="0" u="none" noProof="0" dirty="0">
                          <a:solidFill>
                            <a:srgbClr val="FFFFFF"/>
                          </a:solidFill>
                          <a:latin typeface="JetBrains Mono"/>
                        </a:rPr>
                        <a:t>Bit A</a:t>
                      </a:r>
                    </a:p>
                  </a:txBody>
                  <a:tcPr marL="63500" marR="63500" marT="25400" marB="25400" anchor="ctr">
                    <a:lnL>
                      <a:noFill/>
                    </a:lnL>
                    <a:lnR>
                      <a:noFill/>
                    </a:lnR>
                    <a:lnT>
                      <a:noFill/>
                    </a:lnT>
                    <a:lnB>
                      <a:noFill/>
                    </a:lnB>
                    <a:solidFill>
                      <a:srgbClr val="0284C7"/>
                    </a:solidFill>
                  </a:tcPr>
                </a:tc>
                <a:tc>
                  <a:txBody>
                    <a:bodyPr/>
                    <a:lstStyle/>
                    <a:p>
                      <a:pPr algn="ctr"/>
                      <a:r>
                        <a:rPr lang="fr-FR" sz="1200" b="1" i="0" u="none" noProof="0" dirty="0">
                          <a:solidFill>
                            <a:srgbClr val="FFFFFF"/>
                          </a:solidFill>
                          <a:latin typeface="JetBrains Mono"/>
                        </a:rPr>
                        <a:t>Bit B</a:t>
                      </a:r>
                    </a:p>
                  </a:txBody>
                  <a:tcPr marL="63500" marR="63500" marT="25400" marB="25400" anchor="ctr">
                    <a:lnL>
                      <a:noFill/>
                    </a:lnL>
                    <a:lnR>
                      <a:noFill/>
                    </a:lnR>
                    <a:lnT>
                      <a:noFill/>
                    </a:lnT>
                    <a:lnB>
                      <a:noFill/>
                    </a:lnB>
                    <a:solidFill>
                      <a:srgbClr val="0284C7"/>
                    </a:solidFill>
                  </a:tcPr>
                </a:tc>
                <a:tc>
                  <a:txBody>
                    <a:bodyPr/>
                    <a:lstStyle/>
                    <a:p>
                      <a:pPr algn="ctr"/>
                      <a:r>
                        <a:rPr lang="fr-FR" sz="1200" b="1" i="0" u="none" noProof="0" dirty="0">
                          <a:solidFill>
                            <a:srgbClr val="FFFFFF"/>
                          </a:solidFill>
                          <a:latin typeface="JetBrains Mono"/>
                        </a:rPr>
                        <a:t>A AND B</a:t>
                      </a:r>
                    </a:p>
                  </a:txBody>
                  <a:tcPr marL="63500" marR="63500" marT="25400" marB="25400" anchor="ctr">
                    <a:lnL>
                      <a:noFill/>
                    </a:lnL>
                    <a:lnR>
                      <a:noFill/>
                    </a:lnR>
                    <a:lnT>
                      <a:noFill/>
                    </a:lnT>
                    <a:lnB>
                      <a:noFill/>
                    </a:lnB>
                    <a:solidFill>
                      <a:srgbClr val="0284C7"/>
                    </a:solidFill>
                  </a:tcPr>
                </a:tc>
                <a:extLst>
                  <a:ext uri="{0D108BD9-81ED-4DB2-BD59-A6C34878D82A}">
                    <a16:rowId xmlns:a16="http://schemas.microsoft.com/office/drawing/2014/main" val="10000"/>
                  </a:ext>
                </a:extLst>
              </a:tr>
              <a:tr h="205740">
                <a:tc>
                  <a:txBody>
                    <a:bodyPr/>
                    <a:lstStyle/>
                    <a:p>
                      <a:pPr algn="ctr"/>
                      <a:r>
                        <a:rPr lang="fr-FR" sz="1200" b="0" i="0" u="none" noProof="0" dirty="0">
                          <a:solidFill>
                            <a:srgbClr val="1E293B"/>
                          </a:solidFill>
                          <a:latin typeface="JetBrains Mono"/>
                        </a:rPr>
                        <a:t>0</a:t>
                      </a:r>
                    </a:p>
                  </a:txBody>
                  <a:tcPr marL="63500" marR="63500" marT="25400" marB="25400" anchor="ctr">
                    <a:lnL>
                      <a:noFill/>
                    </a:lnL>
                    <a:lnR>
                      <a:noFill/>
                    </a:lnR>
                    <a:lnT>
                      <a:noFill/>
                    </a:lnT>
                    <a:lnB>
                      <a:noFill/>
                    </a:lnB>
                    <a:solidFill>
                      <a:srgbClr val="FFFFFF"/>
                    </a:solidFill>
                  </a:tcPr>
                </a:tc>
                <a:tc>
                  <a:txBody>
                    <a:bodyPr/>
                    <a:lstStyle/>
                    <a:p>
                      <a:pPr algn="ctr"/>
                      <a:r>
                        <a:rPr lang="fr-FR" sz="1200" b="0" i="0" u="none" noProof="0" dirty="0">
                          <a:solidFill>
                            <a:srgbClr val="1E293B"/>
                          </a:solidFill>
                          <a:latin typeface="JetBrains Mono"/>
                        </a:rPr>
                        <a:t>0</a:t>
                      </a:r>
                    </a:p>
                  </a:txBody>
                  <a:tcPr marL="63500" marR="63500" marT="25400" marB="25400" anchor="ctr">
                    <a:lnL>
                      <a:noFill/>
                    </a:lnL>
                    <a:lnR>
                      <a:noFill/>
                    </a:lnR>
                    <a:lnT>
                      <a:noFill/>
                    </a:lnT>
                    <a:lnB>
                      <a:noFill/>
                    </a:lnB>
                    <a:solidFill>
                      <a:srgbClr val="FFFFFF"/>
                    </a:solidFill>
                  </a:tcPr>
                </a:tc>
                <a:tc>
                  <a:txBody>
                    <a:bodyPr/>
                    <a:lstStyle/>
                    <a:p>
                      <a:pPr algn="ctr"/>
                      <a:r>
                        <a:rPr lang="fr-FR" sz="1200" b="1" i="0" u="none" noProof="0" dirty="0">
                          <a:solidFill>
                            <a:srgbClr val="1E293B"/>
                          </a:solidFill>
                          <a:latin typeface="JetBrains Mono"/>
                        </a:rPr>
                        <a:t>0</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1"/>
                  </a:ext>
                </a:extLst>
              </a:tr>
              <a:tr h="205740">
                <a:tc>
                  <a:txBody>
                    <a:bodyPr/>
                    <a:lstStyle/>
                    <a:p>
                      <a:pPr algn="ctr"/>
                      <a:r>
                        <a:rPr lang="fr-FR" sz="1200" b="0" i="0" u="none" noProof="0" dirty="0">
                          <a:solidFill>
                            <a:srgbClr val="1E293B"/>
                          </a:solidFill>
                          <a:latin typeface="JetBrains Mono"/>
                        </a:rPr>
                        <a:t>1</a:t>
                      </a:r>
                    </a:p>
                  </a:txBody>
                  <a:tcPr marL="63500" marR="63500" marT="25400" marB="25400" anchor="ctr">
                    <a:lnL>
                      <a:noFill/>
                    </a:lnL>
                    <a:lnR>
                      <a:noFill/>
                    </a:lnR>
                    <a:lnT>
                      <a:noFill/>
                    </a:lnT>
                    <a:lnB>
                      <a:noFill/>
                    </a:lnB>
                    <a:solidFill>
                      <a:srgbClr val="FFFFFF"/>
                    </a:solidFill>
                  </a:tcPr>
                </a:tc>
                <a:tc>
                  <a:txBody>
                    <a:bodyPr/>
                    <a:lstStyle/>
                    <a:p>
                      <a:pPr algn="ctr"/>
                      <a:r>
                        <a:rPr lang="fr-FR" sz="1200" b="0" i="0" u="none" noProof="0" dirty="0">
                          <a:solidFill>
                            <a:srgbClr val="1E293B"/>
                          </a:solidFill>
                          <a:latin typeface="JetBrains Mono"/>
                        </a:rPr>
                        <a:t>0</a:t>
                      </a:r>
                    </a:p>
                  </a:txBody>
                  <a:tcPr marL="63500" marR="63500" marT="25400" marB="25400" anchor="ctr">
                    <a:lnL>
                      <a:noFill/>
                    </a:lnL>
                    <a:lnR>
                      <a:noFill/>
                    </a:lnR>
                    <a:lnT>
                      <a:noFill/>
                    </a:lnT>
                    <a:lnB>
                      <a:noFill/>
                    </a:lnB>
                    <a:solidFill>
                      <a:srgbClr val="FFFFFF"/>
                    </a:solidFill>
                  </a:tcPr>
                </a:tc>
                <a:tc>
                  <a:txBody>
                    <a:bodyPr/>
                    <a:lstStyle/>
                    <a:p>
                      <a:pPr algn="ctr"/>
                      <a:r>
                        <a:rPr lang="fr-FR" sz="1200" b="1" i="0" u="none" noProof="0" dirty="0">
                          <a:solidFill>
                            <a:srgbClr val="1E293B"/>
                          </a:solidFill>
                          <a:latin typeface="JetBrains Mono"/>
                        </a:rPr>
                        <a:t>0</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2"/>
                  </a:ext>
                </a:extLst>
              </a:tr>
              <a:tr h="205740">
                <a:tc>
                  <a:txBody>
                    <a:bodyPr/>
                    <a:lstStyle/>
                    <a:p>
                      <a:pPr algn="ctr"/>
                      <a:r>
                        <a:rPr lang="fr-FR" sz="1200" b="0" i="0" u="none" noProof="0" dirty="0">
                          <a:solidFill>
                            <a:srgbClr val="1E293B"/>
                          </a:solidFill>
                          <a:latin typeface="JetBrains Mono"/>
                        </a:rPr>
                        <a:t>0</a:t>
                      </a:r>
                    </a:p>
                  </a:txBody>
                  <a:tcPr marL="63500" marR="63500" marT="25400" marB="25400" anchor="ctr">
                    <a:lnL>
                      <a:noFill/>
                    </a:lnL>
                    <a:lnR>
                      <a:noFill/>
                    </a:lnR>
                    <a:lnT>
                      <a:noFill/>
                    </a:lnT>
                    <a:lnB>
                      <a:noFill/>
                    </a:lnB>
                    <a:solidFill>
                      <a:srgbClr val="FFFFFF"/>
                    </a:solidFill>
                  </a:tcPr>
                </a:tc>
                <a:tc>
                  <a:txBody>
                    <a:bodyPr/>
                    <a:lstStyle/>
                    <a:p>
                      <a:pPr algn="ctr"/>
                      <a:r>
                        <a:rPr lang="fr-FR" sz="1200" b="0" i="0" u="none" noProof="0" dirty="0">
                          <a:solidFill>
                            <a:srgbClr val="1E293B"/>
                          </a:solidFill>
                          <a:latin typeface="JetBrains Mono"/>
                        </a:rPr>
                        <a:t>1</a:t>
                      </a:r>
                    </a:p>
                  </a:txBody>
                  <a:tcPr marL="63500" marR="63500" marT="25400" marB="25400" anchor="ctr">
                    <a:lnL>
                      <a:noFill/>
                    </a:lnL>
                    <a:lnR>
                      <a:noFill/>
                    </a:lnR>
                    <a:lnT>
                      <a:noFill/>
                    </a:lnT>
                    <a:lnB>
                      <a:noFill/>
                    </a:lnB>
                    <a:solidFill>
                      <a:srgbClr val="FFFFFF"/>
                    </a:solidFill>
                  </a:tcPr>
                </a:tc>
                <a:tc>
                  <a:txBody>
                    <a:bodyPr/>
                    <a:lstStyle/>
                    <a:p>
                      <a:pPr algn="ctr"/>
                      <a:r>
                        <a:rPr lang="fr-FR" sz="1200" b="1" i="0" u="none" noProof="0" dirty="0">
                          <a:solidFill>
                            <a:srgbClr val="1E293B"/>
                          </a:solidFill>
                          <a:latin typeface="JetBrains Mono"/>
                        </a:rPr>
                        <a:t>0</a:t>
                      </a:r>
                    </a:p>
                  </a:txBody>
                  <a:tcPr marL="63500" marR="63500" marT="25400" marB="25400" anchor="ctr">
                    <a:lnL>
                      <a:noFill/>
                    </a:lnL>
                    <a:lnR>
                      <a:noFill/>
                    </a:lnR>
                    <a:lnT>
                      <a:noFill/>
                    </a:lnT>
                    <a:lnB>
                      <a:noFill/>
                    </a:lnB>
                    <a:solidFill>
                      <a:srgbClr val="FFFFFF"/>
                    </a:solidFill>
                  </a:tcPr>
                </a:tc>
                <a:extLst>
                  <a:ext uri="{0D108BD9-81ED-4DB2-BD59-A6C34878D82A}">
                    <a16:rowId xmlns:a16="http://schemas.microsoft.com/office/drawing/2014/main" val="10003"/>
                  </a:ext>
                </a:extLst>
              </a:tr>
              <a:tr h="205740">
                <a:tc>
                  <a:txBody>
                    <a:bodyPr/>
                    <a:lstStyle/>
                    <a:p>
                      <a:pPr algn="ctr"/>
                      <a:r>
                        <a:rPr lang="fr-FR" sz="1200" b="1" i="0" u="none" noProof="0" dirty="0">
                          <a:solidFill>
                            <a:srgbClr val="166534"/>
                          </a:solidFill>
                          <a:latin typeface="JetBrains Mono"/>
                        </a:rPr>
                        <a:t>1</a:t>
                      </a:r>
                    </a:p>
                  </a:txBody>
                  <a:tcPr marL="63500" marR="63500" marT="25400" marB="25400" anchor="ctr">
                    <a:lnL>
                      <a:noFill/>
                    </a:lnL>
                    <a:lnR>
                      <a:noFill/>
                    </a:lnR>
                    <a:lnT>
                      <a:noFill/>
                    </a:lnT>
                    <a:lnB>
                      <a:noFill/>
                    </a:lnB>
                    <a:solidFill>
                      <a:srgbClr val="F0FDF4"/>
                    </a:solidFill>
                  </a:tcPr>
                </a:tc>
                <a:tc>
                  <a:txBody>
                    <a:bodyPr/>
                    <a:lstStyle/>
                    <a:p>
                      <a:pPr algn="ctr"/>
                      <a:r>
                        <a:rPr lang="fr-FR" sz="1200" b="1" i="0" u="none" noProof="0" dirty="0">
                          <a:solidFill>
                            <a:srgbClr val="166534"/>
                          </a:solidFill>
                          <a:latin typeface="JetBrains Mono"/>
                        </a:rPr>
                        <a:t>1</a:t>
                      </a:r>
                    </a:p>
                  </a:txBody>
                  <a:tcPr marL="63500" marR="63500" marT="25400" marB="25400" anchor="ctr">
                    <a:lnL>
                      <a:noFill/>
                    </a:lnL>
                    <a:lnR>
                      <a:noFill/>
                    </a:lnR>
                    <a:lnT>
                      <a:noFill/>
                    </a:lnT>
                    <a:lnB>
                      <a:noFill/>
                    </a:lnB>
                    <a:solidFill>
                      <a:srgbClr val="F0FDF4"/>
                    </a:solidFill>
                  </a:tcPr>
                </a:tc>
                <a:tc>
                  <a:txBody>
                    <a:bodyPr/>
                    <a:lstStyle/>
                    <a:p>
                      <a:pPr algn="ctr"/>
                      <a:r>
                        <a:rPr lang="fr-FR" sz="1200" b="1" i="0" u="none" noProof="0" dirty="0">
                          <a:solidFill>
                            <a:srgbClr val="166534"/>
                          </a:solidFill>
                          <a:latin typeface="JetBrains Mono"/>
                        </a:rPr>
                        <a:t>1</a:t>
                      </a:r>
                    </a:p>
                  </a:txBody>
                  <a:tcPr marL="63500" marR="63500" marT="25400" marB="25400" anchor="ctr">
                    <a:lnL>
                      <a:noFill/>
                    </a:lnL>
                    <a:lnR>
                      <a:noFill/>
                    </a:lnR>
                    <a:lnT>
                      <a:noFill/>
                    </a:lnT>
                    <a:lnB>
                      <a:noFill/>
                    </a:lnB>
                    <a:solidFill>
                      <a:srgbClr val="F0FDF4"/>
                    </a:solidFill>
                  </a:tcPr>
                </a:tc>
                <a:extLst>
                  <a:ext uri="{0D108BD9-81ED-4DB2-BD59-A6C34878D82A}">
                    <a16:rowId xmlns:a16="http://schemas.microsoft.com/office/drawing/2014/main" val="10004"/>
                  </a:ext>
                </a:extLst>
              </a:tr>
            </a:tbl>
          </a:graphicData>
        </a:graphic>
      </p:graphicFrame>
      <p:sp>
        <p:nvSpPr>
          <p:cNvPr id="8" name="TextBox 7"/>
          <p:cNvSpPr txBox="1"/>
          <p:nvPr/>
        </p:nvSpPr>
        <p:spPr>
          <a:xfrm>
            <a:off x="457200" y="381000"/>
            <a:ext cx="7200900"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Masque de Sous-Réseau &amp; Opération ET (AND)</a:t>
            </a:r>
          </a:p>
        </p:txBody>
      </p:sp>
      <p:sp>
        <p:nvSpPr>
          <p:cNvPr id="9" name="TextBox 8"/>
          <p:cNvSpPr txBox="1"/>
          <p:nvPr/>
        </p:nvSpPr>
        <p:spPr>
          <a:xfrm>
            <a:off x="10591800" y="457200"/>
            <a:ext cx="142875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LOGIQUE BINAIRE</a:t>
            </a:r>
          </a:p>
        </p:txBody>
      </p:sp>
      <p:sp>
        <p:nvSpPr>
          <p:cNvPr id="12" name="TextBox 11"/>
          <p:cNvSpPr txBox="1"/>
          <p:nvPr/>
        </p:nvSpPr>
        <p:spPr>
          <a:xfrm>
            <a:off x="657225" y="2722364"/>
            <a:ext cx="6725840" cy="219075"/>
          </a:xfrm>
          <a:prstGeom prst="rect">
            <a:avLst/>
          </a:prstGeom>
          <a:noFill/>
        </p:spPr>
        <p:txBody>
          <a:bodyPr wrap="none" lIns="0" tIns="0" rIns="0" bIns="0" anchor="t">
            <a:spAutoFit/>
          </a:bodyPr>
          <a:lstStyle/>
          <a:p>
            <a:pPr algn="l"/>
            <a:r>
              <a:rPr lang="fr-FR" sz="1350" b="1" i="0" u="none" noProof="0" dirty="0">
                <a:solidFill>
                  <a:srgbClr val="0F172A"/>
                </a:solidFill>
                <a:latin typeface="Space Grotesk"/>
              </a:rPr>
              <a:t>Rôle du Masque</a:t>
            </a:r>
          </a:p>
        </p:txBody>
      </p:sp>
      <p:sp>
        <p:nvSpPr>
          <p:cNvPr id="13" name="TextBox 12"/>
          <p:cNvSpPr txBox="1"/>
          <p:nvPr/>
        </p:nvSpPr>
        <p:spPr>
          <a:xfrm>
            <a:off x="657225" y="3055739"/>
            <a:ext cx="5219700" cy="639812"/>
          </a:xfrm>
          <a:prstGeom prst="rect">
            <a:avLst/>
          </a:prstGeom>
          <a:noFill/>
        </p:spPr>
        <p:txBody>
          <a:bodyPr wrap="square" lIns="0" tIns="0" rIns="0" bIns="0" anchor="t">
            <a:spAutoFit/>
          </a:bodyPr>
          <a:lstStyle/>
          <a:p>
            <a:pPr algn="l">
              <a:lnSpc>
                <a:spcPts val="1679"/>
              </a:lnSpc>
            </a:pPr>
            <a:r>
              <a:rPr lang="fr-FR" sz="1200" b="0" i="0" u="none" noProof="0" dirty="0">
                <a:solidFill>
                  <a:srgbClr val="334155"/>
                </a:solidFill>
                <a:latin typeface="Inter"/>
              </a:rPr>
              <a:t>Sépare l'adresse IP en deux parties :</a:t>
            </a:r>
            <a:r>
              <a:rPr lang="fr-FR" noProof="0" dirty="0"/>
              <a:t>
</a:t>
            </a:r>
            <a:r>
              <a:rPr lang="fr-FR" sz="1200" b="0" i="0" u="none" noProof="0" dirty="0">
                <a:solidFill>
                  <a:srgbClr val="334155"/>
                </a:solidFill>
                <a:latin typeface="Inter"/>
              </a:rPr>
              <a:t> 1. </a:t>
            </a:r>
            <a:r>
              <a:rPr lang="fr-FR" sz="1200" b="1" i="0" u="none" noProof="0" dirty="0">
                <a:solidFill>
                  <a:srgbClr val="334155"/>
                </a:solidFill>
                <a:latin typeface="Inter"/>
              </a:rPr>
              <a:t>Partie Réseau (</a:t>
            </a:r>
            <a:r>
              <a:rPr lang="fr-FR" sz="1200" b="1" i="0" u="none" noProof="0" dirty="0" err="1">
                <a:solidFill>
                  <a:srgbClr val="334155"/>
                </a:solidFill>
                <a:latin typeface="Inter"/>
              </a:rPr>
              <a:t>NetID</a:t>
            </a:r>
            <a:r>
              <a:rPr lang="fr-FR" sz="1200" b="1" i="0" u="none" noProof="0" dirty="0">
                <a:solidFill>
                  <a:srgbClr val="334155"/>
                </a:solidFill>
                <a:latin typeface="Inter"/>
              </a:rPr>
              <a:t>)</a:t>
            </a:r>
            <a:r>
              <a:rPr lang="fr-FR" sz="1200" b="0" i="0" u="none" noProof="0" dirty="0">
                <a:solidFill>
                  <a:srgbClr val="334155"/>
                </a:solidFill>
                <a:latin typeface="Inter"/>
              </a:rPr>
              <a:t> : Indique le numéro de rue.</a:t>
            </a:r>
            <a:r>
              <a:rPr lang="fr-FR" noProof="0" dirty="0"/>
              <a:t>
</a:t>
            </a:r>
            <a:r>
              <a:rPr lang="fr-FR" sz="1200" b="0" i="0" u="none" noProof="0" dirty="0">
                <a:solidFill>
                  <a:srgbClr val="334155"/>
                </a:solidFill>
                <a:latin typeface="Inter"/>
              </a:rPr>
              <a:t> 2. </a:t>
            </a:r>
            <a:r>
              <a:rPr lang="fr-FR" sz="1200" b="1" i="0" u="none" noProof="0" dirty="0">
                <a:solidFill>
                  <a:srgbClr val="334155"/>
                </a:solidFill>
                <a:latin typeface="Inter"/>
              </a:rPr>
              <a:t>Partie Hôte (</a:t>
            </a:r>
            <a:r>
              <a:rPr lang="fr-FR" sz="1200" b="1" i="0" u="none" noProof="0" dirty="0" err="1">
                <a:solidFill>
                  <a:srgbClr val="334155"/>
                </a:solidFill>
                <a:latin typeface="Inter"/>
              </a:rPr>
              <a:t>HostID</a:t>
            </a:r>
            <a:r>
              <a:rPr lang="fr-FR" sz="1200" b="1" i="0" u="none" noProof="0" dirty="0">
                <a:solidFill>
                  <a:srgbClr val="334155"/>
                </a:solidFill>
                <a:latin typeface="Inter"/>
              </a:rPr>
              <a:t>)</a:t>
            </a:r>
            <a:r>
              <a:rPr lang="fr-FR" sz="1200" b="0" i="0" u="none" noProof="0" dirty="0">
                <a:solidFill>
                  <a:srgbClr val="334155"/>
                </a:solidFill>
                <a:latin typeface="Inter"/>
              </a:rPr>
              <a:t> : Indique le numéro de maison.</a:t>
            </a:r>
          </a:p>
        </p:txBody>
      </p:sp>
      <p:sp>
        <p:nvSpPr>
          <p:cNvPr id="14" name="TextBox 13"/>
          <p:cNvSpPr txBox="1"/>
          <p:nvPr/>
        </p:nvSpPr>
        <p:spPr>
          <a:xfrm>
            <a:off x="6410325" y="2527994"/>
            <a:ext cx="5781675" cy="219075"/>
          </a:xfrm>
          <a:prstGeom prst="rect">
            <a:avLst/>
          </a:prstGeom>
          <a:noFill/>
        </p:spPr>
        <p:txBody>
          <a:bodyPr wrap="none" lIns="0" tIns="0" rIns="0" bIns="0" anchor="t">
            <a:spAutoFit/>
          </a:bodyPr>
          <a:lstStyle/>
          <a:p>
            <a:pPr algn="l"/>
            <a:r>
              <a:rPr lang="fr-FR" sz="1350" b="1" i="0" u="none" noProof="0" dirty="0">
                <a:solidFill>
                  <a:srgbClr val="0F172A"/>
                </a:solidFill>
                <a:latin typeface="Space Grotesk"/>
              </a:rPr>
              <a:t>Table de Vérité ET Logique (AND)</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Rounded Rectangle 2"/>
          <p:cNvSpPr/>
          <p:nvPr/>
        </p:nvSpPr>
        <p:spPr>
          <a:xfrm>
            <a:off x="457200" y="1994594"/>
            <a:ext cx="11277600" cy="704850"/>
          </a:xfrm>
          <a:prstGeom prst="roundRect">
            <a:avLst>
              <a:gd name="adj" fmla="val 1081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Rounded Rectangle 3"/>
          <p:cNvSpPr/>
          <p:nvPr/>
        </p:nvSpPr>
        <p:spPr>
          <a:xfrm>
            <a:off x="457200" y="2813744"/>
            <a:ext cx="11277600" cy="704850"/>
          </a:xfrm>
          <a:prstGeom prst="roundRect">
            <a:avLst>
              <a:gd name="adj" fmla="val 10810"/>
            </a:avLst>
          </a:prstGeom>
          <a:solidFill>
            <a:srgbClr val="FFFFFF"/>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Rounded Rectangle 4"/>
          <p:cNvSpPr/>
          <p:nvPr/>
        </p:nvSpPr>
        <p:spPr>
          <a:xfrm>
            <a:off x="457200" y="3632894"/>
            <a:ext cx="11277600" cy="752475"/>
          </a:xfrm>
          <a:prstGeom prst="roundRect">
            <a:avLst>
              <a:gd name="adj" fmla="val 10126"/>
            </a:avLst>
          </a:prstGeom>
          <a:solidFill>
            <a:srgbClr val="F0FDF4"/>
          </a:solidFill>
          <a:ln w="19050">
            <a:solidFill>
              <a:srgbClr val="22C5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TextBox 6"/>
          <p:cNvSpPr txBox="1"/>
          <p:nvPr/>
        </p:nvSpPr>
        <p:spPr>
          <a:xfrm>
            <a:off x="457200" y="381000"/>
            <a:ext cx="7600950"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Étude de Cas Pratique : Calcul d'Adresse Réseau</a:t>
            </a:r>
          </a:p>
        </p:txBody>
      </p:sp>
      <p:sp>
        <p:nvSpPr>
          <p:cNvPr id="8" name="TextBox 7"/>
          <p:cNvSpPr txBox="1"/>
          <p:nvPr/>
        </p:nvSpPr>
        <p:spPr>
          <a:xfrm>
            <a:off x="10591800" y="457200"/>
            <a:ext cx="142875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EXEMPLE ROUTAGE</a:t>
            </a:r>
          </a:p>
        </p:txBody>
      </p:sp>
      <p:sp>
        <p:nvSpPr>
          <p:cNvPr id="11" name="TextBox 10"/>
          <p:cNvSpPr txBox="1"/>
          <p:nvPr/>
        </p:nvSpPr>
        <p:spPr>
          <a:xfrm>
            <a:off x="619125" y="2156519"/>
            <a:ext cx="11572875" cy="190500"/>
          </a:xfrm>
          <a:prstGeom prst="rect">
            <a:avLst/>
          </a:prstGeom>
          <a:noFill/>
        </p:spPr>
        <p:txBody>
          <a:bodyPr wrap="none" lIns="0" tIns="0" rIns="0" bIns="0" anchor="t">
            <a:spAutoFit/>
          </a:bodyPr>
          <a:lstStyle/>
          <a:p>
            <a:pPr algn="l"/>
            <a:r>
              <a:rPr lang="fr-FR" sz="1125" b="0" i="0" u="none" noProof="0" dirty="0">
                <a:solidFill>
                  <a:srgbClr val="64748B"/>
                </a:solidFill>
                <a:latin typeface="JetBrains Mono"/>
              </a:rPr>
              <a:t>IP d'origine : </a:t>
            </a:r>
            <a:r>
              <a:rPr lang="fr-FR" sz="1125" b="1" i="0" u="none" noProof="0" dirty="0">
                <a:solidFill>
                  <a:srgbClr val="0F172A"/>
                </a:solidFill>
                <a:latin typeface="JetBrains Mono"/>
              </a:rPr>
              <a:t>192.168.10.15</a:t>
            </a:r>
          </a:p>
        </p:txBody>
      </p:sp>
      <p:sp>
        <p:nvSpPr>
          <p:cNvPr id="12" name="TextBox 11"/>
          <p:cNvSpPr txBox="1"/>
          <p:nvPr/>
        </p:nvSpPr>
        <p:spPr>
          <a:xfrm>
            <a:off x="619125" y="2347019"/>
            <a:ext cx="11572875" cy="190500"/>
          </a:xfrm>
          <a:prstGeom prst="rect">
            <a:avLst/>
          </a:prstGeom>
          <a:noFill/>
        </p:spPr>
        <p:txBody>
          <a:bodyPr wrap="none" lIns="0" tIns="0" rIns="0" bIns="0" anchor="t">
            <a:spAutoFit/>
          </a:bodyPr>
          <a:lstStyle/>
          <a:p>
            <a:pPr algn="l"/>
            <a:r>
              <a:rPr lang="fr-FR" sz="1125" b="0" i="0" u="none" noProof="0" dirty="0">
                <a:solidFill>
                  <a:srgbClr val="0284C7"/>
                </a:solidFill>
                <a:latin typeface="JetBrains Mono"/>
              </a:rPr>
              <a:t>11000000 . 10101000 . 00001010 . 00001111</a:t>
            </a:r>
          </a:p>
        </p:txBody>
      </p:sp>
      <p:sp>
        <p:nvSpPr>
          <p:cNvPr id="13" name="TextBox 12"/>
          <p:cNvSpPr txBox="1"/>
          <p:nvPr/>
        </p:nvSpPr>
        <p:spPr>
          <a:xfrm>
            <a:off x="619125" y="2975669"/>
            <a:ext cx="11572875" cy="190500"/>
          </a:xfrm>
          <a:prstGeom prst="rect">
            <a:avLst/>
          </a:prstGeom>
          <a:noFill/>
        </p:spPr>
        <p:txBody>
          <a:bodyPr wrap="none" lIns="0" tIns="0" rIns="0" bIns="0" anchor="t">
            <a:spAutoFit/>
          </a:bodyPr>
          <a:lstStyle/>
          <a:p>
            <a:pPr algn="l"/>
            <a:r>
              <a:rPr lang="fr-FR" sz="1125" b="0" i="0" u="none" noProof="0" dirty="0">
                <a:solidFill>
                  <a:srgbClr val="64748B"/>
                </a:solidFill>
                <a:latin typeface="JetBrains Mono"/>
              </a:rPr>
              <a:t>Masque : </a:t>
            </a:r>
            <a:r>
              <a:rPr lang="fr-FR" sz="1125" b="1" i="0" u="none" noProof="0" dirty="0">
                <a:solidFill>
                  <a:srgbClr val="0F172A"/>
                </a:solidFill>
                <a:latin typeface="JetBrains Mono"/>
              </a:rPr>
              <a:t>255.255.255.0</a:t>
            </a:r>
          </a:p>
        </p:txBody>
      </p:sp>
      <p:sp>
        <p:nvSpPr>
          <p:cNvPr id="14" name="TextBox 13"/>
          <p:cNvSpPr txBox="1"/>
          <p:nvPr/>
        </p:nvSpPr>
        <p:spPr>
          <a:xfrm>
            <a:off x="619125" y="3166169"/>
            <a:ext cx="11572875" cy="190500"/>
          </a:xfrm>
          <a:prstGeom prst="rect">
            <a:avLst/>
          </a:prstGeom>
          <a:noFill/>
        </p:spPr>
        <p:txBody>
          <a:bodyPr wrap="none" lIns="0" tIns="0" rIns="0" bIns="0" anchor="t">
            <a:spAutoFit/>
          </a:bodyPr>
          <a:lstStyle/>
          <a:p>
            <a:pPr algn="l"/>
            <a:r>
              <a:rPr lang="fr-FR" sz="1125" b="0" i="0" u="none" noProof="0" dirty="0">
                <a:solidFill>
                  <a:srgbClr val="D97706"/>
                </a:solidFill>
                <a:latin typeface="JetBrains Mono"/>
              </a:rPr>
              <a:t>11111111 . 11111111 . 11111111 . 00000000</a:t>
            </a:r>
          </a:p>
        </p:txBody>
      </p:sp>
      <p:sp>
        <p:nvSpPr>
          <p:cNvPr id="15" name="TextBox 14"/>
          <p:cNvSpPr txBox="1"/>
          <p:nvPr/>
        </p:nvSpPr>
        <p:spPr>
          <a:xfrm>
            <a:off x="628650" y="3804344"/>
            <a:ext cx="11563350" cy="190500"/>
          </a:xfrm>
          <a:prstGeom prst="rect">
            <a:avLst/>
          </a:prstGeom>
          <a:noFill/>
        </p:spPr>
        <p:txBody>
          <a:bodyPr wrap="none" lIns="0" tIns="0" rIns="0" bIns="0" anchor="t">
            <a:spAutoFit/>
          </a:bodyPr>
          <a:lstStyle/>
          <a:p>
            <a:pPr algn="l"/>
            <a:r>
              <a:rPr lang="fr-FR" sz="1125" b="1" i="0" u="none" noProof="0" dirty="0">
                <a:solidFill>
                  <a:srgbClr val="166534"/>
                </a:solidFill>
                <a:latin typeface="JetBrains Mono"/>
              </a:rPr>
              <a:t>Opération AND Bit à Bit (Adresse Réseau Résultante) :</a:t>
            </a:r>
          </a:p>
        </p:txBody>
      </p:sp>
      <p:sp>
        <p:nvSpPr>
          <p:cNvPr id="16" name="TextBox 15"/>
          <p:cNvSpPr txBox="1"/>
          <p:nvPr/>
        </p:nvSpPr>
        <p:spPr>
          <a:xfrm>
            <a:off x="628650" y="3994844"/>
            <a:ext cx="11563350" cy="219075"/>
          </a:xfrm>
          <a:prstGeom prst="rect">
            <a:avLst/>
          </a:prstGeom>
          <a:noFill/>
        </p:spPr>
        <p:txBody>
          <a:bodyPr wrap="none" lIns="0" tIns="0" rIns="0" bIns="0" anchor="t">
            <a:spAutoFit/>
          </a:bodyPr>
          <a:lstStyle/>
          <a:p>
            <a:pPr algn="l"/>
            <a:r>
              <a:rPr lang="fr-FR" sz="1350" b="1" i="0" u="none" noProof="0" dirty="0">
                <a:solidFill>
                  <a:srgbClr val="15803D"/>
                </a:solidFill>
                <a:latin typeface="JetBrains Mono"/>
              </a:rPr>
              <a:t>11000000 . 10101000 . 00001010 . 00000000 ➔ 192.168.10.0</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457200" y="2267694"/>
            <a:ext cx="5524500" cy="1882675"/>
          </a:xfrm>
          <a:prstGeom prst="roundRect">
            <a:avLst>
              <a:gd name="adj" fmla="val 6071"/>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4" name="Rounded Rectangle 3"/>
          <p:cNvSpPr/>
          <p:nvPr/>
        </p:nvSpPr>
        <p:spPr>
          <a:xfrm>
            <a:off x="6210300" y="2267694"/>
            <a:ext cx="5524500" cy="1882675"/>
          </a:xfrm>
          <a:prstGeom prst="roundRect">
            <a:avLst>
              <a:gd name="adj" fmla="val 6071"/>
            </a:avLst>
          </a:prstGeom>
          <a:solidFill>
            <a:srgbClr val="F0FDF4"/>
          </a:solidFill>
          <a:ln w="9525">
            <a:solidFill>
              <a:srgbClr val="BBF7D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 name="TextBox 5"/>
          <p:cNvSpPr txBox="1"/>
          <p:nvPr/>
        </p:nvSpPr>
        <p:spPr>
          <a:xfrm>
            <a:off x="457200" y="381000"/>
            <a:ext cx="4574586" cy="300082"/>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Les Formules Mathématiques de </a:t>
            </a:r>
            <a:r>
              <a:rPr lang="fr-FR" sz="1950" b="1" dirty="0">
                <a:solidFill>
                  <a:srgbClr val="0F172A"/>
                </a:solidFill>
                <a:latin typeface="Space Grotesk"/>
              </a:rPr>
              <a:t>découpage</a:t>
            </a:r>
            <a:endParaRPr lang="fr-FR" sz="1950" b="1" i="0" u="none" noProof="0" dirty="0">
              <a:solidFill>
                <a:srgbClr val="0F172A"/>
              </a:solidFill>
              <a:latin typeface="Space Grotesk"/>
            </a:endParaRPr>
          </a:p>
        </p:txBody>
      </p:sp>
      <p:sp>
        <p:nvSpPr>
          <p:cNvPr id="7" name="TextBox 6"/>
          <p:cNvSpPr txBox="1"/>
          <p:nvPr/>
        </p:nvSpPr>
        <p:spPr>
          <a:xfrm>
            <a:off x="10287000" y="457200"/>
            <a:ext cx="180975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FORMULES CLEFS CCNA</a:t>
            </a:r>
          </a:p>
        </p:txBody>
      </p:sp>
      <p:sp>
        <p:nvSpPr>
          <p:cNvPr id="10" name="TextBox 9"/>
          <p:cNvSpPr txBox="1"/>
          <p:nvPr/>
        </p:nvSpPr>
        <p:spPr>
          <a:xfrm>
            <a:off x="111918" y="2543919"/>
            <a:ext cx="6215062" cy="171450"/>
          </a:xfrm>
          <a:prstGeom prst="rect">
            <a:avLst/>
          </a:prstGeom>
          <a:noFill/>
        </p:spPr>
        <p:txBody>
          <a:bodyPr wrap="none" lIns="0" tIns="0" rIns="0" bIns="0" anchor="t">
            <a:spAutoFit/>
          </a:bodyPr>
          <a:lstStyle/>
          <a:p>
            <a:pPr algn="ctr"/>
            <a:r>
              <a:rPr lang="fr-FR" sz="1050" b="0" i="0" u="none" noProof="0" dirty="0">
                <a:solidFill>
                  <a:srgbClr val="0369A1"/>
                </a:solidFill>
                <a:latin typeface="JetBrains Mono"/>
              </a:rPr>
              <a:t>NOMBRE DE SOUS-RESEAUX</a:t>
            </a:r>
          </a:p>
        </p:txBody>
      </p:sp>
      <p:sp>
        <p:nvSpPr>
          <p:cNvPr id="11" name="TextBox 10"/>
          <p:cNvSpPr txBox="1"/>
          <p:nvPr/>
        </p:nvSpPr>
        <p:spPr>
          <a:xfrm>
            <a:off x="111918" y="2791569"/>
            <a:ext cx="6215062" cy="777775"/>
          </a:xfrm>
          <a:prstGeom prst="rect">
            <a:avLst/>
          </a:prstGeom>
          <a:noFill/>
        </p:spPr>
        <p:txBody>
          <a:bodyPr wrap="none" lIns="0" tIns="0" rIns="0" bIns="0" anchor="t">
            <a:spAutoFit/>
          </a:bodyPr>
          <a:lstStyle/>
          <a:p>
            <a:pPr algn="ctr"/>
            <a:r>
              <a:rPr lang="fr-FR" sz="4200" b="1" i="0" u="none" noProof="0" dirty="0">
                <a:solidFill>
                  <a:srgbClr val="0284C7"/>
                </a:solidFill>
                <a:latin typeface="Space Grotesk"/>
              </a:rPr>
              <a:t>2</a:t>
            </a:r>
            <a:r>
              <a:rPr lang="fr-FR" sz="3500" b="1" i="0" u="none" noProof="0" dirty="0">
                <a:solidFill>
                  <a:srgbClr val="0284C7"/>
                </a:solidFill>
                <a:latin typeface="Space Grotesk"/>
              </a:rPr>
              <a:t>n</a:t>
            </a:r>
          </a:p>
        </p:txBody>
      </p:sp>
      <p:sp>
        <p:nvSpPr>
          <p:cNvPr id="12" name="TextBox 11"/>
          <p:cNvSpPr txBox="1"/>
          <p:nvPr/>
        </p:nvSpPr>
        <p:spPr>
          <a:xfrm>
            <a:off x="111918" y="3683644"/>
            <a:ext cx="6215062" cy="190500"/>
          </a:xfrm>
          <a:prstGeom prst="rect">
            <a:avLst/>
          </a:prstGeom>
          <a:noFill/>
        </p:spPr>
        <p:txBody>
          <a:bodyPr wrap="none" lIns="0" tIns="0" rIns="0" bIns="0" anchor="t">
            <a:spAutoFit/>
          </a:bodyPr>
          <a:lstStyle/>
          <a:p>
            <a:pPr algn="ctr"/>
            <a:r>
              <a:rPr lang="fr-FR" sz="1200" b="1" i="0" u="none" noProof="0" dirty="0">
                <a:solidFill>
                  <a:srgbClr val="334155"/>
                </a:solidFill>
                <a:latin typeface="Inter"/>
              </a:rPr>
              <a:t>n</a:t>
            </a:r>
            <a:r>
              <a:rPr lang="fr-FR" sz="1200" b="0" i="0" u="none" noProof="0" dirty="0">
                <a:solidFill>
                  <a:srgbClr val="334155"/>
                </a:solidFill>
                <a:latin typeface="Inter"/>
              </a:rPr>
              <a:t> = Nombre de bits empruntés à la partie hôte.</a:t>
            </a:r>
          </a:p>
        </p:txBody>
      </p:sp>
      <p:sp>
        <p:nvSpPr>
          <p:cNvPr id="13" name="TextBox 12"/>
          <p:cNvSpPr txBox="1"/>
          <p:nvPr/>
        </p:nvSpPr>
        <p:spPr>
          <a:xfrm>
            <a:off x="5865018" y="2543919"/>
            <a:ext cx="6215062" cy="171450"/>
          </a:xfrm>
          <a:prstGeom prst="rect">
            <a:avLst/>
          </a:prstGeom>
          <a:noFill/>
        </p:spPr>
        <p:txBody>
          <a:bodyPr wrap="none" lIns="0" tIns="0" rIns="0" bIns="0" anchor="t">
            <a:spAutoFit/>
          </a:bodyPr>
          <a:lstStyle/>
          <a:p>
            <a:pPr algn="ctr"/>
            <a:r>
              <a:rPr lang="fr-FR" sz="1050" b="0" i="0" u="none" noProof="0" dirty="0">
                <a:solidFill>
                  <a:srgbClr val="166534"/>
                </a:solidFill>
                <a:latin typeface="JetBrains Mono"/>
              </a:rPr>
              <a:t>HOTES UTILISABLES PAR SOUS-RESEAU</a:t>
            </a:r>
          </a:p>
        </p:txBody>
      </p:sp>
      <p:sp>
        <p:nvSpPr>
          <p:cNvPr id="14" name="TextBox 13"/>
          <p:cNvSpPr txBox="1"/>
          <p:nvPr/>
        </p:nvSpPr>
        <p:spPr>
          <a:xfrm>
            <a:off x="5865018" y="2791569"/>
            <a:ext cx="6215062" cy="777775"/>
          </a:xfrm>
          <a:prstGeom prst="rect">
            <a:avLst/>
          </a:prstGeom>
          <a:noFill/>
        </p:spPr>
        <p:txBody>
          <a:bodyPr wrap="none" lIns="0" tIns="0" rIns="0" bIns="0" anchor="t">
            <a:spAutoFit/>
          </a:bodyPr>
          <a:lstStyle/>
          <a:p>
            <a:pPr algn="ctr"/>
            <a:r>
              <a:rPr lang="fr-FR" sz="4200" b="1" i="0" u="none" noProof="0" dirty="0">
                <a:solidFill>
                  <a:srgbClr val="16A34A"/>
                </a:solidFill>
                <a:latin typeface="Space Grotesk"/>
              </a:rPr>
              <a:t>2</a:t>
            </a:r>
            <a:r>
              <a:rPr lang="fr-FR" sz="3500" b="1" i="0" u="none" noProof="0" dirty="0">
                <a:solidFill>
                  <a:srgbClr val="16A34A"/>
                </a:solidFill>
                <a:latin typeface="Space Grotesk"/>
              </a:rPr>
              <a:t>h</a:t>
            </a:r>
            <a:r>
              <a:rPr lang="fr-FR" sz="4200" b="1" i="0" u="none" noProof="0" dirty="0">
                <a:solidFill>
                  <a:srgbClr val="16A34A"/>
                </a:solidFill>
                <a:latin typeface="Space Grotesk"/>
              </a:rPr>
              <a:t> - 2</a:t>
            </a:r>
          </a:p>
        </p:txBody>
      </p:sp>
      <p:sp>
        <p:nvSpPr>
          <p:cNvPr id="15" name="TextBox 14"/>
          <p:cNvSpPr txBox="1"/>
          <p:nvPr/>
        </p:nvSpPr>
        <p:spPr>
          <a:xfrm>
            <a:off x="5865018" y="3683644"/>
            <a:ext cx="6215062" cy="190500"/>
          </a:xfrm>
          <a:prstGeom prst="rect">
            <a:avLst/>
          </a:prstGeom>
          <a:noFill/>
        </p:spPr>
        <p:txBody>
          <a:bodyPr wrap="none" lIns="0" tIns="0" rIns="0" bIns="0" anchor="t">
            <a:spAutoFit/>
          </a:bodyPr>
          <a:lstStyle/>
          <a:p>
            <a:pPr algn="ctr"/>
            <a:r>
              <a:rPr lang="fr-FR" sz="1200" b="1" i="0" u="none" noProof="0" dirty="0">
                <a:solidFill>
                  <a:srgbClr val="334155"/>
                </a:solidFill>
                <a:latin typeface="Inter"/>
              </a:rPr>
              <a:t>h</a:t>
            </a:r>
            <a:r>
              <a:rPr lang="fr-FR" sz="1200" b="0" i="0" u="none" noProof="0" dirty="0">
                <a:solidFill>
                  <a:srgbClr val="334155"/>
                </a:solidFill>
                <a:latin typeface="Inter"/>
              </a:rPr>
              <a:t> = Nombre de bits restants pour les hôtes.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
        <p:cNvGrpSpPr/>
        <p:nvPr/>
      </p:nvGrpSpPr>
      <p:grpSpPr>
        <a:xfrm>
          <a:off x="0" y="0"/>
          <a:ext cx="0" cy="0"/>
          <a:chOff x="0" y="0"/>
          <a:chExt cx="0" cy="0"/>
        </a:xfrm>
      </p:grpSpPr>
      <p:sp>
        <p:nvSpPr>
          <p:cNvPr id="3" name="Rounded Rectangle 2"/>
          <p:cNvSpPr/>
          <p:nvPr/>
        </p:nvSpPr>
        <p:spPr>
          <a:xfrm>
            <a:off x="457200" y="2613719"/>
            <a:ext cx="11277600" cy="1504950"/>
          </a:xfrm>
          <a:prstGeom prst="roundRect">
            <a:avLst>
              <a:gd name="adj" fmla="val 7594"/>
            </a:avLst>
          </a:prstGeom>
          <a:solidFill>
            <a:srgbClr val="FFFFFF"/>
          </a:solidFill>
          <a:ln w="19050">
            <a:solidFill>
              <a:srgbClr val="0284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Rounded Rectangle 4"/>
          <p:cNvSpPr/>
          <p:nvPr/>
        </p:nvSpPr>
        <p:spPr>
          <a:xfrm>
            <a:off x="704850" y="2861369"/>
            <a:ext cx="5314950" cy="1009650"/>
          </a:xfrm>
          <a:prstGeom prst="roundRect">
            <a:avLst>
              <a:gd name="adj" fmla="val 7547"/>
            </a:avLst>
          </a:prstGeom>
          <a:solidFill>
            <a:srgbClr val="E0F2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6" name="Rounded Rectangle 5"/>
          <p:cNvSpPr/>
          <p:nvPr/>
        </p:nvSpPr>
        <p:spPr>
          <a:xfrm>
            <a:off x="6172200" y="2861369"/>
            <a:ext cx="5314950" cy="1009650"/>
          </a:xfrm>
          <a:prstGeom prst="roundRect">
            <a:avLst>
              <a:gd name="adj" fmla="val 7547"/>
            </a:avLst>
          </a:prstGeom>
          <a:solidFill>
            <a:srgbClr val="F0FD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7" name="TextBox 6"/>
          <p:cNvSpPr txBox="1"/>
          <p:nvPr/>
        </p:nvSpPr>
        <p:spPr>
          <a:xfrm>
            <a:off x="457200" y="381000"/>
            <a:ext cx="6575821"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L'Hexadécimal en Couche 2 : Adresse MAC</a:t>
            </a:r>
          </a:p>
        </p:txBody>
      </p:sp>
      <p:sp>
        <p:nvSpPr>
          <p:cNvPr id="8" name="TextBox 7"/>
          <p:cNvSpPr txBox="1"/>
          <p:nvPr/>
        </p:nvSpPr>
        <p:spPr>
          <a:xfrm>
            <a:off x="10363200" y="457200"/>
            <a:ext cx="17145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ADRESSAGE PHYSIQUE</a:t>
            </a:r>
          </a:p>
        </p:txBody>
      </p:sp>
      <p:sp>
        <p:nvSpPr>
          <p:cNvPr id="9" name="TextBox 8"/>
          <p:cNvSpPr txBox="1"/>
          <p:nvPr/>
        </p:nvSpPr>
        <p:spPr>
          <a:xfrm>
            <a:off x="457200" y="2261294"/>
            <a:ext cx="11734800" cy="200025"/>
          </a:xfrm>
          <a:prstGeom prst="rect">
            <a:avLst/>
          </a:prstGeom>
          <a:noFill/>
        </p:spPr>
        <p:txBody>
          <a:bodyPr wrap="none" lIns="0" tIns="0" rIns="0" bIns="0" anchor="t">
            <a:spAutoFit/>
          </a:bodyPr>
          <a:lstStyle/>
          <a:p>
            <a:pPr algn="l"/>
            <a:r>
              <a:rPr lang="fr-FR" sz="1350" b="0" i="0" u="none" noProof="0" dirty="0">
                <a:solidFill>
                  <a:srgbClr val="334155"/>
                </a:solidFill>
                <a:latin typeface="Inter"/>
              </a:rPr>
              <a:t>Structure d'une Adresse MAC (48 bits / 12 caractères Hexadécimaux) :</a:t>
            </a:r>
          </a:p>
        </p:txBody>
      </p:sp>
      <p:sp>
        <p:nvSpPr>
          <p:cNvPr id="12" name="TextBox 11"/>
          <p:cNvSpPr txBox="1"/>
          <p:nvPr/>
        </p:nvSpPr>
        <p:spPr>
          <a:xfrm>
            <a:off x="230981" y="3013769"/>
            <a:ext cx="6262687" cy="295275"/>
          </a:xfrm>
          <a:prstGeom prst="rect">
            <a:avLst/>
          </a:prstGeom>
          <a:noFill/>
        </p:spPr>
        <p:txBody>
          <a:bodyPr wrap="none" lIns="0" tIns="0" rIns="0" bIns="0" anchor="t">
            <a:spAutoFit/>
          </a:bodyPr>
          <a:lstStyle/>
          <a:p>
            <a:pPr algn="ctr"/>
            <a:r>
              <a:rPr lang="fr-FR" sz="1800" b="1" i="0" u="none" noProof="0" dirty="0">
                <a:solidFill>
                  <a:srgbClr val="0369A1"/>
                </a:solidFill>
                <a:latin typeface="JetBrains Mono"/>
              </a:rPr>
              <a:t>00 : 1A : 2B</a:t>
            </a:r>
          </a:p>
        </p:txBody>
      </p:sp>
      <p:sp>
        <p:nvSpPr>
          <p:cNvPr id="13" name="TextBox 12"/>
          <p:cNvSpPr txBox="1"/>
          <p:nvPr/>
        </p:nvSpPr>
        <p:spPr>
          <a:xfrm>
            <a:off x="230981" y="3385244"/>
            <a:ext cx="6262687" cy="171450"/>
          </a:xfrm>
          <a:prstGeom prst="rect">
            <a:avLst/>
          </a:prstGeom>
          <a:noFill/>
        </p:spPr>
        <p:txBody>
          <a:bodyPr wrap="none" lIns="0" tIns="0" rIns="0" bIns="0" anchor="t">
            <a:spAutoFit/>
          </a:bodyPr>
          <a:lstStyle/>
          <a:p>
            <a:pPr algn="ctr"/>
            <a:r>
              <a:rPr lang="fr-FR" sz="1050" b="1" i="0" u="none" noProof="0" dirty="0">
                <a:solidFill>
                  <a:srgbClr val="0284C7"/>
                </a:solidFill>
                <a:latin typeface="JetBrains Mono"/>
              </a:rPr>
              <a:t>OUI (24 bits)</a:t>
            </a:r>
          </a:p>
        </p:txBody>
      </p:sp>
      <p:sp>
        <p:nvSpPr>
          <p:cNvPr id="14" name="TextBox 13"/>
          <p:cNvSpPr txBox="1"/>
          <p:nvPr/>
        </p:nvSpPr>
        <p:spPr>
          <a:xfrm>
            <a:off x="230981" y="3556694"/>
            <a:ext cx="6262687" cy="161925"/>
          </a:xfrm>
          <a:prstGeom prst="rect">
            <a:avLst/>
          </a:prstGeom>
          <a:noFill/>
        </p:spPr>
        <p:txBody>
          <a:bodyPr wrap="none" lIns="0" tIns="0" rIns="0" bIns="0" anchor="t">
            <a:spAutoFit/>
          </a:bodyPr>
          <a:lstStyle/>
          <a:p>
            <a:pPr algn="ctr"/>
            <a:r>
              <a:rPr lang="fr-FR" sz="975" b="0" i="0" u="none" noProof="0" dirty="0">
                <a:solidFill>
                  <a:srgbClr val="64748B"/>
                </a:solidFill>
                <a:latin typeface="JetBrains Mono"/>
              </a:rPr>
              <a:t>Identifiant Constructeur (ex: Cisco, Intel)</a:t>
            </a:r>
          </a:p>
        </p:txBody>
      </p:sp>
      <p:sp>
        <p:nvSpPr>
          <p:cNvPr id="15" name="TextBox 14"/>
          <p:cNvSpPr txBox="1"/>
          <p:nvPr/>
        </p:nvSpPr>
        <p:spPr>
          <a:xfrm>
            <a:off x="5698331" y="3013769"/>
            <a:ext cx="6262687" cy="295275"/>
          </a:xfrm>
          <a:prstGeom prst="rect">
            <a:avLst/>
          </a:prstGeom>
          <a:noFill/>
        </p:spPr>
        <p:txBody>
          <a:bodyPr wrap="none" lIns="0" tIns="0" rIns="0" bIns="0" anchor="t">
            <a:spAutoFit/>
          </a:bodyPr>
          <a:lstStyle/>
          <a:p>
            <a:pPr algn="ctr"/>
            <a:r>
              <a:rPr lang="fr-FR" sz="1800" b="1" i="0" u="none" noProof="0" dirty="0">
                <a:solidFill>
                  <a:srgbClr val="15803D"/>
                </a:solidFill>
                <a:latin typeface="JetBrains Mono"/>
              </a:rPr>
              <a:t>3C : 4D : 5E</a:t>
            </a:r>
          </a:p>
        </p:txBody>
      </p:sp>
      <p:sp>
        <p:nvSpPr>
          <p:cNvPr id="16" name="TextBox 15"/>
          <p:cNvSpPr txBox="1"/>
          <p:nvPr/>
        </p:nvSpPr>
        <p:spPr>
          <a:xfrm>
            <a:off x="5698331" y="3385244"/>
            <a:ext cx="6262687" cy="171450"/>
          </a:xfrm>
          <a:prstGeom prst="rect">
            <a:avLst/>
          </a:prstGeom>
          <a:noFill/>
        </p:spPr>
        <p:txBody>
          <a:bodyPr wrap="none" lIns="0" tIns="0" rIns="0" bIns="0" anchor="t">
            <a:spAutoFit/>
          </a:bodyPr>
          <a:lstStyle/>
          <a:p>
            <a:pPr algn="ctr"/>
            <a:r>
              <a:rPr lang="fr-FR" sz="1050" b="1" i="0" u="none" noProof="0" dirty="0">
                <a:solidFill>
                  <a:srgbClr val="16A34A"/>
                </a:solidFill>
                <a:latin typeface="JetBrains Mono"/>
              </a:rPr>
              <a:t>NIC (24 bits)</a:t>
            </a:r>
          </a:p>
        </p:txBody>
      </p:sp>
      <p:sp>
        <p:nvSpPr>
          <p:cNvPr id="17" name="TextBox 16"/>
          <p:cNvSpPr txBox="1"/>
          <p:nvPr/>
        </p:nvSpPr>
        <p:spPr>
          <a:xfrm>
            <a:off x="5698331" y="3556694"/>
            <a:ext cx="6262687" cy="161925"/>
          </a:xfrm>
          <a:prstGeom prst="rect">
            <a:avLst/>
          </a:prstGeom>
          <a:noFill/>
        </p:spPr>
        <p:txBody>
          <a:bodyPr wrap="none" lIns="0" tIns="0" rIns="0" bIns="0" anchor="t">
            <a:spAutoFit/>
          </a:bodyPr>
          <a:lstStyle/>
          <a:p>
            <a:pPr algn="ctr"/>
            <a:r>
              <a:rPr lang="fr-FR" sz="975" b="0" i="0" u="none" noProof="0" dirty="0">
                <a:solidFill>
                  <a:srgbClr val="64748B"/>
                </a:solidFill>
                <a:latin typeface="JetBrains Mono"/>
              </a:rPr>
              <a:t>Numéro de Série de la Carte Réseau</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Rounded Rectangle 2"/>
          <p:cNvSpPr/>
          <p:nvPr/>
        </p:nvSpPr>
        <p:spPr>
          <a:xfrm>
            <a:off x="457200" y="2899469"/>
            <a:ext cx="11277600" cy="933450"/>
          </a:xfrm>
          <a:prstGeom prst="roundRect">
            <a:avLst>
              <a:gd name="adj" fmla="val 12244"/>
            </a:avLst>
          </a:prstGeom>
          <a:solidFill>
            <a:srgbClr val="F8FAFC"/>
          </a:solidFill>
          <a:ln w="9525">
            <a:solidFill>
              <a:srgbClr val="CBD5E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fr-FR" noProof="0" dirty="0"/>
          </a:p>
        </p:txBody>
      </p:sp>
      <p:sp>
        <p:nvSpPr>
          <p:cNvPr id="5" name="TextBox 4"/>
          <p:cNvSpPr txBox="1"/>
          <p:nvPr/>
        </p:nvSpPr>
        <p:spPr>
          <a:xfrm>
            <a:off x="457200" y="381000"/>
            <a:ext cx="6550818" cy="323850"/>
          </a:xfrm>
          <a:prstGeom prst="rect">
            <a:avLst/>
          </a:prstGeom>
          <a:noFill/>
        </p:spPr>
        <p:txBody>
          <a:bodyPr wrap="none" lIns="0" tIns="0" rIns="0" bIns="0" anchor="t">
            <a:spAutoFit/>
          </a:bodyPr>
          <a:lstStyle/>
          <a:p>
            <a:pPr algn="l"/>
            <a:r>
              <a:rPr lang="fr-FR" sz="1950" b="1" i="0" u="none" noProof="0" dirty="0">
                <a:solidFill>
                  <a:srgbClr val="0F172A"/>
                </a:solidFill>
                <a:latin typeface="Space Grotesk"/>
              </a:rPr>
              <a:t>L'Hexadécimal en Couche 3 : Adresse IPv6</a:t>
            </a:r>
          </a:p>
        </p:txBody>
      </p:sp>
      <p:sp>
        <p:nvSpPr>
          <p:cNvPr id="6" name="TextBox 5"/>
          <p:cNvSpPr txBox="1"/>
          <p:nvPr/>
        </p:nvSpPr>
        <p:spPr>
          <a:xfrm>
            <a:off x="9525000" y="457200"/>
            <a:ext cx="2667000" cy="171450"/>
          </a:xfrm>
          <a:prstGeom prst="rect">
            <a:avLst/>
          </a:prstGeom>
          <a:noFill/>
        </p:spPr>
        <p:txBody>
          <a:bodyPr wrap="none" lIns="0" tIns="0" rIns="0" bIns="0" anchor="t">
            <a:spAutoFit/>
          </a:bodyPr>
          <a:lstStyle/>
          <a:p>
            <a:pPr algn="l"/>
            <a:r>
              <a:rPr lang="fr-FR" sz="1050" b="0" i="0" u="none" noProof="0" dirty="0">
                <a:solidFill>
                  <a:srgbClr val="0284C7"/>
                </a:solidFill>
                <a:latin typeface="JetBrains Mono"/>
              </a:rPr>
              <a:t>ADRESSAGE NOUVELLE GENERATION</a:t>
            </a:r>
          </a:p>
        </p:txBody>
      </p:sp>
      <p:sp>
        <p:nvSpPr>
          <p:cNvPr id="7" name="TextBox 6"/>
          <p:cNvSpPr txBox="1"/>
          <p:nvPr/>
        </p:nvSpPr>
        <p:spPr>
          <a:xfrm>
            <a:off x="457200" y="2547044"/>
            <a:ext cx="11734800" cy="200025"/>
          </a:xfrm>
          <a:prstGeom prst="rect">
            <a:avLst/>
          </a:prstGeom>
          <a:noFill/>
        </p:spPr>
        <p:txBody>
          <a:bodyPr wrap="none" lIns="0" tIns="0" rIns="0" bIns="0" anchor="t">
            <a:spAutoFit/>
          </a:bodyPr>
          <a:lstStyle/>
          <a:p>
            <a:pPr algn="l"/>
            <a:r>
              <a:rPr lang="fr-FR" sz="1350" b="0" i="0" u="none" noProof="0" dirty="0">
                <a:solidFill>
                  <a:srgbClr val="334155"/>
                </a:solidFill>
                <a:latin typeface="Inter"/>
              </a:rPr>
              <a:t>Format IPv6 : </a:t>
            </a:r>
            <a:r>
              <a:rPr lang="fr-FR" sz="1350" b="1" i="0" u="none" noProof="0" dirty="0">
                <a:solidFill>
                  <a:srgbClr val="0284C7"/>
                </a:solidFill>
                <a:latin typeface="Inter"/>
              </a:rPr>
              <a:t>128 bits</a:t>
            </a:r>
            <a:r>
              <a:rPr lang="fr-FR" sz="1350" b="0" i="0" u="none" noProof="0" dirty="0">
                <a:solidFill>
                  <a:srgbClr val="334155"/>
                </a:solidFill>
                <a:latin typeface="Inter"/>
              </a:rPr>
              <a:t> représentés par </a:t>
            </a:r>
            <a:r>
              <a:rPr lang="fr-FR" sz="1350" b="1" i="0" u="none" noProof="0" dirty="0">
                <a:solidFill>
                  <a:srgbClr val="0284C7"/>
                </a:solidFill>
                <a:latin typeface="Inter"/>
              </a:rPr>
              <a:t>8 blocs (</a:t>
            </a:r>
            <a:r>
              <a:rPr lang="fr-FR" sz="1350" b="1" i="0" u="none" noProof="0" dirty="0" err="1">
                <a:solidFill>
                  <a:srgbClr val="0284C7"/>
                </a:solidFill>
                <a:latin typeface="Inter"/>
              </a:rPr>
              <a:t>Hextets</a:t>
            </a:r>
            <a:r>
              <a:rPr lang="fr-FR" sz="1350" b="1" i="0" u="none" noProof="0" dirty="0">
                <a:solidFill>
                  <a:srgbClr val="0284C7"/>
                </a:solidFill>
                <a:latin typeface="Inter"/>
              </a:rPr>
              <a:t>)</a:t>
            </a:r>
            <a:r>
              <a:rPr lang="fr-FR" sz="1350" b="0" i="0" u="none" noProof="0" dirty="0">
                <a:solidFill>
                  <a:srgbClr val="334155"/>
                </a:solidFill>
                <a:latin typeface="Inter"/>
              </a:rPr>
              <a:t> de 4 caractères Hexadécimaux.</a:t>
            </a:r>
          </a:p>
        </p:txBody>
      </p:sp>
      <p:sp>
        <p:nvSpPr>
          <p:cNvPr id="10" name="TextBox 9"/>
          <p:cNvSpPr txBox="1"/>
          <p:nvPr/>
        </p:nvSpPr>
        <p:spPr>
          <a:xfrm>
            <a:off x="-351234" y="3099494"/>
            <a:ext cx="12894468" cy="247650"/>
          </a:xfrm>
          <a:prstGeom prst="rect">
            <a:avLst/>
          </a:prstGeom>
          <a:noFill/>
        </p:spPr>
        <p:txBody>
          <a:bodyPr wrap="none" lIns="0" tIns="0" rIns="0" bIns="0" anchor="t">
            <a:spAutoFit/>
          </a:bodyPr>
          <a:lstStyle/>
          <a:p>
            <a:pPr algn="ctr"/>
            <a:r>
              <a:rPr lang="fr-FR" sz="1500" b="1" i="0" u="none" noProof="0" dirty="0">
                <a:solidFill>
                  <a:srgbClr val="0284C7"/>
                </a:solidFill>
                <a:latin typeface="JetBrains Mono"/>
              </a:rPr>
              <a:t>2001</a:t>
            </a:r>
            <a:r>
              <a:rPr lang="fr-FR" sz="1500" b="1" i="0" u="none" noProof="0" dirty="0">
                <a:solidFill>
                  <a:srgbClr val="0F172A"/>
                </a:solidFill>
                <a:latin typeface="JetBrains Mono"/>
              </a:rPr>
              <a:t> : </a:t>
            </a:r>
            <a:r>
              <a:rPr lang="fr-FR" sz="1500" b="1" i="0" u="none" noProof="0" dirty="0">
                <a:solidFill>
                  <a:srgbClr val="0284C7"/>
                </a:solidFill>
                <a:latin typeface="JetBrains Mono"/>
              </a:rPr>
              <a:t>0db8</a:t>
            </a:r>
            <a:r>
              <a:rPr lang="fr-FR" sz="1500" b="1" i="0" u="none" noProof="0" dirty="0">
                <a:solidFill>
                  <a:srgbClr val="0F172A"/>
                </a:solidFill>
                <a:latin typeface="JetBrains Mono"/>
              </a:rPr>
              <a:t> : 85a3 : 0000 : 0000 : 8a2e : 0370 : 7334</a:t>
            </a:r>
          </a:p>
        </p:txBody>
      </p:sp>
      <p:sp>
        <p:nvSpPr>
          <p:cNvPr id="11" name="TextBox 10"/>
          <p:cNvSpPr txBox="1"/>
          <p:nvPr/>
        </p:nvSpPr>
        <p:spPr>
          <a:xfrm>
            <a:off x="-351234" y="3461444"/>
            <a:ext cx="12894468" cy="171450"/>
          </a:xfrm>
          <a:prstGeom prst="rect">
            <a:avLst/>
          </a:prstGeom>
          <a:noFill/>
        </p:spPr>
        <p:txBody>
          <a:bodyPr wrap="none" lIns="0" tIns="0" rIns="0" bIns="0" anchor="t">
            <a:spAutoFit/>
          </a:bodyPr>
          <a:lstStyle/>
          <a:p>
            <a:pPr algn="ctr"/>
            <a:r>
              <a:rPr lang="fr-FR" sz="1050" b="0" i="0" u="none" noProof="0" dirty="0">
                <a:solidFill>
                  <a:srgbClr val="64748B"/>
                </a:solidFill>
                <a:latin typeface="JetBrains Mono"/>
              </a:rPr>
              <a:t>Chaque bloc entre deux deux-points (:) représente 16 bits (4 caractères hexa).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220</TotalTime>
  <Words>2281</Words>
  <Application>Microsoft Office PowerPoint</Application>
  <PresentationFormat>Grand écran</PresentationFormat>
  <Paragraphs>324</Paragraphs>
  <Slides>18</Slides>
  <Notes>18</Notes>
  <HiddenSlides>0</HiddenSlides>
  <MMClips>0</MMClips>
  <ScaleCrop>false</ScaleCrop>
  <HeadingPairs>
    <vt:vector size="6" baseType="variant">
      <vt:variant>
        <vt:lpstr>Polices utilisées</vt:lpstr>
      </vt:variant>
      <vt:variant>
        <vt:i4>7</vt:i4>
      </vt:variant>
      <vt:variant>
        <vt:lpstr>Thème</vt:lpstr>
      </vt:variant>
      <vt:variant>
        <vt:i4>1</vt:i4>
      </vt:variant>
      <vt:variant>
        <vt:lpstr>Titres des diapositives</vt:lpstr>
      </vt:variant>
      <vt:variant>
        <vt:i4>18</vt:i4>
      </vt:variant>
    </vt:vector>
  </HeadingPairs>
  <TitlesOfParts>
    <vt:vector size="26" baseType="lpstr">
      <vt:lpstr>Cambria Math</vt:lpstr>
      <vt:lpstr>Arial</vt:lpstr>
      <vt:lpstr>Aptos</vt:lpstr>
      <vt:lpstr>Space Grotesk</vt:lpstr>
      <vt:lpstr>Calibri</vt:lpstr>
      <vt:lpstr>Inter</vt:lpstr>
      <vt:lpstr>JetBrains Mono</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belouaddane lahcen</cp:lastModifiedBy>
  <cp:revision>11</cp:revision>
  <dcterms:created xsi:type="dcterms:W3CDTF">2013-01-27T09:14:16Z</dcterms:created>
  <dcterms:modified xsi:type="dcterms:W3CDTF">2026-10-08T10:22:24Z</dcterms:modified>
  <cp:category/>
</cp:coreProperties>
</file>